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33ab7690764358" /><Relationship Type="http://schemas.openxmlformats.org/officeDocument/2006/relationships/extended-properties" Target="/docProps/app.xml" Id="R682da9c823d84d1c" /><Relationship Type="http://schemas.openxmlformats.org/officeDocument/2006/relationships/officeDocument" Target="/ppt/presentation.xml" Id="R212081970f7240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142b9770e4606"/>
  </p:sldMasterIdLst>
  <p:notesMasterIdLst>
    <p:notesMasterId xmlns:r="http://schemas.openxmlformats.org/officeDocument/2006/relationships" r:id="R68553101a2f84914"/>
  </p:notesMasterIdLst>
  <p:sldIdLst>
    <p:sldId xmlns:r="http://schemas.openxmlformats.org/officeDocument/2006/relationships" id="256" r:id="R1983c44b5bcf450c"/>
    <p:sldId xmlns:r="http://schemas.openxmlformats.org/officeDocument/2006/relationships" id="257" r:id="Rfd1f84ce436b45b4"/>
    <p:sldId xmlns:r="http://schemas.openxmlformats.org/officeDocument/2006/relationships" id="258" r:id="Rbfe05b0ef81b46f9"/>
    <p:sldId xmlns:r="http://schemas.openxmlformats.org/officeDocument/2006/relationships" id="259" r:id="R5ceecd5f8f764abf"/>
    <p:sldId xmlns:r="http://schemas.openxmlformats.org/officeDocument/2006/relationships" id="260" r:id="Rcc1db1874bd04692"/>
    <p:sldId xmlns:r="http://schemas.openxmlformats.org/officeDocument/2006/relationships" id="261" r:id="Rc535c1336009431b"/>
    <p:sldId xmlns:r="http://schemas.openxmlformats.org/officeDocument/2006/relationships" id="262" r:id="Rcda6ef9acfa3469d"/>
    <p:sldId xmlns:r="http://schemas.openxmlformats.org/officeDocument/2006/relationships" id="263" r:id="R032d0b457ba24c85"/>
    <p:sldId xmlns:r="http://schemas.openxmlformats.org/officeDocument/2006/relationships" id="264" r:id="R9df3aae9061b4203"/>
    <p:sldId xmlns:r="http://schemas.openxmlformats.org/officeDocument/2006/relationships" id="265" r:id="Rb0204e61ca4f44f9"/>
    <p:sldId xmlns:r="http://schemas.openxmlformats.org/officeDocument/2006/relationships" id="266" r:id="R626cc7e77e3945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be37cd3f1247d5" /><Relationship Type="http://schemas.openxmlformats.org/officeDocument/2006/relationships/slideMaster" Target="/ppt/slideMasters/slideMaster1.xml" Id="Rc82142b9770e4606" /><Relationship Type="http://schemas.openxmlformats.org/officeDocument/2006/relationships/notesMaster" Target="/ppt/notesMasters/notesMaster1.xml" Id="R68553101a2f84914" /><Relationship Type="http://schemas.openxmlformats.org/officeDocument/2006/relationships/presProps" Target="/ppt/presProps.xml" Id="R15865174e9874495" /><Relationship Type="http://schemas.openxmlformats.org/officeDocument/2006/relationships/viewProps" Target="/ppt/viewProps.xml" Id="R5bdd290234c6488b" /><Relationship Type="http://schemas.openxmlformats.org/officeDocument/2006/relationships/tableStyles" Target="/ppt/tableStyles.xml" Id="R5f23beb631ae4705" /><Relationship Type="http://schemas.openxmlformats.org/officeDocument/2006/relationships/slide" Target="/ppt/slides/slide1.xml" Id="R1983c44b5bcf450c" /><Relationship Type="http://schemas.openxmlformats.org/officeDocument/2006/relationships/slide" Target="/ppt/slides/slide2.xml" Id="Rfd1f84ce436b45b4" /><Relationship Type="http://schemas.openxmlformats.org/officeDocument/2006/relationships/slide" Target="/ppt/slides/slide3.xml" Id="Rbfe05b0ef81b46f9" /><Relationship Type="http://schemas.openxmlformats.org/officeDocument/2006/relationships/slide" Target="/ppt/slides/slide4.xml" Id="R5ceecd5f8f764abf" /><Relationship Type="http://schemas.openxmlformats.org/officeDocument/2006/relationships/slide" Target="/ppt/slides/slide5.xml" Id="Rcc1db1874bd04692" /><Relationship Type="http://schemas.openxmlformats.org/officeDocument/2006/relationships/slide" Target="/ppt/slides/slide6.xml" Id="Rc535c1336009431b" /><Relationship Type="http://schemas.openxmlformats.org/officeDocument/2006/relationships/slide" Target="/ppt/slides/slide7.xml" Id="Rcda6ef9acfa3469d" /><Relationship Type="http://schemas.openxmlformats.org/officeDocument/2006/relationships/slide" Target="/ppt/slides/slide8.xml" Id="R032d0b457ba24c85" /><Relationship Type="http://schemas.openxmlformats.org/officeDocument/2006/relationships/slide" Target="/ppt/slides/slide9.xml" Id="R9df3aae9061b4203" /><Relationship Type="http://schemas.openxmlformats.org/officeDocument/2006/relationships/slide" Target="/ppt/slides/slide10.xml" Id="Rb0204e61ca4f44f9" /><Relationship Type="http://schemas.openxmlformats.org/officeDocument/2006/relationships/slide" Target="/ppt/slides/slide11.xml" Id="R626cc7e77e3945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9b2e69fd2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bd646b1f4446f" /><Relationship Type="http://schemas.openxmlformats.org/officeDocument/2006/relationships/notesMaster" Target="/ppt/notesMasters/notesMaster1.xml" Id="Ra59475a4efb1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4159ed4114f35" /><Relationship Type="http://schemas.openxmlformats.org/officeDocument/2006/relationships/notesMaster" Target="/ppt/notesMasters/notesMaster1.xml" Id="R05e97ee5d2a04c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c80f78598416e" /><Relationship Type="http://schemas.openxmlformats.org/officeDocument/2006/relationships/notesMaster" Target="/ppt/notesMasters/notesMaster1.xml" Id="Ra1ab0d13eb5642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ea72f771ff4761" /><Relationship Type="http://schemas.openxmlformats.org/officeDocument/2006/relationships/notesMaster" Target="/ppt/notesMasters/notesMaster1.xml" Id="R802da371647b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bccd6916d04d0c" /><Relationship Type="http://schemas.openxmlformats.org/officeDocument/2006/relationships/notesMaster" Target="/ppt/notesMasters/notesMaster1.xml" Id="Rd24c47412b4c46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cf7f05f7cd4507" /><Relationship Type="http://schemas.openxmlformats.org/officeDocument/2006/relationships/notesMaster" Target="/ppt/notesMasters/notesMaster1.xml" Id="R123607b5404f4d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7e263cac454198" /><Relationship Type="http://schemas.openxmlformats.org/officeDocument/2006/relationships/notesMaster" Target="/ppt/notesMasters/notesMaster1.xml" Id="R3fc2691222b448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2e3a66762c44f1" /><Relationship Type="http://schemas.openxmlformats.org/officeDocument/2006/relationships/notesMaster" Target="/ppt/notesMasters/notesMaster1.xml" Id="R5faf3ea88ce547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8563da83a04de1" /><Relationship Type="http://schemas.openxmlformats.org/officeDocument/2006/relationships/notesMaster" Target="/ppt/notesMasters/notesMaster1.xml" Id="R2de51c4d45e644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d3abf4f1774c5f" /><Relationship Type="http://schemas.openxmlformats.org/officeDocument/2006/relationships/notesMaster" Target="/ppt/notesMasters/notesMaster1.xml" Id="R38b6ae57713448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5f2bdfc52f4c33" /><Relationship Type="http://schemas.openxmlformats.org/officeDocument/2006/relationships/notesMaster" Target="/ppt/notesMasters/notesMaster1.xml" Id="R7c86150113874c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concise presentation of the non-CNN feature-importance analysis.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unit is a current-to-next-visit transition, and all transitions from a patient stay in the same held-out fold.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example: first_endo_gls is the absolute first-visit Endocardial GLS magnitude. Endo–Mid example: d_tm_sd_gap_dct04 compares paired layer curves, summarizes segmental gap variability over time, applies DCT04, and takes current minus previous visit. Variability example: circular dispersion of Endocardial segment time-to-peak.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D:/us/cardiotoxicity_next_visit_gpu_results/feature_manifest.csv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AUC improved from 0.631 for the clinical ridge to 0.672 for Combined Extra Trees. AP improved from 0.289 to 0.313; the event-rate reference is 0.206.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D:/us/cardiotoxicity_feature_importance_results/noncnn_base_metric_reproduction.csv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Permutation importance asks whether held-out prediction gets worse when one feature is made uninformative. Positive drops indicate genuine model dependence.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engineered feature in the sparse Endo–Mid model. DCT04 describes a mid-frequency temporal pattern rather than a single time point.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DCT01 summarizes broad curve separation after per-curve normalization. This was the most important feature within Combined Extra Trees.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Endocardial GLS was the strongest stable clinical feature. The most stable variability feature measured circular dispersion of segmental time-to-peak.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stable list is dominated by Endo–Mid features. Baseline Endocardial GLS and one segment-timing dispersion feature also remained stable.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Combined Extra Trees, grouped shuffling caused the largest AUC loss for Endo–Mid features. Clinical features were redundant in this nonlinear combined model.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D:/us/cardiotoxicity_feature_importance_results/noncnn_feature_family_importance.csv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is deliberately concise. The detailed Markdown report contains the full feature descriptions, model-specific rankings, and interpretation cautions.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- D:/us/cardiotoxicity_feature_importance_results/noncnn_feature_family_importance.csv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aa9a26415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3aec65e194c34" /><Relationship Type="http://schemas.openxmlformats.org/officeDocument/2006/relationships/slideLayout" Target="/ppt/slideLayouts/slideLayout1.xml" Id="Rc665719a689348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5719a689348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46f2e00c4a64" /><Relationship Type="http://schemas.openxmlformats.org/officeDocument/2006/relationships/notesSlide" Target="/ppt/notesSlides/notesSlide1.xml" Id="R31e3753b3f98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b0f2f89da4ac1" /><Relationship Type="http://schemas.openxmlformats.org/officeDocument/2006/relationships/notesSlide" Target="/ppt/notesSlides/notesSlide2.xml" Id="R3c951c079e3041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815b7b154eff" /><Relationship Type="http://schemas.openxmlformats.org/officeDocument/2006/relationships/notesSlide" Target="/ppt/notesSlides/notesSlide3.xml" Id="R3619908882dc4d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ae4d8faaa4a9c" /><Relationship Type="http://schemas.openxmlformats.org/officeDocument/2006/relationships/chart" Target="/ppt/slides/charts/chart1.xml" Id="Rbfcb3d3bb09b4dbb" /><Relationship Type="http://schemas.openxmlformats.org/officeDocument/2006/relationships/notesSlide" Target="/ppt/notesSlides/notesSlide4.xml" Id="Reaece3c0e85a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316ac8cd45a0" /><Relationship Type="http://schemas.openxmlformats.org/officeDocument/2006/relationships/notesSlide" Target="/ppt/notesSlides/notesSlide5.xml" Id="R7c58a77647f74a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80f7bf3404a0e" /><Relationship Type="http://schemas.openxmlformats.org/officeDocument/2006/relationships/notesSlide" Target="/ppt/notesSlides/notesSlide6.xml" Id="R6c6d5793f51849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8963a5ea048c8" /><Relationship Type="http://schemas.openxmlformats.org/officeDocument/2006/relationships/notesSlide" Target="/ppt/notesSlides/notesSlide7.xml" Id="R6fdee74a141448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076d451144b03" /><Relationship Type="http://schemas.openxmlformats.org/officeDocument/2006/relationships/notesSlide" Target="/ppt/notesSlides/notesSlide8.xml" Id="Rb009252f65f14d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b27c01be1465a" /><Relationship Type="http://schemas.openxmlformats.org/officeDocument/2006/relationships/notesSlide" Target="/ppt/notesSlides/notesSlide9.xml" Id="R824401e26b5f43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050ebc3164006" /><Relationship Type="http://schemas.openxmlformats.org/officeDocument/2006/relationships/notesSlide" Target="/ppt/notesSlides/notesSlide10.xml" Id="R9e3d75226e444d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57b6f54cb45f2" /><Relationship Type="http://schemas.openxmlformats.org/officeDocument/2006/relationships/notesSlide" Target="/ppt/notesSlides/notesSlide11.xml" Id="Reeec0baf5e714870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AUC ×100</c:v>
          </c:tx>
          <c:spPr>
            <a:solidFill xmlns:a="http://schemas.openxmlformats.org/drawingml/2006/main">
              <a:srgbClr val="277DA1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Clinical</c:v>
              </c:pt>
              <c:pt idx="1">
                <c:v>+ Endo–Mid</c:v>
              </c:pt>
              <c:pt idx="2">
                <c:v>+ Variability</c:v>
              </c:pt>
              <c:pt idx="3">
                <c:v>Extra Trees</c:v>
              </c:pt>
            </c:strLit>
          </c:cat>
          <c:val>
            <c:numLit>
              <c:formatCode>General</c:formatCode>
              <c:ptCount val="4"/>
              <c:pt idx="0">
                <c:v>63.1</c:v>
              </c:pt>
              <c:pt idx="1">
                <c:v>64.4</c:v>
              </c:pt>
              <c:pt idx="2">
                <c:v>65</c:v>
              </c:pt>
              <c:pt idx="3">
                <c:v>67.2</c:v>
              </c:pt>
            </c:numLit>
          </c:val>
        </c:ser>
        <c:ser>
          <c:idx val="1"/>
          <c:order val="1"/>
          <c:tx>
            <c:v>AP ×100</c:v>
          </c:tx>
          <c:spPr>
            <a:solidFill xmlns:a="http://schemas.openxmlformats.org/drawingml/2006/main">
              <a:srgbClr val="F8961E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Clinical</c:v>
              </c:pt>
              <c:pt idx="1">
                <c:v>+ Endo–Mid</c:v>
              </c:pt>
              <c:pt idx="2">
                <c:v>+ Variability</c:v>
              </c:pt>
              <c:pt idx="3">
                <c:v>Extra Trees</c:v>
              </c:pt>
            </c:strLit>
          </c:cat>
          <c:val>
            <c:numLit>
              <c:formatCode>General</c:formatCode>
              <c:ptCount val="4"/>
              <c:pt idx="0">
                <c:v>28.9</c:v>
              </c:pt>
              <c:pt idx="1">
                <c:v>30.9</c:v>
              </c:pt>
              <c:pt idx="2">
                <c:v>28.8</c:v>
              </c:pt>
              <c:pt idx="3">
                <c:v>31.3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es val="autoZero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5AF40B48-7BFC-44E8-ADDF-F57E00F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WHAT PREDICTS NEXT-VISIT
CARDIOTOXICITY?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0DA9864-48D5-4E47-8C8F-1F7B250C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NON-CNN FEATURE ANALYSIS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7097AF5-1ED2-48CA-A1DE-71F2AE0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15% MID-GLS DECLINE</a:t>
            </a:r>
          </a:p>
        </p:txBody>
      </p:sp>
      <p:sp>
        <p:nvSpPr>
          <p:cNvPr id="4" name="מלבן 3">
            <a:extLst xmlns:a="http://schemas.openxmlformats.org/drawingml/2006/main">
              <a:ext uri="{FF2B5EF4-FFF2-40B4-BE49-F238E27FC236}">
                <a16:creationId xmlns:a16="http://schemas.microsoft.com/office/drawing/2014/main" id="{ECBCEA4B-7EC8-446A-ABEC-7DCC6F1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7C11DCC7-D524-4166-B3A7-47A688E0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71750"/>
            <a:ext cx="523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מלבן 5">
            <a:extLst xmlns:a="http://schemas.openxmlformats.org/drawingml/2006/main">
              <a:ext uri="{FF2B5EF4-FFF2-40B4-BE49-F238E27FC236}">
                <a16:creationId xmlns:a16="http://schemas.microsoft.com/office/drawing/2014/main" id="{5CAB7813-90CF-4F27-B81C-A301DB4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90875"/>
            <a:ext cx="5238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9976138D-2E50-4B2D-88F4-9BBB050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0"/>
            <a:ext cx="523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21227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B3D120-4FB5-456A-A72F-ECB2273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24F7C55-A2FC-4C00-8CEE-A4FC9B23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AA160EF-A6A6-469C-9132-04016B95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2DA83D1-B866-4E2F-9589-8F88337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7FE88F0-EEDF-4276-B97D-775AE3F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One-visit-ahead prediction, defined consistently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4444663-E2F1-40A0-84BB-158E8C2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0F0E91F-E8DD-4439-BE76-82A78FD7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events
49 vs 189 non-events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84FBBEC-9892-4364-9213-8002FB23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current → next
visit predictions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7DA7F46-3B6E-4295-98CC-851FBD4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9AE502F-7B05-4D8F-924C-06F2248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238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B31CA90-739E-4E01-A5B6-0B2618A6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20.6%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C3B86C4-8541-4732-B486-415AB07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TASK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At each eligible visit, use only information already available to predict whether the immediately following visit shows ≥15% relative Mid-GLS decline from the first-visit baseline.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8A016B75-F256-4AF2-9381-C023CA7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96D5F387-5DB0-4B5F-9AB1-9DE7584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F3B18462-E4C5-44BF-99D9-87C1500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8F35E679-7F53-4477-BB4C-6D2BD68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605835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B3D120-4FB5-456A-A72F-ECB2273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24F7C55-A2FC-4C00-8CEE-A4FC9B23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AA160EF-A6A6-469C-9132-04016B95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2DA83D1-B866-4E2F-9589-8F88337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7FE88F0-EEDF-4276-B97D-775AE3F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three feature families capture different information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4444663-E2F1-40A0-84BB-158E8C2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Current and first-visit GLS/EF
plus relative changes and slopes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0F0E91F-E8DD-4439-BE76-82A78FD7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Dispersion across segments in
peaks, timing, and curve behavior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84FBBEC-9892-4364-9213-8002FB23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Matched-layer amplitude, timing,
correlation, and curve-shape gaps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7DA7F46-3B6E-4295-98CC-851FBD4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330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9AE502F-7B05-4D8F-924C-06F2248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33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B31CA90-739E-4E01-A5B6-0B2618A6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300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C3B86C4-8541-4732-B486-415AB07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160"/>
              </a:spcAft>
              <a:buNone/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FEATURE FAMILIES</a:t>
            </a:r>
          </a:p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features summarize global function and trajectory. Endo–Mid features compare matched layer curves. Variability features measure disagreement among myocardial segments.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8A016B75-F256-4AF2-9381-C023CA7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96D5F387-5DB0-4B5F-9AB1-9DE7584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F3B18462-E4C5-44BF-99D9-87C1500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8F35E679-7F53-4477-BB4C-6D2BD68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605835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EF6B300-42C6-464E-8C30-685FCB4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F6783BC-4E8F-4FD8-8007-0A061420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Non-CNN model performance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E262EFF1-3765-4F0E-9123-2F1489E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A3EBCE8-1FDF-43A1-9F38-CB8C03C5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BEST AP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0.313
Combined Extra Trees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64E1EF54-FD8E-4201-9335-C1D7C06A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7A56C46-E154-436C-8D31-1D3695DF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BEST AUC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0.672
Combined Extra Trees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55452608-BF4F-4A3A-8A84-AD02BAAE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79833AA-3EA7-4A56-A028-0286ECD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REFERENCE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Random: AUC 0.500
Expected AP 0.206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cb3d3bb09b4dbb"/>
          </a:graphicData>
        </a:graphic>
      </p:graphicFrame>
      <p:sp>
        <p:nvSpPr>
          <p:cNvPr id="10" name="מלבן 9">
            <a:extLst xmlns:a="http://schemas.openxmlformats.org/drawingml/2006/main">
              <a:ext uri="{FF2B5EF4-FFF2-40B4-BE49-F238E27FC236}">
                <a16:creationId xmlns:a16="http://schemas.microsoft.com/office/drawing/2014/main" id="{8A2389DB-47F2-4B16-B872-7C526B74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: פינות מעוגלות 10">
            <a:extLst xmlns:a="http://schemas.openxmlformats.org/drawingml/2006/main">
              <a:ext uri="{FF2B5EF4-FFF2-40B4-BE49-F238E27FC236}">
                <a16:creationId xmlns:a16="http://schemas.microsoft.com/office/drawing/2014/main" id="{325E49B9-D4B0-45FE-BE6A-D12CF3C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מלבן: פינות מעוגלות 11">
            <a:extLst xmlns:a="http://schemas.openxmlformats.org/drawingml/2006/main">
              <a:ext uri="{FF2B5EF4-FFF2-40B4-BE49-F238E27FC236}">
                <a16:creationId xmlns:a16="http://schemas.microsoft.com/office/drawing/2014/main" id="{FE2772B6-52C8-4E78-9DCA-FD9BC6EB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מלבן: פינות מעוגלות 12">
            <a:extLst xmlns:a="http://schemas.openxmlformats.org/drawingml/2006/main">
              <a:ext uri="{FF2B5EF4-FFF2-40B4-BE49-F238E27FC236}">
                <a16:creationId xmlns:a16="http://schemas.microsoft.com/office/drawing/2014/main" id="{109CBEE2-27A8-4115-B5B0-624F36D7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498469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CB3E9E-4694-4A8B-BE0F-87B20D00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62B3E27-8008-4E69-84BB-5937B7BD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Feature contribution was tested on held-out patients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F556FE8-4FF0-463D-86BA-B7F1C55F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8561D35-F704-4343-8DE4-7672CB97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435407B-18D0-4408-80B9-DEAE26D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2CFE4EB-6DA5-4DB1-A381-F665BD53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  FIT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A528DF5-9227-4656-8057-3BE7536C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  SHUFFLE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594400A-6965-493D-89B8-F151C58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3  MEASURE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82BEA49-B3C7-4676-B84F-2929759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Break one feature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Randomly permute that feature in held-out patients while leaving all others unchanged.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119904B-8468-4852-8AB7-ACFAD701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Train by patient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Three repeated five-fold splits; every visit from one patient stays together.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052C798-9CB2-4A96-85CC-6629F82B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Observe the loss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decrease in AUC or AP is its predictive contribution. Patient bootstrap gives 95% CIs.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EF0994E1-C9E3-4477-9F53-E92DD259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אליפסה 13">
            <a:extLst xmlns:a="http://schemas.openxmlformats.org/drawingml/2006/main">
              <a:ext uri="{FF2B5EF4-FFF2-40B4-BE49-F238E27FC236}">
                <a16:creationId xmlns:a16="http://schemas.microsoft.com/office/drawing/2014/main" id="{FCE02F04-CC13-4DE9-8E74-D051371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אליפסה 14">
            <a:extLst xmlns:a="http://schemas.openxmlformats.org/drawingml/2006/main">
              <a:ext uri="{FF2B5EF4-FFF2-40B4-BE49-F238E27FC236}">
                <a16:creationId xmlns:a16="http://schemas.microsoft.com/office/drawing/2014/main" id="{8CDB7B99-4509-406E-932A-EB4C7AF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אליפסה 15">
            <a:extLst xmlns:a="http://schemas.openxmlformats.org/drawingml/2006/main">
              <a:ext uri="{FF2B5EF4-FFF2-40B4-BE49-F238E27FC236}">
                <a16:creationId xmlns:a16="http://schemas.microsoft.com/office/drawing/2014/main" id="{A2A8F5EB-EDF0-4707-B82D-1A6A029D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5125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30EBA43F-DBEE-4640-AFC4-09096EE0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d_tm_sd_gap_dct04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 Pair Endocardial and Mid-wall curves from each matched segment.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 At every cardiac-cycle point, compute Endo − Mid for each segment.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3. Across segments, calculate the SD of that gap, producing an SD-gap curve.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E0DF069B-C69F-434E-BC24-5F757595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86B91459-EF7F-4125-B78B-D7FDF28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Top sparse-model feature: changing Endo–Mid heterogeneity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3407252-7EA6-487D-BF66-F07FB03A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Apply the Discrete Cosine Transform and keep DCT04, a phase-dependent pattern component.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5. Subtract the previous visit: current DCT04 − previous DCT04.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Meaning: the timing pattern of layer-to-layer disagreement across segments changed—not simply that variability became larger.
ΔAUC 0.037 (95% CI 0.001–0.066); ΔAP 0.043.</a:t>
            </a:r>
          </a:p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4CE64962-9366-40B7-8D00-B66C191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אליפסה 5">
            <a:extLst xmlns:a="http://schemas.openxmlformats.org/drawingml/2006/main">
              <a:ext uri="{FF2B5EF4-FFF2-40B4-BE49-F238E27FC236}">
                <a16:creationId xmlns:a16="http://schemas.microsoft.com/office/drawing/2014/main" id="{297B2438-F149-430B-B718-FED2833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E05D2BFF-06E0-47CD-9AA4-85FBC98F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 xmlns:a="http://schemas.openxmlformats.org/drawingml/2006/main">
              <a:ext uri="{FF2B5EF4-FFF2-40B4-BE49-F238E27FC236}">
                <a16:creationId xmlns:a16="http://schemas.microsoft.com/office/drawing/2014/main" id="{CBA79293-482C-46EA-86AD-58CB63F2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0B17D603-B41B-45FE-9C3D-D2FDFF4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 xmlns:a="http://schemas.openxmlformats.org/drawingml/2006/main">
              <a:ext uri="{FF2B5EF4-FFF2-40B4-BE49-F238E27FC236}">
                <a16:creationId xmlns:a16="http://schemas.microsoft.com/office/drawing/2014/main" id="{60BFA4BE-1745-4F6A-9AFF-FA16F9F8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CC5B53CD-EA1B-445C-A448-AD4596E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2527479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45231647-6D9A-4AC9-92A3-1AE9CCD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cur_tm_mean_shape_gap_dct01
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 Normalize each Endocardial curve by its own maximum absolute amplitude.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 Normalize the matched Mid-wall curve the same way.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3. Compute normalized Endo − Mid at each time point and average across segments.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4794786A-6392-4121-8442-D46F0430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4931639F-54FA-43EC-9497-94A50C88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Top Extra Trees feature: normalized layer separation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EC24040A-93C9-49BB-B1EC-0C45842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Apply the DCT and keep DCT01—the broad average level of the shape-gap curve.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Because amplitude is normalized first, the feature emphasizes shape differences more than strain magnitude.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Meaning: systematic separation between Endocardial and Mid-wall contraction patterns at the current visit. Extra Trees uses nonlinear thresholds, so there is no single global risk direction.
ΔAUC 0.017 (95% CI 0.008–0.026); ΔAP 0.020.</a:t>
            </a:r>
          </a:p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E915F722-55D2-421D-8A68-583E11C5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אליפסה 5">
            <a:extLst xmlns:a="http://schemas.openxmlformats.org/drawingml/2006/main">
              <a:ext uri="{FF2B5EF4-FFF2-40B4-BE49-F238E27FC236}">
                <a16:creationId xmlns:a16="http://schemas.microsoft.com/office/drawing/2014/main" id="{D964E3FE-32E9-4E3E-8DA7-77D6FC9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544F5733-1A3A-47AA-A7C3-713C110B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 xmlns:a="http://schemas.openxmlformats.org/drawingml/2006/main">
              <a:ext uri="{FF2B5EF4-FFF2-40B4-BE49-F238E27FC236}">
                <a16:creationId xmlns:a16="http://schemas.microsoft.com/office/drawing/2014/main" id="{3F364623-5729-4592-A35C-5E23E52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50160B5C-4222-4D9A-ADF3-5714E602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 xmlns:a="http://schemas.openxmlformats.org/drawingml/2006/main">
              <a:ext uri="{FF2B5EF4-FFF2-40B4-BE49-F238E27FC236}">
                <a16:creationId xmlns:a16="http://schemas.microsoft.com/office/drawing/2014/main" id="{356281ED-900D-4E28-A4D6-97473A2D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3437A605-AFB9-45B7-B241-3126FF6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21171215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8A939EB4-02FB-4AB0-B581-3F3FE15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CLINICAL  •  first_endo_gls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Absolute magnitude of first-visit Endocardial GLS: |baseline Endo-GLS|.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Example: −21.4% becomes 21.4% and is carried forward for that patient.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ΔAUC 0.018 (95% CI 0.003–0.035). Its direction may reflect reserve, correlation, or regression to the mean—not causality.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5EE4D9B4-B104-4A3A-95DD-56EC2FB6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37EC0576-A004-4EC4-980A-1E9AAC2D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Clinical GLS was useful; segment variability was weaker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203DD44-302D-41EC-B9D5-5F901B15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VARIABILITY  •  Endo time-to-peak dispersion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For each Endocardial segment, obtain normalized time-to-peak. Because cardiac time is cyclic, summarize their spread with circular SD.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Meaning: how synchronized—or dispersed—the segments are in reaching peak strain.
ΔAUC 0.008 (95% CI 0.003–0.014); ΔAP 0.007. Positive but smaller than the leading Endo–Mid signals.</a:t>
            </a:r>
          </a:p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CF131ACA-18D2-4AA9-9B0A-9CD4751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אליפסה 5">
            <a:extLst xmlns:a="http://schemas.openxmlformats.org/drawingml/2006/main">
              <a:ext uri="{FF2B5EF4-FFF2-40B4-BE49-F238E27FC236}">
                <a16:creationId xmlns:a16="http://schemas.microsoft.com/office/drawing/2014/main" id="{C15FCB84-E975-4D23-BBB2-F189DEC0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B35B79FE-ABE2-4FE2-944C-92C2FFF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 xmlns:a="http://schemas.openxmlformats.org/drawingml/2006/main">
              <a:ext uri="{FF2B5EF4-FFF2-40B4-BE49-F238E27FC236}">
                <a16:creationId xmlns:a16="http://schemas.microsoft.com/office/drawing/2014/main" id="{7ABC106E-D671-4E55-9D96-FA58F04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6BBE4ACF-F944-4A65-989E-ACC6E85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 xmlns:a="http://schemas.openxmlformats.org/drawingml/2006/main">
              <a:ext uri="{FF2B5EF4-FFF2-40B4-BE49-F238E27FC236}">
                <a16:creationId xmlns:a16="http://schemas.microsoft.com/office/drawing/2014/main" id="{7772A452-E72E-4571-8F74-C3CDA615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A69785A4-CAA9-4830-8391-CCB3BC1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9575973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49A160D-D21B-4A51-8B3E-8FDEF19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7EA62E-B723-4CDB-96C8-3D22778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Six features had stable positive held-out AUC importance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6A76528-E5F5-45E2-B551-2FD17B9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RANKING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ΔAUC is the performance lost after shuffling the feature. Only patient-bootstrap intervals entirely above zero are shown.</a:t>
            </a:r>
          </a:p>
        </p:txBody>
      </p:sp>
      <p:graphicFrame>
        <p:nvGraphicFramePr>
          <p:cNvPr id="1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6723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428750"/>
                <a:gridCol w="2143125"/>
                <a:gridCol w="1143000"/>
                <a:gridCol w="2498693"/>
              </a:tblGrid>
              <a:tr h="561798">
                <a:tc>
                  <a:txBody>
                    <a:bodyPr/>
                    <a:lstStyle/>
                    <a:p>
                      <a:r>
                        <a:rPr sz="1600"/>
                        <a:t>Plain-language feature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Family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ΔAUC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95% CI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Change in phase pattern of segmental layer-gap variability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Clinical </a:t>
                      </a:r>
                      <a:r>
                        <a:rPr sz="1600"/>
                        <a:t>+ 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0.001–0.066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Baseline Endocardial GLS magnitude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Clinical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Clinical ridge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0.003–0.035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Overall normalized Endo–Mid shape separation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0.008–0.026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Finer temporal pattern of normalized shape separation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0.002–0.015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Endocardial segment time-to-peak dispersion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Variability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0.003–0.014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Change in mean vendor Endo–Mid peak gap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0.001–0.010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6EC5626C-7A15-4D59-8AA7-F686BDA1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מלבן 5">
            <a:extLst xmlns:a="http://schemas.openxmlformats.org/drawingml/2006/main">
              <a:ext uri="{FF2B5EF4-FFF2-40B4-BE49-F238E27FC236}">
                <a16:creationId xmlns:a16="http://schemas.microsoft.com/office/drawing/2014/main" id="{849562F4-0B68-47F0-B1BB-F0961377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51043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5DF4A053-36A4-49AA-9408-997099F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12841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מלבן 7">
            <a:extLst xmlns:a="http://schemas.openxmlformats.org/drawingml/2006/main">
              <a:ext uri="{FF2B5EF4-FFF2-40B4-BE49-F238E27FC236}">
                <a16:creationId xmlns:a16="http://schemas.microsoft.com/office/drawing/2014/main" id="{C04EBCBE-0143-4F6A-938F-1A6FB155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74639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ABD7E25E-084B-4412-8076-6A38B21F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36438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מלבן 9">
            <a:extLst xmlns:a="http://schemas.openxmlformats.org/drawingml/2006/main">
              <a:ext uri="{FF2B5EF4-FFF2-40B4-BE49-F238E27FC236}">
                <a16:creationId xmlns:a16="http://schemas.microsoft.com/office/drawing/2014/main" id="{BCC79F3D-3436-4498-B230-1A2A13AD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98236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0CE077EA-4CCB-463F-B897-52A93FC6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60034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מלבן 11">
            <a:extLst xmlns:a="http://schemas.openxmlformats.org/drawingml/2006/main">
              <a:ext uri="{FF2B5EF4-FFF2-40B4-BE49-F238E27FC236}">
                <a16:creationId xmlns:a16="http://schemas.microsoft.com/office/drawing/2014/main" id="{922CCF5C-81FB-4323-A45D-650187F1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21832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015865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3015A94-7057-4C77-8330-48CC7CB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03BB707-573E-4A6B-AA83-897E66E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A99CCF0-8CEC-4BD8-807C-62B39E3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939C93C-D67F-4AAA-B7C7-680A6C5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1A95340-6E17-41DF-89A0-F26D9B3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At family level, Endo–Mid carried the clearest signal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C9C1D5F-AFF8-45D8-962E-B981BFEE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
ΔAUC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DD05AF9-0454-4003-B87B-F3EE239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
ΔAUC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D2EF529-CD7A-4AEA-9F64-3CCE92F3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
ΔAUC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20D54F7-0F7E-49A4-8B8E-3EAFD07C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−0.008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8CE62CF-948F-4685-943A-0E4D7C5A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+0.054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F8B3933-D40B-44B6-BB64-9E777E28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+0.016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6EB980C-DE75-4288-A760-A2871FA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COMBINED EXTRA TREES • FAMILY PERMUTATION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All features from one family were shuffled together. This captures contribution even when correlated features can substitute for one another.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65AEEB9B-496A-4FC6-BB8B-C5E827F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EE52B2EE-846E-45C1-9234-D05482F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35395B1D-D3FA-47D6-B501-B01608D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F2FC61F3-B208-421C-BAEA-991F8FF4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4919594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25BC475-A9DC-4F8D-9771-2EF308F7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FE1512A-089A-4790-946C-C8E23BBE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F2F1771-DBAB-4CEC-A036-2E6BC82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8F0E2C1-635D-4916-86E2-AEC415A8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5D763CD-9D18-4DF1-9EC1-34DC7D60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1F4CF52-3595-44E8-BA24-C46A5CDD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First-visit baseline
One-visit-ahead target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9B477D2-0BC1-4E68-BD5B-CD617FDB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 DCT cautiously
Validate externally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89E9C5D-9594-46D2-BC1C-B54B959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Prioritize Endo–Mid
shape + change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DEC93B9-4DA5-4E08-B95F-EF67E0EF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AA51B4A-E1FF-4788-8A0F-DDD7907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87B15BF-4C37-4C9C-A0DF-5DCF71D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C4C3200-EC7A-4920-BDD9-5C765DAA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TAKE-HOME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results support the Endo–Mid hypothesis more strongly than the inter-segment variability hypothesis, but the gain over clinical prediction remains modest.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DCAE9BC0-989E-4BCB-BA1A-FFD532B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763657D9-D51D-420B-87F1-0E27F9BF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D8AB3DB3-1A41-48D2-A8D8-4FEDCE0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6C4F3230-CE0F-49C1-BD49-6503A73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444588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2026-08-03T10:46:59.7420000Z</dcterms:created>
  <dcterms:modified xsi:type="dcterms:W3CDTF">2026-08-03T10:46:59.7420000Z</dcterms:modified>
</coreProperties>
</file>