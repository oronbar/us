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496" autoAdjust="0"/>
  </p:normalViewPr>
  <p:slideViewPr>
    <p:cSldViewPr snapToGrid="0">
      <p:cViewPr varScale="1">
        <p:scale>
          <a:sx n="60" d="100"/>
          <a:sy n="60" d="100"/>
        </p:scale>
        <p:origin x="8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AUC ×100</c:v>
          </c:tx>
          <c:spPr>
            <a:solidFill>
              <a:srgbClr val="277DA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Clinical</c:v>
              </c:pt>
              <c:pt idx="1">
                <c:v>+ Endo–Mid</c:v>
              </c:pt>
              <c:pt idx="2">
                <c:v>+ Variability</c:v>
              </c:pt>
              <c:pt idx="3">
                <c:v>Extra Trees</c:v>
              </c:pt>
            </c:strLit>
          </c:cat>
          <c:val>
            <c:numLit>
              <c:formatCode>General</c:formatCode>
              <c:ptCount val="4"/>
              <c:pt idx="0">
                <c:v>63.1</c:v>
              </c:pt>
              <c:pt idx="1">
                <c:v>64.400000000000006</c:v>
              </c:pt>
              <c:pt idx="2">
                <c:v>65</c:v>
              </c:pt>
              <c:pt idx="3">
                <c:v>67.2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371-44A4-A3DC-40A000A5D573}"/>
            </c:ext>
          </c:extLst>
        </c:ser>
        <c:ser>
          <c:idx val="1"/>
          <c:order val="1"/>
          <c:tx>
            <c:v>AP ×100</c:v>
          </c:tx>
          <c:spPr>
            <a:solidFill>
              <a:srgbClr val="F8961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Clinical</c:v>
              </c:pt>
              <c:pt idx="1">
                <c:v>+ Endo–Mid</c:v>
              </c:pt>
              <c:pt idx="2">
                <c:v>+ Variability</c:v>
              </c:pt>
              <c:pt idx="3">
                <c:v>Extra Trees</c:v>
              </c:pt>
            </c:strLit>
          </c:cat>
          <c:val>
            <c:numLit>
              <c:formatCode>General</c:formatCode>
              <c:ptCount val="4"/>
              <c:pt idx="0">
                <c:v>28.9</c:v>
              </c:pt>
              <c:pt idx="1">
                <c:v>30.9</c:v>
              </c:pt>
              <c:pt idx="2">
                <c:v>28.8</c:v>
              </c:pt>
              <c:pt idx="3">
                <c:v>31.3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371-44A4-A3DC-40A000A5D5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he-IL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5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he-IL"/>
          </a:p>
        </c:txPr>
        <c:crossAx val="48650112"/>
        <c:crosses val="autoZero"/>
        <c:crossBetween val="between"/>
        <c:majorUnit val="15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concise presentation of the non-CNN feature-importance analysis.</a:t>
            </a:r>
          </a:p>
          <a:p>
            <a:endParaRPr/>
          </a:p>
          <a:p>
            <a:r>
              <a:t>[Sources]</a:t>
            </a:r>
          </a:p>
          <a:p>
            <a:r>
              <a:t>- D:/us/cardiotoxicity_feature_importance_results/noncnn_feature_importance_report.md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unit is a current-to-next-visit transition, and all transitions from a patient stay in the same held-out fold.</a:t>
            </a:r>
          </a:p>
          <a:p>
            <a:endParaRPr/>
          </a:p>
          <a:p>
            <a:r>
              <a:t>[Sources]</a:t>
            </a:r>
          </a:p>
          <a:p>
            <a:r>
              <a:t>- D:/us/cardiotoxicity_feature_importance_results/noncnn_feature_importance_report.md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AUC improved from 0.631 for the clinical ridge to 0.672 for Combined Extra Trees. AP improved from 0.289 to 0.313; the event-rate reference is 0.206.</a:t>
            </a:r>
          </a:p>
          <a:p>
            <a:endParaRPr/>
          </a:p>
          <a:p>
            <a:r>
              <a:t>[Sources]</a:t>
            </a:r>
          </a:p>
          <a:p>
            <a:r>
              <a:t>- D:/us/cardiotoxicity_feature_importance_results/noncnn_feature_importance_report.md</a:t>
            </a:r>
          </a:p>
          <a:p>
            <a:r>
              <a:t>- D:/us/cardiotoxicity_feature_importance_results/noncnn_base_metric_reproduction.csv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Permutation importance asks whether held-out prediction gets worse when one feature is made uninformative. Positive drops indicate genuine model dependence.</a:t>
            </a:r>
          </a:p>
          <a:p>
            <a:endParaRPr/>
          </a:p>
          <a:p>
            <a:r>
              <a:t>[Sources]</a:t>
            </a:r>
          </a:p>
          <a:p>
            <a:r>
              <a:t>- D:/us/cardiotoxicity_feature_importance_results/noncnn_feature_importance_report.md</a:t>
            </a:r>
          </a:p>
          <a:p>
            <a:r>
              <a:t>- D:/us/cardiotoxicity_feature_importance_results/noncnn_feature_importance_top.csv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strongest engineered feature in the sparse Endo–Mid model. DCT04 describes a mid-frequency temporal pattern rather than a single time point.</a:t>
            </a:r>
          </a:p>
          <a:p>
            <a:endParaRPr/>
          </a:p>
          <a:p>
            <a:r>
              <a:t>[Sources]</a:t>
            </a:r>
          </a:p>
          <a:p>
            <a:r>
              <a:t>- D:/us/cardiotoxicity_feature_importance_results/noncnn_feature_importance_report.md</a:t>
            </a:r>
          </a:p>
          <a:p>
            <a:r>
              <a:t>- D:/us/cardiotoxicity_feature_importance_results/noncnn_feature_importance_top.csv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DCT01 summarizes broad curve separation after per-curve normalization. This was the most important feature within Combined Extra Trees.</a:t>
            </a:r>
          </a:p>
          <a:p>
            <a:endParaRPr/>
          </a:p>
          <a:p>
            <a:r>
              <a:t>[Sources]</a:t>
            </a:r>
          </a:p>
          <a:p>
            <a:r>
              <a:t>- D:/us/cardiotoxicity_feature_importance_results/noncnn_feature_importance_report.md</a:t>
            </a:r>
          </a:p>
          <a:p>
            <a:r>
              <a:t>- D:/us/cardiotoxicity_feature_importance_results/noncnn_feature_importance_top.csv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Baseline Endocardial GLS was the strongest stable clinical feature. The most stable variability feature measured circular dispersion of segmental time-to-peak.</a:t>
            </a:r>
          </a:p>
          <a:p>
            <a:endParaRPr/>
          </a:p>
          <a:p>
            <a:r>
              <a:t>[Sources]</a:t>
            </a:r>
          </a:p>
          <a:p>
            <a:r>
              <a:t>- D:/us/cardiotoxicity_feature_importance_results/noncnn_feature_importance_report.md</a:t>
            </a:r>
          </a:p>
          <a:p>
            <a:r>
              <a:t>- D:/us/cardiotoxicity_feature_importance_results/noncnn_feature_importance_top.csv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stable list is dominated by Endo–Mid features. Baseline Endocardial GLS and one segment-timing dispersion feature also remained stable.</a:t>
            </a:r>
          </a:p>
          <a:p>
            <a:endParaRPr/>
          </a:p>
          <a:p>
            <a:r>
              <a:t>[Sources]</a:t>
            </a:r>
          </a:p>
          <a:p>
            <a:r>
              <a:t>- D:/us/cardiotoxicity_feature_importance_results/noncnn_feature_importance_report.md</a:t>
            </a:r>
          </a:p>
          <a:p>
            <a:r>
              <a:t>- D:/us/cardiotoxicity_feature_importance_results/noncnn_feature_importance_top.csv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Combined Extra Trees, grouped shuffling caused the largest AUC loss for Endo–Mid features. Clinical features were redundant in this nonlinear combined model.</a:t>
            </a:r>
          </a:p>
          <a:p>
            <a:endParaRPr/>
          </a:p>
          <a:p>
            <a:r>
              <a:t>[Sources]</a:t>
            </a:r>
          </a:p>
          <a:p>
            <a:r>
              <a:t>- D:/us/cardiotoxicity_feature_importance_results/noncnn_feature_importance_report.md</a:t>
            </a:r>
          </a:p>
          <a:p>
            <a:r>
              <a:t>- D:/us/cardiotoxicity_feature_importance_results/noncnn_feature_family_importance.csv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deck is deliberately concise. The detailed Markdown report contains the full feature descriptions, model-specific rankings, and interpretation cautions.</a:t>
            </a:r>
          </a:p>
          <a:p>
            <a:endParaRPr/>
          </a:p>
          <a:p>
            <a:r>
              <a:t>[Sources]</a:t>
            </a:r>
          </a:p>
          <a:p>
            <a:r>
              <a:t>- D:/us/cardiotoxicity_feature_importance_results/noncnn_feature_importance_report.md</a:t>
            </a:r>
          </a:p>
          <a:p>
            <a:r>
              <a:t>- D:/us/cardiotoxicity_feature_importance_results/noncnn_feature_importance_top.csv</a:t>
            </a:r>
          </a:p>
          <a:p>
            <a:r>
              <a:t>- D:/us/cardiotoxicity_feature_importance_results/noncnn_feature_family_importance.csv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3-1">
            <a:extLst>
              <a:ext uri="{FF2B5EF4-FFF2-40B4-BE49-F238E27FC236}">
                <a16:creationId xmlns:a16="http://schemas.microsoft.com/office/drawing/2014/main" id="{5AF40B48-7BFC-44E8-ADDF-F57E00F1323A}"/>
              </a:ext>
            </a:extLst>
          </p:cNvPr>
          <p:cNvSpPr>
            <a:spLocks noGrp="1"/>
          </p:cNvSpPr>
          <p:nvPr/>
        </p:nvSpPr>
        <p:spPr>
          <a:xfrm>
            <a:off x="393668" y="2579942"/>
            <a:ext cx="9448800" cy="36242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WHAT PREDICTS NEXT-VISIT
CARDIOTOXICITY?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D0DA9864-48D5-4E47-8C8F-1F7B250C13CC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6157817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NON-CNN FEATURE ANALYSIS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07097AF5-1ED2-48CA-A1DE-71F2AE0F7191}"/>
              </a:ext>
            </a:extLst>
          </p:cNvPr>
          <p:cNvSpPr>
            <a:spLocks noGrp="1"/>
          </p:cNvSpPr>
          <p:nvPr/>
        </p:nvSpPr>
        <p:spPr>
          <a:xfrm>
            <a:off x="7886700" y="392240"/>
            <a:ext cx="39116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15% MID-GLS DECLINE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ECBCEA4B-7EC8-446A-ABEC-7DCC6F1552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7C11DCC7-D524-4166-B3A7-47A688E02463}"/>
              </a:ext>
            </a:extLst>
          </p:cNvPr>
          <p:cNvSpPr>
            <a:spLocks noGrp="1"/>
          </p:cNvSpPr>
          <p:nvPr/>
        </p:nvSpPr>
        <p:spPr>
          <a:xfrm>
            <a:off x="10048875" y="2571750"/>
            <a:ext cx="523875" cy="2190750"/>
          </a:xfrm>
          <a:prstGeom prst="rect">
            <a:avLst/>
          </a:prstGeom>
          <a:solidFill>
            <a:srgbClr val="277DA1"/>
          </a:solidFill>
          <a:ln w="0">
            <a:solidFill>
              <a:srgbClr val="277DA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5CAB7813-90CF-4F27-B81C-A301DB456378}"/>
              </a:ext>
            </a:extLst>
          </p:cNvPr>
          <p:cNvSpPr>
            <a:spLocks noGrp="1"/>
          </p:cNvSpPr>
          <p:nvPr/>
        </p:nvSpPr>
        <p:spPr>
          <a:xfrm>
            <a:off x="10668000" y="3190875"/>
            <a:ext cx="523875" cy="1571625"/>
          </a:xfrm>
          <a:prstGeom prst="rect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976138D-2E50-4B2D-88F4-9BBB05055E8B}"/>
              </a:ext>
            </a:extLst>
          </p:cNvPr>
          <p:cNvSpPr>
            <a:spLocks noGrp="1"/>
          </p:cNvSpPr>
          <p:nvPr/>
        </p:nvSpPr>
        <p:spPr>
          <a:xfrm>
            <a:off x="11287125" y="3810000"/>
            <a:ext cx="523875" cy="952500"/>
          </a:xfrm>
          <a:prstGeom prst="rect">
            <a:avLst/>
          </a:prstGeom>
          <a:solidFill>
            <a:srgbClr val="43AA8B"/>
          </a:solidFill>
          <a:ln w="0">
            <a:solidFill>
              <a:srgbClr val="43AA8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1227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-Rectangle-5-1">
            <a:extLst>
              <a:ext uri="{FF2B5EF4-FFF2-40B4-BE49-F238E27FC236}">
                <a16:creationId xmlns:a16="http://schemas.microsoft.com/office/drawing/2014/main" id="{C5B3D120-4FB5-456A-A72F-ECB2273FCF2D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2" name="Rounded-Rectangle-6-2">
            <a:extLst>
              <a:ext uri="{FF2B5EF4-FFF2-40B4-BE49-F238E27FC236}">
                <a16:creationId xmlns:a16="http://schemas.microsoft.com/office/drawing/2014/main" id="{224F7C55-A2FC-4C00-8CEE-A4FC9B23687D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3" name="Rounded-Rectangle-7-3">
            <a:extLst>
              <a:ext uri="{FF2B5EF4-FFF2-40B4-BE49-F238E27FC236}">
                <a16:creationId xmlns:a16="http://schemas.microsoft.com/office/drawing/2014/main" id="{DAA160EF-A6A6-469C-9132-04016B951BCE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4" name="Slide-Number-Placeholder-1-4">
            <a:extLst>
              <a:ext uri="{FF2B5EF4-FFF2-40B4-BE49-F238E27FC236}">
                <a16:creationId xmlns:a16="http://schemas.microsoft.com/office/drawing/2014/main" id="{A2DA83D1-B866-4E2F-9589-8F88337996F1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>
              <a:ext uri="{FF2B5EF4-FFF2-40B4-BE49-F238E27FC236}">
                <a16:creationId xmlns:a16="http://schemas.microsoft.com/office/drawing/2014/main" id="{67FE88F0-EEDF-4276-B97D-775AE3FBFA9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One-visit-ahead prediction, defined consistently</a:t>
            </a:r>
          </a:p>
        </p:txBody>
      </p:sp>
      <p:sp>
        <p:nvSpPr>
          <p:cNvPr id="6" name="Content-Placeholder-9-6">
            <a:extLst>
              <a:ext uri="{FF2B5EF4-FFF2-40B4-BE49-F238E27FC236}">
                <a16:creationId xmlns:a16="http://schemas.microsoft.com/office/drawing/2014/main" id="{84444663-E2F1-40A0-84BB-158E8C250BE3}"/>
              </a:ext>
            </a:extLst>
          </p:cNvPr>
          <p:cNvSpPr>
            <a:spLocks noGrp="1"/>
          </p:cNvSpPr>
          <p:nvPr/>
        </p:nvSpPr>
        <p:spPr>
          <a:xfrm>
            <a:off x="70237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patients</a:t>
            </a:r>
          </a:p>
        </p:txBody>
      </p:sp>
      <p:sp>
        <p:nvSpPr>
          <p:cNvPr id="7" name="Content-Placeholder-10-7">
            <a:extLst>
              <a:ext uri="{FF2B5EF4-FFF2-40B4-BE49-F238E27FC236}">
                <a16:creationId xmlns:a16="http://schemas.microsoft.com/office/drawing/2014/main" id="{F0F0E91F-E8DD-4439-BE76-82A78FD78994}"/>
              </a:ext>
            </a:extLst>
          </p:cNvPr>
          <p:cNvSpPr>
            <a:spLocks noGrp="1"/>
          </p:cNvSpPr>
          <p:nvPr/>
        </p:nvSpPr>
        <p:spPr>
          <a:xfrm>
            <a:off x="8541830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events
49 vs 189 non-events</a:t>
            </a:r>
          </a:p>
        </p:txBody>
      </p:sp>
      <p:sp>
        <p:nvSpPr>
          <p:cNvPr id="8" name="Content-Placeholder-11-8">
            <a:extLst>
              <a:ext uri="{FF2B5EF4-FFF2-40B4-BE49-F238E27FC236}">
                <a16:creationId xmlns:a16="http://schemas.microsoft.com/office/drawing/2014/main" id="{D84FBBEC-9892-4364-9213-8002FB238D52}"/>
              </a:ext>
            </a:extLst>
          </p:cNvPr>
          <p:cNvSpPr>
            <a:spLocks noGrp="1"/>
          </p:cNvSpPr>
          <p:nvPr/>
        </p:nvSpPr>
        <p:spPr>
          <a:xfrm>
            <a:off x="462124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current → next
visit predictions</a:t>
            </a:r>
          </a:p>
        </p:txBody>
      </p:sp>
      <p:sp>
        <p:nvSpPr>
          <p:cNvPr id="9" name="Content-Placeholder-9-9">
            <a:extLst>
              <a:ext uri="{FF2B5EF4-FFF2-40B4-BE49-F238E27FC236}">
                <a16:creationId xmlns:a16="http://schemas.microsoft.com/office/drawing/2014/main" id="{C7DA7F46-3B6E-4295-98CC-851FBD4B128E}"/>
              </a:ext>
            </a:extLst>
          </p:cNvPr>
          <p:cNvSpPr>
            <a:spLocks noGrp="1"/>
          </p:cNvSpPr>
          <p:nvPr/>
        </p:nvSpPr>
        <p:spPr>
          <a:xfrm>
            <a:off x="70237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10" name="Content-Placeholder-9-10">
            <a:extLst>
              <a:ext uri="{FF2B5EF4-FFF2-40B4-BE49-F238E27FC236}">
                <a16:creationId xmlns:a16="http://schemas.microsoft.com/office/drawing/2014/main" id="{59AE502F-7B05-4D8F-924C-06F2248551E3}"/>
              </a:ext>
            </a:extLst>
          </p:cNvPr>
          <p:cNvSpPr>
            <a:spLocks noGrp="1"/>
          </p:cNvSpPr>
          <p:nvPr/>
        </p:nvSpPr>
        <p:spPr>
          <a:xfrm>
            <a:off x="4612958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238</a:t>
            </a:r>
          </a:p>
        </p:txBody>
      </p:sp>
      <p:sp>
        <p:nvSpPr>
          <p:cNvPr id="11" name="Content-Placeholder-9-11">
            <a:extLst>
              <a:ext uri="{FF2B5EF4-FFF2-40B4-BE49-F238E27FC236}">
                <a16:creationId xmlns:a16="http://schemas.microsoft.com/office/drawing/2014/main" id="{7B31CA90-739E-4E01-A5B6-0B2618A62044}"/>
              </a:ext>
            </a:extLst>
          </p:cNvPr>
          <p:cNvSpPr>
            <a:spLocks noGrp="1"/>
          </p:cNvSpPr>
          <p:nvPr/>
        </p:nvSpPr>
        <p:spPr>
          <a:xfrm>
            <a:off x="856240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20.6%</a:t>
            </a:r>
          </a:p>
        </p:txBody>
      </p:sp>
      <p:sp>
        <p:nvSpPr>
          <p:cNvPr id="12" name="Content-Placeholder-15-12">
            <a:extLst>
              <a:ext uri="{FF2B5EF4-FFF2-40B4-BE49-F238E27FC236}">
                <a16:creationId xmlns:a16="http://schemas.microsoft.com/office/drawing/2014/main" id="{DC3B86C4-8541-4732-B486-415AB070F6E8}"/>
              </a:ext>
            </a:extLst>
          </p:cNvPr>
          <p:cNvSpPr>
            <a:spLocks noGrp="1"/>
          </p:cNvSpPr>
          <p:nvPr/>
        </p:nvSpPr>
        <p:spPr>
          <a:xfrm>
            <a:off x="393668" y="1138333"/>
            <a:ext cx="11404568" cy="159943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TASK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At each eligible visit, use only information already available to predict whether the immediately following visit shows ≥15% relative Mid-GLS decline from the first-visit baseline.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8A016B75-F256-4AF2-9381-C023CA7792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96D5F387-5DB0-4B5F-9AB1-9DE75842E787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95250"/>
          </a:xfrm>
          <a:prstGeom prst="roundRect">
            <a:avLst>
              <a:gd name="adj" fmla="val 50000"/>
            </a:avLst>
          </a:prstGeom>
          <a:solidFill>
            <a:srgbClr val="277DA1"/>
          </a:solidFill>
          <a:ln w="0">
            <a:solidFill>
              <a:srgbClr val="277DA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F3B18462-E4C5-44BF-99D9-87C150099825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95250"/>
          </a:xfrm>
          <a:prstGeom prst="roundRect">
            <a:avLst>
              <a:gd name="adj" fmla="val 50000"/>
            </a:avLst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8F35E679-7F53-4477-BB4C-6D2BD687BC40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95250"/>
          </a:xfrm>
          <a:prstGeom prst="roundRect">
            <a:avLst>
              <a:gd name="adj" fmla="val 50000"/>
            </a:avLst>
          </a:prstGeom>
          <a:solidFill>
            <a:srgbClr val="43AA8B"/>
          </a:solidFill>
          <a:ln w="0">
            <a:solidFill>
              <a:srgbClr val="43AA8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583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-Shape-532-p58-2">
            <a:extLst>
              <a:ext uri="{FF2B5EF4-FFF2-40B4-BE49-F238E27FC236}">
                <a16:creationId xmlns:a16="http://schemas.microsoft.com/office/drawing/2014/main" id="{7EF6B300-42C6-464E-8C30-685FCB4FBB32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FF6783BC-4E8F-4FD8-8007-0A06142074C5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Non-CNN model performance</a:t>
            </a:r>
          </a:p>
        </p:txBody>
      </p:sp>
      <p:sp>
        <p:nvSpPr>
          <p:cNvPr id="3" name="Rounded-Rectangle-6-4">
            <a:extLst>
              <a:ext uri="{FF2B5EF4-FFF2-40B4-BE49-F238E27FC236}">
                <a16:creationId xmlns:a16="http://schemas.microsoft.com/office/drawing/2014/main" id="{E262EFF1-3765-4F0E-9123-2F1489E8FFF1}"/>
              </a:ext>
            </a:extLst>
          </p:cNvPr>
          <p:cNvSpPr>
            <a:spLocks noGrp="1"/>
          </p:cNvSpPr>
          <p:nvPr/>
        </p:nvSpPr>
        <p:spPr>
          <a:xfrm>
            <a:off x="6264402" y="2369820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9A3EBCE8-1FDF-43A1-9F38-CB8C03C54A15}"/>
              </a:ext>
            </a:extLst>
          </p:cNvPr>
          <p:cNvSpPr>
            <a:spLocks noGrp="1"/>
          </p:cNvSpPr>
          <p:nvPr/>
        </p:nvSpPr>
        <p:spPr>
          <a:xfrm>
            <a:off x="6561677" y="2664809"/>
            <a:ext cx="4986909" cy="104841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1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BEST AP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0.313
Combined Extra Trees</a:t>
            </a:r>
          </a:p>
        </p:txBody>
      </p:sp>
      <p:sp>
        <p:nvSpPr>
          <p:cNvPr id="5" name="Rounded-Rectangle-8-6">
            <a:extLst>
              <a:ext uri="{FF2B5EF4-FFF2-40B4-BE49-F238E27FC236}">
                <a16:creationId xmlns:a16="http://schemas.microsoft.com/office/drawing/2014/main" id="{64E1EF54-FD8E-4201-9335-C1D7C06ADBD7}"/>
              </a:ext>
            </a:extLst>
          </p:cNvPr>
          <p:cNvSpPr>
            <a:spLocks noGrp="1"/>
          </p:cNvSpPr>
          <p:nvPr/>
        </p:nvSpPr>
        <p:spPr>
          <a:xfrm>
            <a:off x="6264402" y="393668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E7A56C46-E154-436C-8D31-1D3695DF0EF1}"/>
              </a:ext>
            </a:extLst>
          </p:cNvPr>
          <p:cNvSpPr>
            <a:spLocks noGrp="1"/>
          </p:cNvSpPr>
          <p:nvPr/>
        </p:nvSpPr>
        <p:spPr>
          <a:xfrm>
            <a:off x="6561677" y="688658"/>
            <a:ext cx="4986909" cy="104841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1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BEST AUC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0.672
Combined Extra Trees</a:t>
            </a:r>
          </a:p>
        </p:txBody>
      </p:sp>
      <p:sp>
        <p:nvSpPr>
          <p:cNvPr id="7" name="Rounded-Rectangle-1-8">
            <a:extLst>
              <a:ext uri="{FF2B5EF4-FFF2-40B4-BE49-F238E27FC236}">
                <a16:creationId xmlns:a16="http://schemas.microsoft.com/office/drawing/2014/main" id="{55452608-BF4F-4A3A-8A84-AD02BAAE2CC3}"/>
              </a:ext>
            </a:extLst>
          </p:cNvPr>
          <p:cNvSpPr>
            <a:spLocks noGrp="1"/>
          </p:cNvSpPr>
          <p:nvPr/>
        </p:nvSpPr>
        <p:spPr>
          <a:xfrm>
            <a:off x="6264402" y="4381500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8" name="Content-Placeholder-10-9">
            <a:extLst>
              <a:ext uri="{FF2B5EF4-FFF2-40B4-BE49-F238E27FC236}">
                <a16:creationId xmlns:a16="http://schemas.microsoft.com/office/drawing/2014/main" id="{779833AA-3EA7-4A56-A028-0286ECDF38C3}"/>
              </a:ext>
            </a:extLst>
          </p:cNvPr>
          <p:cNvSpPr>
            <a:spLocks noGrp="1"/>
          </p:cNvSpPr>
          <p:nvPr/>
        </p:nvSpPr>
        <p:spPr>
          <a:xfrm>
            <a:off x="6561677" y="4676489"/>
            <a:ext cx="4986909" cy="104841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1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REFERENCE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Random: AUC 0.500
Expected AP 0.206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408718" y="1054132"/>
          <a:ext cx="5124164" cy="5452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מלבן 9">
            <a:extLst>
              <a:ext uri="{FF2B5EF4-FFF2-40B4-BE49-F238E27FC236}">
                <a16:creationId xmlns:a16="http://schemas.microsoft.com/office/drawing/2014/main" id="{8A2389DB-47F2-4B16-B872-7C526B740A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325E49B9-D4B0-45FE-BE6A-D12CF3C81BEF}"/>
              </a:ext>
            </a:extLst>
          </p:cNvPr>
          <p:cNvSpPr>
            <a:spLocks noGrp="1"/>
          </p:cNvSpPr>
          <p:nvPr/>
        </p:nvSpPr>
        <p:spPr>
          <a:xfrm>
            <a:off x="6264402" y="393668"/>
            <a:ext cx="5533930" cy="95250"/>
          </a:xfrm>
          <a:prstGeom prst="roundRect">
            <a:avLst>
              <a:gd name="adj" fmla="val 50000"/>
            </a:avLst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FE2772B6-52C8-4E78-9DCA-FD9BC6EBB746}"/>
              </a:ext>
            </a:extLst>
          </p:cNvPr>
          <p:cNvSpPr>
            <a:spLocks noGrp="1"/>
          </p:cNvSpPr>
          <p:nvPr/>
        </p:nvSpPr>
        <p:spPr>
          <a:xfrm>
            <a:off x="6264402" y="2369820"/>
            <a:ext cx="5533930" cy="95250"/>
          </a:xfrm>
          <a:prstGeom prst="roundRect">
            <a:avLst>
              <a:gd name="adj" fmla="val 50000"/>
            </a:avLst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109CBEE2-27A8-4115-B5B0-624F36D71492}"/>
              </a:ext>
            </a:extLst>
          </p:cNvPr>
          <p:cNvSpPr>
            <a:spLocks noGrp="1"/>
          </p:cNvSpPr>
          <p:nvPr/>
        </p:nvSpPr>
        <p:spPr>
          <a:xfrm>
            <a:off x="6264402" y="4381500"/>
            <a:ext cx="5533930" cy="95250"/>
          </a:xfrm>
          <a:prstGeom prst="roundRect">
            <a:avLst>
              <a:gd name="adj" fmla="val 50000"/>
            </a:avLst>
          </a:prstGeom>
          <a:solidFill>
            <a:srgbClr val="277DA1"/>
          </a:solidFill>
          <a:ln w="0">
            <a:solidFill>
              <a:srgbClr val="277DA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8469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Number-Placeholder-3-2">
            <a:extLst>
              <a:ext uri="{FF2B5EF4-FFF2-40B4-BE49-F238E27FC236}">
                <a16:creationId xmlns:a16="http://schemas.microsoft.com/office/drawing/2014/main" id="{D5CB3E9E-4694-4A8B-BE0F-87B20D00AD70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A62B3E27-8008-4E69-84BB-5937B7BD8AB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Feature contribution was tested on held-out patients</a:t>
            </a:r>
          </a:p>
        </p:txBody>
      </p:sp>
      <p:cxnSp>
        <p:nvCxnSpPr>
          <p:cNvPr id="19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FF556FE8-4FF0-463D-86BA-B7F1C55F336D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he-IL"/>
          </a:p>
        </p:txBody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98561D35-F704-4343-8DE4-7672CB97E66F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he-IL"/>
          </a:p>
        </p:txBody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2435407B-18D0-4408-80B9-DEAE26D5C9FB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he-IL"/>
          </a:p>
        </p:txBody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F2CFE4EB-6DA5-4DB1-A381-F665BD53F478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  FIT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DA528DF5-9227-4656-8057-3BE7536C87C1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2  SHUFFLE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4594400A-6965-493D-89B8-F151C585DA7A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3  MEASURE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982BEA49-B3C7-4676-B84F-2929759D29E2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2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Break one feature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Randomly permute that feature in held-out patients while leaving all others unchanged.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2119904B-8468-4852-8AB7-ACFAD7013169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2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Train by patient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Three repeated five-fold splits; every visit from one patient stays together.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9052C798-9CB2-4A96-85CC-6629F82BF95B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2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Observe the loss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The decrease in AUC or AP is its predictive contribution. Patient bootstrap gives 95% CIs.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EF0994E1-C9E3-4477-9F53-E92DD259E1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FCE02F04-CC13-4DE9-8E74-D051371317FC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277DA1"/>
          </a:solidFill>
          <a:ln w="0">
            <a:solidFill>
              <a:srgbClr val="277DA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אליפסה 14">
            <a:extLst>
              <a:ext uri="{FF2B5EF4-FFF2-40B4-BE49-F238E27FC236}">
                <a16:creationId xmlns:a16="http://schemas.microsoft.com/office/drawing/2014/main" id="{8CDB7B99-4509-406E-932A-EB4C7AF00AD2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A2A8F5EB-EDF0-4707-B82D-1A6A029D53D9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43AA8B"/>
          </a:solidFill>
          <a:ln w="0">
            <a:solidFill>
              <a:srgbClr val="43AA8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25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-Shape-534-p58-1">
            <a:extLst>
              <a:ext uri="{FF2B5EF4-FFF2-40B4-BE49-F238E27FC236}">
                <a16:creationId xmlns:a16="http://schemas.microsoft.com/office/drawing/2014/main" id="{30EBA43F-DBEE-4640-AFC4-09096EE09604}"/>
              </a:ext>
            </a:extLst>
          </p:cNvPr>
          <p:cNvSpPr>
            <a:spLocks noGrp="1"/>
          </p:cNvSpPr>
          <p:nvPr/>
        </p:nvSpPr>
        <p:spPr>
          <a:xfrm>
            <a:off x="393668" y="1838801"/>
            <a:ext cx="5533168" cy="415556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d_tm_sd_gap_dct04</a:t>
            </a:r>
          </a:p>
          <a:p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1. Pair Endocardial and Mid-wall curves from each matched segment.</a:t>
            </a:r>
          </a:p>
          <a:p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2. At every cardiac-cycle point, compute Endo − Mid for each segment.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3. Across segments, calculate the SD of that gap, producing an SD-gap curve.</a:t>
            </a:r>
          </a:p>
        </p:txBody>
      </p:sp>
      <p:sp>
        <p:nvSpPr>
          <p:cNvPr id="2" name="Google-Shape-532-p58-3">
            <a:extLst>
              <a:ext uri="{FF2B5EF4-FFF2-40B4-BE49-F238E27FC236}">
                <a16:creationId xmlns:a16="http://schemas.microsoft.com/office/drawing/2014/main" id="{E0DF069B-C69F-434E-BC24-5F757595BEEF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3" name="Google-Shape-533-p58-4">
            <a:extLst>
              <a:ext uri="{FF2B5EF4-FFF2-40B4-BE49-F238E27FC236}">
                <a16:creationId xmlns:a16="http://schemas.microsoft.com/office/drawing/2014/main" id="{86B91459-EF7F-4125-B78B-D7FDF28AC6FF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Top sparse-model feature: changing Endo–Mid heterogeneity</a:t>
            </a:r>
          </a:p>
        </p:txBody>
      </p:sp>
      <p:sp>
        <p:nvSpPr>
          <p:cNvPr id="4" name="Google-Shape-534-p58-5">
            <a:extLst>
              <a:ext uri="{FF2B5EF4-FFF2-40B4-BE49-F238E27FC236}">
                <a16:creationId xmlns:a16="http://schemas.microsoft.com/office/drawing/2014/main" id="{A3407252-7EA6-487D-BF66-F07FB03A8EBA}"/>
              </a:ext>
            </a:extLst>
          </p:cNvPr>
          <p:cNvSpPr>
            <a:spLocks noGrp="1"/>
          </p:cNvSpPr>
          <p:nvPr/>
        </p:nvSpPr>
        <p:spPr>
          <a:xfrm>
            <a:off x="6265069" y="2192655"/>
            <a:ext cx="5537168" cy="380171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4. Apply the Discrete Cosine Transform and keep DCT04, a phase-dependent pattern component.</a:t>
            </a:r>
          </a:p>
          <a:p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5. Subtract the previous visit: current DCT04 − previous DCT04.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Meaning: the timing pattern of layer-to-layer disagreement across segments changed—not simply that variability became larger.
ΔAUC 0.037 (95% CI 0.001–0.066); ΔAP 0.043.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4CE64962-9366-40B7-8D00-B66C191A66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297B2438-F149-430B-B718-FED28335EAA9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4300" cy="114300"/>
          </a:xfrm>
          <a:prstGeom prst="ellipse">
            <a:avLst/>
          </a:prstGeom>
          <a:solidFill>
            <a:srgbClr val="277DA1"/>
          </a:solidFill>
          <a:ln w="0">
            <a:solidFill>
              <a:srgbClr val="277DA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05D2BFF-06E0-47CD-9AA4-85FBC98F6127}"/>
              </a:ext>
            </a:extLst>
          </p:cNvPr>
          <p:cNvSpPr>
            <a:spLocks noGrp="1"/>
          </p:cNvSpPr>
          <p:nvPr/>
        </p:nvSpPr>
        <p:spPr>
          <a:xfrm>
            <a:off x="571500" y="63246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CBA79293-482C-46EA-86AD-58CB63F209E0}"/>
              </a:ext>
            </a:extLst>
          </p:cNvPr>
          <p:cNvSpPr>
            <a:spLocks noGrp="1"/>
          </p:cNvSpPr>
          <p:nvPr/>
        </p:nvSpPr>
        <p:spPr>
          <a:xfrm>
            <a:off x="1752600" y="6362700"/>
            <a:ext cx="114300" cy="114300"/>
          </a:xfrm>
          <a:prstGeom prst="ellipse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0B17D603-B41B-45FE-9C3D-D2FDFF490C64}"/>
              </a:ext>
            </a:extLst>
          </p:cNvPr>
          <p:cNvSpPr>
            <a:spLocks noGrp="1"/>
          </p:cNvSpPr>
          <p:nvPr/>
        </p:nvSpPr>
        <p:spPr>
          <a:xfrm>
            <a:off x="1924050" y="63246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</a:t>
            </a:r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60BFA4BE-1745-4F6A-9AFF-FA16F9F83B2A}"/>
              </a:ext>
            </a:extLst>
          </p:cNvPr>
          <p:cNvSpPr>
            <a:spLocks noGrp="1"/>
          </p:cNvSpPr>
          <p:nvPr/>
        </p:nvSpPr>
        <p:spPr>
          <a:xfrm>
            <a:off x="3105150" y="6362700"/>
            <a:ext cx="114300" cy="114300"/>
          </a:xfrm>
          <a:prstGeom prst="ellipse">
            <a:avLst/>
          </a:prstGeom>
          <a:solidFill>
            <a:srgbClr val="43AA8B"/>
          </a:solidFill>
          <a:ln w="0">
            <a:solidFill>
              <a:srgbClr val="43AA8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C5B53CD-EA1B-445C-A448-AD4596E94602}"/>
              </a:ext>
            </a:extLst>
          </p:cNvPr>
          <p:cNvSpPr>
            <a:spLocks noGrp="1"/>
          </p:cNvSpPr>
          <p:nvPr/>
        </p:nvSpPr>
        <p:spPr>
          <a:xfrm>
            <a:off x="3276600" y="63246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</a:t>
            </a:r>
          </a:p>
        </p:txBody>
      </p:sp>
    </p:spTree>
    <p:extLst>
      <p:ext uri="{BB962C8B-B14F-4D97-AF65-F5344CB8AC3E}">
        <p14:creationId xmlns:p14="http://schemas.microsoft.com/office/powerpoint/2010/main" val="25274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-Shape-534-p58-1">
            <a:extLst>
              <a:ext uri="{FF2B5EF4-FFF2-40B4-BE49-F238E27FC236}">
                <a16:creationId xmlns:a16="http://schemas.microsoft.com/office/drawing/2014/main" id="{45231647-6D9A-4AC9-92A3-1AE9CCD95AD7}"/>
              </a:ext>
            </a:extLst>
          </p:cNvPr>
          <p:cNvSpPr>
            <a:spLocks noGrp="1"/>
          </p:cNvSpPr>
          <p:nvPr/>
        </p:nvSpPr>
        <p:spPr>
          <a:xfrm>
            <a:off x="393668" y="1838801"/>
            <a:ext cx="5533168" cy="415556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cur_tm_mean_shape_gap_dct01
</a:t>
            </a:r>
          </a:p>
          <a:p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1. Normalize each Endocardial curve by its own maximum absolute amplitude.</a:t>
            </a:r>
          </a:p>
          <a:p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2. Normalize the matched Mid-wall curve the same way.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3. Compute normalized Endo − Mid at each time point and average across segments.</a:t>
            </a:r>
          </a:p>
        </p:txBody>
      </p:sp>
      <p:sp>
        <p:nvSpPr>
          <p:cNvPr id="2" name="Google-Shape-532-p58-3">
            <a:extLst>
              <a:ext uri="{FF2B5EF4-FFF2-40B4-BE49-F238E27FC236}">
                <a16:creationId xmlns:a16="http://schemas.microsoft.com/office/drawing/2014/main" id="{4794786A-6392-4121-8442-D46F043010F3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Google-Shape-533-p58-4">
            <a:extLst>
              <a:ext uri="{FF2B5EF4-FFF2-40B4-BE49-F238E27FC236}">
                <a16:creationId xmlns:a16="http://schemas.microsoft.com/office/drawing/2014/main" id="{4931639F-54FA-43EC-9497-94A50C88BEB7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Top Extra Trees feature: normalized layer separation</a:t>
            </a:r>
          </a:p>
        </p:txBody>
      </p:sp>
      <p:sp>
        <p:nvSpPr>
          <p:cNvPr id="4" name="Google-Shape-534-p58-5">
            <a:extLst>
              <a:ext uri="{FF2B5EF4-FFF2-40B4-BE49-F238E27FC236}">
                <a16:creationId xmlns:a16="http://schemas.microsoft.com/office/drawing/2014/main" id="{EC24040A-93C9-49BB-B1EC-0C458421ED60}"/>
              </a:ext>
            </a:extLst>
          </p:cNvPr>
          <p:cNvSpPr>
            <a:spLocks noGrp="1"/>
          </p:cNvSpPr>
          <p:nvPr/>
        </p:nvSpPr>
        <p:spPr>
          <a:xfrm>
            <a:off x="6265069" y="2192655"/>
            <a:ext cx="5537168" cy="380171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4. Apply the DCT and keep DCT01—the broad average level of the shape-gap curve.</a:t>
            </a:r>
          </a:p>
          <a:p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Because amplitude is normalized first, the feature emphasizes shape differences more than strain magnitude.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Meaning: systematic separation between Endocardial and Mid-wall contraction patterns at the current visit. Extra Trees uses nonlinear thresholds, so there is no single global risk direction.
ΔAUC 0.017 (95% CI 0.008–0.026); ΔAP 0.020.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E915F722-55D2-421D-8A68-583E11C54C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D964E3FE-32E9-4E3E-8DA7-77D6FC9F1A47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4300" cy="114300"/>
          </a:xfrm>
          <a:prstGeom prst="ellipse">
            <a:avLst/>
          </a:prstGeom>
          <a:solidFill>
            <a:srgbClr val="277DA1"/>
          </a:solidFill>
          <a:ln w="0">
            <a:solidFill>
              <a:srgbClr val="277DA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544F5733-1A3A-47AA-A7C3-713C110B18A1}"/>
              </a:ext>
            </a:extLst>
          </p:cNvPr>
          <p:cNvSpPr>
            <a:spLocks noGrp="1"/>
          </p:cNvSpPr>
          <p:nvPr/>
        </p:nvSpPr>
        <p:spPr>
          <a:xfrm>
            <a:off x="571500" y="63246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3F364623-5729-4592-A35C-5E23E528F78D}"/>
              </a:ext>
            </a:extLst>
          </p:cNvPr>
          <p:cNvSpPr>
            <a:spLocks noGrp="1"/>
          </p:cNvSpPr>
          <p:nvPr/>
        </p:nvSpPr>
        <p:spPr>
          <a:xfrm>
            <a:off x="1752600" y="6362700"/>
            <a:ext cx="114300" cy="114300"/>
          </a:xfrm>
          <a:prstGeom prst="ellipse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50160B5C-4222-4D9A-ADF3-5714E602829E}"/>
              </a:ext>
            </a:extLst>
          </p:cNvPr>
          <p:cNvSpPr>
            <a:spLocks noGrp="1"/>
          </p:cNvSpPr>
          <p:nvPr/>
        </p:nvSpPr>
        <p:spPr>
          <a:xfrm>
            <a:off x="1924050" y="63246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</a:t>
            </a:r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356281ED-900D-4E28-A4D6-97473A2DC8F6}"/>
              </a:ext>
            </a:extLst>
          </p:cNvPr>
          <p:cNvSpPr>
            <a:spLocks noGrp="1"/>
          </p:cNvSpPr>
          <p:nvPr/>
        </p:nvSpPr>
        <p:spPr>
          <a:xfrm>
            <a:off x="3105150" y="6362700"/>
            <a:ext cx="114300" cy="114300"/>
          </a:xfrm>
          <a:prstGeom prst="ellipse">
            <a:avLst/>
          </a:prstGeom>
          <a:solidFill>
            <a:srgbClr val="43AA8B"/>
          </a:solidFill>
          <a:ln w="0">
            <a:solidFill>
              <a:srgbClr val="43AA8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3437A605-AFB9-45B7-B241-3126FF66D11C}"/>
              </a:ext>
            </a:extLst>
          </p:cNvPr>
          <p:cNvSpPr>
            <a:spLocks noGrp="1"/>
          </p:cNvSpPr>
          <p:nvPr/>
        </p:nvSpPr>
        <p:spPr>
          <a:xfrm>
            <a:off x="3276600" y="63246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</a:t>
            </a:r>
          </a:p>
        </p:txBody>
      </p:sp>
    </p:spTree>
    <p:extLst>
      <p:ext uri="{BB962C8B-B14F-4D97-AF65-F5344CB8AC3E}">
        <p14:creationId xmlns:p14="http://schemas.microsoft.com/office/powerpoint/2010/main" val="211712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-Shape-534-p58-1">
            <a:extLst>
              <a:ext uri="{FF2B5EF4-FFF2-40B4-BE49-F238E27FC236}">
                <a16:creationId xmlns:a16="http://schemas.microsoft.com/office/drawing/2014/main" id="{8A939EB4-02FB-4AB0-B581-3F3FE15E3439}"/>
              </a:ext>
            </a:extLst>
          </p:cNvPr>
          <p:cNvSpPr>
            <a:spLocks noGrp="1"/>
          </p:cNvSpPr>
          <p:nvPr/>
        </p:nvSpPr>
        <p:spPr>
          <a:xfrm>
            <a:off x="393668" y="1838801"/>
            <a:ext cx="5533168" cy="415556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CLINICAL  •  first_endo_gls</a:t>
            </a:r>
          </a:p>
          <a:p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Absolute magnitude of first-visit Endocardial GLS: |baseline Endo-GLS|.</a:t>
            </a:r>
          </a:p>
          <a:p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Example: −21.4% becomes 21.4% and is carried forward for that patient.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ΔAUC 0.018 (95% CI 0.003–0.035). Its direction may reflect reserve, correlation, or regression to the mean—not causality.</a:t>
            </a:r>
          </a:p>
        </p:txBody>
      </p:sp>
      <p:sp>
        <p:nvSpPr>
          <p:cNvPr id="2" name="Google-Shape-532-p58-3">
            <a:extLst>
              <a:ext uri="{FF2B5EF4-FFF2-40B4-BE49-F238E27FC236}">
                <a16:creationId xmlns:a16="http://schemas.microsoft.com/office/drawing/2014/main" id="{5EE4D9B4-B104-4A3A-95DD-56EC2FB668C6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3" name="Google-Shape-533-p58-4">
            <a:extLst>
              <a:ext uri="{FF2B5EF4-FFF2-40B4-BE49-F238E27FC236}">
                <a16:creationId xmlns:a16="http://schemas.microsoft.com/office/drawing/2014/main" id="{37EC0576-A004-4EC4-980A-1E9AAC2D5618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Clinical GLS was useful; segment variability was weaker</a:t>
            </a:r>
          </a:p>
        </p:txBody>
      </p:sp>
      <p:sp>
        <p:nvSpPr>
          <p:cNvPr id="4" name="Google-Shape-534-p58-5">
            <a:extLst>
              <a:ext uri="{FF2B5EF4-FFF2-40B4-BE49-F238E27FC236}">
                <a16:creationId xmlns:a16="http://schemas.microsoft.com/office/drawing/2014/main" id="{7203DD44-302D-41EC-B9D5-5F901B15B08A}"/>
              </a:ext>
            </a:extLst>
          </p:cNvPr>
          <p:cNvSpPr>
            <a:spLocks noGrp="1"/>
          </p:cNvSpPr>
          <p:nvPr/>
        </p:nvSpPr>
        <p:spPr>
          <a:xfrm>
            <a:off x="6265069" y="2192655"/>
            <a:ext cx="5537168" cy="380171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VARIABILITY  •  Endo time-to-peak dispersion</a:t>
            </a:r>
          </a:p>
          <a:p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For each Endocardial segment, obtain normalized time-to-peak. Because cardiac time is cyclic, summarize their spread with circular SD.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Meaning: how synchronized—or dispersed—the segments are in reaching peak strain.
ΔAUC 0.008 (95% CI 0.003–0.014); ΔAP 0.007. Positive but smaller than the leading Endo–Mid signals.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CF131ACA-18D2-4AA9-9B0A-9CD475172F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C15FCB84-E975-4D23-BBB2-F189DEC0B75A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4300" cy="114300"/>
          </a:xfrm>
          <a:prstGeom prst="ellipse">
            <a:avLst/>
          </a:prstGeom>
          <a:solidFill>
            <a:srgbClr val="277DA1"/>
          </a:solidFill>
          <a:ln w="0">
            <a:solidFill>
              <a:srgbClr val="277DA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B35B79FE-ABE2-4FE2-944C-92C2FFFE13C5}"/>
              </a:ext>
            </a:extLst>
          </p:cNvPr>
          <p:cNvSpPr>
            <a:spLocks noGrp="1"/>
          </p:cNvSpPr>
          <p:nvPr/>
        </p:nvSpPr>
        <p:spPr>
          <a:xfrm>
            <a:off x="571500" y="63246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7ABC106E-D671-4E55-9D96-FA58F043A72D}"/>
              </a:ext>
            </a:extLst>
          </p:cNvPr>
          <p:cNvSpPr>
            <a:spLocks noGrp="1"/>
          </p:cNvSpPr>
          <p:nvPr/>
        </p:nvSpPr>
        <p:spPr>
          <a:xfrm>
            <a:off x="1752600" y="6362700"/>
            <a:ext cx="114300" cy="114300"/>
          </a:xfrm>
          <a:prstGeom prst="ellipse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6BBE4ACF-F944-4A65-989E-ACC6E852ED35}"/>
              </a:ext>
            </a:extLst>
          </p:cNvPr>
          <p:cNvSpPr>
            <a:spLocks noGrp="1"/>
          </p:cNvSpPr>
          <p:nvPr/>
        </p:nvSpPr>
        <p:spPr>
          <a:xfrm>
            <a:off x="1924050" y="63246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</a:t>
            </a:r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7772A452-E72E-4571-8F74-C3CDA615EB58}"/>
              </a:ext>
            </a:extLst>
          </p:cNvPr>
          <p:cNvSpPr>
            <a:spLocks noGrp="1"/>
          </p:cNvSpPr>
          <p:nvPr/>
        </p:nvSpPr>
        <p:spPr>
          <a:xfrm>
            <a:off x="3105150" y="6362700"/>
            <a:ext cx="114300" cy="114300"/>
          </a:xfrm>
          <a:prstGeom prst="ellipse">
            <a:avLst/>
          </a:prstGeom>
          <a:solidFill>
            <a:srgbClr val="43AA8B"/>
          </a:solidFill>
          <a:ln w="0">
            <a:solidFill>
              <a:srgbClr val="43AA8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69785A4-CAA9-4830-8391-CCB3BC1D4D9E}"/>
              </a:ext>
            </a:extLst>
          </p:cNvPr>
          <p:cNvSpPr>
            <a:spLocks noGrp="1"/>
          </p:cNvSpPr>
          <p:nvPr/>
        </p:nvSpPr>
        <p:spPr>
          <a:xfrm>
            <a:off x="3276600" y="63246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</a:t>
            </a:r>
          </a:p>
        </p:txBody>
      </p:sp>
    </p:spTree>
    <p:extLst>
      <p:ext uri="{BB962C8B-B14F-4D97-AF65-F5344CB8AC3E}">
        <p14:creationId xmlns:p14="http://schemas.microsoft.com/office/powerpoint/2010/main" val="957597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-Shape-532-p58-2">
            <a:extLst>
              <a:ext uri="{FF2B5EF4-FFF2-40B4-BE49-F238E27FC236}">
                <a16:creationId xmlns:a16="http://schemas.microsoft.com/office/drawing/2014/main" id="{F49A160D-D21B-4A51-8B3E-8FDEF1947B4F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FE7EA62E-B723-4CDB-96C8-3D22778E33DC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Six features had stable positive held-out AUC importance</a:t>
            </a:r>
          </a:p>
        </p:txBody>
      </p:sp>
      <p:sp>
        <p:nvSpPr>
          <p:cNvPr id="3" name="Content-Placeholder-15-4">
            <a:extLst>
              <a:ext uri="{FF2B5EF4-FFF2-40B4-BE49-F238E27FC236}">
                <a16:creationId xmlns:a16="http://schemas.microsoft.com/office/drawing/2014/main" id="{86A76528-E5F5-45E2-B551-2FD17B95242C}"/>
              </a:ext>
            </a:extLst>
          </p:cNvPr>
          <p:cNvSpPr>
            <a:spLocks noGrp="1"/>
          </p:cNvSpPr>
          <p:nvPr/>
        </p:nvSpPr>
        <p:spPr>
          <a:xfrm>
            <a:off x="400907" y="1057466"/>
            <a:ext cx="11404568" cy="101222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RANKING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ΔAUC is the performance lost after shuffling the feature. Only patient-bootstrap intervals entirely above zero are shown.</a:t>
            </a:r>
          </a:p>
        </p:txBody>
      </p:sp>
      <p:graphicFrame>
        <p:nvGraphicFramePr>
          <p:cNvPr id="16" name="Google-Shape-644-p93-5"/>
          <p:cNvGraphicFramePr/>
          <p:nvPr>
            <p:extLst>
              <p:ext uri="{D42A27DB-BD31-4B8C-83A1-F6EECF244321}">
                <p14:modId xmlns:p14="http://schemas.microsoft.com/office/powerpoint/2010/main" val="2340945351"/>
              </p:ext>
            </p:extLst>
          </p:nvPr>
        </p:nvGraphicFramePr>
        <p:xfrm>
          <a:off x="393668" y="2251043"/>
          <a:ext cx="11404568" cy="396723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86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1798">
                <a:tc>
                  <a:txBody>
                    <a:bodyPr/>
                    <a:lstStyle/>
                    <a:p>
                      <a:r>
                        <a:rPr sz="1600"/>
                        <a:t>Plain-language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ΔAUC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95% 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98">
                <a:tc>
                  <a:txBody>
                    <a:bodyPr/>
                    <a:lstStyle/>
                    <a:p>
                      <a:r>
                        <a:rPr sz="1600" dirty="0"/>
                        <a:t>Change in phase pattern of segmental layer-gap variability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Clinical </a:t>
                      </a:r>
                      <a:r>
                        <a:rPr sz="1600" dirty="0"/>
                        <a:t>+ Endo–Mid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0.001–0.066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Baseline Endocardial GLS magnitude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Clinical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Clinical 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0.003–0.035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98">
                <a:tc>
                  <a:txBody>
                    <a:bodyPr/>
                    <a:lstStyle/>
                    <a:p>
                      <a:r>
                        <a:rPr sz="1600" dirty="0"/>
                        <a:t>Overall normalized Endo–Mid shape 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0.008–0.026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Finer temporal pattern of normalized shape 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0.002–0.015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Endocardial segment time-to-peak dispersion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Variability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0.003–0.014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Change in mean vendor Endo–Mid peak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0.001–0.010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מלבן 4">
            <a:extLst>
              <a:ext uri="{FF2B5EF4-FFF2-40B4-BE49-F238E27FC236}">
                <a16:creationId xmlns:a16="http://schemas.microsoft.com/office/drawing/2014/main" id="{6EC5626C-7A15-4D59-8AA7-F686BDA1A1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849562F4-0B68-47F0-B1BB-F096137738CB}"/>
              </a:ext>
            </a:extLst>
          </p:cNvPr>
          <p:cNvSpPr>
            <a:spLocks noGrp="1"/>
          </p:cNvSpPr>
          <p:nvPr/>
        </p:nvSpPr>
        <p:spPr>
          <a:xfrm>
            <a:off x="393668" y="2251043"/>
            <a:ext cx="66675" cy="561798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5DF4A053-36A4-49AA-9408-997099F660DD}"/>
              </a:ext>
            </a:extLst>
          </p:cNvPr>
          <p:cNvSpPr>
            <a:spLocks noGrp="1"/>
          </p:cNvSpPr>
          <p:nvPr/>
        </p:nvSpPr>
        <p:spPr>
          <a:xfrm>
            <a:off x="393668" y="2812841"/>
            <a:ext cx="66675" cy="561798"/>
          </a:xfrm>
          <a:prstGeom prst="rect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C04EBCBE-0143-4F6A-938F-1A6FB1551719}"/>
              </a:ext>
            </a:extLst>
          </p:cNvPr>
          <p:cNvSpPr>
            <a:spLocks noGrp="1"/>
          </p:cNvSpPr>
          <p:nvPr/>
        </p:nvSpPr>
        <p:spPr>
          <a:xfrm>
            <a:off x="393668" y="3374639"/>
            <a:ext cx="66675" cy="561798"/>
          </a:xfrm>
          <a:prstGeom prst="rect">
            <a:avLst/>
          </a:prstGeom>
          <a:solidFill>
            <a:srgbClr val="277DA1"/>
          </a:solidFill>
          <a:ln w="0">
            <a:solidFill>
              <a:srgbClr val="277DA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ABD7E25E-084B-4412-8076-6A38B21FCABA}"/>
              </a:ext>
            </a:extLst>
          </p:cNvPr>
          <p:cNvSpPr>
            <a:spLocks noGrp="1"/>
          </p:cNvSpPr>
          <p:nvPr/>
        </p:nvSpPr>
        <p:spPr>
          <a:xfrm>
            <a:off x="393668" y="3936438"/>
            <a:ext cx="66675" cy="561798"/>
          </a:xfrm>
          <a:prstGeom prst="rect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BCC79F3D-3436-4498-B230-1A2A13ADFE04}"/>
              </a:ext>
            </a:extLst>
          </p:cNvPr>
          <p:cNvSpPr>
            <a:spLocks noGrp="1"/>
          </p:cNvSpPr>
          <p:nvPr/>
        </p:nvSpPr>
        <p:spPr>
          <a:xfrm>
            <a:off x="393668" y="4498236"/>
            <a:ext cx="66675" cy="561798"/>
          </a:xfrm>
          <a:prstGeom prst="rect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0CE077EA-4CCB-463F-B897-52A93FC6BE6A}"/>
              </a:ext>
            </a:extLst>
          </p:cNvPr>
          <p:cNvSpPr>
            <a:spLocks noGrp="1"/>
          </p:cNvSpPr>
          <p:nvPr/>
        </p:nvSpPr>
        <p:spPr>
          <a:xfrm>
            <a:off x="393668" y="5060034"/>
            <a:ext cx="66675" cy="561798"/>
          </a:xfrm>
          <a:prstGeom prst="rect">
            <a:avLst/>
          </a:prstGeom>
          <a:solidFill>
            <a:srgbClr val="43AA8B"/>
          </a:solidFill>
          <a:ln w="0">
            <a:solidFill>
              <a:srgbClr val="43AA8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922CCF5C-81FB-4323-A45D-650187F16EE0}"/>
              </a:ext>
            </a:extLst>
          </p:cNvPr>
          <p:cNvSpPr>
            <a:spLocks noGrp="1"/>
          </p:cNvSpPr>
          <p:nvPr/>
        </p:nvSpPr>
        <p:spPr>
          <a:xfrm>
            <a:off x="393668" y="5621832"/>
            <a:ext cx="66675" cy="561798"/>
          </a:xfrm>
          <a:prstGeom prst="rect">
            <a:avLst/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158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-Rectangle-5-1">
            <a:extLst>
              <a:ext uri="{FF2B5EF4-FFF2-40B4-BE49-F238E27FC236}">
                <a16:creationId xmlns:a16="http://schemas.microsoft.com/office/drawing/2014/main" id="{B3015A94-7057-4C77-8330-48CC7CB8F346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2" name="Rounded-Rectangle-6-2">
            <a:extLst>
              <a:ext uri="{FF2B5EF4-FFF2-40B4-BE49-F238E27FC236}">
                <a16:creationId xmlns:a16="http://schemas.microsoft.com/office/drawing/2014/main" id="{203BB707-573E-4A6B-AA83-897E66E05DF1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3" name="Rounded-Rectangle-7-3">
            <a:extLst>
              <a:ext uri="{FF2B5EF4-FFF2-40B4-BE49-F238E27FC236}">
                <a16:creationId xmlns:a16="http://schemas.microsoft.com/office/drawing/2014/main" id="{8A99CCF0-8CEC-4BD8-807C-62B39E354EC4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4" name="Slide-Number-Placeholder-1-4">
            <a:extLst>
              <a:ext uri="{FF2B5EF4-FFF2-40B4-BE49-F238E27FC236}">
                <a16:creationId xmlns:a16="http://schemas.microsoft.com/office/drawing/2014/main" id="{4939C93C-D67F-4AAA-B7C7-680A6C5EC6CA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5" name="Title-2-5">
            <a:extLst>
              <a:ext uri="{FF2B5EF4-FFF2-40B4-BE49-F238E27FC236}">
                <a16:creationId xmlns:a16="http://schemas.microsoft.com/office/drawing/2014/main" id="{21A95340-6E17-41DF-89A0-F26D9B3BB891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At family level, Endo–Mid carried the clearest signal</a:t>
            </a:r>
          </a:p>
        </p:txBody>
      </p:sp>
      <p:sp>
        <p:nvSpPr>
          <p:cNvPr id="6" name="Content-Placeholder-9-6">
            <a:extLst>
              <a:ext uri="{FF2B5EF4-FFF2-40B4-BE49-F238E27FC236}">
                <a16:creationId xmlns:a16="http://schemas.microsoft.com/office/drawing/2014/main" id="{FC9C1D5F-AFF8-45D8-962E-B981BFEE1DDE}"/>
              </a:ext>
            </a:extLst>
          </p:cNvPr>
          <p:cNvSpPr>
            <a:spLocks noGrp="1"/>
          </p:cNvSpPr>
          <p:nvPr/>
        </p:nvSpPr>
        <p:spPr>
          <a:xfrm>
            <a:off x="70237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
ΔAUC</a:t>
            </a:r>
          </a:p>
        </p:txBody>
      </p:sp>
      <p:sp>
        <p:nvSpPr>
          <p:cNvPr id="7" name="Content-Placeholder-10-7">
            <a:extLst>
              <a:ext uri="{FF2B5EF4-FFF2-40B4-BE49-F238E27FC236}">
                <a16:creationId xmlns:a16="http://schemas.microsoft.com/office/drawing/2014/main" id="{8DD05AF9-0454-4003-B87B-F3EE239219CA}"/>
              </a:ext>
            </a:extLst>
          </p:cNvPr>
          <p:cNvSpPr>
            <a:spLocks noGrp="1"/>
          </p:cNvSpPr>
          <p:nvPr/>
        </p:nvSpPr>
        <p:spPr>
          <a:xfrm>
            <a:off x="8541830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
ΔAUC</a:t>
            </a:r>
          </a:p>
        </p:txBody>
      </p:sp>
      <p:sp>
        <p:nvSpPr>
          <p:cNvPr id="8" name="Content-Placeholder-11-8">
            <a:extLst>
              <a:ext uri="{FF2B5EF4-FFF2-40B4-BE49-F238E27FC236}">
                <a16:creationId xmlns:a16="http://schemas.microsoft.com/office/drawing/2014/main" id="{8D2EF529-CD7A-4AEA-9F64-3CCE92F33AB5}"/>
              </a:ext>
            </a:extLst>
          </p:cNvPr>
          <p:cNvSpPr>
            <a:spLocks noGrp="1"/>
          </p:cNvSpPr>
          <p:nvPr/>
        </p:nvSpPr>
        <p:spPr>
          <a:xfrm>
            <a:off x="462124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
ΔAUC</a:t>
            </a:r>
          </a:p>
        </p:txBody>
      </p:sp>
      <p:sp>
        <p:nvSpPr>
          <p:cNvPr id="9" name="Content-Placeholder-9-9">
            <a:extLst>
              <a:ext uri="{FF2B5EF4-FFF2-40B4-BE49-F238E27FC236}">
                <a16:creationId xmlns:a16="http://schemas.microsoft.com/office/drawing/2014/main" id="{720D54F7-0F7E-49A4-8B8E-3EAFD07CF629}"/>
              </a:ext>
            </a:extLst>
          </p:cNvPr>
          <p:cNvSpPr>
            <a:spLocks noGrp="1"/>
          </p:cNvSpPr>
          <p:nvPr/>
        </p:nvSpPr>
        <p:spPr>
          <a:xfrm>
            <a:off x="70237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−0.008</a:t>
            </a:r>
          </a:p>
        </p:txBody>
      </p:sp>
      <p:sp>
        <p:nvSpPr>
          <p:cNvPr id="10" name="Content-Placeholder-9-10">
            <a:extLst>
              <a:ext uri="{FF2B5EF4-FFF2-40B4-BE49-F238E27FC236}">
                <a16:creationId xmlns:a16="http://schemas.microsoft.com/office/drawing/2014/main" id="{68CE62CF-948F-4685-943A-0E4D7C5A5ED3}"/>
              </a:ext>
            </a:extLst>
          </p:cNvPr>
          <p:cNvSpPr>
            <a:spLocks noGrp="1"/>
          </p:cNvSpPr>
          <p:nvPr/>
        </p:nvSpPr>
        <p:spPr>
          <a:xfrm>
            <a:off x="4612958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dirty="0">
                <a:solidFill>
                  <a:srgbClr val="F8961E"/>
                </a:solidFill>
                <a:latin typeface="Aptos"/>
                <a:ea typeface="Aptos"/>
                <a:cs typeface="Aptos"/>
              </a:rPr>
              <a:t>+0.054</a:t>
            </a:r>
          </a:p>
        </p:txBody>
      </p:sp>
      <p:sp>
        <p:nvSpPr>
          <p:cNvPr id="11" name="Content-Placeholder-9-11">
            <a:extLst>
              <a:ext uri="{FF2B5EF4-FFF2-40B4-BE49-F238E27FC236}">
                <a16:creationId xmlns:a16="http://schemas.microsoft.com/office/drawing/2014/main" id="{DF8B3933-D40B-44B6-BB64-9E777E28700B}"/>
              </a:ext>
            </a:extLst>
          </p:cNvPr>
          <p:cNvSpPr>
            <a:spLocks noGrp="1"/>
          </p:cNvSpPr>
          <p:nvPr/>
        </p:nvSpPr>
        <p:spPr>
          <a:xfrm>
            <a:off x="856240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+0.016</a:t>
            </a:r>
          </a:p>
        </p:txBody>
      </p:sp>
      <p:sp>
        <p:nvSpPr>
          <p:cNvPr id="12" name="Content-Placeholder-15-12">
            <a:extLst>
              <a:ext uri="{FF2B5EF4-FFF2-40B4-BE49-F238E27FC236}">
                <a16:creationId xmlns:a16="http://schemas.microsoft.com/office/drawing/2014/main" id="{E6EB980C-DE75-4288-A760-A2871FAD4CD0}"/>
              </a:ext>
            </a:extLst>
          </p:cNvPr>
          <p:cNvSpPr>
            <a:spLocks noGrp="1"/>
          </p:cNvSpPr>
          <p:nvPr/>
        </p:nvSpPr>
        <p:spPr>
          <a:xfrm>
            <a:off x="393668" y="1138333"/>
            <a:ext cx="11404568" cy="159943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COMBINED EXTRA TREES • FAMILY PERMUTATION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All features from one family were shuffled together. This captures contribution even when correlated features can substitute for one another.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65AEEB9B-496A-4FC6-BB8B-C5E827F967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EE52B2EE-846E-45C1-9234-D05482FE5176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95250"/>
          </a:xfrm>
          <a:prstGeom prst="roundRect">
            <a:avLst>
              <a:gd name="adj" fmla="val 50000"/>
            </a:avLst>
          </a:prstGeom>
          <a:solidFill>
            <a:srgbClr val="277DA1"/>
          </a:solidFill>
          <a:ln w="0">
            <a:solidFill>
              <a:srgbClr val="277DA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35395B1D-D3FA-47D6-B501-B01608DF2E8A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95250"/>
          </a:xfrm>
          <a:prstGeom prst="roundRect">
            <a:avLst>
              <a:gd name="adj" fmla="val 50000"/>
            </a:avLst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F2FC61F3-B208-421C-BAEA-991F8FF4A43B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95250"/>
          </a:xfrm>
          <a:prstGeom prst="roundRect">
            <a:avLst>
              <a:gd name="adj" fmla="val 50000"/>
            </a:avLst>
          </a:prstGeom>
          <a:solidFill>
            <a:srgbClr val="43AA8B"/>
          </a:solidFill>
          <a:ln w="0">
            <a:solidFill>
              <a:srgbClr val="43AA8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1959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-Rectangle-5-1">
            <a:extLst>
              <a:ext uri="{FF2B5EF4-FFF2-40B4-BE49-F238E27FC236}">
                <a16:creationId xmlns:a16="http://schemas.microsoft.com/office/drawing/2014/main" id="{225BC475-A9DC-4F8D-9771-2EF308F788CE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2" name="Rounded-Rectangle-6-2">
            <a:extLst>
              <a:ext uri="{FF2B5EF4-FFF2-40B4-BE49-F238E27FC236}">
                <a16:creationId xmlns:a16="http://schemas.microsoft.com/office/drawing/2014/main" id="{4FE1512A-089A-4790-946C-C8E23BBEEB23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3" name="Rounded-Rectangle-7-3">
            <a:extLst>
              <a:ext uri="{FF2B5EF4-FFF2-40B4-BE49-F238E27FC236}">
                <a16:creationId xmlns:a16="http://schemas.microsoft.com/office/drawing/2014/main" id="{7F2F1771-DBAB-4CEC-A036-2E6BC82B72C9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he-IL"/>
          </a:p>
        </p:txBody>
      </p:sp>
      <p:sp>
        <p:nvSpPr>
          <p:cNvPr id="4" name="Slide-Number-Placeholder-1-4">
            <a:extLst>
              <a:ext uri="{FF2B5EF4-FFF2-40B4-BE49-F238E27FC236}">
                <a16:creationId xmlns:a16="http://schemas.microsoft.com/office/drawing/2014/main" id="{68F0E2C1-635D-4916-86E2-AEC415A82FE1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>
              <a:ext uri="{FF2B5EF4-FFF2-40B4-BE49-F238E27FC236}">
                <a16:creationId xmlns:a16="http://schemas.microsoft.com/office/drawing/2014/main" id="{55D763CD-9D18-4DF1-9EC1-34DC7D603B55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925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Bottom line</a:t>
            </a:r>
            <a:endParaRPr sz="2925" b="1" dirty="0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Content-Placeholder-9-6">
            <a:extLst>
              <a:ext uri="{FF2B5EF4-FFF2-40B4-BE49-F238E27FC236}">
                <a16:creationId xmlns:a16="http://schemas.microsoft.com/office/drawing/2014/main" id="{61F4CF52-3595-44E8-BA24-C46A5CDDE179}"/>
              </a:ext>
            </a:extLst>
          </p:cNvPr>
          <p:cNvSpPr>
            <a:spLocks noGrp="1"/>
          </p:cNvSpPr>
          <p:nvPr/>
        </p:nvSpPr>
        <p:spPr>
          <a:xfrm>
            <a:off x="70237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First-visit baseline
One-visit-ahead target</a:t>
            </a:r>
          </a:p>
        </p:txBody>
      </p:sp>
      <p:sp>
        <p:nvSpPr>
          <p:cNvPr id="7" name="Content-Placeholder-10-7">
            <a:extLst>
              <a:ext uri="{FF2B5EF4-FFF2-40B4-BE49-F238E27FC236}">
                <a16:creationId xmlns:a16="http://schemas.microsoft.com/office/drawing/2014/main" id="{C9B477D2-0BC1-4E68-BD5B-CD617FDB6FF7}"/>
              </a:ext>
            </a:extLst>
          </p:cNvPr>
          <p:cNvSpPr>
            <a:spLocks noGrp="1"/>
          </p:cNvSpPr>
          <p:nvPr/>
        </p:nvSpPr>
        <p:spPr>
          <a:xfrm>
            <a:off x="8541830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Interpret DCT cautiously
Validate externally</a:t>
            </a:r>
          </a:p>
        </p:txBody>
      </p:sp>
      <p:sp>
        <p:nvSpPr>
          <p:cNvPr id="8" name="Content-Placeholder-11-8">
            <a:extLst>
              <a:ext uri="{FF2B5EF4-FFF2-40B4-BE49-F238E27FC236}">
                <a16:creationId xmlns:a16="http://schemas.microsoft.com/office/drawing/2014/main" id="{989E9C5D-9594-46D2-BC1C-B54B9597AA40}"/>
              </a:ext>
            </a:extLst>
          </p:cNvPr>
          <p:cNvSpPr>
            <a:spLocks noGrp="1"/>
          </p:cNvSpPr>
          <p:nvPr/>
        </p:nvSpPr>
        <p:spPr>
          <a:xfrm>
            <a:off x="462124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Prioritize Endo–Mid
shape + change</a:t>
            </a:r>
          </a:p>
        </p:txBody>
      </p:sp>
      <p:sp>
        <p:nvSpPr>
          <p:cNvPr id="9" name="Content-Placeholder-9-9">
            <a:extLst>
              <a:ext uri="{FF2B5EF4-FFF2-40B4-BE49-F238E27FC236}">
                <a16:creationId xmlns:a16="http://schemas.microsoft.com/office/drawing/2014/main" id="{2DEC93B9-4DA5-4E08-B95F-EF67E0EF886E}"/>
              </a:ext>
            </a:extLst>
          </p:cNvPr>
          <p:cNvSpPr>
            <a:spLocks noGrp="1"/>
          </p:cNvSpPr>
          <p:nvPr/>
        </p:nvSpPr>
        <p:spPr>
          <a:xfrm>
            <a:off x="70237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Content-Placeholder-9-10">
            <a:extLst>
              <a:ext uri="{FF2B5EF4-FFF2-40B4-BE49-F238E27FC236}">
                <a16:creationId xmlns:a16="http://schemas.microsoft.com/office/drawing/2014/main" id="{9AA51B4A-E1FF-4788-8A0F-DDD7907C2286}"/>
              </a:ext>
            </a:extLst>
          </p:cNvPr>
          <p:cNvSpPr>
            <a:spLocks noGrp="1"/>
          </p:cNvSpPr>
          <p:nvPr/>
        </p:nvSpPr>
        <p:spPr>
          <a:xfrm>
            <a:off x="4612958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Content-Placeholder-9-11">
            <a:extLst>
              <a:ext uri="{FF2B5EF4-FFF2-40B4-BE49-F238E27FC236}">
                <a16:creationId xmlns:a16="http://schemas.microsoft.com/office/drawing/2014/main" id="{487B15BF-4C37-4C9C-A0DF-5DCF71D27766}"/>
              </a:ext>
            </a:extLst>
          </p:cNvPr>
          <p:cNvSpPr>
            <a:spLocks noGrp="1"/>
          </p:cNvSpPr>
          <p:nvPr/>
        </p:nvSpPr>
        <p:spPr>
          <a:xfrm>
            <a:off x="856240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Content-Placeholder-15-12">
            <a:extLst>
              <a:ext uri="{FF2B5EF4-FFF2-40B4-BE49-F238E27FC236}">
                <a16:creationId xmlns:a16="http://schemas.microsoft.com/office/drawing/2014/main" id="{BC4C3200-EC7A-4920-BDD9-5C765DAA4E38}"/>
              </a:ext>
            </a:extLst>
          </p:cNvPr>
          <p:cNvSpPr>
            <a:spLocks noGrp="1"/>
          </p:cNvSpPr>
          <p:nvPr/>
        </p:nvSpPr>
        <p:spPr>
          <a:xfrm>
            <a:off x="393668" y="1138333"/>
            <a:ext cx="11404568" cy="159943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dirty="0">
                <a:solidFill>
                  <a:srgbClr val="F8961E"/>
                </a:solidFill>
                <a:latin typeface="Aptos"/>
                <a:ea typeface="Aptos"/>
                <a:cs typeface="Aptos"/>
              </a:rPr>
              <a:t>TAKE-HOME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results support the Endo–Mid hypothesis more strongly than the inter-segment variability hypothesis, but the gain over clinical prediction remains modest.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DCAE9BC0-989E-4BCB-BA1A-FFD532B877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763657D9-D51D-420B-87F1-0E27F9BF9D31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95250"/>
          </a:xfrm>
          <a:prstGeom prst="roundRect">
            <a:avLst>
              <a:gd name="adj" fmla="val 50000"/>
            </a:avLst>
          </a:prstGeom>
          <a:solidFill>
            <a:srgbClr val="277DA1"/>
          </a:solidFill>
          <a:ln w="0">
            <a:solidFill>
              <a:srgbClr val="277DA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D8AB3DB3-1A41-48D2-A8D8-4FEDCE02508C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95250"/>
          </a:xfrm>
          <a:prstGeom prst="roundRect">
            <a:avLst>
              <a:gd name="adj" fmla="val 50000"/>
            </a:avLst>
          </a:prstGeom>
          <a:solidFill>
            <a:srgbClr val="F8961E"/>
          </a:solidFill>
          <a:ln w="0">
            <a:solidFill>
              <a:srgbClr val="F896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6C4F3230-CE0F-49C1-BD49-6503A73A0EA7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95250"/>
          </a:xfrm>
          <a:prstGeom prst="roundRect">
            <a:avLst>
              <a:gd name="adj" fmla="val 50000"/>
            </a:avLst>
          </a:prstGeom>
          <a:solidFill>
            <a:srgbClr val="43AA8B"/>
          </a:solidFill>
          <a:ln w="0">
            <a:solidFill>
              <a:srgbClr val="43AA8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45881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1498</Words>
  <Application>Microsoft Office PowerPoint</Application>
  <DocSecurity>0</DocSecurity>
  <PresentationFormat>מסך רחב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Oron Barazani</cp:lastModifiedBy>
  <cp:revision>2</cp:revision>
  <dcterms:created xsi:type="dcterms:W3CDTF">2026-08-03T08:39:27Z</dcterms:created>
  <dcterms:modified xsi:type="dcterms:W3CDTF">2026-08-03T09:44:44Z</dcterms:modified>
</cp:coreProperties>
</file>