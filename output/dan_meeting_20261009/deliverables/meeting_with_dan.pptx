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7be45356a247f6" /><Relationship Type="http://schemas.openxmlformats.org/officeDocument/2006/relationships/extended-properties" Target="/docProps/app.xml" Id="R22fad6e964f5497f" /><Relationship Type="http://schemas.openxmlformats.org/officeDocument/2006/relationships/officeDocument" Target="/ppt/presentation.xml" Id="R42ea7c48a4d94603" /></Relationships>
</file>

<file path=ppt/presentation.xml><?xml version="1.0" encoding="utf-8"?>
<p:presentation xmlns:p="http://schemas.openxmlformats.org/presentationml/2006/main">
  <p:sldMasterIdLst>
    <p:sldMasterId xmlns:r="http://schemas.openxmlformats.org/officeDocument/2006/relationships" id="2147483648" r:id="R1f821cdef5f34cd9"/>
  </p:sldMasterIdLst>
  <p:notesMasterIdLst>
    <p:notesMasterId xmlns:r="http://schemas.openxmlformats.org/officeDocument/2006/relationships" r:id="R51919a3321744432"/>
  </p:notesMasterIdLst>
  <p:sldIdLst>
    <p:sldId xmlns:r="http://schemas.openxmlformats.org/officeDocument/2006/relationships" id="256" r:id="R824db88779dc4651"/>
    <p:sldId xmlns:r="http://schemas.openxmlformats.org/officeDocument/2006/relationships" id="257" r:id="R28f18d0ec34e47aa"/>
    <p:sldId xmlns:r="http://schemas.openxmlformats.org/officeDocument/2006/relationships" id="258" r:id="R46cfc36273a346ed"/>
    <p:sldId xmlns:r="http://schemas.openxmlformats.org/officeDocument/2006/relationships" id="259" r:id="R0a99b0932d444b3c"/>
    <p:sldId xmlns:r="http://schemas.openxmlformats.org/officeDocument/2006/relationships" id="260" r:id="R3130702c8e3742b3"/>
    <p:sldId xmlns:r="http://schemas.openxmlformats.org/officeDocument/2006/relationships" id="261" r:id="Re4da1f4692bc4ef0"/>
    <p:sldId xmlns:r="http://schemas.openxmlformats.org/officeDocument/2006/relationships" id="262" r:id="R518f70e5f2b04d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9e5f7944964a16" /><Relationship Type="http://schemas.openxmlformats.org/officeDocument/2006/relationships/slideMaster" Target="/ppt/slideMasters/slideMaster1.xml" Id="R1f821cdef5f34cd9" /><Relationship Type="http://schemas.openxmlformats.org/officeDocument/2006/relationships/notesMaster" Target="/ppt/notesMasters/notesMaster1.xml" Id="R51919a3321744432" /><Relationship Type="http://schemas.openxmlformats.org/officeDocument/2006/relationships/presProps" Target="/ppt/presProps.xml" Id="R211fffe7816c4a4d" /><Relationship Type="http://schemas.openxmlformats.org/officeDocument/2006/relationships/tableStyles" Target="/ppt/tableStyles.xml" Id="Ra6a4352041194653" /><Relationship Type="http://schemas.openxmlformats.org/officeDocument/2006/relationships/slide" Target="/ppt/slides/slide1.xml" Id="R824db88779dc4651" /><Relationship Type="http://schemas.openxmlformats.org/officeDocument/2006/relationships/slide" Target="/ppt/slides/slide2.xml" Id="R28f18d0ec34e47aa" /><Relationship Type="http://schemas.openxmlformats.org/officeDocument/2006/relationships/slide" Target="/ppt/slides/slide3.xml" Id="R46cfc36273a346ed" /><Relationship Type="http://schemas.openxmlformats.org/officeDocument/2006/relationships/slide" Target="/ppt/slides/slide4.xml" Id="R0a99b0932d444b3c" /><Relationship Type="http://schemas.openxmlformats.org/officeDocument/2006/relationships/slide" Target="/ppt/slides/slide5.xml" Id="R3130702c8e3742b3" /><Relationship Type="http://schemas.openxmlformats.org/officeDocument/2006/relationships/slide" Target="/ppt/slides/slide6.xml" Id="Re4da1f4692bc4ef0" /><Relationship Type="http://schemas.openxmlformats.org/officeDocument/2006/relationships/slide" Target="/ppt/slides/slide7.xml" Id="R518f70e5f2b04d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855aa1438c42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40137a179e4641" /><Relationship Type="http://schemas.openxmlformats.org/officeDocument/2006/relationships/notesMaster" Target="/ppt/notesMasters/notesMaster1.xml" Id="R2be32b8af6614f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edfc21423e44c1" /><Relationship Type="http://schemas.openxmlformats.org/officeDocument/2006/relationships/notesMaster" Target="/ppt/notesMasters/notesMaster1.xml" Id="Rbfe57243a11147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e2844489c8429b" /><Relationship Type="http://schemas.openxmlformats.org/officeDocument/2006/relationships/notesMaster" Target="/ppt/notesMasters/notesMaster1.xml" Id="R3b1d27db85f54b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9c8b95979c4c34" /><Relationship Type="http://schemas.openxmlformats.org/officeDocument/2006/relationships/notesMaster" Target="/ppt/notesMasters/notesMaster1.xml" Id="Rb0b97385357544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5fb78aaaa24afc" /><Relationship Type="http://schemas.openxmlformats.org/officeDocument/2006/relationships/notesMaster" Target="/ppt/notesMasters/notesMaster1.xml" Id="R8c7bc96b953540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81dca403cb4938" /><Relationship Type="http://schemas.openxmlformats.org/officeDocument/2006/relationships/notesMaster" Target="/ppt/notesMasters/notesMaster1.xml" Id="R6c354c92e6f34c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34e741fdaf4df1" /><Relationship Type="http://schemas.openxmlformats.org/officeDocument/2006/relationships/notesMaster" Target="/ppt/notesMasters/notesMaster1.xml" Id="R2eab902e0ecf41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בחרתי cine אחד לכל מבט בכל ביקור, באמצעות TOMTEC bookmark כשהיה אפשר ובאמצעות סיווג ובדיקה ידנית בשאר המקרים. ביצעתי crop וקידוד. בסך הכול נבחרו 1,233 סרטונים ל־411 ביקורי DICOM, אך לחיזוי GLS משתמשים ב־398 ביקורים מותאמים עם תווית. יש להבחין בין ביקורי DICOM לביקורי strain. בכל הערכת החיזוי שמרתי על הפרדה לפי מטופלים. ההגדרה כאן היא הידרדרות הדמייתית, ולא אבחנה קלינית מלאה של קרדיוטוקסיות.</a:t>
            </a:r>
          </a:p>
          <a:p xmlns:a="http://schemas.openxmlformats.org/drawingml/2006/main">
            <a:r>
              <a:t/>
            </a:r>
          </a:p>
          <a:p xmlns:a="http://schemas.openxmlformats.org/drawingml/2006/main">
            <a:pPr rtl="1"/>
            <a:r>
              <a:t>מקורות:</a:t>
            </a:r>
          </a:p>
          <a:p xmlns:a="http://schemas.openxmlformats.org/drawingml/2006/main">
            <a:r>
              <a:t>D:/us/output/ichilov3_email_summary_20261004/email_draft.md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חלון הוא קטע זמן בתוך אותו סרטון, ולא מבט נוסף. בדגימה המקורית לכל מקודד היה מרווח פריימים קבוע, ולכן משך החלון לא הותאם לאורך הפעימה. בדגימה החדשה קבעתי את משך החלון לפי זמן מחזור משוער והשתמשתי בזמני הפריימים המקוריים. נשמרו אותם crops, צבעים וחלוקות לפי מטופלים. אלה תוצאות מקודדים ללא התאמה נוספת. אין לערבב כאן עם ניסוי PanEcho R-wave המאוחר יותר, שהושמט מהסיכום לפי בקשת אורון. שיפור בניבוי GLS נוכחי אינו מוכיח שיפור בהידרדרות עתידית.</a:t>
            </a:r>
          </a:p>
          <a:p xmlns:a="http://schemas.openxmlformats.org/drawingml/2006/main">
            <a:r>
              <a:t/>
            </a:r>
          </a:p>
          <a:p xmlns:a="http://schemas.openxmlformats.org/drawingml/2006/main">
            <a:pPr rtl="1"/>
            <a:r>
              <a:t>מקורות:</a:t>
            </a:r>
          </a:p>
          <a:p xmlns:a="http://schemas.openxmlformats.org/drawingml/2006/main">
            <a:r>
              <a:t>D:/us/output/ichilov3_email_summary_20261004/email_draft.md</a:t>
            </a:r>
          </a:p>
          <a:p xmlns:a="http://schemas.openxmlformats.org/drawingml/2006/main">
            <a:r>
              <a:t>D:/us/output/ichilov3_email_summary_20261004/make_figures.py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גרף הפיזור משתמש ב־230 זוגות תחזיות אמיתיים מתוך prediction_points.csv, ללא הסרת ערכי קיצון. זוהי תת־קבוצת GE Healthcare, ולא GE Vingmed. המודל המקורי אומן על כל היצרנים, בהפרדה לפי מטופלים. GE Vingmed: 68 ביקורים, r=0.777, MAE=1.649. Philips: 100 ביקורים, r=0.590, MAE=1.696. מספרי המטופלים בכל יצרן אינם ניתנים לחיבור, מפני שלמטופל יכולים להיות ביקורים ביותר מיצרן אחד. שונות באוכלוסייה, איכות צילום ודגם מכשיר עשויות להסביר חלק מהפער. זהות היצרן כקלט נוסף לא שיפרה משמעותית את הדיוק.</a:t>
            </a:r>
          </a:p>
          <a:p xmlns:a="http://schemas.openxmlformats.org/drawingml/2006/main">
            <a:r>
              <a:t/>
            </a:r>
          </a:p>
          <a:p xmlns:a="http://schemas.openxmlformats.org/drawingml/2006/main">
            <a:pPr rtl="1"/>
            <a:r>
              <a:t>מקורות:</a:t>
            </a:r>
          </a:p>
          <a:p xmlns:a="http://schemas.openxmlformats.org/drawingml/2006/main">
            <a:r>
              <a:t>D:/DS/ichilov3_temporal_trial_20260927/vendor_failure_analysis/vendor_metrics.csv</a:t>
            </a:r>
          </a:p>
          <a:p xmlns:a="http://schemas.openxmlformats.org/drawingml/2006/main">
            <a:r>
              <a:t>D:/DS/ichilov3_temporal_trial_20260927/vendor_failure_analysis/prediction_points.csv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ההשוואה על אותה תת־קבוצה ואותן חלוקות: 3 חזרות של 5 קפלים לפי מטופלים. כל המקודדים בשקף הזה ללא אימון נוסף. המספרים מייצגים ציונים משולבים ולא וידאו בלבד. בקוהורט המלא הנפרד היו 238 מעברים ו־49 אירועים: מודל הייחוס AUROC=0.698 ו־AP=0.353, ושילוב EchoPrime המקורי 0.694 ו־0.330. אין להשוות ישירות בין הקוהורטים. הערכים המוצגים הם אומדני נקודה של ניסויים חוזרים על אותה אוכלוסייה, ולא הוכחת עליונות. בדיקה חיצונית עדיין דרושה.</a:t>
            </a:r>
          </a:p>
          <a:p xmlns:a="http://schemas.openxmlformats.org/drawingml/2006/main">
            <a:r>
              <a:t/>
            </a:r>
          </a:p>
          <a:p xmlns:a="http://schemas.openxmlformats.org/drawingml/2006/main">
            <a:pPr rtl="1"/>
            <a:r>
              <a:t>מקורות:</a:t>
            </a:r>
          </a:p>
          <a:p xmlns:a="http://schemas.openxmlformats.org/drawingml/2006/main">
            <a:r>
              <a:t>D:/us/output/ichilov3_email_summary_20261004/email_draft.md</a:t>
            </a:r>
          </a:p>
          <a:p xmlns:a="http://schemas.openxmlformats.org/drawingml/2006/main">
            <a:r>
              <a:t>D:/us/output/ichilov3_email_summary_20261004/make_figures.py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סרטוני GE מהדאטה הנוכחי ומהדאטה הישן שימשו לאימון המקודד. הדאטה הישן לא שימש להערכת החיזוי. Shared encoder הוא מקודד משותף ל־A2C/A3C/A4C. View-specific הוא מקודד נפרד לכל מבט. שתי התוצאות כוללות היסטוריית וידאו בהתאם לניסוי המקורי. בצירוף A3C+A4C נבחרה התוצאה לאחר השוואת כל הצירופים, ולכן היא חשופה להטיית בחירה. בניסוי nested בחרתי את המבטים רק בתוך נתוני האימון ובדקתי על מטופלים מוחזקים בחוץ. גם שינוי משקל הווידאו בתוך האימון לא נתן שיפור ברור. אין לפרש ירידה זו כהשוואה סיבתית נקייה בין צירופי המבטים, משום שמדובר גם בפרוצדורת בחירה שונה.</a:t>
            </a:r>
          </a:p>
          <a:p xmlns:a="http://schemas.openxmlformats.org/drawingml/2006/main">
            <a:r>
              <a:t/>
            </a:r>
          </a:p>
          <a:p xmlns:a="http://schemas.openxmlformats.org/drawingml/2006/main">
            <a:pPr rtl="1"/>
            <a:r>
              <a:t>מקורות:</a:t>
            </a:r>
          </a:p>
          <a:p xmlns:a="http://schemas.openxmlformats.org/drawingml/2006/main">
            <a:r>
              <a:t>D:/us/output/ichilov3_email_summary_20261004/email_draft.md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זהו ניסוי next-visit נפרד של non-CNN, ולא ניסוי 101 המטופלים שבו ניבאנו את הביקור האחרון מתוך שני הראשונים. בדיקת חשיבות נעשתה על מטופלים מוחזקים בחוץ באמצעות ערבוב פיצ׳ר, עם patient-cluster bootstrap. הפיצ׳ר הראשון: בכל סגמנט מחשבים Endo פחות Mid לאורך המחזור, מחשבים שונות בין סגמנטים בכל זמן, מסכמים את דפוס הזמן באמצעות DCT04, ומחסרים את ערך הביקור הקודם. זה אינו פשוט גידול בשונות. חשיבות AUROC: 0.036713, CI 0.001082–0.065587. השני הוא הפרש צורת עקומות מנורמלות, חשיבות 0.016521, CI 0.008079–0.025740. השלישי פיזור רובסטי של שיאי Mid, חשיבות 0.010366, CI -0.014271–0.036233. בגרף כל שורה נמדדת במודל אחר, ולכן אין לראות בו תחרות ישירה בין פיצ׳רים באותו מודל. בניסוי נפרד של CNN+MOMENT+Catch22 בלט segment-max של MOMENT: ירידת AUROC=0.042, CI 0.002–0.082, וירידת AP=0.057. גם כאן מדובר בהסתמכות המודל על קבוצת embedding ולא בסמן פיזיולוגי מזוהה. אין להסיק חשיבות ביולוגית של סגמנט יחיד.</a:t>
            </a:r>
          </a:p>
          <a:p xmlns:a="http://schemas.openxmlformats.org/drawingml/2006/main">
            <a:r>
              <a:t/>
            </a:r>
          </a:p>
          <a:p xmlns:a="http://schemas.openxmlformats.org/drawingml/2006/main">
            <a:pPr rtl="1"/>
            <a:r>
              <a:t>מקורות:</a:t>
            </a:r>
          </a:p>
          <a:p xmlns:a="http://schemas.openxmlformats.org/drawingml/2006/main">
            <a:r>
              <a:t>D:/us/cardiotoxicity_feature_importance_results/noncnn_feature_importance_top.csv</a:t>
            </a:r>
          </a:p>
          <a:p xmlns:a="http://schemas.openxmlformats.org/drawingml/2006/main">
            <a:r>
              <a:t>D:/us/cardiotoxicity_feature_importance_results/noncnn_feature_importance_report.md</a:t>
            </a:r>
          </a:p>
          <a:p xmlns:a="http://schemas.openxmlformats.org/drawingml/2006/main">
            <a:r>
              <a:t>D:/us/cardiotoxicity_top_ensemble_feature_importance_results/ensemble_feature_importance.csv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מטרת הדיון היא לבחור ניסוי המשך אחד ממוקד. במקרה של סיווג תקינות עקומות צריך להגדיר קודם מהי תקינות ומי נותן תווית, ולהימנע מהוצאת דוגמאות על בסיס שגיאת חיזוי התוצאה. תזמון R-wave תוחם את הפעימה אך אינו מזהה לבדו סוף סיסטולה. התאמת מקודדי וידאו אחרים, למשל PanEcho או EchoFM, יכולה להיות ניסוי נפרד ולא הנחה ששינוי המודל לבדו יפתור את הבעיה. הניסויים המאוחרים שהוצאו מהמייל אינם מוצגים כאן. חשוב להבחין בין בדיקת חשיבות פיצ׳רים שבוצעה לבין סיווג תקין/לא תקין שטרם בוצע.</a:t>
            </a:r>
          </a:p>
          <a:p xmlns:a="http://schemas.openxmlformats.org/drawingml/2006/main">
            <a:r>
              <a:t/>
            </a:r>
          </a:p>
          <a:p xmlns:a="http://schemas.openxmlformats.org/drawingml/2006/main">
            <a:pPr rtl="1"/>
            <a:r>
              <a:t>מקורות:</a:t>
            </a:r>
          </a:p>
          <a:p xmlns:a="http://schemas.openxmlformats.org/drawingml/2006/main">
            <a:r>
              <a:t>D:/us/output/ichilov3_email_summary_20261004/email_draft.md</a:t>
            </a:r>
          </a:p>
          <a:p xmlns:a="http://schemas.openxmlformats.org/drawingml/2006/main">
            <a:r>
              <a:t>D:/us/cardiotoxicity_feature_importance_results/noncnn_feature_importance_report.md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a9d90833f149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47b6e8356e41d4" /><Relationship Type="http://schemas.openxmlformats.org/officeDocument/2006/relationships/slideLayout" Target="/ppt/slideLayouts/slideLayout1.xml" Id="Rd02772ccad3d41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2772ccad3d41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f10178fb20486f" /><Relationship Type="http://schemas.openxmlformats.org/officeDocument/2006/relationships/notesSlide" Target="/ppt/notesSlides/notesSlide1.xml" Id="R49627d70e76642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d85bcda3d74cd6" /><Relationship Type="http://schemas.openxmlformats.org/officeDocument/2006/relationships/chart" Target="/ppt/slides/charts/chart1.xml" Id="R3ca1dfb19c2644ca" /><Relationship Type="http://schemas.openxmlformats.org/officeDocument/2006/relationships/notesSlide" Target="/ppt/notesSlides/notesSlide2.xml" Id="R9fd10318f65b4a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e3fdfd19564d83" /><Relationship Type="http://schemas.openxmlformats.org/officeDocument/2006/relationships/chart" Target="/ppt/slides/charts/chart2.xml" Id="R58c209aa90204131" /><Relationship Type="http://schemas.openxmlformats.org/officeDocument/2006/relationships/chart" Target="/ppt/slides/charts/chart3.xml" Id="Rbf5e8d23b24947e2" /><Relationship Type="http://schemas.openxmlformats.org/officeDocument/2006/relationships/notesSlide" Target="/ppt/notesSlides/notesSlide3.xml" Id="R0acdd9d1535f45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b4bc821147474c" /><Relationship Type="http://schemas.openxmlformats.org/officeDocument/2006/relationships/chart" Target="/ppt/slides/charts/chart4.xml" Id="Rd837afe7dd10446a" /><Relationship Type="http://schemas.openxmlformats.org/officeDocument/2006/relationships/chart" Target="/ppt/slides/charts/chart5.xml" Id="R7915ddd84b5c4b78" /><Relationship Type="http://schemas.openxmlformats.org/officeDocument/2006/relationships/notesSlide" Target="/ppt/notesSlides/notesSlide4.xml" Id="R9406a1e9b56149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05b570b0894f26" /><Relationship Type="http://schemas.openxmlformats.org/officeDocument/2006/relationships/chart" Target="/ppt/slides/charts/chart6.xml" Id="R7490771031e8459b" /><Relationship Type="http://schemas.openxmlformats.org/officeDocument/2006/relationships/notesSlide" Target="/ppt/notesSlides/notesSlide5.xml" Id="Rf270a3448829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3ebb7f43df41e1" /><Relationship Type="http://schemas.openxmlformats.org/officeDocument/2006/relationships/chart" Target="/ppt/slides/charts/chart7.xml" Id="R9b152dee06534e6b" /><Relationship Type="http://schemas.openxmlformats.org/officeDocument/2006/relationships/notesSlide" Target="/ppt/notesSlides/notesSlide6.xml" Id="R55e5012021974c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73fef5588e4469" /><Relationship Type="http://schemas.openxmlformats.org/officeDocument/2006/relationships/notesSlide" Target="/ppt/notesSlides/notesSlide7.xml" Id="Re070a7fd05ce463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MAE (GLS percentage points)</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barChart>
        <c:barDir val="col"/>
        <c:grouping val="clustered"/>
        <c:varyColors val="0"/>
        <c:ser>
          <c:idx val="0"/>
          <c:order val="0"/>
          <c:tx>
            <c:v>Original sampling</c:v>
          </c:tx>
          <c:spPr>
            <a:solidFill xmlns:a="http://schemas.openxmlformats.org/drawingml/2006/main">
              <a:srgbClr val="A3BACB"/>
            </a:solidFill>
          </c:spPr>
          <c:cat>
            <c:strRef>
              <c:f>'Chart Data'!$A$2:$A$3</c:f>
              <c:strCache>
                <c:ptCount val="2"/>
                <c:pt idx="0">
                  <c:v>EchoPrime</c:v>
                </c:pt>
                <c:pt idx="1">
                  <c:v>PanEcho</c:v>
                </c:pt>
              </c:strCache>
            </c:strRef>
          </c:cat>
          <c:val>
            <c:numRef>
              <c:f>'Chart Data'!$B$2:$B$3</c:f>
              <c:numCache>
                <c:formatCode>0.000</c:formatCode>
                <c:ptCount val="2"/>
                <c:pt idx="0">
                  <c:v>1.607</c:v>
                </c:pt>
                <c:pt idx="1">
                  <c:v>2.025</c:v>
                </c:pt>
              </c:numCache>
            </c:numRef>
          </c:val>
        </c:ser>
        <c:ser>
          <c:idx val="1"/>
          <c:order val="1"/>
          <c:tx>
            <c:v>Estimated heartbeat</c:v>
          </c:tx>
          <c:spPr>
            <a:solidFill xmlns:a="http://schemas.openxmlformats.org/drawingml/2006/main">
              <a:srgbClr val="168A91"/>
            </a:solidFill>
          </c:spPr>
          <c:cat>
            <c:strRef>
              <c:f>'Chart Data'!$C$2:$C$3</c:f>
              <c:strCache>
                <c:ptCount val="2"/>
                <c:pt idx="0">
                  <c:v>EchoPrime</c:v>
                </c:pt>
                <c:pt idx="1">
                  <c:v>PanEcho</c:v>
                </c:pt>
              </c:strCache>
            </c:strRef>
          </c:cat>
          <c:val>
            <c:numRef>
              <c:f>'Chart Data'!$D$2:$D$3</c:f>
              <c:numCache>
                <c:formatCode>0.000</c:formatCode>
                <c:ptCount val="2"/>
                <c:pt idx="0">
                  <c:v>1.459</c:v>
                </c:pt>
                <c:pt idx="1">
                  <c:v>1.603</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lgn="ctr">
              <a:defRPr sz="1200">
                <a:solidFill>
                  <a:srgbClr val="536574"/>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9525">
              <a:solidFill>
                <a:srgbClr val="E4E9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50112"/>
        <c:crossBetween val="between"/>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GE Healthcare: predicted vs reported</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scatterChart>
        <c:scatterStyle val="lineMarker"/>
        <c:ser>
          <c:idx val="0"/>
          <c:order val="0"/>
          <c:tx>
            <c:v>Visits</c:v>
          </c:tx>
          <c:spPr>
            <a:solidFill xmlns:a="http://schemas.openxmlformats.org/drawingml/2006/main">
              <a:srgbClr val="168A91"/>
            </a:solidFill>
            <a:ln xmlns:a="http://schemas.openxmlformats.org/drawingml/2006/main" w="0">
              <a:noFill/>
            </a:ln>
          </c:spPr>
          <c:marker>
            <c:symbol val="circle"/>
            <c:size val="5"/>
            <c:spPr>
              <a:noFill xmlns:a="http://schemas.openxmlformats.org/drawingml/2006/main"/>
            </c:spPr>
          </c:marker>
          <c:xVal>
            <c:numRef>
              <c:f>'Chart Data'!$A$2:$A$231</c:f>
              <c:numCache>
                <c:formatCode>General</c:formatCode>
                <c:ptCount val="230"/>
                <c:pt idx="0">
                  <c:v>14.96</c:v>
                </c:pt>
                <c:pt idx="1">
                  <c:v>12.97</c:v>
                </c:pt>
                <c:pt idx="2">
                  <c:v>10.48</c:v>
                </c:pt>
                <c:pt idx="3">
                  <c:v>14.78</c:v>
                </c:pt>
                <c:pt idx="4">
                  <c:v>15.33</c:v>
                </c:pt>
                <c:pt idx="5">
                  <c:v>16.33</c:v>
                </c:pt>
                <c:pt idx="6">
                  <c:v>18.32</c:v>
                </c:pt>
                <c:pt idx="7">
                  <c:v>16.02</c:v>
                </c:pt>
                <c:pt idx="8">
                  <c:v>15.9</c:v>
                </c:pt>
                <c:pt idx="9">
                  <c:v>14.69</c:v>
                </c:pt>
                <c:pt idx="10">
                  <c:v>18.38</c:v>
                </c:pt>
                <c:pt idx="11">
                  <c:v>19.14</c:v>
                </c:pt>
                <c:pt idx="12">
                  <c:v>17.94</c:v>
                </c:pt>
                <c:pt idx="13">
                  <c:v>17.8</c:v>
                </c:pt>
                <c:pt idx="14">
                  <c:v>17.23</c:v>
                </c:pt>
                <c:pt idx="15">
                  <c:v>16.81</c:v>
                </c:pt>
                <c:pt idx="16">
                  <c:v>10.25</c:v>
                </c:pt>
                <c:pt idx="17">
                  <c:v>9.25</c:v>
                </c:pt>
                <c:pt idx="18">
                  <c:v>5.06</c:v>
                </c:pt>
                <c:pt idx="19">
                  <c:v>7.77</c:v>
                </c:pt>
                <c:pt idx="20">
                  <c:v>19.67</c:v>
                </c:pt>
                <c:pt idx="21">
                  <c:v>16.23</c:v>
                </c:pt>
                <c:pt idx="22">
                  <c:v>19.6</c:v>
                </c:pt>
                <c:pt idx="23">
                  <c:v>18.84</c:v>
                </c:pt>
                <c:pt idx="24">
                  <c:v>13.49</c:v>
                </c:pt>
                <c:pt idx="25">
                  <c:v>20.53</c:v>
                </c:pt>
                <c:pt idx="26">
                  <c:v>18.61</c:v>
                </c:pt>
                <c:pt idx="27">
                  <c:v>18.18</c:v>
                </c:pt>
                <c:pt idx="28">
                  <c:v>19.73</c:v>
                </c:pt>
                <c:pt idx="29">
                  <c:v>22.86</c:v>
                </c:pt>
                <c:pt idx="30">
                  <c:v>17.97</c:v>
                </c:pt>
                <c:pt idx="31">
                  <c:v>12.33</c:v>
                </c:pt>
                <c:pt idx="32">
                  <c:v>14.4</c:v>
                </c:pt>
                <c:pt idx="33">
                  <c:v>18.49</c:v>
                </c:pt>
                <c:pt idx="34">
                  <c:v>13.95</c:v>
                </c:pt>
                <c:pt idx="35">
                  <c:v>15.62</c:v>
                </c:pt>
                <c:pt idx="36">
                  <c:v>15.3</c:v>
                </c:pt>
                <c:pt idx="37">
                  <c:v>13.09</c:v>
                </c:pt>
                <c:pt idx="38">
                  <c:v>15.24</c:v>
                </c:pt>
                <c:pt idx="39">
                  <c:v>21.22</c:v>
                </c:pt>
                <c:pt idx="40">
                  <c:v>19.29</c:v>
                </c:pt>
                <c:pt idx="41">
                  <c:v>21.61</c:v>
                </c:pt>
                <c:pt idx="42">
                  <c:v>21.11</c:v>
                </c:pt>
                <c:pt idx="43">
                  <c:v>12.48</c:v>
                </c:pt>
                <c:pt idx="44">
                  <c:v>13.94</c:v>
                </c:pt>
                <c:pt idx="45">
                  <c:v>10.65</c:v>
                </c:pt>
                <c:pt idx="46">
                  <c:v>14.4</c:v>
                </c:pt>
                <c:pt idx="47">
                  <c:v>16.27</c:v>
                </c:pt>
                <c:pt idx="48">
                  <c:v>19.4</c:v>
                </c:pt>
                <c:pt idx="49">
                  <c:v>15.2</c:v>
                </c:pt>
                <c:pt idx="50">
                  <c:v>13.16</c:v>
                </c:pt>
                <c:pt idx="51">
                  <c:v>17.69</c:v>
                </c:pt>
                <c:pt idx="52">
                  <c:v>16.44</c:v>
                </c:pt>
                <c:pt idx="53">
                  <c:v>14.33</c:v>
                </c:pt>
                <c:pt idx="54">
                  <c:v>14.81</c:v>
                </c:pt>
                <c:pt idx="55">
                  <c:v>16.72</c:v>
                </c:pt>
                <c:pt idx="56">
                  <c:v>14.03</c:v>
                </c:pt>
                <c:pt idx="57">
                  <c:v>12.73</c:v>
                </c:pt>
                <c:pt idx="58">
                  <c:v>11.77</c:v>
                </c:pt>
                <c:pt idx="59">
                  <c:v>16.77</c:v>
                </c:pt>
                <c:pt idx="60">
                  <c:v>17.94</c:v>
                </c:pt>
                <c:pt idx="61">
                  <c:v>16.99</c:v>
                </c:pt>
                <c:pt idx="62">
                  <c:v>17.02</c:v>
                </c:pt>
                <c:pt idx="63">
                  <c:v>15.45</c:v>
                </c:pt>
                <c:pt idx="64">
                  <c:v>18</c:v>
                </c:pt>
                <c:pt idx="65">
                  <c:v>15.69</c:v>
                </c:pt>
                <c:pt idx="66">
                  <c:v>16.78</c:v>
                </c:pt>
                <c:pt idx="67">
                  <c:v>19.46</c:v>
                </c:pt>
                <c:pt idx="68">
                  <c:v>19.77</c:v>
                </c:pt>
                <c:pt idx="69">
                  <c:v>20.27</c:v>
                </c:pt>
                <c:pt idx="70">
                  <c:v>23.51</c:v>
                </c:pt>
                <c:pt idx="71">
                  <c:v>15.79</c:v>
                </c:pt>
                <c:pt idx="72">
                  <c:v>15.68</c:v>
                </c:pt>
                <c:pt idx="73">
                  <c:v>14.34</c:v>
                </c:pt>
                <c:pt idx="74">
                  <c:v>17</c:v>
                </c:pt>
                <c:pt idx="75">
                  <c:v>15.55</c:v>
                </c:pt>
                <c:pt idx="76">
                  <c:v>20.15</c:v>
                </c:pt>
                <c:pt idx="77">
                  <c:v>17.82</c:v>
                </c:pt>
                <c:pt idx="78">
                  <c:v>18.43</c:v>
                </c:pt>
                <c:pt idx="79">
                  <c:v>16.49</c:v>
                </c:pt>
                <c:pt idx="80">
                  <c:v>15.04</c:v>
                </c:pt>
                <c:pt idx="81">
                  <c:v>17.27</c:v>
                </c:pt>
                <c:pt idx="82">
                  <c:v>16.53</c:v>
                </c:pt>
                <c:pt idx="83">
                  <c:v>16.77</c:v>
                </c:pt>
                <c:pt idx="84">
                  <c:v>22.29</c:v>
                </c:pt>
                <c:pt idx="85">
                  <c:v>17.72</c:v>
                </c:pt>
                <c:pt idx="86">
                  <c:v>17.32</c:v>
                </c:pt>
                <c:pt idx="87">
                  <c:v>18.34</c:v>
                </c:pt>
                <c:pt idx="88">
                  <c:v>16.34</c:v>
                </c:pt>
                <c:pt idx="89">
                  <c:v>16.39</c:v>
                </c:pt>
                <c:pt idx="90">
                  <c:v>21.17</c:v>
                </c:pt>
                <c:pt idx="91">
                  <c:v>18.33</c:v>
                </c:pt>
                <c:pt idx="92">
                  <c:v>18.79</c:v>
                </c:pt>
                <c:pt idx="93">
                  <c:v>18.24</c:v>
                </c:pt>
                <c:pt idx="94">
                  <c:v>16.47</c:v>
                </c:pt>
                <c:pt idx="95">
                  <c:v>14.29</c:v>
                </c:pt>
                <c:pt idx="96">
                  <c:v>14.33</c:v>
                </c:pt>
                <c:pt idx="97">
                  <c:v>16.03</c:v>
                </c:pt>
                <c:pt idx="98">
                  <c:v>17.11</c:v>
                </c:pt>
                <c:pt idx="99">
                  <c:v>14.52</c:v>
                </c:pt>
                <c:pt idx="100">
                  <c:v>13.33</c:v>
                </c:pt>
                <c:pt idx="101">
                  <c:v>16.93</c:v>
                </c:pt>
                <c:pt idx="102">
                  <c:v>17.68</c:v>
                </c:pt>
                <c:pt idx="103">
                  <c:v>15.64</c:v>
                </c:pt>
                <c:pt idx="104">
                  <c:v>21.03</c:v>
                </c:pt>
                <c:pt idx="105">
                  <c:v>18.58</c:v>
                </c:pt>
                <c:pt idx="106">
                  <c:v>20.04</c:v>
                </c:pt>
                <c:pt idx="107">
                  <c:v>17.59</c:v>
                </c:pt>
                <c:pt idx="108">
                  <c:v>16.28</c:v>
                </c:pt>
                <c:pt idx="109">
                  <c:v>14.81</c:v>
                </c:pt>
                <c:pt idx="110">
                  <c:v>20.28</c:v>
                </c:pt>
                <c:pt idx="111">
                  <c:v>21.83</c:v>
                </c:pt>
                <c:pt idx="112">
                  <c:v>19.19</c:v>
                </c:pt>
                <c:pt idx="113">
                  <c:v>17.96</c:v>
                </c:pt>
                <c:pt idx="114">
                  <c:v>23.08</c:v>
                </c:pt>
                <c:pt idx="115">
                  <c:v>25.88</c:v>
                </c:pt>
                <c:pt idx="116">
                  <c:v>20.64</c:v>
                </c:pt>
                <c:pt idx="117">
                  <c:v>18.31</c:v>
                </c:pt>
                <c:pt idx="118">
                  <c:v>18.26</c:v>
                </c:pt>
                <c:pt idx="119">
                  <c:v>21.33</c:v>
                </c:pt>
                <c:pt idx="120">
                  <c:v>17.06</c:v>
                </c:pt>
                <c:pt idx="121">
                  <c:v>16.53</c:v>
                </c:pt>
                <c:pt idx="122">
                  <c:v>14.43</c:v>
                </c:pt>
                <c:pt idx="123">
                  <c:v>16.59</c:v>
                </c:pt>
                <c:pt idx="124">
                  <c:v>18.64</c:v>
                </c:pt>
                <c:pt idx="125">
                  <c:v>20.79</c:v>
                </c:pt>
                <c:pt idx="126">
                  <c:v>17.59</c:v>
                </c:pt>
                <c:pt idx="127">
                  <c:v>12.81</c:v>
                </c:pt>
                <c:pt idx="128">
                  <c:v>10.8</c:v>
                </c:pt>
                <c:pt idx="129">
                  <c:v>13.38</c:v>
                </c:pt>
                <c:pt idx="130">
                  <c:v>20.76</c:v>
                </c:pt>
                <c:pt idx="131">
                  <c:v>18.53</c:v>
                </c:pt>
                <c:pt idx="132">
                  <c:v>14.39</c:v>
                </c:pt>
                <c:pt idx="133">
                  <c:v>14.44</c:v>
                </c:pt>
                <c:pt idx="134">
                  <c:v>15.39</c:v>
                </c:pt>
                <c:pt idx="135">
                  <c:v>16.63</c:v>
                </c:pt>
                <c:pt idx="136">
                  <c:v>16.58</c:v>
                </c:pt>
                <c:pt idx="137">
                  <c:v>18.68</c:v>
                </c:pt>
                <c:pt idx="138">
                  <c:v>21.13</c:v>
                </c:pt>
                <c:pt idx="139">
                  <c:v>16.74</c:v>
                </c:pt>
                <c:pt idx="140">
                  <c:v>18.87</c:v>
                </c:pt>
                <c:pt idx="141">
                  <c:v>19.63</c:v>
                </c:pt>
                <c:pt idx="142">
                  <c:v>17.19</c:v>
                </c:pt>
                <c:pt idx="143">
                  <c:v>16.43</c:v>
                </c:pt>
                <c:pt idx="144">
                  <c:v>16.26</c:v>
                </c:pt>
                <c:pt idx="145">
                  <c:v>19.41</c:v>
                </c:pt>
                <c:pt idx="146">
                  <c:v>16.92</c:v>
                </c:pt>
                <c:pt idx="147">
                  <c:v>17.37</c:v>
                </c:pt>
                <c:pt idx="148">
                  <c:v>15</c:v>
                </c:pt>
                <c:pt idx="149">
                  <c:v>16.95</c:v>
                </c:pt>
                <c:pt idx="150">
                  <c:v>18.83</c:v>
                </c:pt>
                <c:pt idx="151">
                  <c:v>17.83</c:v>
                </c:pt>
                <c:pt idx="152">
                  <c:v>16.4</c:v>
                </c:pt>
                <c:pt idx="153">
                  <c:v>16.26</c:v>
                </c:pt>
                <c:pt idx="154">
                  <c:v>15.43</c:v>
                </c:pt>
                <c:pt idx="155">
                  <c:v>16.2</c:v>
                </c:pt>
                <c:pt idx="156">
                  <c:v>19.33</c:v>
                </c:pt>
                <c:pt idx="157">
                  <c:v>12.5</c:v>
                </c:pt>
                <c:pt idx="158">
                  <c:v>14.97</c:v>
                </c:pt>
                <c:pt idx="159">
                  <c:v>16.41</c:v>
                </c:pt>
                <c:pt idx="160">
                  <c:v>16.94</c:v>
                </c:pt>
                <c:pt idx="161">
                  <c:v>23.92</c:v>
                </c:pt>
                <c:pt idx="162">
                  <c:v>17.99</c:v>
                </c:pt>
                <c:pt idx="163">
                  <c:v>21.21</c:v>
                </c:pt>
                <c:pt idx="164">
                  <c:v>17.82</c:v>
                </c:pt>
                <c:pt idx="165">
                  <c:v>20.7</c:v>
                </c:pt>
                <c:pt idx="166">
                  <c:v>19.7</c:v>
                </c:pt>
                <c:pt idx="167">
                  <c:v>15.43</c:v>
                </c:pt>
                <c:pt idx="168">
                  <c:v>12.69</c:v>
                </c:pt>
                <c:pt idx="169">
                  <c:v>11.59</c:v>
                </c:pt>
                <c:pt idx="170">
                  <c:v>14.22</c:v>
                </c:pt>
                <c:pt idx="171">
                  <c:v>17.4</c:v>
                </c:pt>
                <c:pt idx="172">
                  <c:v>17.67</c:v>
                </c:pt>
                <c:pt idx="173">
                  <c:v>17.79</c:v>
                </c:pt>
                <c:pt idx="174">
                  <c:v>17.5</c:v>
                </c:pt>
                <c:pt idx="175">
                  <c:v>20.45</c:v>
                </c:pt>
                <c:pt idx="176">
                  <c:v>17.22</c:v>
                </c:pt>
                <c:pt idx="177">
                  <c:v>17</c:v>
                </c:pt>
                <c:pt idx="178">
                  <c:v>17.25</c:v>
                </c:pt>
                <c:pt idx="179">
                  <c:v>16</c:v>
                </c:pt>
                <c:pt idx="180">
                  <c:v>13.57</c:v>
                </c:pt>
                <c:pt idx="181">
                  <c:v>15.85</c:v>
                </c:pt>
                <c:pt idx="182">
                  <c:v>16.06</c:v>
                </c:pt>
                <c:pt idx="183">
                  <c:v>14.76</c:v>
                </c:pt>
                <c:pt idx="184">
                  <c:v>15.09</c:v>
                </c:pt>
                <c:pt idx="185">
                  <c:v>15.09</c:v>
                </c:pt>
                <c:pt idx="186">
                  <c:v>13.39</c:v>
                </c:pt>
                <c:pt idx="187">
                  <c:v>16.62</c:v>
                </c:pt>
                <c:pt idx="188">
                  <c:v>17.27</c:v>
                </c:pt>
                <c:pt idx="189">
                  <c:v>13.85</c:v>
                </c:pt>
                <c:pt idx="190">
                  <c:v>17.11</c:v>
                </c:pt>
                <c:pt idx="191">
                  <c:v>17.6</c:v>
                </c:pt>
                <c:pt idx="192">
                  <c:v>17.09</c:v>
                </c:pt>
                <c:pt idx="193">
                  <c:v>15.6</c:v>
                </c:pt>
                <c:pt idx="194">
                  <c:v>17.21</c:v>
                </c:pt>
                <c:pt idx="195">
                  <c:v>19.41</c:v>
                </c:pt>
                <c:pt idx="196">
                  <c:v>15.99</c:v>
                </c:pt>
                <c:pt idx="197">
                  <c:v>18.11</c:v>
                </c:pt>
                <c:pt idx="198">
                  <c:v>18.42</c:v>
                </c:pt>
                <c:pt idx="199">
                  <c:v>16.1</c:v>
                </c:pt>
                <c:pt idx="200">
                  <c:v>17.63</c:v>
                </c:pt>
                <c:pt idx="201">
                  <c:v>18.54</c:v>
                </c:pt>
                <c:pt idx="202">
                  <c:v>18.72</c:v>
                </c:pt>
                <c:pt idx="203">
                  <c:v>15.67</c:v>
                </c:pt>
                <c:pt idx="204">
                  <c:v>17.62</c:v>
                </c:pt>
                <c:pt idx="205">
                  <c:v>15.6</c:v>
                </c:pt>
                <c:pt idx="206">
                  <c:v>16.31</c:v>
                </c:pt>
                <c:pt idx="207">
                  <c:v>12.88</c:v>
                </c:pt>
                <c:pt idx="208">
                  <c:v>12.77</c:v>
                </c:pt>
                <c:pt idx="209">
                  <c:v>12.5</c:v>
                </c:pt>
                <c:pt idx="210">
                  <c:v>13.24</c:v>
                </c:pt>
                <c:pt idx="211">
                  <c:v>15.72</c:v>
                </c:pt>
                <c:pt idx="212">
                  <c:v>16.55</c:v>
                </c:pt>
                <c:pt idx="213">
                  <c:v>17.03</c:v>
                </c:pt>
                <c:pt idx="214">
                  <c:v>14.02</c:v>
                </c:pt>
                <c:pt idx="215">
                  <c:v>12.64</c:v>
                </c:pt>
                <c:pt idx="216">
                  <c:v>11.74</c:v>
                </c:pt>
                <c:pt idx="217">
                  <c:v>15.06</c:v>
                </c:pt>
                <c:pt idx="218">
                  <c:v>16.53</c:v>
                </c:pt>
                <c:pt idx="219">
                  <c:v>15.99</c:v>
                </c:pt>
                <c:pt idx="220">
                  <c:v>17.55</c:v>
                </c:pt>
                <c:pt idx="221">
                  <c:v>16.53</c:v>
                </c:pt>
                <c:pt idx="222">
                  <c:v>18.42</c:v>
                </c:pt>
                <c:pt idx="223">
                  <c:v>18.01</c:v>
                </c:pt>
                <c:pt idx="224">
                  <c:v>18.5</c:v>
                </c:pt>
                <c:pt idx="225">
                  <c:v>15.49</c:v>
                </c:pt>
                <c:pt idx="226">
                  <c:v>16.13</c:v>
                </c:pt>
                <c:pt idx="227">
                  <c:v>17.34</c:v>
                </c:pt>
                <c:pt idx="228">
                  <c:v>17.68</c:v>
                </c:pt>
                <c:pt idx="229">
                  <c:v>17.47</c:v>
                </c:pt>
              </c:numCache>
            </c:numRef>
          </c:xVal>
          <c:yVal>
            <c:numRef>
              <c:f>'Chart Data'!$B$2:$B$231</c:f>
              <c:numCache>
                <c:formatCode>General</c:formatCode>
                <c:ptCount val="230"/>
                <c:pt idx="0">
                  <c:v>14.567028</c:v>
                </c:pt>
                <c:pt idx="1">
                  <c:v>13.46751</c:v>
                </c:pt>
                <c:pt idx="2">
                  <c:v>12.325856</c:v>
                </c:pt>
                <c:pt idx="3">
                  <c:v>12.73762</c:v>
                </c:pt>
                <c:pt idx="4">
                  <c:v>16.534277</c:v>
                </c:pt>
                <c:pt idx="5">
                  <c:v>17.999563</c:v>
                </c:pt>
                <c:pt idx="6">
                  <c:v>17.573</c:v>
                </c:pt>
                <c:pt idx="7">
                  <c:v>19.17412</c:v>
                </c:pt>
                <c:pt idx="8">
                  <c:v>16.278938</c:v>
                </c:pt>
                <c:pt idx="9">
                  <c:v>14.121709</c:v>
                </c:pt>
                <c:pt idx="10">
                  <c:v>18.112524</c:v>
                </c:pt>
                <c:pt idx="11">
                  <c:v>18.449194</c:v>
                </c:pt>
                <c:pt idx="12">
                  <c:v>18.32864</c:v>
                </c:pt>
                <c:pt idx="13">
                  <c:v>18.022825</c:v>
                </c:pt>
                <c:pt idx="14">
                  <c:v>18.311594</c:v>
                </c:pt>
                <c:pt idx="15">
                  <c:v>18.204369</c:v>
                </c:pt>
                <c:pt idx="16">
                  <c:v>12.069846</c:v>
                </c:pt>
                <c:pt idx="17">
                  <c:v>11.19943</c:v>
                </c:pt>
                <c:pt idx="18">
                  <c:v>12.144097</c:v>
                </c:pt>
                <c:pt idx="19">
                  <c:v>10.520062</c:v>
                </c:pt>
                <c:pt idx="20">
                  <c:v>17.690197</c:v>
                </c:pt>
                <c:pt idx="21">
                  <c:v>17.741903</c:v>
                </c:pt>
                <c:pt idx="22">
                  <c:v>17.69651</c:v>
                </c:pt>
                <c:pt idx="23">
                  <c:v>17.201002</c:v>
                </c:pt>
                <c:pt idx="24">
                  <c:v>15.248386</c:v>
                </c:pt>
                <c:pt idx="25">
                  <c:v>19.145044</c:v>
                </c:pt>
                <c:pt idx="26">
                  <c:v>18.16832</c:v>
                </c:pt>
                <c:pt idx="27">
                  <c:v>17.767561</c:v>
                </c:pt>
                <c:pt idx="28">
                  <c:v>17.577452</c:v>
                </c:pt>
                <c:pt idx="29">
                  <c:v>18.791098</c:v>
                </c:pt>
                <c:pt idx="30">
                  <c:v>17.118166</c:v>
                </c:pt>
                <c:pt idx="31">
                  <c:v>15.014169</c:v>
                </c:pt>
                <c:pt idx="32">
                  <c:v>14.597786</c:v>
                </c:pt>
                <c:pt idx="33">
                  <c:v>16.67</c:v>
                </c:pt>
                <c:pt idx="34">
                  <c:v>15.561249</c:v>
                </c:pt>
                <c:pt idx="35">
                  <c:v>16.585403</c:v>
                </c:pt>
                <c:pt idx="36">
                  <c:v>15.849481</c:v>
                </c:pt>
                <c:pt idx="37">
                  <c:v>15.553294</c:v>
                </c:pt>
                <c:pt idx="38">
                  <c:v>16.335276</c:v>
                </c:pt>
                <c:pt idx="39">
                  <c:v>18.82889</c:v>
                </c:pt>
                <c:pt idx="40">
                  <c:v>17.948618</c:v>
                </c:pt>
                <c:pt idx="41">
                  <c:v>20.401411</c:v>
                </c:pt>
                <c:pt idx="42">
                  <c:v>20.029945</c:v>
                </c:pt>
                <c:pt idx="43">
                  <c:v>14.731143</c:v>
                </c:pt>
                <c:pt idx="44">
                  <c:v>13.057556</c:v>
                </c:pt>
                <c:pt idx="45">
                  <c:v>12.679515</c:v>
                </c:pt>
                <c:pt idx="46">
                  <c:v>15.13615</c:v>
                </c:pt>
                <c:pt idx="47">
                  <c:v>17.54621</c:v>
                </c:pt>
                <c:pt idx="48">
                  <c:v>19.042843</c:v>
                </c:pt>
                <c:pt idx="49">
                  <c:v>15.724872</c:v>
                </c:pt>
                <c:pt idx="50">
                  <c:v>16.277573</c:v>
                </c:pt>
                <c:pt idx="51">
                  <c:v>17.650072</c:v>
                </c:pt>
                <c:pt idx="52">
                  <c:v>15.775532</c:v>
                </c:pt>
                <c:pt idx="53">
                  <c:v>13.783844</c:v>
                </c:pt>
                <c:pt idx="54">
                  <c:v>14.173989</c:v>
                </c:pt>
                <c:pt idx="55">
                  <c:v>17.452139</c:v>
                </c:pt>
                <c:pt idx="56">
                  <c:v>15.558599</c:v>
                </c:pt>
                <c:pt idx="57">
                  <c:v>13.24108</c:v>
                </c:pt>
                <c:pt idx="58">
                  <c:v>11.393795</c:v>
                </c:pt>
                <c:pt idx="59">
                  <c:v>15.008987</c:v>
                </c:pt>
                <c:pt idx="60">
                  <c:v>17.193087</c:v>
                </c:pt>
                <c:pt idx="61">
                  <c:v>16.236885</c:v>
                </c:pt>
                <c:pt idx="62">
                  <c:v>16.224937</c:v>
                </c:pt>
                <c:pt idx="63">
                  <c:v>15.264183</c:v>
                </c:pt>
                <c:pt idx="64">
                  <c:v>14.925328</c:v>
                </c:pt>
                <c:pt idx="65">
                  <c:v>14.615883</c:v>
                </c:pt>
                <c:pt idx="66">
                  <c:v>16.054983</c:v>
                </c:pt>
                <c:pt idx="67">
                  <c:v>17.15867</c:v>
                </c:pt>
                <c:pt idx="68">
                  <c:v>17.61653</c:v>
                </c:pt>
                <c:pt idx="69">
                  <c:v>17.212345</c:v>
                </c:pt>
                <c:pt idx="70">
                  <c:v>18.459728</c:v>
                </c:pt>
                <c:pt idx="71">
                  <c:v>15.577264</c:v>
                </c:pt>
                <c:pt idx="72">
                  <c:v>14.753589</c:v>
                </c:pt>
                <c:pt idx="73">
                  <c:v>17.341742</c:v>
                </c:pt>
                <c:pt idx="74">
                  <c:v>16.43158</c:v>
                </c:pt>
                <c:pt idx="75">
                  <c:v>16.60097</c:v>
                </c:pt>
                <c:pt idx="76">
                  <c:v>17.804403</c:v>
                </c:pt>
                <c:pt idx="77">
                  <c:v>17.525457</c:v>
                </c:pt>
                <c:pt idx="78">
                  <c:v>17.765913</c:v>
                </c:pt>
                <c:pt idx="79">
                  <c:v>18.333427</c:v>
                </c:pt>
                <c:pt idx="80">
                  <c:v>17.430185</c:v>
                </c:pt>
                <c:pt idx="81">
                  <c:v>18.053282</c:v>
                </c:pt>
                <c:pt idx="82">
                  <c:v>18.528635</c:v>
                </c:pt>
                <c:pt idx="83">
                  <c:v>16.371332</c:v>
                </c:pt>
                <c:pt idx="84">
                  <c:v>18.737686</c:v>
                </c:pt>
                <c:pt idx="85">
                  <c:v>18.707205</c:v>
                </c:pt>
                <c:pt idx="86">
                  <c:v>17.381308</c:v>
                </c:pt>
                <c:pt idx="87">
                  <c:v>17.216187</c:v>
                </c:pt>
                <c:pt idx="88">
                  <c:v>19.091612</c:v>
                </c:pt>
                <c:pt idx="89">
                  <c:v>18.816502</c:v>
                </c:pt>
                <c:pt idx="90">
                  <c:v>19.735489</c:v>
                </c:pt>
                <c:pt idx="91">
                  <c:v>17.592974</c:v>
                </c:pt>
                <c:pt idx="92">
                  <c:v>17.30871</c:v>
                </c:pt>
                <c:pt idx="93">
                  <c:v>16.96574</c:v>
                </c:pt>
                <c:pt idx="94">
                  <c:v>18.399925</c:v>
                </c:pt>
                <c:pt idx="95">
                  <c:v>15.478175</c:v>
                </c:pt>
                <c:pt idx="96">
                  <c:v>14.783508</c:v>
                </c:pt>
                <c:pt idx="97">
                  <c:v>15.438325</c:v>
                </c:pt>
                <c:pt idx="98">
                  <c:v>18.702356</c:v>
                </c:pt>
                <c:pt idx="99">
                  <c:v>15.891353</c:v>
                </c:pt>
                <c:pt idx="100">
                  <c:v>14.312833</c:v>
                </c:pt>
                <c:pt idx="101">
                  <c:v>19.715353</c:v>
                </c:pt>
                <c:pt idx="102">
                  <c:v>19.62897</c:v>
                </c:pt>
                <c:pt idx="103">
                  <c:v>17.055782</c:v>
                </c:pt>
                <c:pt idx="104">
                  <c:v>19.27646</c:v>
                </c:pt>
                <c:pt idx="105">
                  <c:v>19.652697</c:v>
                </c:pt>
                <c:pt idx="106">
                  <c:v>18.376488</c:v>
                </c:pt>
                <c:pt idx="107">
                  <c:v>18.975256</c:v>
                </c:pt>
                <c:pt idx="108">
                  <c:v>17.933731</c:v>
                </c:pt>
                <c:pt idx="109">
                  <c:v>16.803297</c:v>
                </c:pt>
                <c:pt idx="110">
                  <c:v>16.927927</c:v>
                </c:pt>
                <c:pt idx="111">
                  <c:v>20.07515</c:v>
                </c:pt>
                <c:pt idx="112">
                  <c:v>19.439825</c:v>
                </c:pt>
                <c:pt idx="113">
                  <c:v>19.29251</c:v>
                </c:pt>
                <c:pt idx="114">
                  <c:v>21.922348</c:v>
                </c:pt>
                <c:pt idx="115">
                  <c:v>20.939787</c:v>
                </c:pt>
                <c:pt idx="116">
                  <c:v>17.352348</c:v>
                </c:pt>
                <c:pt idx="117">
                  <c:v>19.1029</c:v>
                </c:pt>
                <c:pt idx="118">
                  <c:v>18.447893</c:v>
                </c:pt>
                <c:pt idx="119">
                  <c:v>21.072021</c:v>
                </c:pt>
                <c:pt idx="120">
                  <c:v>18.777649</c:v>
                </c:pt>
                <c:pt idx="121">
                  <c:v>16.770277</c:v>
                </c:pt>
                <c:pt idx="122">
                  <c:v>15.316048</c:v>
                </c:pt>
                <c:pt idx="123">
                  <c:v>17.162405</c:v>
                </c:pt>
                <c:pt idx="124">
                  <c:v>19.515432</c:v>
                </c:pt>
                <c:pt idx="125">
                  <c:v>20.500738</c:v>
                </c:pt>
                <c:pt idx="126">
                  <c:v>17.243156</c:v>
                </c:pt>
                <c:pt idx="127">
                  <c:v>12.754176</c:v>
                </c:pt>
                <c:pt idx="128">
                  <c:v>9.483052</c:v>
                </c:pt>
                <c:pt idx="129">
                  <c:v>12.134402</c:v>
                </c:pt>
                <c:pt idx="130">
                  <c:v>17.600416</c:v>
                </c:pt>
                <c:pt idx="131">
                  <c:v>18.38193</c:v>
                </c:pt>
                <c:pt idx="132">
                  <c:v>15.429566</c:v>
                </c:pt>
                <c:pt idx="133">
                  <c:v>15.683745</c:v>
                </c:pt>
                <c:pt idx="134">
                  <c:v>17.229279</c:v>
                </c:pt>
                <c:pt idx="135">
                  <c:v>16.458355</c:v>
                </c:pt>
                <c:pt idx="136">
                  <c:v>17.369364</c:v>
                </c:pt>
                <c:pt idx="137">
                  <c:v>16.59781</c:v>
                </c:pt>
                <c:pt idx="138">
                  <c:v>18.675531</c:v>
                </c:pt>
                <c:pt idx="139">
                  <c:v>16.016233</c:v>
                </c:pt>
                <c:pt idx="140">
                  <c:v>16.574783</c:v>
                </c:pt>
                <c:pt idx="141">
                  <c:v>18.295694</c:v>
                </c:pt>
                <c:pt idx="142">
                  <c:v>18.958231</c:v>
                </c:pt>
                <c:pt idx="143">
                  <c:v>17.055504</c:v>
                </c:pt>
                <c:pt idx="144">
                  <c:v>17.90185</c:v>
                </c:pt>
                <c:pt idx="145">
                  <c:v>19.078028</c:v>
                </c:pt>
                <c:pt idx="146">
                  <c:v>16.60273</c:v>
                </c:pt>
                <c:pt idx="147">
                  <c:v>16.535177</c:v>
                </c:pt>
                <c:pt idx="148">
                  <c:v>12.95674</c:v>
                </c:pt>
                <c:pt idx="149">
                  <c:v>16.190504</c:v>
                </c:pt>
                <c:pt idx="150">
                  <c:v>19.001722</c:v>
                </c:pt>
                <c:pt idx="151">
                  <c:v>17.715971</c:v>
                </c:pt>
                <c:pt idx="152">
                  <c:v>17.171125</c:v>
                </c:pt>
                <c:pt idx="153">
                  <c:v>15.379666</c:v>
                </c:pt>
                <c:pt idx="154">
                  <c:v>13.223289</c:v>
                </c:pt>
                <c:pt idx="155">
                  <c:v>15.910625</c:v>
                </c:pt>
                <c:pt idx="156">
                  <c:v>17.988974</c:v>
                </c:pt>
                <c:pt idx="157">
                  <c:v>13.833936</c:v>
                </c:pt>
                <c:pt idx="158">
                  <c:v>16.024992</c:v>
                </c:pt>
                <c:pt idx="159">
                  <c:v>17.708502</c:v>
                </c:pt>
                <c:pt idx="160">
                  <c:v>17.890348</c:v>
                </c:pt>
                <c:pt idx="161">
                  <c:v>20.818861</c:v>
                </c:pt>
                <c:pt idx="162">
                  <c:v>18.535933</c:v>
                </c:pt>
                <c:pt idx="163">
                  <c:v>18.932333</c:v>
                </c:pt>
                <c:pt idx="164">
                  <c:v>18.149738</c:v>
                </c:pt>
                <c:pt idx="165">
                  <c:v>19.191566</c:v>
                </c:pt>
                <c:pt idx="166">
                  <c:v>17.221207</c:v>
                </c:pt>
                <c:pt idx="167">
                  <c:v>17.014082</c:v>
                </c:pt>
                <c:pt idx="168">
                  <c:v>14.466016</c:v>
                </c:pt>
                <c:pt idx="169">
                  <c:v>13.271282</c:v>
                </c:pt>
                <c:pt idx="170">
                  <c:v>14.125276</c:v>
                </c:pt>
                <c:pt idx="171">
                  <c:v>19.152372</c:v>
                </c:pt>
                <c:pt idx="172">
                  <c:v>17.755922</c:v>
                </c:pt>
                <c:pt idx="173">
                  <c:v>17.4264</c:v>
                </c:pt>
                <c:pt idx="174">
                  <c:v>18.756014</c:v>
                </c:pt>
                <c:pt idx="175">
                  <c:v>19.297527</c:v>
                </c:pt>
                <c:pt idx="176">
                  <c:v>16.084146</c:v>
                </c:pt>
                <c:pt idx="177">
                  <c:v>17.683859</c:v>
                </c:pt>
                <c:pt idx="178">
                  <c:v>18.577826</c:v>
                </c:pt>
                <c:pt idx="179">
                  <c:v>15.02386</c:v>
                </c:pt>
                <c:pt idx="180">
                  <c:v>14.512517</c:v>
                </c:pt>
                <c:pt idx="181">
                  <c:v>16.168901</c:v>
                </c:pt>
                <c:pt idx="182">
                  <c:v>16.521421</c:v>
                </c:pt>
                <c:pt idx="183">
                  <c:v>13.287392</c:v>
                </c:pt>
                <c:pt idx="184">
                  <c:v>15.393486</c:v>
                </c:pt>
                <c:pt idx="185">
                  <c:v>14.58025</c:v>
                </c:pt>
                <c:pt idx="186">
                  <c:v>14.367238</c:v>
                </c:pt>
                <c:pt idx="187">
                  <c:v>17.53613</c:v>
                </c:pt>
                <c:pt idx="188">
                  <c:v>16.233679</c:v>
                </c:pt>
                <c:pt idx="189">
                  <c:v>13.8809</c:v>
                </c:pt>
                <c:pt idx="190">
                  <c:v>17.706385</c:v>
                </c:pt>
                <c:pt idx="191">
                  <c:v>17.54322</c:v>
                </c:pt>
                <c:pt idx="192">
                  <c:v>16.370258</c:v>
                </c:pt>
                <c:pt idx="193">
                  <c:v>16.490206</c:v>
                </c:pt>
                <c:pt idx="194">
                  <c:v>16.50395</c:v>
                </c:pt>
                <c:pt idx="195">
                  <c:v>16.910906</c:v>
                </c:pt>
                <c:pt idx="196">
                  <c:v>15.771583</c:v>
                </c:pt>
                <c:pt idx="197">
                  <c:v>18.506939</c:v>
                </c:pt>
                <c:pt idx="198">
                  <c:v>18.02725</c:v>
                </c:pt>
                <c:pt idx="199">
                  <c:v>15.643799</c:v>
                </c:pt>
                <c:pt idx="200">
                  <c:v>18.419664</c:v>
                </c:pt>
                <c:pt idx="201">
                  <c:v>18.066654</c:v>
                </c:pt>
                <c:pt idx="202">
                  <c:v>18.43561</c:v>
                </c:pt>
                <c:pt idx="203">
                  <c:v>17.24892</c:v>
                </c:pt>
                <c:pt idx="204">
                  <c:v>16.218382</c:v>
                </c:pt>
                <c:pt idx="205">
                  <c:v>16.272112</c:v>
                </c:pt>
                <c:pt idx="206">
                  <c:v>15.46194</c:v>
                </c:pt>
                <c:pt idx="207">
                  <c:v>14.335109</c:v>
                </c:pt>
                <c:pt idx="208">
                  <c:v>15.17917</c:v>
                </c:pt>
                <c:pt idx="209">
                  <c:v>14.709201</c:v>
                </c:pt>
                <c:pt idx="210">
                  <c:v>16.151285</c:v>
                </c:pt>
                <c:pt idx="211">
                  <c:v>17.226282</c:v>
                </c:pt>
                <c:pt idx="212">
                  <c:v>17.016434</c:v>
                </c:pt>
                <c:pt idx="213">
                  <c:v>19.456324</c:v>
                </c:pt>
                <c:pt idx="214">
                  <c:v>15.124232</c:v>
                </c:pt>
                <c:pt idx="215">
                  <c:v>13.511059</c:v>
                </c:pt>
                <c:pt idx="216">
                  <c:v>13.784077</c:v>
                </c:pt>
                <c:pt idx="217">
                  <c:v>16.962812</c:v>
                </c:pt>
                <c:pt idx="218">
                  <c:v>17.670914</c:v>
                </c:pt>
                <c:pt idx="219">
                  <c:v>16.747316</c:v>
                </c:pt>
                <c:pt idx="220">
                  <c:v>17.232973</c:v>
                </c:pt>
                <c:pt idx="221">
                  <c:v>18.268412</c:v>
                </c:pt>
                <c:pt idx="222">
                  <c:v>17.12074</c:v>
                </c:pt>
                <c:pt idx="223">
                  <c:v>18.99462</c:v>
                </c:pt>
                <c:pt idx="224">
                  <c:v>16.955238</c:v>
                </c:pt>
                <c:pt idx="225">
                  <c:v>16.241333</c:v>
                </c:pt>
                <c:pt idx="226">
                  <c:v>15.719344</c:v>
                </c:pt>
                <c:pt idx="227">
                  <c:v>15.663039</c:v>
                </c:pt>
                <c:pt idx="228">
                  <c:v>14.916476</c:v>
                </c:pt>
                <c:pt idx="229">
                  <c:v>15.833408</c:v>
                </c:pt>
              </c:numCache>
            </c:numRef>
          </c:yVal>
        </c:ser>
        <c:ser>
          <c:idx val="1"/>
          <c:order val="1"/>
          <c:tx>
            <c:v>Perfect agreement</c:v>
          </c:tx>
          <c:spPr>
            <a:ln xmlns:a="http://schemas.openxmlformats.org/drawingml/2006/main" w="19050">
              <a:solidFill>
                <a:srgbClr val="A3BACB"/>
              </a:solidFill>
            </a:ln>
          </c:spPr>
          <c:marker>
            <c:symbol val="none"/>
          </c:marker>
          <c:xVal>
            <c:numRef>
              <c:f>'Chart Data'!$C$2:$C$3</c:f>
              <c:numCache>
                <c:formatCode>General</c:formatCode>
                <c:ptCount val="2"/>
                <c:pt idx="0">
                  <c:v>4</c:v>
                </c:pt>
                <c:pt idx="1">
                  <c:v>28</c:v>
                </c:pt>
              </c:numCache>
            </c:numRef>
          </c:xVal>
          <c:yVal>
            <c:numRef>
              <c:f>'Chart Data'!$D$2:$D$3</c:f>
              <c:numCache>
                <c:formatCode>General</c:formatCode>
                <c:ptCount val="2"/>
                <c:pt idx="0">
                  <c:v>4</c:v>
                </c:pt>
                <c:pt idx="1">
                  <c:v>28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4"/>
        </c:scaling>
        <c:delete val="0"/>
        <c:axPos val="l"/>
        <c:majorGridlines>
          <c:spPr>
            <a:ln xmlns:a="http://schemas.openxmlformats.org/drawingml/2006/main" w="9525">
              <a:solidFill>
                <a:srgbClr val="E4E9ED"/>
              </a:solidFill>
            </a:ln>
          </c:spPr>
        </c:majorGridlines>
        <c:title>
          <c:tx>
            <c:rich>
              <a:bodyPr xmlns:a="http://schemas.openxmlformats.org/drawingml/2006/main"/>
              <a:lstStyle xmlns:a="http://schemas.openxmlformats.org/drawingml/2006/main"/>
              <a:p xmlns:a="http://schemas.openxmlformats.org/drawingml/2006/main">
                <a:r>
                  <a:rPr sz="1500">
                    <a:solidFill>
                      <a:srgbClr val="536574"/>
                    </a:solidFill>
                    <a:latin typeface="Arial"/>
                    <a:ea typeface="Arial"/>
                    <a:cs typeface="Arial"/>
                  </a:rPr>
                  <a:t>Predicted |Mid-GLS| (%)</a:t>
                </a:r>
              </a:p>
            </c:rich>
          </c:tx>
          <c:overlay val="0"/>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50112"/>
        <c:majorUnit val="4"/>
      </c:valAx>
      <c:valAx>
        <c:axId val="48650112"/>
        <c:scaling>
          <c:orientation val="minMax"/>
          <c:max val="28"/>
          <c:min val="4"/>
        </c:scaling>
        <c:delete val="0"/>
        <c:axPos val="b"/>
        <c:majorGridlines>
          <c:spPr>
            <a:ln xmlns:a="http://schemas.openxmlformats.org/drawingml/2006/main" w="9525">
              <a:solidFill>
                <a:srgbClr val="E4E9ED"/>
              </a:solidFill>
            </a:ln>
          </c:spPr>
        </c:majorGridlines>
        <c:title>
          <c:tx>
            <c:rich>
              <a:bodyPr xmlns:a="http://schemas.openxmlformats.org/drawingml/2006/main"/>
              <a:lstStyle xmlns:a="http://schemas.openxmlformats.org/drawingml/2006/main"/>
              <a:p xmlns:a="http://schemas.openxmlformats.org/drawingml/2006/main">
                <a:r>
                  <a:rPr sz="1500">
                    <a:solidFill>
                      <a:srgbClr val="536574"/>
                    </a:solidFill>
                    <a:latin typeface="Arial"/>
                    <a:ea typeface="Arial"/>
                    <a:cs typeface="Arial"/>
                  </a:rPr>
                  <a:t>Reported |Mid-GLS| (%)</a:t>
                </a:r>
              </a:p>
            </c:rich>
          </c:tx>
          <c:overlay val="0"/>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72768"/>
        <c:majorUnit val="4"/>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Pearson r by vendor</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barChart>
        <c:barDir val="col"/>
        <c:grouping val="clustered"/>
        <c:varyColors val="0"/>
        <c:ser>
          <c:idx val="0"/>
          <c:order val="0"/>
          <c:tx>
            <c:v>Pearson r</c:v>
          </c:tx>
          <c:spPr>
            <a:solidFill xmlns:a="http://schemas.openxmlformats.org/drawingml/2006/main">
              <a:srgbClr val="168A91"/>
            </a:solidFill>
          </c:spPr>
          <c:cat>
            <c:strRef>
              <c:f>'Chart Data'!$A$2:$A$4</c:f>
              <c:strCache>
                <c:ptCount val="3"/>
                <c:pt idx="0">
                  <c:v>GE Healthcare</c:v>
                </c:pt>
                <c:pt idx="1">
                  <c:v>GE Vingmed</c:v>
                </c:pt>
                <c:pt idx="2">
                  <c:v>Philips</c:v>
                </c:pt>
              </c:strCache>
            </c:strRef>
          </c:cat>
          <c:val>
            <c:numRef>
              <c:f>'Chart Data'!$B$2:$B$4</c:f>
              <c:numCache>
                <c:formatCode>0.000</c:formatCode>
                <c:ptCount val="3"/>
                <c:pt idx="0">
                  <c:v>0.81656382</c:v>
                </c:pt>
                <c:pt idx="1">
                  <c:v>0.77721314</c:v>
                </c:pt>
                <c:pt idx="2">
                  <c:v>0.58950082</c:v>
                </c:pt>
              </c:numCache>
            </c:numRef>
          </c:val>
        </c:ser>
        <c:dLbls>
          <c:txPr>
            <a:bodyPr xmlns:a="http://schemas.openxmlformats.org/drawingml/2006/main" anchorCtr="1"/>
            <a:lstStyle xmlns:a="http://schemas.openxmlformats.org/drawingml/2006/main"/>
            <a:p xmlns:a="http://schemas.openxmlformats.org/drawingml/2006/main">
              <a:pPr>
                <a:defRPr sz="1425">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lgn="ctr">
              <a:defRPr sz="1200">
                <a:solidFill>
                  <a:srgbClr val="536574"/>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4E9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AUROC</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barChart>
        <c:barDir val="col"/>
        <c:grouping val="clustered"/>
        <c:varyColors val="0"/>
        <c:ser>
          <c:idx val="0"/>
          <c:order val="0"/>
          <c:tx>
            <c:v>AUROC</c:v>
          </c:tx>
          <c:spPr>
            <a:solidFill xmlns:a="http://schemas.openxmlformats.org/drawingml/2006/main">
              <a:srgbClr val="168A91"/>
            </a:solidFill>
          </c:spPr>
          <c:dPt>
            <c:idx val="0"/>
            <c:invertIfNegative val="0"/>
            <c:spPr>
              <a:solidFill xmlns:a="http://schemas.openxmlformats.org/drawingml/2006/main">
                <a:srgbClr val="16324B"/>
              </a:solidFill>
            </c:spPr>
          </c:dPt>
          <c:dPt>
            <c:idx val="1"/>
            <c:invertIfNegative val="0"/>
            <c:spPr>
              <a:solidFill xmlns:a="http://schemas.openxmlformats.org/drawingml/2006/main">
                <a:srgbClr val="168A91"/>
              </a:solidFill>
            </c:spPr>
          </c:dPt>
          <c:dPt>
            <c:idx val="2"/>
            <c:invertIfNegative val="0"/>
            <c:spPr>
              <a:solidFill xmlns:a="http://schemas.openxmlformats.org/drawingml/2006/main">
                <a:srgbClr val="168A91"/>
              </a:solidFill>
            </c:spPr>
          </c:dPt>
          <c:dPt>
            <c:idx val="3"/>
            <c:invertIfNegative val="0"/>
            <c:spPr>
              <a:solidFill xmlns:a="http://schemas.openxmlformats.org/drawingml/2006/main">
                <a:srgbClr val="168A91"/>
              </a:solidFill>
            </c:spPr>
          </c:dPt>
          <c:dPt>
            <c:idx val="4"/>
            <c:invertIfNegative val="0"/>
            <c:spPr>
              <a:solidFill xmlns:a="http://schemas.openxmlformats.org/drawingml/2006/main">
                <a:srgbClr val="168A91"/>
              </a:solidFill>
            </c:spPr>
          </c:dPt>
          <c:cat>
            <c:strRef>
              <c:f>'Chart Data'!$A$2:$A$6</c:f>
              <c:strCache>
                <c:ptCount val="5"/>
                <c:pt idx="0">
                  <c:v>Baseline</c:v>
                </c:pt>
                <c:pt idx="1">
                  <c:v>Echo
Prime</c:v>
                </c:pt>
                <c:pt idx="2">
                  <c:v>Pan
Echo</c:v>
                </c:pt>
                <c:pt idx="3">
                  <c:v>Echo
FM</c:v>
                </c:pt>
                <c:pt idx="4">
                  <c:v>Echo
JEPA</c:v>
                </c:pt>
              </c:strCache>
            </c:strRef>
          </c:cat>
          <c:val>
            <c:numRef>
              <c:f>'Chart Data'!$B$2:$B$6</c:f>
              <c:numCache>
                <c:formatCode>0.000</c:formatCode>
                <c:ptCount val="5"/>
                <c:pt idx="0">
                  <c:v>0.726</c:v>
                </c:pt>
                <c:pt idx="1">
                  <c:v>0.701</c:v>
                </c:pt>
                <c:pt idx="2">
                  <c:v>0.722</c:v>
                </c:pt>
                <c:pt idx="3">
                  <c:v>0.713</c:v>
                </c:pt>
                <c:pt idx="4">
                  <c:v>0.72</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lgn="ctr">
              <a:defRPr sz="1200">
                <a:solidFill>
                  <a:srgbClr val="536574"/>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4E9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Average precision (AP)</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barChart>
        <c:barDir val="col"/>
        <c:grouping val="clustered"/>
        <c:varyColors val="0"/>
        <c:ser>
          <c:idx val="0"/>
          <c:order val="0"/>
          <c:tx>
            <c:v>AP</c:v>
          </c:tx>
          <c:spPr>
            <a:solidFill xmlns:a="http://schemas.openxmlformats.org/drawingml/2006/main">
              <a:srgbClr val="168A91"/>
            </a:solidFill>
          </c:spPr>
          <c:dPt>
            <c:idx val="0"/>
            <c:invertIfNegative val="0"/>
            <c:spPr>
              <a:solidFill xmlns:a="http://schemas.openxmlformats.org/drawingml/2006/main">
                <a:srgbClr val="16324B"/>
              </a:solidFill>
            </c:spPr>
          </c:dPt>
          <c:dPt>
            <c:idx val="1"/>
            <c:invertIfNegative val="0"/>
            <c:spPr>
              <a:solidFill xmlns:a="http://schemas.openxmlformats.org/drawingml/2006/main">
                <a:srgbClr val="168A91"/>
              </a:solidFill>
            </c:spPr>
          </c:dPt>
          <c:dPt>
            <c:idx val="2"/>
            <c:invertIfNegative val="0"/>
            <c:spPr>
              <a:solidFill xmlns:a="http://schemas.openxmlformats.org/drawingml/2006/main">
                <a:srgbClr val="168A91"/>
              </a:solidFill>
            </c:spPr>
          </c:dPt>
          <c:dPt>
            <c:idx val="3"/>
            <c:invertIfNegative val="0"/>
            <c:spPr>
              <a:solidFill xmlns:a="http://schemas.openxmlformats.org/drawingml/2006/main">
                <a:srgbClr val="168A91"/>
              </a:solidFill>
            </c:spPr>
          </c:dPt>
          <c:dPt>
            <c:idx val="4"/>
            <c:invertIfNegative val="0"/>
            <c:spPr>
              <a:solidFill xmlns:a="http://schemas.openxmlformats.org/drawingml/2006/main">
                <a:srgbClr val="168A91"/>
              </a:solidFill>
            </c:spPr>
          </c:dPt>
          <c:cat>
            <c:strRef>
              <c:f>'Chart Data'!$A$2:$A$6</c:f>
              <c:strCache>
                <c:ptCount val="5"/>
                <c:pt idx="0">
                  <c:v>Baseline</c:v>
                </c:pt>
                <c:pt idx="1">
                  <c:v>Echo
Prime</c:v>
                </c:pt>
                <c:pt idx="2">
                  <c:v>Pan
Echo</c:v>
                </c:pt>
                <c:pt idx="3">
                  <c:v>Echo
FM</c:v>
                </c:pt>
                <c:pt idx="4">
                  <c:v>Echo
JEPA</c:v>
                </c:pt>
              </c:strCache>
            </c:strRef>
          </c:cat>
          <c:val>
            <c:numRef>
              <c:f>'Chart Data'!$B$2:$B$6</c:f>
              <c:numCache>
                <c:formatCode>0.000</c:formatCode>
                <c:ptCount val="5"/>
                <c:pt idx="0">
                  <c:v>0.379</c:v>
                </c:pt>
                <c:pt idx="1">
                  <c:v>0.347</c:v>
                </c:pt>
                <c:pt idx="2">
                  <c:v>0.378</c:v>
                </c:pt>
                <c:pt idx="3">
                  <c:v>0.387</c:v>
                </c:pt>
                <c:pt idx="4">
                  <c:v>0.368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lgn="ctr">
              <a:defRPr sz="1200">
                <a:solidFill>
                  <a:srgbClr val="536574"/>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E4E9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Next-visit deterioration</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barChart>
        <c:barDir val="col"/>
        <c:grouping val="clustered"/>
        <c:varyColors val="0"/>
        <c:ser>
          <c:idx val="0"/>
          <c:order val="0"/>
          <c:tx>
            <c:v>AUROC</c:v>
          </c:tx>
          <c:spPr>
            <a:solidFill xmlns:a="http://schemas.openxmlformats.org/drawingml/2006/main">
              <a:srgbClr val="168A91"/>
            </a:solidFill>
          </c:spPr>
          <c:cat>
            <c:strRef>
              <c:f>'Chart Data'!$A$2:$A$6</c:f>
              <c:strCache>
                <c:ptCount val="5"/>
                <c:pt idx="0">
                  <c:v>Baseline</c:v>
                </c:pt>
                <c:pt idx="1">
                  <c:v>Shared encoder</c:v>
                </c:pt>
                <c:pt idx="2">
                  <c:v>View-specific</c:v>
                </c:pt>
                <c:pt idx="3">
                  <c:v>A3C+A4C post hoc</c:v>
                </c:pt>
                <c:pt idx="4">
                  <c:v>Nested selection</c:v>
                </c:pt>
              </c:strCache>
            </c:strRef>
          </c:cat>
          <c:val>
            <c:numRef>
              <c:f>'Chart Data'!$B$2:$B$6</c:f>
              <c:numCache>
                <c:formatCode>0.000</c:formatCode>
                <c:ptCount val="5"/>
                <c:pt idx="0">
                  <c:v>0.726</c:v>
                </c:pt>
                <c:pt idx="1">
                  <c:v>0.71</c:v>
                </c:pt>
                <c:pt idx="2">
                  <c:v>0.727</c:v>
                </c:pt>
                <c:pt idx="3">
                  <c:v>0.736</c:v>
                </c:pt>
                <c:pt idx="4">
                  <c:v>0.707</c:v>
                </c:pt>
              </c:numCache>
            </c:numRef>
          </c:val>
        </c:ser>
        <c:ser>
          <c:idx val="1"/>
          <c:order val="1"/>
          <c:tx>
            <c:v>AP</c:v>
          </c:tx>
          <c:spPr>
            <a:solidFill xmlns:a="http://schemas.openxmlformats.org/drawingml/2006/main">
              <a:srgbClr val="A3BACB"/>
            </a:solidFill>
          </c:spPr>
          <c:cat>
            <c:strRef>
              <c:f>'Chart Data'!$C$2:$C$6</c:f>
              <c:strCache>
                <c:ptCount val="5"/>
                <c:pt idx="0">
                  <c:v>Baseline</c:v>
                </c:pt>
                <c:pt idx="1">
                  <c:v>Shared encoder</c:v>
                </c:pt>
                <c:pt idx="2">
                  <c:v>View-specific</c:v>
                </c:pt>
                <c:pt idx="3">
                  <c:v>A3C+A4C post hoc</c:v>
                </c:pt>
                <c:pt idx="4">
                  <c:v>Nested selection</c:v>
                </c:pt>
              </c:strCache>
            </c:strRef>
          </c:cat>
          <c:val>
            <c:numRef>
              <c:f>'Chart Data'!$D$2:$D$6</c:f>
              <c:numCache>
                <c:formatCode>0.000</c:formatCode>
                <c:ptCount val="5"/>
                <c:pt idx="0">
                  <c:v>0.379</c:v>
                </c:pt>
                <c:pt idx="1">
                  <c:v>0.36</c:v>
                </c:pt>
                <c:pt idx="2">
                  <c:v>0.355</c:v>
                </c:pt>
                <c:pt idx="3">
                  <c:v>0.355</c:v>
                </c:pt>
                <c:pt idx="4">
                  <c:v>0.345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lgn="ctr">
              <a:defRPr sz="1200">
                <a:solidFill>
                  <a:srgbClr val="536574"/>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4E9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16324B"/>
                </a:solidFill>
                <a:latin typeface="Arial"/>
                <a:ea typeface="Arial"/>
                <a:cs typeface="Arial"/>
              </a:rPr>
              <a:t>AUROC decrease after feature shuffling</a:t>
            </a:r>
          </a:p>
        </c:rich>
      </c:tx>
      <c:overlay val="0"/>
      <c:txPr>
        <a:bodyPr xmlns:a="http://schemas.openxmlformats.org/drawingml/2006/main" anchorCtr="1"/>
        <a:lstStyle xmlns:a="http://schemas.openxmlformats.org/drawingml/2006/main"/>
        <a:p xmlns:a="http://schemas.openxmlformats.org/drawingml/2006/main">
          <a:pPr>
            <a:defRPr sz="1800" b="1">
              <a:solidFill>
                <a:srgbClr val="16324B"/>
              </a:solidFill>
              <a:latin typeface="Arial"/>
              <a:ea typeface="Arial"/>
              <a:cs typeface="Arial"/>
            </a:defRPr>
          </a:pPr>
        </a:p>
      </c:txPr>
    </c:title>
    <c:plotArea>
      <c:scatterChart>
        <c:scatterStyle val="lineMarker"/>
        <c:ser>
          <c:idx val="0"/>
          <c:order val="0"/>
          <c:tx>
            <c:v>Change in Endo–Mid gap pattern 95% CI</c:v>
          </c:tx>
          <c:spPr>
            <a:ln xmlns:a="http://schemas.openxmlformats.org/drawingml/2006/main" w="38100">
              <a:solidFill>
                <a:srgbClr val="168A91"/>
              </a:solidFill>
            </a:ln>
          </c:spPr>
          <c:marker>
            <c:symbol val="none"/>
          </c:marker>
          <c:xVal>
            <c:numRef>
              <c:f>'Chart Data'!$A$2:$A$3</c:f>
              <c:numCache>
                <c:formatCode>General</c:formatCode>
                <c:ptCount val="2"/>
                <c:pt idx="0">
                  <c:v>0.001082</c:v>
                </c:pt>
                <c:pt idx="1">
                  <c:v>0.065587</c:v>
                </c:pt>
              </c:numCache>
            </c:numRef>
          </c:xVal>
          <c:yVal>
            <c:numRef>
              <c:f>'Chart Data'!$B$2:$B$3</c:f>
              <c:numCache>
                <c:formatCode>General</c:formatCode>
                <c:ptCount val="2"/>
                <c:pt idx="0">
                  <c:v>3</c:v>
                </c:pt>
                <c:pt idx="1">
                  <c:v>3</c:v>
                </c:pt>
              </c:numCache>
            </c:numRef>
          </c:yVal>
        </c:ser>
        <c:ser>
          <c:idx val="1"/>
          <c:order val="1"/>
          <c:tx>
            <c:v>Change in Endo–Mid gap pattern</c:v>
          </c:tx>
          <c:spPr>
            <a:solidFill xmlns:a="http://schemas.openxmlformats.org/drawingml/2006/main">
              <a:srgbClr val="16324B"/>
            </a:solidFill>
            <a:ln xmlns:a="http://schemas.openxmlformats.org/drawingml/2006/main" w="0">
              <a:noFill/>
            </a:ln>
          </c:spPr>
          <c:marker>
            <c:symbol val="circle"/>
            <c:size val="9"/>
            <c:spPr>
              <a:noFill xmlns:a="http://schemas.openxmlformats.org/drawingml/2006/main"/>
            </c:spPr>
          </c:marker>
          <c:xVal>
            <c:numRef>
              <c:f>'Chart Data'!$C$2:$C$2</c:f>
              <c:numCache>
                <c:formatCode>General</c:formatCode>
                <c:ptCount val="1"/>
                <c:pt idx="0">
                  <c:v>0.036713</c:v>
                </c:pt>
              </c:numCache>
            </c:numRef>
          </c:xVal>
          <c:yVal>
            <c:numRef>
              <c:f>'Chart Data'!$D$2:$D$2</c:f>
              <c:numCache>
                <c:formatCode>General</c:formatCode>
                <c:ptCount val="1"/>
                <c:pt idx="0">
                  <c:v>3</c:v>
                </c:pt>
              </c:numCache>
            </c:numRef>
          </c:yVal>
        </c:ser>
        <c:ser>
          <c:idx val="2"/>
          <c:order val="2"/>
          <c:tx>
            <c:v>Normalized Endo–Mid shape gap 95% CI</c:v>
          </c:tx>
          <c:spPr>
            <a:ln xmlns:a="http://schemas.openxmlformats.org/drawingml/2006/main" w="38100">
              <a:solidFill>
                <a:srgbClr val="168A91"/>
              </a:solidFill>
            </a:ln>
          </c:spPr>
          <c:marker>
            <c:symbol val="none"/>
          </c:marker>
          <c:xVal>
            <c:numRef>
              <c:f>'Chart Data'!$E$2:$E$3</c:f>
              <c:numCache>
                <c:formatCode>General</c:formatCode>
                <c:ptCount val="2"/>
                <c:pt idx="0">
                  <c:v>0.008079</c:v>
                </c:pt>
                <c:pt idx="1">
                  <c:v>0.02574</c:v>
                </c:pt>
              </c:numCache>
            </c:numRef>
          </c:xVal>
          <c:yVal>
            <c:numRef>
              <c:f>'Chart Data'!$F$2:$F$3</c:f>
              <c:numCache>
                <c:formatCode>General</c:formatCode>
                <c:ptCount val="2"/>
                <c:pt idx="0">
                  <c:v>2</c:v>
                </c:pt>
                <c:pt idx="1">
                  <c:v>2</c:v>
                </c:pt>
              </c:numCache>
            </c:numRef>
          </c:yVal>
        </c:ser>
        <c:ser>
          <c:idx val="3"/>
          <c:order val="3"/>
          <c:tx>
            <c:v>Normalized Endo–Mid shape gap</c:v>
          </c:tx>
          <c:spPr>
            <a:solidFill xmlns:a="http://schemas.openxmlformats.org/drawingml/2006/main">
              <a:srgbClr val="16324B"/>
            </a:solidFill>
            <a:ln xmlns:a="http://schemas.openxmlformats.org/drawingml/2006/main" w="0">
              <a:noFill/>
            </a:ln>
          </c:spPr>
          <c:marker>
            <c:symbol val="circle"/>
            <c:size val="9"/>
            <c:spPr>
              <a:noFill xmlns:a="http://schemas.openxmlformats.org/drawingml/2006/main"/>
            </c:spPr>
          </c:marker>
          <c:xVal>
            <c:numRef>
              <c:f>'Chart Data'!$G$2:$G$2</c:f>
              <c:numCache>
                <c:formatCode>General</c:formatCode>
                <c:ptCount val="1"/>
                <c:pt idx="0">
                  <c:v>0.016521</c:v>
                </c:pt>
              </c:numCache>
            </c:numRef>
          </c:xVal>
          <c:yVal>
            <c:numRef>
              <c:f>'Chart Data'!$H$2:$H$2</c:f>
              <c:numCache>
                <c:formatCode>General</c:formatCode>
                <c:ptCount val="1"/>
                <c:pt idx="0">
                  <c:v>2</c:v>
                </c:pt>
              </c:numCache>
            </c:numRef>
          </c:yVal>
        </c:ser>
        <c:ser>
          <c:idx val="4"/>
          <c:order val="4"/>
          <c:tx>
            <c:v>Mid peak-strain dispersion 95% CI</c:v>
          </c:tx>
          <c:spPr>
            <a:ln xmlns:a="http://schemas.openxmlformats.org/drawingml/2006/main" w="38100">
              <a:solidFill>
                <a:srgbClr val="A3BACB"/>
              </a:solidFill>
            </a:ln>
          </c:spPr>
          <c:marker>
            <c:symbol val="none"/>
          </c:marker>
          <c:xVal>
            <c:numRef>
              <c:f>'Chart Data'!$I$2:$I$3</c:f>
              <c:numCache>
                <c:formatCode>General</c:formatCode>
                <c:ptCount val="2"/>
                <c:pt idx="0">
                  <c:v>-0.014271</c:v>
                </c:pt>
                <c:pt idx="1">
                  <c:v>0.036233</c:v>
                </c:pt>
              </c:numCache>
            </c:numRef>
          </c:xVal>
          <c:yVal>
            <c:numRef>
              <c:f>'Chart Data'!$J$2:$J$3</c:f>
              <c:numCache>
                <c:formatCode>General</c:formatCode>
                <c:ptCount val="2"/>
                <c:pt idx="0">
                  <c:v>1</c:v>
                </c:pt>
                <c:pt idx="1">
                  <c:v>1</c:v>
                </c:pt>
              </c:numCache>
            </c:numRef>
          </c:yVal>
        </c:ser>
        <c:ser>
          <c:idx val="5"/>
          <c:order val="5"/>
          <c:tx>
            <c:v>Mid peak-strain dispersion</c:v>
          </c:tx>
          <c:spPr>
            <a:solidFill xmlns:a="http://schemas.openxmlformats.org/drawingml/2006/main">
              <a:srgbClr val="16324B"/>
            </a:solidFill>
            <a:ln xmlns:a="http://schemas.openxmlformats.org/drawingml/2006/main" w="0">
              <a:noFill/>
            </a:ln>
          </c:spPr>
          <c:marker>
            <c:symbol val="circle"/>
            <c:size val="9"/>
            <c:spPr>
              <a:noFill xmlns:a="http://schemas.openxmlformats.org/drawingml/2006/main"/>
            </c:spPr>
          </c:marker>
          <c:xVal>
            <c:numRef>
              <c:f>'Chart Data'!$K$2:$K$2</c:f>
              <c:numCache>
                <c:formatCode>General</c:formatCode>
                <c:ptCount val="1"/>
                <c:pt idx="0">
                  <c:v>0.010366</c:v>
                </c:pt>
              </c:numCache>
            </c:numRef>
          </c:xVal>
          <c:yVal>
            <c:numRef>
              <c:f>'Chart Data'!$L$2:$L$2</c:f>
              <c:numCache>
                <c:formatCode>General</c:formatCode>
                <c:ptCount val="1"/>
                <c:pt idx="0">
                  <c:v>1</c:v>
                </c:pt>
              </c:numCache>
            </c:numRef>
          </c:yVal>
        </c:ser>
        <c:ser>
          <c:idx val="6"/>
          <c:order val="6"/>
          <c:tx>
            <c:v>Zero</c:v>
          </c:tx>
          <c:spPr>
            <a:ln xmlns:a="http://schemas.openxmlformats.org/drawingml/2006/main" w="9525">
              <a:solidFill>
                <a:srgbClr val="A3BACB"/>
              </a:solidFill>
            </a:ln>
          </c:spPr>
          <c:marker>
            <c:symbol val="none"/>
          </c:marker>
          <c:xVal>
            <c:numRef>
              <c:f>'Chart Data'!$M$2:$M$3</c:f>
              <c:numCache>
                <c:formatCode>General</c:formatCode>
                <c:ptCount val="2"/>
                <c:pt idx="0">
                  <c:v>0</c:v>
                </c:pt>
                <c:pt idx="1">
                  <c:v>0</c:v>
                </c:pt>
              </c:numCache>
            </c:numRef>
          </c:xVal>
          <c:yVal>
            <c:numRef>
              <c:f>'Chart Data'!$N$2:$N$3</c:f>
              <c:numCache>
                <c:formatCode>General</c:formatCode>
                <c:ptCount val="2"/>
                <c:pt idx="0">
                  <c:v>0.4</c:v>
                </c:pt>
                <c:pt idx="1">
                  <c:v>3.6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4"/>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08"/>
          <c:min val="-0.02"/>
        </c:scaling>
        <c:delete val="0"/>
        <c:axPos val="b"/>
        <c:majorGridlines>
          <c:spPr>
            <a:ln xmlns:a="http://schemas.openxmlformats.org/drawingml/2006/main" w="9525">
              <a:solidFill>
                <a:srgbClr val="E4E9ED"/>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4"/>
                </a:solidFill>
                <a:latin typeface="Arial"/>
                <a:ea typeface="Arial"/>
                <a:cs typeface="Arial"/>
              </a:defRPr>
            </a:pPr>
          </a:p>
        </c:txPr>
        <c:crossAx val="48672768"/>
        <c:majorUnit val="0.02"/>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33C5B57-70C9-4222-ACC1-67020F083685}"/>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סרטוני אקו וחיזוי הידרדרות</a:t>
            </a:r>
          </a:p>
        </p:txBody>
      </p:sp>
      <p:sp>
        <p:nvSpPr>
          <p:cNvPr id="2" name="">
            <a:extLst xmlns:a="http://schemas.openxmlformats.org/drawingml/2006/main">
              <a:ext uri="{FF2B5EF4-FFF2-40B4-BE49-F238E27FC236}">
                <a16:creationId xmlns:a16="http://schemas.microsoft.com/office/drawing/2014/main" id="{73B6A65D-CAE6-448F-BA51-D70E309A3D9F}"/>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עדכון מחקר לפגישה עם דן  |  אורון  |  אוקטובר 2026</a:t>
            </a:r>
          </a:p>
        </p:txBody>
      </p:sp>
      <p:sp>
        <p:nvSpPr>
          <p:cNvPr id="3" name="">
            <a:extLst xmlns:a="http://schemas.openxmlformats.org/drawingml/2006/main">
              <a:ext uri="{FF2B5EF4-FFF2-40B4-BE49-F238E27FC236}">
                <a16:creationId xmlns:a16="http://schemas.microsoft.com/office/drawing/2014/main" id="{71684868-1418-48DA-B99E-794CCD125647}"/>
              </a:ext>
            </a:extLst>
          </p:cNvPr>
          <p:cNvSpPr>
            <a:spLocks xmlns:a="http://schemas.openxmlformats.org/drawingml/2006/main" noGrp="1"/>
          </p:cNvSpPr>
          <p:nvPr/>
        </p:nvSpPr>
        <p:spPr>
          <a:xfrm xmlns:a="http://schemas.openxmlformats.org/drawingml/2006/main">
            <a:off x="857250" y="18669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700" b="1">
                <a:solidFill>
                  <a:srgbClr val="16324B"/>
                </a:solidFill>
                <a:latin typeface="Arial"/>
                <a:ea typeface="Arial"/>
                <a:cs typeface="Arial"/>
              </a:defRPr>
            </a:pPr>
            <a:r>
              <a:rPr sz="2700" b="1" lang="he-IL">
                <a:solidFill>
                  <a:srgbClr val="16324B"/>
                </a:solidFill>
                <a:latin typeface="Arial"/>
                <a:ea typeface="Arial"/>
                <a:cs typeface="Arial"/>
              </a:rPr>
              <a:t>האם הווידאו מוסיף מידע מעבר לעקומות ‪strain‬ ולנתונים הקליניים?</a:t>
            </a:r>
          </a:p>
        </p:txBody>
      </p:sp>
      <p:sp>
        <p:nvSpPr>
          <p:cNvPr id="4" name="">
            <a:extLst xmlns:a="http://schemas.openxmlformats.org/drawingml/2006/main">
              <a:ext uri="{FF2B5EF4-FFF2-40B4-BE49-F238E27FC236}">
                <a16:creationId xmlns:a16="http://schemas.microsoft.com/office/drawing/2014/main" id="{A6981A95-1BE2-439B-82E9-7A5EFB908EC8}"/>
              </a:ext>
            </a:extLst>
          </p:cNvPr>
          <p:cNvSpPr>
            <a:spLocks xmlns:a="http://schemas.openxmlformats.org/drawingml/2006/main" noGrp="1"/>
          </p:cNvSpPr>
          <p:nvPr/>
        </p:nvSpPr>
        <p:spPr>
          <a:xfrm xmlns:a="http://schemas.openxmlformats.org/drawingml/2006/main">
            <a:off x="857250" y="285750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0">
                <a:solidFill>
                  <a:srgbClr val="16324B"/>
                </a:solidFill>
                <a:latin typeface="Arial"/>
                <a:ea typeface="Arial"/>
                <a:cs typeface="Arial"/>
              </a:defRPr>
            </a:pPr>
            <a:r>
              <a:rPr sz="2100" b="0" lang="he-IL">
                <a:solidFill>
                  <a:srgbClr val="16324B"/>
                </a:solidFill>
                <a:latin typeface="Arial"/>
                <a:ea typeface="Arial"/>
                <a:cs typeface="Arial"/>
              </a:rPr>
              <a:t>103 מטופלים, 400 ביקורי ‪strain‬ לאחר איחוד אנליזות חוזרות.</a:t>
            </a:r>
          </a:p>
          <a:p xmlns:a="http://schemas.openxmlformats.org/drawingml/2006/main">
            <a:pPr algn="r" rtl="1">
              <a:defRPr sz="2100" b="0">
                <a:solidFill>
                  <a:srgbClr val="16324B"/>
                </a:solidFill>
                <a:latin typeface="Arial"/>
                <a:ea typeface="Arial"/>
                <a:cs typeface="Arial"/>
              </a:defRPr>
            </a:pPr>
            <a:r>
              <a:rPr sz="2100" b="0" lang="he-IL">
                <a:solidFill>
                  <a:srgbClr val="16324B"/>
                </a:solidFill>
                <a:latin typeface="Arial"/>
                <a:ea typeface="Arial"/>
                <a:cs typeface="Arial"/>
              </a:rPr>
              <a:t>ל־398 ביקורים נמצאה התאמה לווידאו.</a:t>
            </a:r>
          </a:p>
        </p:txBody>
      </p:sp>
      <p:sp>
        <p:nvSpPr>
          <p:cNvPr id="5" name="">
            <a:extLst xmlns:a="http://schemas.openxmlformats.org/drawingml/2006/main">
              <a:ext uri="{FF2B5EF4-FFF2-40B4-BE49-F238E27FC236}">
                <a16:creationId xmlns:a16="http://schemas.microsoft.com/office/drawing/2014/main" id="{80D845DF-E5CA-49EA-A75C-6A4D7894778F}"/>
              </a:ext>
            </a:extLst>
          </p:cNvPr>
          <p:cNvSpPr>
            <a:spLocks xmlns:a="http://schemas.openxmlformats.org/drawingml/2006/main" noGrp="1"/>
          </p:cNvSpPr>
          <p:nvPr/>
        </p:nvSpPr>
        <p:spPr>
          <a:xfrm xmlns:a="http://schemas.openxmlformats.org/drawingml/2006/main">
            <a:off x="857250" y="39719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1">
                <a:solidFill>
                  <a:srgbClr val="16324B"/>
                </a:solidFill>
                <a:latin typeface="Arial"/>
                <a:ea typeface="Arial"/>
                <a:cs typeface="Arial"/>
              </a:defRPr>
            </a:pPr>
            <a:r>
              <a:rPr sz="2100" b="1" lang="he-IL">
                <a:solidFill>
                  <a:srgbClr val="16324B"/>
                </a:solidFill>
                <a:latin typeface="Arial"/>
                <a:ea typeface="Arial"/>
                <a:cs typeface="Arial"/>
              </a:rPr>
              <a:t>שלושת מבטי האקו האפיקליים ששימשו לניתוח</a:t>
            </a:r>
          </a:p>
        </p:txBody>
      </p:sp>
      <p:sp>
        <p:nvSpPr>
          <p:cNvPr id="6" name="">
            <a:extLst xmlns:a="http://schemas.openxmlformats.org/drawingml/2006/main">
              <a:ext uri="{FF2B5EF4-FFF2-40B4-BE49-F238E27FC236}">
                <a16:creationId xmlns:a16="http://schemas.microsoft.com/office/drawing/2014/main" id="{3690B5F6-586C-4ED8-93DF-C7110777BFB2}"/>
              </a:ext>
            </a:extLst>
          </p:cNvPr>
          <p:cNvSpPr>
            <a:spLocks xmlns:a="http://schemas.openxmlformats.org/drawingml/2006/main" noGrp="1"/>
          </p:cNvSpPr>
          <p:nvPr/>
        </p:nvSpPr>
        <p:spPr>
          <a:xfrm xmlns:a="http://schemas.openxmlformats.org/drawingml/2006/main">
            <a:off x="8191500" y="453390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168A91"/>
                </a:solidFill>
                <a:latin typeface="Arial"/>
                <a:ea typeface="Arial"/>
                <a:cs typeface="Arial"/>
              </a:defRPr>
            </a:pPr>
            <a:r>
              <a:rPr sz="2700" b="1">
                <a:solidFill>
                  <a:srgbClr val="168A91"/>
                </a:solidFill>
                <a:latin typeface="Arial"/>
                <a:ea typeface="Arial"/>
                <a:cs typeface="Arial"/>
              </a:rPr>
              <a:t>A2C</a:t>
            </a:r>
          </a:p>
        </p:txBody>
      </p:sp>
      <p:sp>
        <p:nvSpPr>
          <p:cNvPr id="7" name="">
            <a:extLst xmlns:a="http://schemas.openxmlformats.org/drawingml/2006/main">
              <a:ext uri="{FF2B5EF4-FFF2-40B4-BE49-F238E27FC236}">
                <a16:creationId xmlns:a16="http://schemas.microsoft.com/office/drawing/2014/main" id="{551C6E5A-4797-46EC-882D-57B44C155660}"/>
              </a:ext>
            </a:extLst>
          </p:cNvPr>
          <p:cNvSpPr>
            <a:spLocks xmlns:a="http://schemas.openxmlformats.org/drawingml/2006/main" noGrp="1"/>
          </p:cNvSpPr>
          <p:nvPr/>
        </p:nvSpPr>
        <p:spPr>
          <a:xfrm xmlns:a="http://schemas.openxmlformats.org/drawingml/2006/main">
            <a:off x="8191500" y="501967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rtl="1">
              <a:defRPr sz="1950" b="0">
                <a:solidFill>
                  <a:srgbClr val="536574"/>
                </a:solidFill>
                <a:latin typeface="Arial"/>
                <a:ea typeface="Arial"/>
                <a:cs typeface="Arial"/>
              </a:defRPr>
            </a:pPr>
            <a:r>
              <a:rPr sz="1950" b="0" lang="he-IL">
                <a:solidFill>
                  <a:srgbClr val="536574"/>
                </a:solidFill>
                <a:latin typeface="Arial"/>
                <a:ea typeface="Arial"/>
                <a:cs typeface="Arial"/>
              </a:rPr>
              <a:t>שני מדורים</a:t>
            </a:r>
          </a:p>
        </p:txBody>
      </p:sp>
      <p:sp>
        <p:nvSpPr>
          <p:cNvPr id="8" name="">
            <a:extLst xmlns:a="http://schemas.openxmlformats.org/drawingml/2006/main">
              <a:ext uri="{FF2B5EF4-FFF2-40B4-BE49-F238E27FC236}">
                <a16:creationId xmlns:a16="http://schemas.microsoft.com/office/drawing/2014/main" id="{A9172AB4-4AC3-4AE1-9CCB-4CF85CB17FDB}"/>
              </a:ext>
            </a:extLst>
          </p:cNvPr>
          <p:cNvSpPr>
            <a:spLocks xmlns:a="http://schemas.openxmlformats.org/drawingml/2006/main" noGrp="1"/>
          </p:cNvSpPr>
          <p:nvPr/>
        </p:nvSpPr>
        <p:spPr>
          <a:xfrm xmlns:a="http://schemas.openxmlformats.org/drawingml/2006/main">
            <a:off x="5000625" y="453390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168A91"/>
                </a:solidFill>
                <a:latin typeface="Arial"/>
                <a:ea typeface="Arial"/>
                <a:cs typeface="Arial"/>
              </a:defRPr>
            </a:pPr>
            <a:r>
              <a:rPr sz="2700" b="1">
                <a:solidFill>
                  <a:srgbClr val="168A91"/>
                </a:solidFill>
                <a:latin typeface="Arial"/>
                <a:ea typeface="Arial"/>
                <a:cs typeface="Arial"/>
              </a:rPr>
              <a:t>A3C</a:t>
            </a:r>
          </a:p>
        </p:txBody>
      </p:sp>
      <p:sp>
        <p:nvSpPr>
          <p:cNvPr id="9" name="">
            <a:extLst xmlns:a="http://schemas.openxmlformats.org/drawingml/2006/main">
              <a:ext uri="{FF2B5EF4-FFF2-40B4-BE49-F238E27FC236}">
                <a16:creationId xmlns:a16="http://schemas.microsoft.com/office/drawing/2014/main" id="{91E2C8E1-CA20-4049-9536-374BC9ED9578}"/>
              </a:ext>
            </a:extLst>
          </p:cNvPr>
          <p:cNvSpPr>
            <a:spLocks xmlns:a="http://schemas.openxmlformats.org/drawingml/2006/main" noGrp="1"/>
          </p:cNvSpPr>
          <p:nvPr/>
        </p:nvSpPr>
        <p:spPr>
          <a:xfrm xmlns:a="http://schemas.openxmlformats.org/drawingml/2006/main">
            <a:off x="5000625" y="501967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rtl="1">
              <a:defRPr sz="1950" b="0">
                <a:solidFill>
                  <a:srgbClr val="536574"/>
                </a:solidFill>
                <a:latin typeface="Arial"/>
                <a:ea typeface="Arial"/>
                <a:cs typeface="Arial"/>
              </a:defRPr>
            </a:pPr>
            <a:r>
              <a:rPr sz="1950" b="0" lang="he-IL">
                <a:solidFill>
                  <a:srgbClr val="536574"/>
                </a:solidFill>
                <a:latin typeface="Arial"/>
                <a:ea typeface="Arial"/>
                <a:cs typeface="Arial"/>
              </a:rPr>
              <a:t>שלושה מדורים</a:t>
            </a:r>
          </a:p>
        </p:txBody>
      </p:sp>
      <p:sp>
        <p:nvSpPr>
          <p:cNvPr id="10" name="">
            <a:extLst xmlns:a="http://schemas.openxmlformats.org/drawingml/2006/main">
              <a:ext uri="{FF2B5EF4-FFF2-40B4-BE49-F238E27FC236}">
                <a16:creationId xmlns:a16="http://schemas.microsoft.com/office/drawing/2014/main" id="{60C80339-D532-4F33-8CDC-D69460F43D05}"/>
              </a:ext>
            </a:extLst>
          </p:cNvPr>
          <p:cNvSpPr>
            <a:spLocks xmlns:a="http://schemas.openxmlformats.org/drawingml/2006/main" noGrp="1"/>
          </p:cNvSpPr>
          <p:nvPr/>
        </p:nvSpPr>
        <p:spPr>
          <a:xfrm xmlns:a="http://schemas.openxmlformats.org/drawingml/2006/main">
            <a:off x="1809750" y="4533900"/>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700" b="1">
                <a:solidFill>
                  <a:srgbClr val="168A91"/>
                </a:solidFill>
                <a:latin typeface="Arial"/>
                <a:ea typeface="Arial"/>
                <a:cs typeface="Arial"/>
              </a:defRPr>
            </a:pPr>
            <a:r>
              <a:rPr sz="2700" b="1">
                <a:solidFill>
                  <a:srgbClr val="168A91"/>
                </a:solidFill>
                <a:latin typeface="Arial"/>
                <a:ea typeface="Arial"/>
                <a:cs typeface="Arial"/>
              </a:rPr>
              <a:t>A4C</a:t>
            </a:r>
          </a:p>
        </p:txBody>
      </p:sp>
      <p:sp>
        <p:nvSpPr>
          <p:cNvPr id="11" name="">
            <a:extLst xmlns:a="http://schemas.openxmlformats.org/drawingml/2006/main">
              <a:ext uri="{FF2B5EF4-FFF2-40B4-BE49-F238E27FC236}">
                <a16:creationId xmlns:a16="http://schemas.microsoft.com/office/drawing/2014/main" id="{E51ECF19-ED53-4F6A-A082-664AD780DC5E}"/>
              </a:ext>
            </a:extLst>
          </p:cNvPr>
          <p:cNvSpPr>
            <a:spLocks xmlns:a="http://schemas.openxmlformats.org/drawingml/2006/main" noGrp="1"/>
          </p:cNvSpPr>
          <p:nvPr/>
        </p:nvSpPr>
        <p:spPr>
          <a:xfrm xmlns:a="http://schemas.openxmlformats.org/drawingml/2006/main">
            <a:off x="1809750" y="501967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rtl="1">
              <a:defRPr sz="1950" b="0">
                <a:solidFill>
                  <a:srgbClr val="536574"/>
                </a:solidFill>
                <a:latin typeface="Arial"/>
                <a:ea typeface="Arial"/>
                <a:cs typeface="Arial"/>
              </a:defRPr>
            </a:pPr>
            <a:r>
              <a:rPr sz="1950" b="0" lang="he-IL">
                <a:solidFill>
                  <a:srgbClr val="536574"/>
                </a:solidFill>
                <a:latin typeface="Arial"/>
                <a:ea typeface="Arial"/>
                <a:cs typeface="Arial"/>
              </a:rPr>
              <a:t>ארבעה מדורים</a:t>
            </a:r>
          </a:p>
        </p:txBody>
      </p:sp>
      <p:sp>
        <p:nvSpPr>
          <p:cNvPr id="12" name="">
            <a:extLst xmlns:a="http://schemas.openxmlformats.org/drawingml/2006/main">
              <a:ext uri="{FF2B5EF4-FFF2-40B4-BE49-F238E27FC236}">
                <a16:creationId xmlns:a16="http://schemas.microsoft.com/office/drawing/2014/main" id="{19B4F5B0-7BF5-47B2-BFB9-9C2F6473A1EE}"/>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הידרדרות: הופעה ראשונה של ירידה יחסית של לפחות 15% ב־‪Mid-GLS‬ לעומת הבסיס.</a:t>
            </a:r>
          </a:p>
        </p:txBody>
      </p:sp>
      <p:sp>
        <p:nvSpPr>
          <p:cNvPr id="13" name="">
            <a:extLst xmlns:a="http://schemas.openxmlformats.org/drawingml/2006/main">
              <a:ext uri="{FF2B5EF4-FFF2-40B4-BE49-F238E27FC236}">
                <a16:creationId xmlns:a16="http://schemas.microsoft.com/office/drawing/2014/main" id="{F61D0F57-7A78-4B08-A4A4-CFD87EEDAE4A}"/>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1</a:t>
            </a:r>
          </a:p>
        </p:txBody>
      </p:sp>
    </p:spTree>
    <p:extLst>
      <p:ext uri="{BB962C8B-B14F-4D97-AF65-F5344CB8AC3E}">
        <p14:creationId xmlns:p14="http://schemas.microsoft.com/office/powerpoint/2010/main" val="20036088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C027AE-9A3E-4E3E-B03B-8C66AB9BDDD1}"/>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דגימה לאורך פעימה שיפרה את חיזוי ה־‪GLS‬</a:t>
            </a:r>
          </a:p>
        </p:txBody>
      </p:sp>
      <p:sp>
        <p:nvSpPr>
          <p:cNvPr id="2" name="">
            <a:extLst xmlns:a="http://schemas.openxmlformats.org/drawingml/2006/main">
              <a:ext uri="{FF2B5EF4-FFF2-40B4-BE49-F238E27FC236}">
                <a16:creationId xmlns:a16="http://schemas.microsoft.com/office/drawing/2014/main" id="{76B98B8A-C2A6-4D10-A864-E6BC5CA052D4}"/>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חיזוי ‪Mid-GLS‬ באותו ביקור מתוך הווידאו  •  398 ביקורים מותאמים</a:t>
            </a:r>
          </a:p>
        </p:txBody>
      </p:sp>
      <p:graphicFrame>
        <p:nvGraphicFramePr>
          <p:cNvPr id="12" name="Chart"/>
          <p:cNvGraphicFramePr/>
          <p:nvPr/>
        </p:nvGraphicFramePr>
        <p:xfrm>
          <a:off xmlns:a="http://schemas.openxmlformats.org/drawingml/2006/main" x="523875" y="1952625"/>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3ca1dfb19c2644ca"/>
          </a:graphicData>
        </a:graphic>
      </p:graphicFrame>
      <p:sp>
        <p:nvSpPr>
          <p:cNvPr id="4" name="">
            <a:extLst xmlns:a="http://schemas.openxmlformats.org/drawingml/2006/main">
              <a:ext uri="{FF2B5EF4-FFF2-40B4-BE49-F238E27FC236}">
                <a16:creationId xmlns:a16="http://schemas.microsoft.com/office/drawing/2014/main" id="{B8102FE8-FAEB-4BEA-AAF3-1FBE97FACA6C}"/>
              </a:ext>
            </a:extLst>
          </p:cNvPr>
          <p:cNvSpPr>
            <a:spLocks xmlns:a="http://schemas.openxmlformats.org/drawingml/2006/main" noGrp="1"/>
          </p:cNvSpPr>
          <p:nvPr/>
        </p:nvSpPr>
        <p:spPr>
          <a:xfrm xmlns:a="http://schemas.openxmlformats.org/drawingml/2006/main">
            <a:off x="7762875" y="2095500"/>
            <a:ext cx="376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a:solidFill>
                  <a:srgbClr val="16324B"/>
                </a:solidFill>
                <a:latin typeface="Arial"/>
                <a:ea typeface="Arial"/>
                <a:cs typeface="Arial"/>
              </a:defRPr>
            </a:pPr>
            <a:r>
              <a:rPr sz="2250" b="1" lang="he-IL">
                <a:solidFill>
                  <a:srgbClr val="16324B"/>
                </a:solidFill>
                <a:latin typeface="Arial"/>
                <a:ea typeface="Arial"/>
                <a:cs typeface="Arial"/>
              </a:rPr>
              <a:t>הדגימה המקורית</a:t>
            </a:r>
          </a:p>
        </p:txBody>
      </p:sp>
      <p:sp>
        <p:nvSpPr>
          <p:cNvPr id="5" name="">
            <a:extLst xmlns:a="http://schemas.openxmlformats.org/drawingml/2006/main">
              <a:ext uri="{FF2B5EF4-FFF2-40B4-BE49-F238E27FC236}">
                <a16:creationId xmlns:a16="http://schemas.microsoft.com/office/drawing/2014/main" id="{0130A7C7-F5B7-48C6-B47E-D65E79CFA71E}"/>
              </a:ext>
            </a:extLst>
          </p:cNvPr>
          <p:cNvSpPr>
            <a:spLocks xmlns:a="http://schemas.openxmlformats.org/drawingml/2006/main" noGrp="1"/>
          </p:cNvSpPr>
          <p:nvPr/>
        </p:nvSpPr>
        <p:spPr>
          <a:xfrm xmlns:a="http://schemas.openxmlformats.org/drawingml/2006/main">
            <a:off x="7524750" y="2600325"/>
            <a:ext cx="4000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950" b="0">
                <a:solidFill>
                  <a:srgbClr val="16324B"/>
                </a:solidFill>
                <a:latin typeface="Arial"/>
                <a:ea typeface="Arial"/>
                <a:cs typeface="Arial"/>
              </a:defRPr>
            </a:pPr>
            <a:r>
              <a:rPr sz="1950" b="0" lang="he-IL">
                <a:solidFill>
                  <a:srgbClr val="16324B"/>
                </a:solidFill>
                <a:latin typeface="Arial"/>
                <a:ea typeface="Arial"/>
                <a:cs typeface="Arial"/>
              </a:rPr>
              <a:t>עד ארבעה קטעים לאורך הסרטון.</a:t>
            </a:r>
          </a:p>
          <a:p xmlns:a="http://schemas.openxmlformats.org/drawingml/2006/main">
            <a:pPr algn="r" rtl="1">
              <a:defRPr sz="1950" b="0">
                <a:solidFill>
                  <a:srgbClr val="16324B"/>
                </a:solidFill>
                <a:latin typeface="Arial"/>
                <a:ea typeface="Arial"/>
                <a:cs typeface="Arial"/>
              </a:defRPr>
            </a:pPr>
            <a:r>
              <a:rPr sz="1950" b="0" lang="he-IL">
                <a:solidFill>
                  <a:srgbClr val="16324B"/>
                </a:solidFill>
                <a:latin typeface="Arial"/>
                <a:ea typeface="Arial"/>
                <a:cs typeface="Arial"/>
              </a:rPr>
              <a:t>בכל קטע 16 פריימים במרווח קבוע,</a:t>
            </a:r>
          </a:p>
          <a:p xmlns:a="http://schemas.openxmlformats.org/drawingml/2006/main">
            <a:pPr algn="r" rtl="1">
              <a:defRPr sz="1950" b="0">
                <a:solidFill>
                  <a:srgbClr val="16324B"/>
                </a:solidFill>
                <a:latin typeface="Arial"/>
                <a:ea typeface="Arial"/>
                <a:cs typeface="Arial"/>
              </a:defRPr>
            </a:pPr>
            <a:r>
              <a:rPr sz="1950" b="0" lang="he-IL">
                <a:solidFill>
                  <a:srgbClr val="16324B"/>
                </a:solidFill>
                <a:latin typeface="Arial"/>
                <a:ea typeface="Arial"/>
                <a:cs typeface="Arial"/>
              </a:rPr>
              <a:t>ללא התאמה לדופק.</a:t>
            </a:r>
          </a:p>
        </p:txBody>
      </p:sp>
      <p:sp>
        <p:nvSpPr>
          <p:cNvPr id="6" name="">
            <a:extLst xmlns:a="http://schemas.openxmlformats.org/drawingml/2006/main">
              <a:ext uri="{FF2B5EF4-FFF2-40B4-BE49-F238E27FC236}">
                <a16:creationId xmlns:a16="http://schemas.microsoft.com/office/drawing/2014/main" id="{F96F75DC-C7BC-4CD7-B309-1D480DC070AA}"/>
              </a:ext>
            </a:extLst>
          </p:cNvPr>
          <p:cNvSpPr>
            <a:spLocks xmlns:a="http://schemas.openxmlformats.org/drawingml/2006/main" noGrp="1"/>
          </p:cNvSpPr>
          <p:nvPr/>
        </p:nvSpPr>
        <p:spPr>
          <a:xfrm xmlns:a="http://schemas.openxmlformats.org/drawingml/2006/main">
            <a:off x="7762875" y="3962400"/>
            <a:ext cx="3762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250" b="1">
                <a:solidFill>
                  <a:srgbClr val="168A91"/>
                </a:solidFill>
                <a:latin typeface="Arial"/>
                <a:ea typeface="Arial"/>
                <a:cs typeface="Arial"/>
              </a:defRPr>
            </a:pPr>
            <a:r>
              <a:rPr sz="2250" b="1" lang="he-IL">
                <a:solidFill>
                  <a:srgbClr val="168A91"/>
                </a:solidFill>
                <a:latin typeface="Arial"/>
                <a:ea typeface="Arial"/>
                <a:cs typeface="Arial"/>
              </a:rPr>
              <a:t>הדגימה החדשה</a:t>
            </a:r>
          </a:p>
        </p:txBody>
      </p:sp>
      <p:sp>
        <p:nvSpPr>
          <p:cNvPr id="7" name="">
            <a:extLst xmlns:a="http://schemas.openxmlformats.org/drawingml/2006/main">
              <a:ext uri="{FF2B5EF4-FFF2-40B4-BE49-F238E27FC236}">
                <a16:creationId xmlns:a16="http://schemas.microsoft.com/office/drawing/2014/main" id="{CDCD08BF-389C-48BF-9D5E-8014911BB4BC}"/>
              </a:ext>
            </a:extLst>
          </p:cNvPr>
          <p:cNvSpPr>
            <a:spLocks xmlns:a="http://schemas.openxmlformats.org/drawingml/2006/main" noGrp="1"/>
          </p:cNvSpPr>
          <p:nvPr/>
        </p:nvSpPr>
        <p:spPr>
          <a:xfrm xmlns:a="http://schemas.openxmlformats.org/drawingml/2006/main">
            <a:off x="7334250" y="445770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950" b="0">
                <a:solidFill>
                  <a:srgbClr val="16324B"/>
                </a:solidFill>
                <a:latin typeface="Arial"/>
                <a:ea typeface="Arial"/>
                <a:cs typeface="Arial"/>
              </a:defRPr>
            </a:pPr>
            <a:r>
              <a:rPr sz="1950" b="0" lang="he-IL">
                <a:solidFill>
                  <a:srgbClr val="16324B"/>
                </a:solidFill>
                <a:latin typeface="Arial"/>
                <a:ea typeface="Arial"/>
                <a:cs typeface="Arial"/>
              </a:rPr>
              <a:t>16 פריימים לאורך פעימה משוערת,</a:t>
            </a:r>
          </a:p>
          <a:p xmlns:a="http://schemas.openxmlformats.org/drawingml/2006/main">
            <a:pPr algn="r" rtl="1">
              <a:defRPr sz="1950" b="0">
                <a:solidFill>
                  <a:srgbClr val="16324B"/>
                </a:solidFill>
                <a:latin typeface="Arial"/>
                <a:ea typeface="Arial"/>
                <a:cs typeface="Arial"/>
              </a:defRPr>
            </a:pPr>
            <a:r>
              <a:rPr sz="1950" b="0" lang="he-IL">
                <a:solidFill>
                  <a:srgbClr val="16324B"/>
                </a:solidFill>
                <a:latin typeface="Arial"/>
                <a:ea typeface="Arial"/>
                <a:cs typeface="Arial"/>
              </a:rPr>
              <a:t>לפי הדופק וזמני הפריימים.</a:t>
            </a:r>
          </a:p>
          <a:p xmlns:a="http://schemas.openxmlformats.org/drawingml/2006/main">
            <a:pPr algn="r" rtl="1">
              <a:defRPr sz="1950" b="0">
                <a:solidFill>
                  <a:srgbClr val="16324B"/>
                </a:solidFill>
                <a:latin typeface="Arial"/>
                <a:ea typeface="Arial"/>
                <a:cs typeface="Arial"/>
              </a:defRPr>
            </a:pPr>
            <a:r>
              <a:rPr sz="1950" b="0" lang="he-IL">
                <a:solidFill>
                  <a:srgbClr val="16324B"/>
                </a:solidFill>
                <a:latin typeface="Arial"/>
                <a:ea typeface="Arial"/>
                <a:cs typeface="Arial"/>
              </a:rPr>
              <a:t>ממוצע הקידודים של עד ארבעה קטעים.</a:t>
            </a:r>
          </a:p>
        </p:txBody>
      </p:sp>
      <p:sp>
        <p:nvSpPr>
          <p:cNvPr id="8" name="">
            <a:extLst xmlns:a="http://schemas.openxmlformats.org/drawingml/2006/main">
              <a:ext uri="{FF2B5EF4-FFF2-40B4-BE49-F238E27FC236}">
                <a16:creationId xmlns:a16="http://schemas.microsoft.com/office/drawing/2014/main" id="{99083197-CD4B-4A34-9152-F1DE2D0913DA}"/>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‪MAE‬ נמוך יותר = שגיאה קטנה יותר. הפעימה בניסוי הזה הוערכה לפי דופק, ללא סנכרון ל־‪ECG‬.</a:t>
            </a:r>
          </a:p>
        </p:txBody>
      </p:sp>
      <p:sp>
        <p:nvSpPr>
          <p:cNvPr id="9" name="">
            <a:extLst xmlns:a="http://schemas.openxmlformats.org/drawingml/2006/main">
              <a:ext uri="{FF2B5EF4-FFF2-40B4-BE49-F238E27FC236}">
                <a16:creationId xmlns:a16="http://schemas.microsoft.com/office/drawing/2014/main" id="{68733E24-581A-4348-8AB4-3488A8B43699}"/>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2</a:t>
            </a:r>
          </a:p>
        </p:txBody>
      </p:sp>
    </p:spTree>
    <p:extLst>
      <p:ext uri="{BB962C8B-B14F-4D97-AF65-F5344CB8AC3E}">
        <p14:creationId xmlns:p14="http://schemas.microsoft.com/office/powerpoint/2010/main" val="9062243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794794-24DA-4AF7-A39C-41787F3087CB}"/>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חיזוי ה־‪GLS‬ היה מדויק יותר בסרטוני ‪GE‬</a:t>
            </a:r>
          </a:p>
        </p:txBody>
      </p:sp>
      <p:sp>
        <p:nvSpPr>
          <p:cNvPr id="2" name="">
            <a:extLst xmlns:a="http://schemas.openxmlformats.org/drawingml/2006/main">
              <a:ext uri="{FF2B5EF4-FFF2-40B4-BE49-F238E27FC236}">
                <a16:creationId xmlns:a16="http://schemas.microsoft.com/office/drawing/2014/main" id="{39B990B1-D2C4-45EB-81D4-0C7162E67FCE}"/>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‪EchoPrime‬ עם דגימת פעימה משוערת  •  תחזיות על מטופלים שלא השתתפו באימון</a:t>
            </a:r>
          </a:p>
        </p:txBody>
      </p:sp>
      <p:graphicFrame>
        <p:nvGraphicFramePr>
          <p:cNvPr id="12" name="Chart"/>
          <p:cNvGraphicFramePr/>
          <p:nvPr/>
        </p:nvGraphicFramePr>
        <p:xfrm>
          <a:off xmlns:a="http://schemas.openxmlformats.org/drawingml/2006/main" x="523875" y="1781175"/>
          <a:ext xmlns:a="http://schemas.openxmlformats.org/drawingml/2006/main" cx="5953125" cy="4143375"/>
        </p:xfrm>
        <a:graphic xmlns:a="http://schemas.openxmlformats.org/drawingml/2006/main">
          <a:graphicData uri="http://schemas.openxmlformats.org/drawingml/2006/chart">
            <c:chart xmlns:r="http://schemas.openxmlformats.org/officeDocument/2006/relationships" xmlns:c="http://schemas.openxmlformats.org/drawingml/2006/chart" r:id="R58c209aa90204131"/>
          </a:graphicData>
        </a:graphic>
      </p:graphicFrame>
      <p:sp>
        <p:nvSpPr>
          <p:cNvPr id="4" name="">
            <a:extLst xmlns:a="http://schemas.openxmlformats.org/drawingml/2006/main">
              <a:ext uri="{FF2B5EF4-FFF2-40B4-BE49-F238E27FC236}">
                <a16:creationId xmlns:a16="http://schemas.microsoft.com/office/drawing/2014/main" id="{5553FF82-8579-4ECE-A692-CC4AB99303BF}"/>
              </a:ext>
            </a:extLst>
          </p:cNvPr>
          <p:cNvSpPr>
            <a:spLocks xmlns:a="http://schemas.openxmlformats.org/drawingml/2006/main" noGrp="1"/>
          </p:cNvSpPr>
          <p:nvPr/>
        </p:nvSpPr>
        <p:spPr>
          <a:xfrm xmlns:a="http://schemas.openxmlformats.org/drawingml/2006/main">
            <a:off x="6810375" y="19335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8A91"/>
                </a:solidFill>
                <a:latin typeface="Arial"/>
                <a:ea typeface="Arial"/>
                <a:cs typeface="Arial"/>
              </a:defRPr>
            </a:pPr>
            <a:r>
              <a:rPr sz="2250" b="1">
                <a:solidFill>
                  <a:srgbClr val="168A91"/>
                </a:solidFill>
                <a:latin typeface="Arial"/>
                <a:ea typeface="Arial"/>
                <a:cs typeface="Arial"/>
              </a:rPr>
              <a:t>GE Healthcare</a:t>
            </a:r>
          </a:p>
        </p:txBody>
      </p:sp>
      <p:sp>
        <p:nvSpPr>
          <p:cNvPr id="5" name="">
            <a:extLst xmlns:a="http://schemas.openxmlformats.org/drawingml/2006/main">
              <a:ext uri="{FF2B5EF4-FFF2-40B4-BE49-F238E27FC236}">
                <a16:creationId xmlns:a16="http://schemas.microsoft.com/office/drawing/2014/main" id="{941CC51A-1FC5-4F36-B7BB-B3B021467CB0}"/>
              </a:ext>
            </a:extLst>
          </p:cNvPr>
          <p:cNvSpPr>
            <a:spLocks xmlns:a="http://schemas.openxmlformats.org/drawingml/2006/main" noGrp="1"/>
          </p:cNvSpPr>
          <p:nvPr/>
        </p:nvSpPr>
        <p:spPr>
          <a:xfrm xmlns:a="http://schemas.openxmlformats.org/drawingml/2006/main">
            <a:off x="6810375" y="24003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324B"/>
                </a:solidFill>
                <a:latin typeface="Arial"/>
                <a:ea typeface="Arial"/>
                <a:cs typeface="Arial"/>
              </a:defRPr>
            </a:pPr>
            <a:r>
              <a:rPr sz="2400" b="1">
                <a:solidFill>
                  <a:srgbClr val="16324B"/>
                </a:solidFill>
                <a:latin typeface="Arial"/>
                <a:ea typeface="Arial"/>
                <a:cs typeface="Arial"/>
              </a:rPr>
              <a:t>r = 0.817     MAE = 1.30</a:t>
            </a:r>
          </a:p>
        </p:txBody>
      </p:sp>
      <p:sp>
        <p:nvSpPr>
          <p:cNvPr id="6" name="">
            <a:extLst xmlns:a="http://schemas.openxmlformats.org/drawingml/2006/main">
              <a:ext uri="{FF2B5EF4-FFF2-40B4-BE49-F238E27FC236}">
                <a16:creationId xmlns:a16="http://schemas.microsoft.com/office/drawing/2014/main" id="{02D3A3C4-D662-41A0-A00E-3B7C1B852486}"/>
              </a:ext>
            </a:extLst>
          </p:cNvPr>
          <p:cNvSpPr>
            <a:spLocks xmlns:a="http://schemas.openxmlformats.org/drawingml/2006/main" noGrp="1"/>
          </p:cNvSpPr>
          <p:nvPr/>
        </p:nvSpPr>
        <p:spPr>
          <a:xfrm xmlns:a="http://schemas.openxmlformats.org/drawingml/2006/main">
            <a:off x="6810375" y="2886075"/>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230 ביקורים של 79 מטופלים</a:t>
            </a:r>
          </a:p>
        </p:txBody>
      </p:sp>
      <p:graphicFrame>
        <p:nvGraphicFramePr>
          <p:cNvPr id="16" name="Chart"/>
          <p:cNvGraphicFramePr/>
          <p:nvPr/>
        </p:nvGraphicFramePr>
        <p:xfrm>
          <a:off xmlns:a="http://schemas.openxmlformats.org/drawingml/2006/main" x="6715125" y="3476625"/>
          <a:ext xmlns:a="http://schemas.openxmlformats.org/drawingml/2006/main" cx="4857750" cy="2324100"/>
        </p:xfrm>
        <a:graphic xmlns:a="http://schemas.openxmlformats.org/drawingml/2006/main">
          <a:graphicData uri="http://schemas.openxmlformats.org/drawingml/2006/chart">
            <c:chart xmlns:r="http://schemas.openxmlformats.org/officeDocument/2006/relationships" xmlns:c="http://schemas.openxmlformats.org/drawingml/2006/chart" r:id="Rbf5e8d23b24947e2"/>
          </a:graphicData>
        </a:graphic>
      </p:graphicFrame>
      <p:sp>
        <p:nvSpPr>
          <p:cNvPr id="8" name="">
            <a:extLst xmlns:a="http://schemas.openxmlformats.org/drawingml/2006/main">
              <a:ext uri="{FF2B5EF4-FFF2-40B4-BE49-F238E27FC236}">
                <a16:creationId xmlns:a16="http://schemas.microsoft.com/office/drawing/2014/main" id="{DE813AF1-3BB3-40E6-A7FB-A69D42B98134}"/>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המודל אומן על כלל היצרנים. הפילוח לפי יצרן הוא תיאורי, ואינו מוכיח שהיצרן גורם לפער.</a:t>
            </a:r>
          </a:p>
        </p:txBody>
      </p:sp>
      <p:sp>
        <p:nvSpPr>
          <p:cNvPr id="9" name="">
            <a:extLst xmlns:a="http://schemas.openxmlformats.org/drawingml/2006/main">
              <a:ext uri="{FF2B5EF4-FFF2-40B4-BE49-F238E27FC236}">
                <a16:creationId xmlns:a16="http://schemas.microsoft.com/office/drawing/2014/main" id="{752CA237-D3D8-418A-A338-D822EE3087B8}"/>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3</a:t>
            </a:r>
          </a:p>
        </p:txBody>
      </p:sp>
    </p:spTree>
    <p:extLst>
      <p:ext uri="{BB962C8B-B14F-4D97-AF65-F5344CB8AC3E}">
        <p14:creationId xmlns:p14="http://schemas.microsoft.com/office/powerpoint/2010/main" val="21193995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6A2F93-4FB0-4B7F-A51C-FE70DE3FB1EF}"/>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מקודדי וידאו מוכנים לא הוסיפו שיפור ברור</a:t>
            </a:r>
          </a:p>
        </p:txBody>
      </p:sp>
      <p:sp>
        <p:nvSpPr>
          <p:cNvPr id="2" name="">
            <a:extLst xmlns:a="http://schemas.openxmlformats.org/drawingml/2006/main">
              <a:ext uri="{FF2B5EF4-FFF2-40B4-BE49-F238E27FC236}">
                <a16:creationId xmlns:a16="http://schemas.microsoft.com/office/drawing/2014/main" id="{A8A3A431-769B-40A8-A03F-492E2C6F50A6}"/>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הידרדרות בביקור הבא  •  ללא ‪Philips‬: ‏182 מעברים, 86 מטופלים, 38 אירועים</a:t>
            </a:r>
          </a:p>
        </p:txBody>
      </p:sp>
      <p:graphicFrame>
        <p:nvGraphicFramePr>
          <p:cNvPr id="10" name="Chart"/>
          <p:cNvGraphicFramePr/>
          <p:nvPr/>
        </p:nvGraphicFramePr>
        <p:xfrm>
          <a:off xmlns:a="http://schemas.openxmlformats.org/drawingml/2006/main" x="523875" y="1990725"/>
          <a:ext xmlns:a="http://schemas.openxmlformats.org/drawingml/2006/main" cx="5457825" cy="3457575"/>
        </p:xfrm>
        <a:graphic xmlns:a="http://schemas.openxmlformats.org/drawingml/2006/main">
          <a:graphicData uri="http://schemas.openxmlformats.org/drawingml/2006/chart">
            <c:chart xmlns:r="http://schemas.openxmlformats.org/officeDocument/2006/relationships" xmlns:c="http://schemas.openxmlformats.org/drawingml/2006/chart" r:id="Rd837afe7dd10446a"/>
          </a:graphicData>
        </a:graphic>
      </p:graphicFrame>
      <p:graphicFrame>
        <p:nvGraphicFramePr>
          <p:cNvPr id="11" name="Chart"/>
          <p:cNvGraphicFramePr/>
          <p:nvPr/>
        </p:nvGraphicFramePr>
        <p:xfrm>
          <a:off xmlns:a="http://schemas.openxmlformats.org/drawingml/2006/main" x="6191250" y="1990725"/>
          <a:ext xmlns:a="http://schemas.openxmlformats.org/drawingml/2006/main" cx="5457825" cy="3457575"/>
        </p:xfrm>
        <a:graphic xmlns:a="http://schemas.openxmlformats.org/drawingml/2006/main">
          <a:graphicData uri="http://schemas.openxmlformats.org/drawingml/2006/chart">
            <c:chart xmlns:r="http://schemas.openxmlformats.org/officeDocument/2006/relationships" xmlns:c="http://schemas.openxmlformats.org/drawingml/2006/chart" r:id="R7915ddd84b5c4b78"/>
          </a:graphicData>
        </a:graphic>
      </p:graphicFrame>
      <p:sp>
        <p:nvSpPr>
          <p:cNvPr id="5" name="">
            <a:extLst xmlns:a="http://schemas.openxmlformats.org/drawingml/2006/main">
              <a:ext uri="{FF2B5EF4-FFF2-40B4-BE49-F238E27FC236}">
                <a16:creationId xmlns:a16="http://schemas.microsoft.com/office/drawing/2014/main" id="{CD5301C8-CD31-47F4-BDDF-FD373BE607F7}"/>
              </a:ext>
            </a:extLst>
          </p:cNvPr>
          <p:cNvSpPr>
            <a:spLocks xmlns:a="http://schemas.openxmlformats.org/drawingml/2006/main" noGrp="1"/>
          </p:cNvSpPr>
          <p:nvPr/>
        </p:nvSpPr>
        <p:spPr>
          <a:xfrm xmlns:a="http://schemas.openxmlformats.org/drawingml/2006/main">
            <a:off x="714375" y="56388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75" b="0">
                <a:solidFill>
                  <a:srgbClr val="16324B"/>
                </a:solidFill>
                <a:latin typeface="Arial"/>
                <a:ea typeface="Arial"/>
                <a:cs typeface="Arial"/>
              </a:defRPr>
            </a:pPr>
            <a:r>
              <a:rPr sz="1875" b="0" lang="he-IL">
                <a:solidFill>
                  <a:srgbClr val="16324B"/>
                </a:solidFill>
                <a:latin typeface="Arial"/>
                <a:ea typeface="Arial"/>
                <a:cs typeface="Arial"/>
              </a:rPr>
              <a:t>כל עמודת וידאו מציגה שילוב של 25% ציון וידאו עם 75% ממודל הייחוס.</a:t>
            </a:r>
          </a:p>
        </p:txBody>
      </p:sp>
      <p:sp>
        <p:nvSpPr>
          <p:cNvPr id="6" name="">
            <a:extLst xmlns:a="http://schemas.openxmlformats.org/drawingml/2006/main">
              <a:ext uri="{FF2B5EF4-FFF2-40B4-BE49-F238E27FC236}">
                <a16:creationId xmlns:a16="http://schemas.microsoft.com/office/drawing/2014/main" id="{853C34C0-767F-4ED2-8866-E1CDC2458997}"/>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מודל הייחוס: ‪strain‬ ונתונים קליניים (‪CNN + MOMENT‬). ‏‪AP‬ מסכם את איכות דירוג מקרי ההידרדרות.</a:t>
            </a:r>
          </a:p>
        </p:txBody>
      </p:sp>
      <p:sp>
        <p:nvSpPr>
          <p:cNvPr id="7" name="">
            <a:extLst xmlns:a="http://schemas.openxmlformats.org/drawingml/2006/main">
              <a:ext uri="{FF2B5EF4-FFF2-40B4-BE49-F238E27FC236}">
                <a16:creationId xmlns:a16="http://schemas.microsoft.com/office/drawing/2014/main" id="{5610CDFA-C993-4B38-8406-913B7494B017}"/>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4</a:t>
            </a:r>
          </a:p>
        </p:txBody>
      </p:sp>
    </p:spTree>
    <p:extLst>
      <p:ext uri="{BB962C8B-B14F-4D97-AF65-F5344CB8AC3E}">
        <p14:creationId xmlns:p14="http://schemas.microsoft.com/office/powerpoint/2010/main" val="3535474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D88084-A2A9-4827-A83B-7FE27CBDBFD1}"/>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התאמת ‪EchoPrime‬ ובחירת מבטים</a:t>
            </a:r>
          </a:p>
        </p:txBody>
      </p:sp>
      <p:sp>
        <p:nvSpPr>
          <p:cNvPr id="2" name="">
            <a:extLst xmlns:a="http://schemas.openxmlformats.org/drawingml/2006/main">
              <a:ext uri="{FF2B5EF4-FFF2-40B4-BE49-F238E27FC236}">
                <a16:creationId xmlns:a16="http://schemas.microsoft.com/office/drawing/2014/main" id="{5E2C577D-86CD-4CDD-A765-BF0DCFF538A1}"/>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אותה תת־קבוצה ללא ‪Philips‬ ואותה הפרדה לפי מטופלים</a:t>
            </a:r>
          </a:p>
        </p:txBody>
      </p:sp>
      <p:graphicFrame>
        <p:nvGraphicFramePr>
          <p:cNvPr id="10" name="Chart"/>
          <p:cNvGraphicFramePr/>
          <p:nvPr/>
        </p:nvGraphicFramePr>
        <p:xfrm>
          <a:off xmlns:a="http://schemas.openxmlformats.org/drawingml/2006/main" x="571500" y="1885950"/>
          <a:ext xmlns:a="http://schemas.openxmlformats.org/drawingml/2006/main" cx="11049000" cy="3476625"/>
        </p:xfrm>
        <a:graphic xmlns:a="http://schemas.openxmlformats.org/drawingml/2006/main">
          <a:graphicData uri="http://schemas.openxmlformats.org/drawingml/2006/chart">
            <c:chart xmlns:r="http://schemas.openxmlformats.org/officeDocument/2006/relationships" xmlns:c="http://schemas.openxmlformats.org/drawingml/2006/chart" r:id="R7490771031e8459b"/>
          </a:graphicData>
        </a:graphic>
      </p:graphicFrame>
      <p:sp>
        <p:nvSpPr>
          <p:cNvPr id="4" name="">
            <a:extLst xmlns:a="http://schemas.openxmlformats.org/drawingml/2006/main">
              <a:ext uri="{FF2B5EF4-FFF2-40B4-BE49-F238E27FC236}">
                <a16:creationId xmlns:a16="http://schemas.microsoft.com/office/drawing/2014/main" id="{142DE18F-591D-4409-A318-3D750AB24016}"/>
              </a:ext>
            </a:extLst>
          </p:cNvPr>
          <p:cNvSpPr>
            <a:spLocks xmlns:a="http://schemas.openxmlformats.org/drawingml/2006/main" noGrp="1"/>
          </p:cNvSpPr>
          <p:nvPr/>
        </p:nvSpPr>
        <p:spPr>
          <a:xfrm xmlns:a="http://schemas.openxmlformats.org/drawingml/2006/main">
            <a:off x="762000" y="54387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75" b="0">
                <a:solidFill>
                  <a:srgbClr val="16324B"/>
                </a:solidFill>
                <a:latin typeface="Arial"/>
                <a:ea typeface="Arial"/>
                <a:cs typeface="Arial"/>
              </a:defRPr>
            </a:pPr>
            <a:r>
              <a:rPr sz="1875" b="0" lang="he-IL">
                <a:solidFill>
                  <a:srgbClr val="16324B"/>
                </a:solidFill>
                <a:latin typeface="Arial"/>
                <a:ea typeface="Arial"/>
                <a:cs typeface="Arial"/>
              </a:rPr>
              <a:t>אימנתי מקודד משותף ומקודדים נפרדים למבטים, באימון ‪self-supervised‬.</a:t>
            </a:r>
          </a:p>
        </p:txBody>
      </p:sp>
      <p:sp>
        <p:nvSpPr>
          <p:cNvPr id="5" name="">
            <a:extLst xmlns:a="http://schemas.openxmlformats.org/drawingml/2006/main">
              <a:ext uri="{FF2B5EF4-FFF2-40B4-BE49-F238E27FC236}">
                <a16:creationId xmlns:a16="http://schemas.microsoft.com/office/drawing/2014/main" id="{75FFF163-39AF-41F3-8664-0C70514FC9B9}"/>
              </a:ext>
            </a:extLst>
          </p:cNvPr>
          <p:cNvSpPr>
            <a:spLocks xmlns:a="http://schemas.openxmlformats.org/drawingml/2006/main" noGrp="1"/>
          </p:cNvSpPr>
          <p:nvPr/>
        </p:nvSpPr>
        <p:spPr>
          <a:xfrm xmlns:a="http://schemas.openxmlformats.org/drawingml/2006/main">
            <a:off x="762000" y="58483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75" b="1">
                <a:solidFill>
                  <a:srgbClr val="C5802E"/>
                </a:solidFill>
                <a:latin typeface="Arial"/>
                <a:ea typeface="Arial"/>
                <a:cs typeface="Arial"/>
              </a:defRPr>
            </a:pPr>
            <a:r>
              <a:rPr sz="1875" b="1" lang="he-IL">
                <a:solidFill>
                  <a:srgbClr val="C5802E"/>
                </a:solidFill>
                <a:latin typeface="Arial"/>
                <a:ea typeface="Arial"/>
                <a:cs typeface="Arial"/>
              </a:rPr>
              <a:t>היתרון שנראה בבחירת שני מבטים בדיעבד נעלם בבחירה בתוך נתוני האימון.</a:t>
            </a:r>
          </a:p>
        </p:txBody>
      </p:sp>
      <p:sp>
        <p:nvSpPr>
          <p:cNvPr id="6" name="">
            <a:extLst xmlns:a="http://schemas.openxmlformats.org/drawingml/2006/main">
              <a:ext uri="{FF2B5EF4-FFF2-40B4-BE49-F238E27FC236}">
                <a16:creationId xmlns:a16="http://schemas.microsoft.com/office/drawing/2014/main" id="{C82DB91E-616D-419F-AFC7-04D4B0AFA413}"/>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בשתי גרסאות האימון נכללה גם היסטוריית וידאו כשזמינה. הצירוף שנבחר בדיעבד הוא ממצא חקרני.</a:t>
            </a:r>
          </a:p>
        </p:txBody>
      </p:sp>
      <p:sp>
        <p:nvSpPr>
          <p:cNvPr id="7" name="">
            <a:extLst xmlns:a="http://schemas.openxmlformats.org/drawingml/2006/main">
              <a:ext uri="{FF2B5EF4-FFF2-40B4-BE49-F238E27FC236}">
                <a16:creationId xmlns:a16="http://schemas.microsoft.com/office/drawing/2014/main" id="{2A80AEF6-1AA7-428A-8307-CCCAEC3D4AAB}"/>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5</a:t>
            </a:r>
          </a:p>
        </p:txBody>
      </p:sp>
    </p:spTree>
    <p:extLst>
      <p:ext uri="{BB962C8B-B14F-4D97-AF65-F5344CB8AC3E}">
        <p14:creationId xmlns:p14="http://schemas.microsoft.com/office/powerpoint/2010/main" val="16059687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F696C3-4858-46D4-9BEB-2D709FCCF4A5}"/>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ההפרש בין שכבות ה־‪strain‬ בלט בבדיקת הפיצ׳רים</a:t>
            </a:r>
          </a:p>
        </p:txBody>
      </p:sp>
      <p:sp>
        <p:nvSpPr>
          <p:cNvPr id="2" name="">
            <a:extLst xmlns:a="http://schemas.openxmlformats.org/drawingml/2006/main">
              <a:ext uri="{FF2B5EF4-FFF2-40B4-BE49-F238E27FC236}">
                <a16:creationId xmlns:a16="http://schemas.microsoft.com/office/drawing/2014/main" id="{91D191FD-FD00-4711-BAED-22BB2A0E313A}"/>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בדיקה נפרדת של מודלים עם פיצ׳רים מחושבים  •  103 מטופלים, 238 מעברים, 49 אירועים</a:t>
            </a:r>
          </a:p>
        </p:txBody>
      </p:sp>
      <p:graphicFrame>
        <p:nvGraphicFramePr>
          <p:cNvPr id="15" name="Chart"/>
          <p:cNvGraphicFramePr/>
          <p:nvPr/>
        </p:nvGraphicFramePr>
        <p:xfrm>
          <a:off xmlns:a="http://schemas.openxmlformats.org/drawingml/2006/main" x="523875" y="2095500"/>
          <a:ext xmlns:a="http://schemas.openxmlformats.org/drawingml/2006/main" cx="6953250" cy="3333750"/>
        </p:xfrm>
        <a:graphic xmlns:a="http://schemas.openxmlformats.org/drawingml/2006/main">
          <a:graphicData uri="http://schemas.openxmlformats.org/drawingml/2006/chart">
            <c:chart xmlns:r="http://schemas.openxmlformats.org/officeDocument/2006/relationships" xmlns:c="http://schemas.openxmlformats.org/drawingml/2006/chart" r:id="R9b152dee06534e6b"/>
          </a:graphicData>
        </a:graphic>
      </p:graphicFrame>
      <p:sp>
        <p:nvSpPr>
          <p:cNvPr id="4" name="">
            <a:extLst xmlns:a="http://schemas.openxmlformats.org/drawingml/2006/main">
              <a:ext uri="{FF2B5EF4-FFF2-40B4-BE49-F238E27FC236}">
                <a16:creationId xmlns:a16="http://schemas.microsoft.com/office/drawing/2014/main" id="{9E3B203C-85B7-4462-BF18-1F1CC88522E0}"/>
              </a:ext>
            </a:extLst>
          </p:cNvPr>
          <p:cNvSpPr>
            <a:spLocks xmlns:a="http://schemas.openxmlformats.org/drawingml/2006/main" noGrp="1"/>
          </p:cNvSpPr>
          <p:nvPr/>
        </p:nvSpPr>
        <p:spPr>
          <a:xfrm xmlns:a="http://schemas.openxmlformats.org/drawingml/2006/main">
            <a:off x="7572375" y="261937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950" b="1">
                <a:solidFill>
                  <a:srgbClr val="16324B"/>
                </a:solidFill>
                <a:latin typeface="Arial"/>
                <a:ea typeface="Arial"/>
                <a:cs typeface="Arial"/>
              </a:defRPr>
            </a:pPr>
            <a:r>
              <a:rPr sz="1950" b="1" lang="he-IL">
                <a:solidFill>
                  <a:srgbClr val="16324B"/>
                </a:solidFill>
                <a:latin typeface="Arial"/>
                <a:ea typeface="Arial"/>
                <a:cs typeface="Arial"/>
              </a:rPr>
              <a:t>שינוי בדפוס ההפרש בין השכבות</a:t>
            </a:r>
          </a:p>
        </p:txBody>
      </p:sp>
      <p:sp>
        <p:nvSpPr>
          <p:cNvPr id="5" name="">
            <a:extLst xmlns:a="http://schemas.openxmlformats.org/drawingml/2006/main">
              <a:ext uri="{FF2B5EF4-FFF2-40B4-BE49-F238E27FC236}">
                <a16:creationId xmlns:a16="http://schemas.microsoft.com/office/drawing/2014/main" id="{5EA78234-FB44-4FC1-B6A0-E4B68ED7D590}"/>
              </a:ext>
            </a:extLst>
          </p:cNvPr>
          <p:cNvSpPr>
            <a:spLocks xmlns:a="http://schemas.openxmlformats.org/drawingml/2006/main" noGrp="1"/>
          </p:cNvSpPr>
          <p:nvPr/>
        </p:nvSpPr>
        <p:spPr>
          <a:xfrm xmlns:a="http://schemas.openxmlformats.org/drawingml/2006/main">
            <a:off x="7620000" y="2971800"/>
            <a:ext cx="3905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a:solidFill>
                  <a:srgbClr val="536574"/>
                </a:solidFill>
                <a:latin typeface="Arial"/>
                <a:ea typeface="Arial"/>
                <a:cs typeface="Arial"/>
              </a:defRPr>
            </a:pPr>
            <a:r>
              <a:rPr sz="1650" b="0" lang="he-IL">
                <a:solidFill>
                  <a:srgbClr val="536574"/>
                </a:solidFill>
                <a:latin typeface="Arial"/>
                <a:ea typeface="Arial"/>
                <a:cs typeface="Arial"/>
              </a:rPr>
              <a:t>מודל קליני + הפרש שכבות</a:t>
            </a:r>
          </a:p>
          <a:p xmlns:a="http://schemas.openxmlformats.org/drawingml/2006/main">
            <a:pPr algn="r">
              <a:defRPr sz="1650" b="0">
                <a:solidFill>
                  <a:srgbClr val="536574"/>
                </a:solidFill>
                <a:latin typeface="Arial"/>
                <a:ea typeface="Arial"/>
                <a:cs typeface="Arial"/>
              </a:defRPr>
            </a:pPr>
            <a:r>
              <a:rPr sz="1650" b="0">
                <a:solidFill>
                  <a:srgbClr val="536574"/>
                </a:solidFill>
                <a:latin typeface="Arial"/>
                <a:ea typeface="Arial"/>
                <a:cs typeface="Arial"/>
              </a:rPr>
              <a:t>Δ‪AUROC‬ = 0.037</a:t>
            </a:r>
          </a:p>
        </p:txBody>
      </p:sp>
      <p:sp>
        <p:nvSpPr>
          <p:cNvPr id="6" name="">
            <a:extLst xmlns:a="http://schemas.openxmlformats.org/drawingml/2006/main">
              <a:ext uri="{FF2B5EF4-FFF2-40B4-BE49-F238E27FC236}">
                <a16:creationId xmlns:a16="http://schemas.microsoft.com/office/drawing/2014/main" id="{3F3F4EA5-85F8-4024-9BCF-76E2A4C6016F}"/>
              </a:ext>
            </a:extLst>
          </p:cNvPr>
          <p:cNvSpPr>
            <a:spLocks xmlns:a="http://schemas.openxmlformats.org/drawingml/2006/main" noGrp="1"/>
          </p:cNvSpPr>
          <p:nvPr/>
        </p:nvSpPr>
        <p:spPr>
          <a:xfrm xmlns:a="http://schemas.openxmlformats.org/drawingml/2006/main">
            <a:off x="7572375" y="34290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950" b="1">
                <a:solidFill>
                  <a:srgbClr val="16324B"/>
                </a:solidFill>
                <a:latin typeface="Arial"/>
                <a:ea typeface="Arial"/>
                <a:cs typeface="Arial"/>
              </a:defRPr>
            </a:pPr>
            <a:r>
              <a:rPr sz="1950" b="1" lang="he-IL">
                <a:solidFill>
                  <a:srgbClr val="16324B"/>
                </a:solidFill>
                <a:latin typeface="Arial"/>
                <a:ea typeface="Arial"/>
                <a:cs typeface="Arial"/>
              </a:rPr>
              <a:t>הבדל בצורת העקומות המנורמלות</a:t>
            </a:r>
          </a:p>
        </p:txBody>
      </p:sp>
      <p:sp>
        <p:nvSpPr>
          <p:cNvPr id="7" name="">
            <a:extLst xmlns:a="http://schemas.openxmlformats.org/drawingml/2006/main">
              <a:ext uri="{FF2B5EF4-FFF2-40B4-BE49-F238E27FC236}">
                <a16:creationId xmlns:a16="http://schemas.microsoft.com/office/drawing/2014/main" id="{D5214FBF-10ED-483F-B819-088739C13A43}"/>
              </a:ext>
            </a:extLst>
          </p:cNvPr>
          <p:cNvSpPr>
            <a:spLocks xmlns:a="http://schemas.openxmlformats.org/drawingml/2006/main" noGrp="1"/>
          </p:cNvSpPr>
          <p:nvPr/>
        </p:nvSpPr>
        <p:spPr>
          <a:xfrm xmlns:a="http://schemas.openxmlformats.org/drawingml/2006/main">
            <a:off x="7620000" y="3781425"/>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536574"/>
                </a:solidFill>
                <a:latin typeface="Arial"/>
                <a:ea typeface="Arial"/>
                <a:cs typeface="Arial"/>
              </a:defRPr>
            </a:pPr>
            <a:r>
              <a:rPr sz="1650" b="0">
                <a:solidFill>
                  <a:srgbClr val="536574"/>
                </a:solidFill>
                <a:latin typeface="Arial"/>
                <a:ea typeface="Arial"/>
                <a:cs typeface="Arial"/>
              </a:rPr>
              <a:t>Extra Trees</a:t>
            </a:r>
          </a:p>
          <a:p xmlns:a="http://schemas.openxmlformats.org/drawingml/2006/main">
            <a:pPr algn="r">
              <a:defRPr sz="1650" b="0">
                <a:solidFill>
                  <a:srgbClr val="536574"/>
                </a:solidFill>
                <a:latin typeface="Arial"/>
                <a:ea typeface="Arial"/>
                <a:cs typeface="Arial"/>
              </a:defRPr>
            </a:pPr>
            <a:r>
              <a:rPr sz="1650" b="0">
                <a:solidFill>
                  <a:srgbClr val="536574"/>
                </a:solidFill>
                <a:latin typeface="Arial"/>
                <a:ea typeface="Arial"/>
                <a:cs typeface="Arial"/>
              </a:rPr>
              <a:t>ΔAUROC = 0.017</a:t>
            </a:r>
          </a:p>
        </p:txBody>
      </p:sp>
      <p:sp>
        <p:nvSpPr>
          <p:cNvPr id="8" name="">
            <a:extLst xmlns:a="http://schemas.openxmlformats.org/drawingml/2006/main">
              <a:ext uri="{FF2B5EF4-FFF2-40B4-BE49-F238E27FC236}">
                <a16:creationId xmlns:a16="http://schemas.microsoft.com/office/drawing/2014/main" id="{74B94755-09E8-4526-8D2E-6C594188028D}"/>
              </a:ext>
            </a:extLst>
          </p:cNvPr>
          <p:cNvSpPr>
            <a:spLocks xmlns:a="http://schemas.openxmlformats.org/drawingml/2006/main" noGrp="1"/>
          </p:cNvSpPr>
          <p:nvPr/>
        </p:nvSpPr>
        <p:spPr>
          <a:xfrm xmlns:a="http://schemas.openxmlformats.org/drawingml/2006/main">
            <a:off x="7572375" y="4238625"/>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950" b="1">
                <a:solidFill>
                  <a:srgbClr val="16324B"/>
                </a:solidFill>
                <a:latin typeface="Arial"/>
                <a:ea typeface="Arial"/>
                <a:cs typeface="Arial"/>
              </a:defRPr>
            </a:pPr>
            <a:r>
              <a:rPr sz="1950" b="1" lang="he-IL">
                <a:solidFill>
                  <a:srgbClr val="16324B"/>
                </a:solidFill>
                <a:latin typeface="Arial"/>
                <a:ea typeface="Arial"/>
                <a:cs typeface="Arial"/>
              </a:rPr>
              <a:t>פיזור ‪peak strain‬ בין סגמנטים</a:t>
            </a:r>
          </a:p>
        </p:txBody>
      </p:sp>
      <p:sp>
        <p:nvSpPr>
          <p:cNvPr id="9" name="">
            <a:extLst xmlns:a="http://schemas.openxmlformats.org/drawingml/2006/main">
              <a:ext uri="{FF2B5EF4-FFF2-40B4-BE49-F238E27FC236}">
                <a16:creationId xmlns:a16="http://schemas.microsoft.com/office/drawing/2014/main" id="{3708ED1C-38C8-43F4-BA2D-EF4F2E5F3192}"/>
              </a:ext>
            </a:extLst>
          </p:cNvPr>
          <p:cNvSpPr>
            <a:spLocks xmlns:a="http://schemas.openxmlformats.org/drawingml/2006/main" noGrp="1"/>
          </p:cNvSpPr>
          <p:nvPr/>
        </p:nvSpPr>
        <p:spPr>
          <a:xfrm xmlns:a="http://schemas.openxmlformats.org/drawingml/2006/main">
            <a:off x="7620000" y="45910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650" b="0">
                <a:solidFill>
                  <a:srgbClr val="536574"/>
                </a:solidFill>
                <a:latin typeface="Arial"/>
                <a:ea typeface="Arial"/>
                <a:cs typeface="Arial"/>
              </a:defRPr>
            </a:pPr>
            <a:r>
              <a:rPr sz="1650" b="0" lang="he-IL">
                <a:solidFill>
                  <a:srgbClr val="536574"/>
                </a:solidFill>
                <a:latin typeface="Arial"/>
                <a:ea typeface="Arial"/>
                <a:cs typeface="Arial"/>
              </a:rPr>
              <a:t>מודל קליני + שונות</a:t>
            </a:r>
          </a:p>
          <a:p xmlns:a="http://schemas.openxmlformats.org/drawingml/2006/main">
            <a:pPr algn="r">
              <a:defRPr sz="1650" b="0">
                <a:solidFill>
                  <a:srgbClr val="536574"/>
                </a:solidFill>
                <a:latin typeface="Arial"/>
                <a:ea typeface="Arial"/>
                <a:cs typeface="Arial"/>
              </a:defRPr>
            </a:pPr>
            <a:r>
              <a:rPr sz="1650" b="0">
                <a:solidFill>
                  <a:srgbClr val="536574"/>
                </a:solidFill>
                <a:latin typeface="Arial"/>
                <a:ea typeface="Arial"/>
                <a:cs typeface="Arial"/>
              </a:rPr>
              <a:t>Δ‪AUROC‬ = 0.010</a:t>
            </a:r>
          </a:p>
        </p:txBody>
      </p:sp>
      <p:sp>
        <p:nvSpPr>
          <p:cNvPr id="10" name="">
            <a:extLst xmlns:a="http://schemas.openxmlformats.org/drawingml/2006/main">
              <a:ext uri="{FF2B5EF4-FFF2-40B4-BE49-F238E27FC236}">
                <a16:creationId xmlns:a16="http://schemas.microsoft.com/office/drawing/2014/main" id="{22598737-F0F3-4946-9831-FB12B7380E24}"/>
              </a:ext>
            </a:extLst>
          </p:cNvPr>
          <p:cNvSpPr>
            <a:spLocks xmlns:a="http://schemas.openxmlformats.org/drawingml/2006/main" noGrp="1"/>
          </p:cNvSpPr>
          <p:nvPr/>
        </p:nvSpPr>
        <p:spPr>
          <a:xfrm xmlns:a="http://schemas.openxmlformats.org/drawingml/2006/main">
            <a:off x="714375" y="57435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16324B"/>
                </a:solidFill>
                <a:latin typeface="Arial"/>
                <a:ea typeface="Arial"/>
                <a:cs typeface="Arial"/>
              </a:defRPr>
            </a:pPr>
            <a:r>
              <a:rPr sz="1800" b="0" lang="he-IL">
                <a:solidFill>
                  <a:srgbClr val="16324B"/>
                </a:solidFill>
                <a:latin typeface="Arial"/>
                <a:ea typeface="Arial"/>
                <a:cs typeface="Arial"/>
              </a:rPr>
              <a:t>הקווים מציגים רווח סמך 95%. תרומת פיזור הסגמנטים פחות יציבה וכוללת אפס.</a:t>
            </a:r>
          </a:p>
        </p:txBody>
      </p:sp>
      <p:sp>
        <p:nvSpPr>
          <p:cNvPr id="11" name="">
            <a:extLst xmlns:a="http://schemas.openxmlformats.org/drawingml/2006/main">
              <a:ext uri="{FF2B5EF4-FFF2-40B4-BE49-F238E27FC236}">
                <a16:creationId xmlns:a16="http://schemas.microsoft.com/office/drawing/2014/main" id="{7DD98D3D-9E96-4673-B8BD-260DF56731AE}"/>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זהו מדד להסתמכות של כל מודל על פיצ׳ר, ולא הוכחה לסמן סיבתי או לשיפור של המודל הכולל.</a:t>
            </a:r>
          </a:p>
        </p:txBody>
      </p:sp>
      <p:sp>
        <p:nvSpPr>
          <p:cNvPr id="12" name="">
            <a:extLst xmlns:a="http://schemas.openxmlformats.org/drawingml/2006/main">
              <a:ext uri="{FF2B5EF4-FFF2-40B4-BE49-F238E27FC236}">
                <a16:creationId xmlns:a16="http://schemas.microsoft.com/office/drawing/2014/main" id="{21F3054C-4655-427D-8D7A-0D1828241EBD}"/>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6</a:t>
            </a:r>
          </a:p>
        </p:txBody>
      </p:sp>
    </p:spTree>
    <p:extLst>
      <p:ext uri="{BB962C8B-B14F-4D97-AF65-F5344CB8AC3E}">
        <p14:creationId xmlns:p14="http://schemas.microsoft.com/office/powerpoint/2010/main" val="10084605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03BD78-0240-49E2-BF89-4B736AC96ACE}"/>
              </a:ext>
            </a:extLst>
          </p:cNvPr>
          <p:cNvSpPr>
            <a:spLocks xmlns:a="http://schemas.openxmlformats.org/drawingml/2006/main" noGrp="1"/>
          </p:cNvSpPr>
          <p:nvPr/>
        </p:nvSpPr>
        <p:spPr>
          <a:xfrm xmlns:a="http://schemas.openxmlformats.org/drawingml/2006/main">
            <a:off x="552450" y="333375"/>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3300" b="1">
                <a:solidFill>
                  <a:srgbClr val="16324B"/>
                </a:solidFill>
                <a:latin typeface="Arial"/>
                <a:ea typeface="Arial"/>
                <a:cs typeface="Arial"/>
              </a:defRPr>
            </a:pPr>
            <a:r>
              <a:rPr sz="3300" b="1" lang="he-IL">
                <a:solidFill>
                  <a:srgbClr val="16324B"/>
                </a:solidFill>
                <a:latin typeface="Arial"/>
                <a:ea typeface="Arial"/>
                <a:cs typeface="Arial"/>
              </a:rPr>
              <a:t>איך ממשיכים בניתוח הדאטה</a:t>
            </a:r>
          </a:p>
        </p:txBody>
      </p:sp>
      <p:sp>
        <p:nvSpPr>
          <p:cNvPr id="2" name="">
            <a:extLst xmlns:a="http://schemas.openxmlformats.org/drawingml/2006/main">
              <a:ext uri="{FF2B5EF4-FFF2-40B4-BE49-F238E27FC236}">
                <a16:creationId xmlns:a16="http://schemas.microsoft.com/office/drawing/2014/main" id="{75C69581-CAE8-4A52-9BD5-7E9667E78BC4}"/>
              </a:ext>
            </a:extLst>
          </p:cNvPr>
          <p:cNvSpPr>
            <a:spLocks xmlns:a="http://schemas.openxmlformats.org/drawingml/2006/main" noGrp="1"/>
          </p:cNvSpPr>
          <p:nvPr/>
        </p:nvSpPr>
        <p:spPr>
          <a:xfrm xmlns:a="http://schemas.openxmlformats.org/drawingml/2006/main">
            <a:off x="552450" y="10477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800" b="0">
                <a:solidFill>
                  <a:srgbClr val="536574"/>
                </a:solidFill>
                <a:latin typeface="Arial"/>
                <a:ea typeface="Arial"/>
                <a:cs typeface="Arial"/>
              </a:defRPr>
            </a:pPr>
            <a:r>
              <a:rPr sz="1800" b="0" lang="he-IL">
                <a:solidFill>
                  <a:srgbClr val="536574"/>
                </a:solidFill>
                <a:latin typeface="Arial"/>
                <a:ea typeface="Arial"/>
                <a:cs typeface="Arial"/>
              </a:rPr>
              <a:t>הווידאו משקף את ה־‪GLS‬ הנוכחי. התוספת לחיזוי ההידרדרות עדיין מוגבלת.</a:t>
            </a:r>
          </a:p>
        </p:txBody>
      </p:sp>
      <p:sp>
        <p:nvSpPr>
          <p:cNvPr id="3" name="">
            <a:extLst xmlns:a="http://schemas.openxmlformats.org/drawingml/2006/main">
              <a:ext uri="{FF2B5EF4-FFF2-40B4-BE49-F238E27FC236}">
                <a16:creationId xmlns:a16="http://schemas.microsoft.com/office/drawing/2014/main" id="{CF472DE9-75B2-4B76-896A-03561D36B626}"/>
              </a:ext>
            </a:extLst>
          </p:cNvPr>
          <p:cNvSpPr>
            <a:spLocks xmlns:a="http://schemas.openxmlformats.org/drawingml/2006/main" noGrp="1"/>
          </p:cNvSpPr>
          <p:nvPr/>
        </p:nvSpPr>
        <p:spPr>
          <a:xfrm xmlns:a="http://schemas.openxmlformats.org/drawingml/2006/main">
            <a:off x="762000" y="207645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550" b="1">
                <a:solidFill>
                  <a:srgbClr val="168A91"/>
                </a:solidFill>
                <a:latin typeface="Arial"/>
                <a:ea typeface="Arial"/>
                <a:cs typeface="Arial"/>
              </a:defRPr>
            </a:pPr>
            <a:r>
              <a:rPr sz="2550" b="1" lang="he-IL">
                <a:solidFill>
                  <a:srgbClr val="168A91"/>
                </a:solidFill>
                <a:latin typeface="Arial"/>
                <a:ea typeface="Arial"/>
                <a:cs typeface="Arial"/>
              </a:rPr>
              <a:t>ניתוח העקומות</a:t>
            </a:r>
          </a:p>
        </p:txBody>
      </p:sp>
      <p:sp>
        <p:nvSpPr>
          <p:cNvPr id="4" name="">
            <a:extLst xmlns:a="http://schemas.openxmlformats.org/drawingml/2006/main">
              <a:ext uri="{FF2B5EF4-FFF2-40B4-BE49-F238E27FC236}">
                <a16:creationId xmlns:a16="http://schemas.microsoft.com/office/drawing/2014/main" id="{C1F3C763-399C-4ACF-B7C5-A3EADBD31F68}"/>
              </a:ext>
            </a:extLst>
          </p:cNvPr>
          <p:cNvSpPr>
            <a:spLocks xmlns:a="http://schemas.openxmlformats.org/drawingml/2006/main" noGrp="1"/>
          </p:cNvSpPr>
          <p:nvPr/>
        </p:nvSpPr>
        <p:spPr>
          <a:xfrm xmlns:a="http://schemas.openxmlformats.org/drawingml/2006/main">
            <a:off x="762000" y="2638425"/>
            <a:ext cx="1081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0">
                <a:solidFill>
                  <a:srgbClr val="16324B"/>
                </a:solidFill>
                <a:latin typeface="Arial"/>
                <a:ea typeface="Arial"/>
                <a:cs typeface="Arial"/>
              </a:defRPr>
            </a:pPr>
            <a:r>
              <a:rPr sz="2100" b="0" lang="he-IL">
                <a:solidFill>
                  <a:srgbClr val="16324B"/>
                </a:solidFill>
                <a:latin typeface="Arial"/>
                <a:ea typeface="Arial"/>
                <a:cs typeface="Arial"/>
              </a:rPr>
              <a:t>סיווג עקומות תקינות ולא תקינות עדיין לא ביצעתי.</a:t>
            </a:r>
          </a:p>
          <a:p xmlns:a="http://schemas.openxmlformats.org/drawingml/2006/main">
            <a:pPr algn="r" rtl="1">
              <a:defRPr sz="2100" b="0">
                <a:solidFill>
                  <a:srgbClr val="16324B"/>
                </a:solidFill>
                <a:latin typeface="Arial"/>
                <a:ea typeface="Arial"/>
                <a:cs typeface="Arial"/>
              </a:defRPr>
            </a:pPr>
            <a:r>
              <a:rPr sz="2100" b="0" lang="he-IL">
                <a:solidFill>
                  <a:srgbClr val="16324B"/>
                </a:solidFill>
                <a:latin typeface="Arial"/>
                <a:ea typeface="Arial"/>
                <a:cs typeface="Arial"/>
              </a:rPr>
              <a:t>אפשר לבדוק את השפעת איכות העקומות ואת השונות בין סגמנטים בכל מבט.</a:t>
            </a:r>
          </a:p>
        </p:txBody>
      </p:sp>
      <p:sp>
        <p:nvSpPr>
          <p:cNvPr id="5" name="">
            <a:extLst xmlns:a="http://schemas.openxmlformats.org/drawingml/2006/main">
              <a:ext uri="{FF2B5EF4-FFF2-40B4-BE49-F238E27FC236}">
                <a16:creationId xmlns:a16="http://schemas.microsoft.com/office/drawing/2014/main" id="{3A21AD00-EFA3-4C55-B2DE-257D796CF306}"/>
              </a:ext>
            </a:extLst>
          </p:cNvPr>
          <p:cNvSpPr>
            <a:spLocks xmlns:a="http://schemas.openxmlformats.org/drawingml/2006/main" noGrp="1"/>
          </p:cNvSpPr>
          <p:nvPr/>
        </p:nvSpPr>
        <p:spPr>
          <a:xfrm xmlns:a="http://schemas.openxmlformats.org/drawingml/2006/main">
            <a:off x="762000" y="3752850"/>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550" b="1">
                <a:solidFill>
                  <a:srgbClr val="168A91"/>
                </a:solidFill>
                <a:latin typeface="Arial"/>
                <a:ea typeface="Arial"/>
                <a:cs typeface="Arial"/>
              </a:defRPr>
            </a:pPr>
            <a:r>
              <a:rPr sz="2550" b="1" lang="he-IL">
                <a:solidFill>
                  <a:srgbClr val="168A91"/>
                </a:solidFill>
                <a:latin typeface="Arial"/>
                <a:ea typeface="Arial"/>
                <a:cs typeface="Arial"/>
              </a:rPr>
              <a:t>מידע ישיר על התנועה</a:t>
            </a:r>
          </a:p>
        </p:txBody>
      </p:sp>
      <p:sp>
        <p:nvSpPr>
          <p:cNvPr id="6" name="">
            <a:extLst xmlns:a="http://schemas.openxmlformats.org/drawingml/2006/main">
              <a:ext uri="{FF2B5EF4-FFF2-40B4-BE49-F238E27FC236}">
                <a16:creationId xmlns:a16="http://schemas.microsoft.com/office/drawing/2014/main" id="{3678623A-2F91-47A1-9026-C93AA68B5964}"/>
              </a:ext>
            </a:extLst>
          </p:cNvPr>
          <p:cNvSpPr>
            <a:spLocks xmlns:a="http://schemas.openxmlformats.org/drawingml/2006/main" noGrp="1"/>
          </p:cNvSpPr>
          <p:nvPr/>
        </p:nvSpPr>
        <p:spPr>
          <a:xfrm xmlns:a="http://schemas.openxmlformats.org/drawingml/2006/main">
            <a:off x="762000" y="4314825"/>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2100" b="0">
                <a:solidFill>
                  <a:srgbClr val="16324B"/>
                </a:solidFill>
                <a:latin typeface="Arial"/>
                <a:ea typeface="Arial"/>
                <a:cs typeface="Arial"/>
              </a:defRPr>
            </a:pPr>
            <a:r>
              <a:rPr sz="2100" b="0" lang="he-IL">
                <a:solidFill>
                  <a:srgbClr val="16324B"/>
                </a:solidFill>
                <a:latin typeface="Arial"/>
                <a:ea typeface="Arial"/>
                <a:cs typeface="Arial"/>
              </a:rPr>
              <a:t>לזהות סוף דיאסטולה וסוף סיסטולה ולמדוד את דפוס הכיווץ לאורך הפעימה.</a:t>
            </a:r>
          </a:p>
          <a:p xmlns:a="http://schemas.openxmlformats.org/drawingml/2006/main">
            <a:pPr algn="r" rtl="1">
              <a:defRPr sz="2100" b="0">
                <a:solidFill>
                  <a:srgbClr val="16324B"/>
                </a:solidFill>
                <a:latin typeface="Arial"/>
                <a:ea typeface="Arial"/>
                <a:cs typeface="Arial"/>
              </a:defRPr>
            </a:pPr>
            <a:r>
              <a:rPr sz="2100" b="0" lang="he-IL">
                <a:solidFill>
                  <a:srgbClr val="16324B"/>
                </a:solidFill>
                <a:latin typeface="Arial"/>
                <a:ea typeface="Arial"/>
                <a:cs typeface="Arial"/>
              </a:rPr>
              <a:t>תחילה פיילוט קטן לבדיקת איכות המדידות, ואחריו בדיקת התוספת לחיזוי.</a:t>
            </a:r>
          </a:p>
        </p:txBody>
      </p:sp>
      <p:sp>
        <p:nvSpPr>
          <p:cNvPr id="7" name="">
            <a:extLst xmlns:a="http://schemas.openxmlformats.org/drawingml/2006/main">
              <a:ext uri="{FF2B5EF4-FFF2-40B4-BE49-F238E27FC236}">
                <a16:creationId xmlns:a16="http://schemas.microsoft.com/office/drawing/2014/main" id="{39090C75-2F03-49FB-BEC2-1EA231214078}"/>
              </a:ext>
            </a:extLst>
          </p:cNvPr>
          <p:cNvSpPr>
            <a:spLocks xmlns:a="http://schemas.openxmlformats.org/drawingml/2006/main" noGrp="1"/>
          </p:cNvSpPr>
          <p:nvPr/>
        </p:nvSpPr>
        <p:spPr>
          <a:xfrm xmlns:a="http://schemas.openxmlformats.org/drawingml/2006/main">
            <a:off x="762000" y="5505450"/>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950" b="0">
                <a:solidFill>
                  <a:srgbClr val="536574"/>
                </a:solidFill>
                <a:latin typeface="Arial"/>
                <a:ea typeface="Arial"/>
                <a:cs typeface="Arial"/>
              </a:defRPr>
            </a:pPr>
            <a:r>
              <a:rPr sz="1950" b="0" lang="he-IL">
                <a:solidFill>
                  <a:srgbClr val="536574"/>
                </a:solidFill>
                <a:latin typeface="Arial"/>
                <a:ea typeface="Arial"/>
                <a:cs typeface="Arial"/>
              </a:rPr>
              <a:t>התאמת מקודדים נוספים היא אפשרות נוספת, לפי סדר העדיפויות שנקבע בפגישה.</a:t>
            </a:r>
          </a:p>
        </p:txBody>
      </p:sp>
      <p:sp>
        <p:nvSpPr>
          <p:cNvPr id="8" name="">
            <a:extLst xmlns:a="http://schemas.openxmlformats.org/drawingml/2006/main">
              <a:ext uri="{FF2B5EF4-FFF2-40B4-BE49-F238E27FC236}">
                <a16:creationId xmlns:a16="http://schemas.microsoft.com/office/drawing/2014/main" id="{D12E6C16-8C1D-48F6-8FC5-57AD2888F500}"/>
              </a:ext>
            </a:extLst>
          </p:cNvPr>
          <p:cNvSpPr>
            <a:spLocks xmlns:a="http://schemas.openxmlformats.org/drawingml/2006/main" noGrp="1"/>
          </p:cNvSpPr>
          <p:nvPr/>
        </p:nvSpPr>
        <p:spPr>
          <a:xfrm xmlns:a="http://schemas.openxmlformats.org/drawingml/2006/main">
            <a:off x="685800" y="6229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rtl="1">
              <a:defRPr sz="1350" b="0">
                <a:solidFill>
                  <a:srgbClr val="536574"/>
                </a:solidFill>
                <a:latin typeface="Arial"/>
                <a:ea typeface="Arial"/>
                <a:cs typeface="Arial"/>
              </a:defRPr>
            </a:pPr>
            <a:r>
              <a:rPr sz="1350" b="0" lang="he-IL">
                <a:solidFill>
                  <a:srgbClr val="536574"/>
                </a:solidFill>
                <a:latin typeface="Arial"/>
                <a:ea typeface="Arial"/>
                <a:cs typeface="Arial"/>
              </a:rPr>
              <a:t>אבחר את הניסויים בתוך נתוני האימון. תוצאה חיובית תצטרך אישור על מטופלים חדשים.</a:t>
            </a:r>
          </a:p>
        </p:txBody>
      </p:sp>
      <p:sp>
        <p:nvSpPr>
          <p:cNvPr id="9" name="">
            <a:extLst xmlns:a="http://schemas.openxmlformats.org/drawingml/2006/main">
              <a:ext uri="{FF2B5EF4-FFF2-40B4-BE49-F238E27FC236}">
                <a16:creationId xmlns:a16="http://schemas.microsoft.com/office/drawing/2014/main" id="{4AB186D9-CC4B-43F4-B137-B246E742C75D}"/>
              </a:ext>
            </a:extLst>
          </p:cNvPr>
          <p:cNvSpPr>
            <a:spLocks xmlns:a="http://schemas.openxmlformats.org/drawingml/2006/main" noGrp="1"/>
          </p:cNvSpPr>
          <p:nvPr/>
        </p:nvSpPr>
        <p:spPr>
          <a:xfrm xmlns:a="http://schemas.openxmlformats.org/drawingml/2006/main">
            <a:off x="228600" y="640080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36574"/>
                </a:solidFill>
                <a:latin typeface="Arial"/>
                <a:ea typeface="Arial"/>
                <a:cs typeface="Arial"/>
              </a:defRPr>
            </a:pPr>
            <a:r>
              <a:rPr sz="1200" b="0">
                <a:solidFill>
                  <a:srgbClr val="536574"/>
                </a:solidFill>
                <a:latin typeface="Arial"/>
                <a:ea typeface="Arial"/>
                <a:cs typeface="Arial"/>
              </a:rPr>
              <a:t>7</a:t>
            </a:r>
          </a:p>
        </p:txBody>
      </p:sp>
    </p:spTree>
    <p:extLst>
      <p:ext uri="{BB962C8B-B14F-4D97-AF65-F5344CB8AC3E}">
        <p14:creationId xmlns:p14="http://schemas.microsoft.com/office/powerpoint/2010/main" val="129036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2026-10-09T12:36:58.7980000Z</dcterms:created>
  <dcterms:modified xsi:type="dcterms:W3CDTF">2026-10-09T12:36:58.7980000Z</dcterms:modified>
</coreProperties>
</file>