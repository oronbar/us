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785cf8600e4812" /><Relationship Type="http://schemas.openxmlformats.org/officeDocument/2006/relationships/extended-properties" Target="/docProps/app.xml" Id="R5ddb1563ea254098" /><Relationship Type="http://schemas.openxmlformats.org/officeDocument/2006/relationships/officeDocument" Target="/ppt/presentation.xml" Id="R860aef93fba24efb" /></Relationships>
</file>

<file path=ppt/presentation.xml><?xml version="1.0" encoding="utf-8"?>
<p:presentation xmlns:p="http://schemas.openxmlformats.org/presentationml/2006/main">
  <p:sldMasterIdLst>
    <p:sldMasterId xmlns:r="http://schemas.openxmlformats.org/officeDocument/2006/relationships" id="2147483648" r:id="R3e041f85ba2b467e"/>
  </p:sldMasterIdLst>
  <p:notesMasterIdLst>
    <p:notesMasterId xmlns:r="http://schemas.openxmlformats.org/officeDocument/2006/relationships" r:id="R7223801fa8be4b69"/>
  </p:notesMasterIdLst>
  <p:sldIdLst>
    <p:sldId xmlns:r="http://schemas.openxmlformats.org/officeDocument/2006/relationships" id="256" r:id="R61fbddf622474895"/>
    <p:sldId xmlns:r="http://schemas.openxmlformats.org/officeDocument/2006/relationships" id="257" r:id="Rd16ad5d9476a4ccd"/>
    <p:sldId xmlns:r="http://schemas.openxmlformats.org/officeDocument/2006/relationships" id="258" r:id="Rd71bfdbde6ef41c8"/>
    <p:sldId xmlns:r="http://schemas.openxmlformats.org/officeDocument/2006/relationships" id="259" r:id="R73468b03d1b24d94"/>
    <p:sldId xmlns:r="http://schemas.openxmlformats.org/officeDocument/2006/relationships" id="260" r:id="R52eb025eb1a84513"/>
    <p:sldId xmlns:r="http://schemas.openxmlformats.org/officeDocument/2006/relationships" id="261" r:id="R4e0db0c330a54c72"/>
    <p:sldId xmlns:r="http://schemas.openxmlformats.org/officeDocument/2006/relationships" id="262" r:id="Ra159b3fc7a7a4518"/>
    <p:sldId xmlns:r="http://schemas.openxmlformats.org/officeDocument/2006/relationships" id="263" r:id="R49235726cc424b6e"/>
    <p:sldId xmlns:r="http://schemas.openxmlformats.org/officeDocument/2006/relationships" id="264" r:id="R8c016f49bc644eda"/>
    <p:sldId xmlns:r="http://schemas.openxmlformats.org/officeDocument/2006/relationships" id="265" r:id="R77ee3e9b75e34e44"/>
    <p:sldId xmlns:r="http://schemas.openxmlformats.org/officeDocument/2006/relationships" id="266" r:id="R9dd0e7c744784c89"/>
    <p:sldId xmlns:r="http://schemas.openxmlformats.org/officeDocument/2006/relationships" id="267" r:id="R1b3f3032f7f14ae0"/>
    <p:sldId xmlns:r="http://schemas.openxmlformats.org/officeDocument/2006/relationships" id="268" r:id="R0041e26b4fae4a86"/>
    <p:sldId xmlns:r="http://schemas.openxmlformats.org/officeDocument/2006/relationships" id="269" r:id="Re31f65a3a20e4143"/>
    <p:sldId xmlns:r="http://schemas.openxmlformats.org/officeDocument/2006/relationships" id="270" r:id="R3a269e45b54c4c2c"/>
    <p:sldId xmlns:r="http://schemas.openxmlformats.org/officeDocument/2006/relationships" id="271" r:id="R9c935d2e1c5646be"/>
    <p:sldId xmlns:r="http://schemas.openxmlformats.org/officeDocument/2006/relationships" id="272" r:id="R29218a6c63664a12"/>
    <p:sldId xmlns:r="http://schemas.openxmlformats.org/officeDocument/2006/relationships" id="273" r:id="Rf36c41211ae94687"/>
    <p:sldId xmlns:r="http://schemas.openxmlformats.org/officeDocument/2006/relationships" id="274" r:id="Re25bc5454b4f4de0"/>
    <p:sldId xmlns:r="http://schemas.openxmlformats.org/officeDocument/2006/relationships" id="275" r:id="Rc30845223b2744e0"/>
    <p:sldId xmlns:r="http://schemas.openxmlformats.org/officeDocument/2006/relationships" id="276" r:id="R1327c251e86b4073"/>
    <p:sldId xmlns:r="http://schemas.openxmlformats.org/officeDocument/2006/relationships" id="277" r:id="Rf29b7ec5ae4d4253"/>
    <p:sldId xmlns:r="http://schemas.openxmlformats.org/officeDocument/2006/relationships" id="278" r:id="Rff65615e298e4cbe"/>
    <p:sldId xmlns:r="http://schemas.openxmlformats.org/officeDocument/2006/relationships" id="279" r:id="R09bff891d33840f7"/>
    <p:sldId xmlns:r="http://schemas.openxmlformats.org/officeDocument/2006/relationships" id="280" r:id="Ra07dd0def8ef4e5c"/>
    <p:sldId xmlns:r="http://schemas.openxmlformats.org/officeDocument/2006/relationships" id="281" r:id="Rd132517c39004cce"/>
    <p:sldId xmlns:r="http://schemas.openxmlformats.org/officeDocument/2006/relationships" id="282" r:id="Ra84a76a95cd0495b"/>
    <p:sldId xmlns:r="http://schemas.openxmlformats.org/officeDocument/2006/relationships" id="283" r:id="R846eeb643e364a7f"/>
    <p:sldId xmlns:r="http://schemas.openxmlformats.org/officeDocument/2006/relationships" id="284" r:id="R3c7857b79b3c4091"/>
    <p:sldId xmlns:r="http://schemas.openxmlformats.org/officeDocument/2006/relationships" id="285" r:id="R9be9247cc6124ba0"/>
    <p:sldId xmlns:r="http://schemas.openxmlformats.org/officeDocument/2006/relationships" id="286" r:id="R58d143d0b2f645f8"/>
    <p:sldId xmlns:r="http://schemas.openxmlformats.org/officeDocument/2006/relationships" id="287" r:id="R7ee3ccc25e7d4671"/>
    <p:sldId xmlns:r="http://schemas.openxmlformats.org/officeDocument/2006/relationships" id="288" r:id="Rbfea0f97cfe24266"/>
    <p:sldId xmlns:r="http://schemas.openxmlformats.org/officeDocument/2006/relationships" id="289" r:id="R76072e02f50f4b55"/>
    <p:sldId xmlns:r="http://schemas.openxmlformats.org/officeDocument/2006/relationships" id="290" r:id="R06665fe7d16041a0"/>
    <p:sldId xmlns:r="http://schemas.openxmlformats.org/officeDocument/2006/relationships" id="291" r:id="R5a135d0fa73d4832"/>
    <p:sldId xmlns:r="http://schemas.openxmlformats.org/officeDocument/2006/relationships" id="292" r:id="R3a3d1269a7984860"/>
    <p:sldId xmlns:r="http://schemas.openxmlformats.org/officeDocument/2006/relationships" id="293" r:id="R0ccd5cb1e44a4ede"/>
    <p:sldId xmlns:r="http://schemas.openxmlformats.org/officeDocument/2006/relationships" id="294" r:id="R4d219147d71e43fa"/>
    <p:sldId xmlns:r="http://schemas.openxmlformats.org/officeDocument/2006/relationships" id="295" r:id="R4d5b9410ceec44bc"/>
    <p:sldId xmlns:r="http://schemas.openxmlformats.org/officeDocument/2006/relationships" id="296" r:id="Racbf5e56dddd468c"/>
    <p:sldId xmlns:r="http://schemas.openxmlformats.org/officeDocument/2006/relationships" id="297" r:id="R30292d300ed04619"/>
    <p:sldId xmlns:r="http://schemas.openxmlformats.org/officeDocument/2006/relationships" id="298" r:id="Rba24f2cd4b154c59"/>
    <p:sldId xmlns:r="http://schemas.openxmlformats.org/officeDocument/2006/relationships" id="299" r:id="R1d17bd21e0f34e4b"/>
    <p:sldId xmlns:r="http://schemas.openxmlformats.org/officeDocument/2006/relationships" id="300" r:id="R7d101fc78d4042c7"/>
    <p:sldId xmlns:r="http://schemas.openxmlformats.org/officeDocument/2006/relationships" id="301" r:id="Rec6818a2b6c64d32"/>
    <p:sldId xmlns:r="http://schemas.openxmlformats.org/officeDocument/2006/relationships" id="302" r:id="Re2966ab5c55b45d8"/>
    <p:sldId xmlns:r="http://schemas.openxmlformats.org/officeDocument/2006/relationships" id="303" r:id="Rd12de8d9454b4151"/>
    <p:sldId xmlns:r="http://schemas.openxmlformats.org/officeDocument/2006/relationships" id="304" r:id="R3fcae2bb099d47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d661b65d3e4021" /><Relationship Type="http://schemas.openxmlformats.org/officeDocument/2006/relationships/slideMaster" Target="/ppt/slideMasters/slideMaster1.xml" Id="R3e041f85ba2b467e" /><Relationship Type="http://schemas.openxmlformats.org/officeDocument/2006/relationships/notesMaster" Target="/ppt/notesMasters/notesMaster1.xml" Id="R7223801fa8be4b69" /><Relationship Type="http://schemas.openxmlformats.org/officeDocument/2006/relationships/presProps" Target="/ppt/presProps.xml" Id="R005fa6f8d3684933" /><Relationship Type="http://schemas.openxmlformats.org/officeDocument/2006/relationships/tableStyles" Target="/ppt/tableStyles.xml" Id="R276f9ae39d114982" /><Relationship Type="http://schemas.openxmlformats.org/officeDocument/2006/relationships/slide" Target="/ppt/slides/slide1.xml" Id="R61fbddf622474895" /><Relationship Type="http://schemas.openxmlformats.org/officeDocument/2006/relationships/slide" Target="/ppt/slides/slide2.xml" Id="Rd16ad5d9476a4ccd" /><Relationship Type="http://schemas.openxmlformats.org/officeDocument/2006/relationships/slide" Target="/ppt/slides/slide3.xml" Id="Rd71bfdbde6ef41c8" /><Relationship Type="http://schemas.openxmlformats.org/officeDocument/2006/relationships/slide" Target="/ppt/slides/slide4.xml" Id="R73468b03d1b24d94" /><Relationship Type="http://schemas.openxmlformats.org/officeDocument/2006/relationships/slide" Target="/ppt/slides/slide5.xml" Id="R52eb025eb1a84513" /><Relationship Type="http://schemas.openxmlformats.org/officeDocument/2006/relationships/slide" Target="/ppt/slides/slide6.xml" Id="R4e0db0c330a54c72" /><Relationship Type="http://schemas.openxmlformats.org/officeDocument/2006/relationships/slide" Target="/ppt/slides/slide7.xml" Id="Ra159b3fc7a7a4518" /><Relationship Type="http://schemas.openxmlformats.org/officeDocument/2006/relationships/slide" Target="/ppt/slides/slide8.xml" Id="R49235726cc424b6e" /><Relationship Type="http://schemas.openxmlformats.org/officeDocument/2006/relationships/slide" Target="/ppt/slides/slide9.xml" Id="R8c016f49bc644eda" /><Relationship Type="http://schemas.openxmlformats.org/officeDocument/2006/relationships/slide" Target="/ppt/slides/slide10.xml" Id="R77ee3e9b75e34e44" /><Relationship Type="http://schemas.openxmlformats.org/officeDocument/2006/relationships/slide" Target="/ppt/slides/slide11.xml" Id="R9dd0e7c744784c89" /><Relationship Type="http://schemas.openxmlformats.org/officeDocument/2006/relationships/slide" Target="/ppt/slides/slide12.xml" Id="R1b3f3032f7f14ae0" /><Relationship Type="http://schemas.openxmlformats.org/officeDocument/2006/relationships/slide" Target="/ppt/slides/slide13.xml" Id="R0041e26b4fae4a86" /><Relationship Type="http://schemas.openxmlformats.org/officeDocument/2006/relationships/slide" Target="/ppt/slides/slide14.xml" Id="Re31f65a3a20e4143" /><Relationship Type="http://schemas.openxmlformats.org/officeDocument/2006/relationships/slide" Target="/ppt/slides/slide15.xml" Id="R3a269e45b54c4c2c" /><Relationship Type="http://schemas.openxmlformats.org/officeDocument/2006/relationships/slide" Target="/ppt/slides/slide16.xml" Id="R9c935d2e1c5646be" /><Relationship Type="http://schemas.openxmlformats.org/officeDocument/2006/relationships/slide" Target="/ppt/slides/slide17.xml" Id="R29218a6c63664a12" /><Relationship Type="http://schemas.openxmlformats.org/officeDocument/2006/relationships/slide" Target="/ppt/slides/slide18.xml" Id="Rf36c41211ae94687" /><Relationship Type="http://schemas.openxmlformats.org/officeDocument/2006/relationships/slide" Target="/ppt/slides/slide19.xml" Id="Re25bc5454b4f4de0" /><Relationship Type="http://schemas.openxmlformats.org/officeDocument/2006/relationships/slide" Target="/ppt/slides/slide20.xml" Id="Rc30845223b2744e0" /><Relationship Type="http://schemas.openxmlformats.org/officeDocument/2006/relationships/slide" Target="/ppt/slides/slide21.xml" Id="R1327c251e86b4073" /><Relationship Type="http://schemas.openxmlformats.org/officeDocument/2006/relationships/slide" Target="/ppt/slides/slide22.xml" Id="Rf29b7ec5ae4d4253" /><Relationship Type="http://schemas.openxmlformats.org/officeDocument/2006/relationships/slide" Target="/ppt/slides/slide23.xml" Id="Rff65615e298e4cbe" /><Relationship Type="http://schemas.openxmlformats.org/officeDocument/2006/relationships/slide" Target="/ppt/slides/slide24.xml" Id="R09bff891d33840f7" /><Relationship Type="http://schemas.openxmlformats.org/officeDocument/2006/relationships/slide" Target="/ppt/slides/slide25.xml" Id="Ra07dd0def8ef4e5c" /><Relationship Type="http://schemas.openxmlformats.org/officeDocument/2006/relationships/slide" Target="/ppt/slides/slide26.xml" Id="Rd132517c39004cce" /><Relationship Type="http://schemas.openxmlformats.org/officeDocument/2006/relationships/slide" Target="/ppt/slides/slide27.xml" Id="Ra84a76a95cd0495b" /><Relationship Type="http://schemas.openxmlformats.org/officeDocument/2006/relationships/slide" Target="/ppt/slides/slide28.xml" Id="R846eeb643e364a7f" /><Relationship Type="http://schemas.openxmlformats.org/officeDocument/2006/relationships/slide" Target="/ppt/slides/slide29.xml" Id="R3c7857b79b3c4091" /><Relationship Type="http://schemas.openxmlformats.org/officeDocument/2006/relationships/slide" Target="/ppt/slides/slide30.xml" Id="R9be9247cc6124ba0" /><Relationship Type="http://schemas.openxmlformats.org/officeDocument/2006/relationships/slide" Target="/ppt/slides/slide31.xml" Id="R58d143d0b2f645f8" /><Relationship Type="http://schemas.openxmlformats.org/officeDocument/2006/relationships/slide" Target="/ppt/slides/slide32.xml" Id="R7ee3ccc25e7d4671" /><Relationship Type="http://schemas.openxmlformats.org/officeDocument/2006/relationships/slide" Target="/ppt/slides/slide33.xml" Id="Rbfea0f97cfe24266" /><Relationship Type="http://schemas.openxmlformats.org/officeDocument/2006/relationships/slide" Target="/ppt/slides/slide34.xml" Id="R76072e02f50f4b55" /><Relationship Type="http://schemas.openxmlformats.org/officeDocument/2006/relationships/slide" Target="/ppt/slides/slide35.xml" Id="R06665fe7d16041a0" /><Relationship Type="http://schemas.openxmlformats.org/officeDocument/2006/relationships/slide" Target="/ppt/slides/slide36.xml" Id="R5a135d0fa73d4832" /><Relationship Type="http://schemas.openxmlformats.org/officeDocument/2006/relationships/slide" Target="/ppt/slides/slide37.xml" Id="R3a3d1269a7984860" /><Relationship Type="http://schemas.openxmlformats.org/officeDocument/2006/relationships/slide" Target="/ppt/slides/slide38.xml" Id="R0ccd5cb1e44a4ede" /><Relationship Type="http://schemas.openxmlformats.org/officeDocument/2006/relationships/slide" Target="/ppt/slides/slide39.xml" Id="R4d219147d71e43fa" /><Relationship Type="http://schemas.openxmlformats.org/officeDocument/2006/relationships/slide" Target="/ppt/slides/slide40.xml" Id="R4d5b9410ceec44bc" /><Relationship Type="http://schemas.openxmlformats.org/officeDocument/2006/relationships/slide" Target="/ppt/slides/slide41.xml" Id="Racbf5e56dddd468c" /><Relationship Type="http://schemas.openxmlformats.org/officeDocument/2006/relationships/slide" Target="/ppt/slides/slide42.xml" Id="R30292d300ed04619" /><Relationship Type="http://schemas.openxmlformats.org/officeDocument/2006/relationships/slide" Target="/ppt/slides/slide43.xml" Id="Rba24f2cd4b154c59" /><Relationship Type="http://schemas.openxmlformats.org/officeDocument/2006/relationships/slide" Target="/ppt/slides/slide44.xml" Id="R1d17bd21e0f34e4b" /><Relationship Type="http://schemas.openxmlformats.org/officeDocument/2006/relationships/slide" Target="/ppt/slides/slide45.xml" Id="R7d101fc78d4042c7" /><Relationship Type="http://schemas.openxmlformats.org/officeDocument/2006/relationships/slide" Target="/ppt/slides/slide46.xml" Id="Rec6818a2b6c64d32" /><Relationship Type="http://schemas.openxmlformats.org/officeDocument/2006/relationships/slide" Target="/ppt/slides/slide47.xml" Id="Re2966ab5c55b45d8" /><Relationship Type="http://schemas.openxmlformats.org/officeDocument/2006/relationships/slide" Target="/ppt/slides/slide48.xml" Id="Rd12de8d9454b4151" /><Relationship Type="http://schemas.openxmlformats.org/officeDocument/2006/relationships/slide" Target="/ppt/slides/slide49.xml" Id="R3fcae2bb099d47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9bb1406e7b4d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4cf0e60e0b48ca" /><Relationship Type="http://schemas.openxmlformats.org/officeDocument/2006/relationships/notesMaster" Target="/ppt/notesMasters/notesMaster1.xml" Id="Rab2d7a05c80b40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6ab3a8ecdb4390" /><Relationship Type="http://schemas.openxmlformats.org/officeDocument/2006/relationships/notesMaster" Target="/ppt/notesMasters/notesMaster1.xml" Id="R8488ce56182d46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1cf193de9f46ca" /><Relationship Type="http://schemas.openxmlformats.org/officeDocument/2006/relationships/notesMaster" Target="/ppt/notesMasters/notesMaster1.xml" Id="Rf9c0a5e41bb542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7fe076feac4615" /><Relationship Type="http://schemas.openxmlformats.org/officeDocument/2006/relationships/notesMaster" Target="/ppt/notesMasters/notesMaster1.xml" Id="R5473149d6d2049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a7005e9a2f43d2" /><Relationship Type="http://schemas.openxmlformats.org/officeDocument/2006/relationships/notesMaster" Target="/ppt/notesMasters/notesMaster1.xml" Id="R9b218cd08d7d43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458f4d0ffb44dd" /><Relationship Type="http://schemas.openxmlformats.org/officeDocument/2006/relationships/notesMaster" Target="/ppt/notesMasters/notesMaster1.xml" Id="R5860377bc09a41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1311c30c9b4c1c" /><Relationship Type="http://schemas.openxmlformats.org/officeDocument/2006/relationships/notesMaster" Target="/ppt/notesMasters/notesMaster1.xml" Id="R4d33e53892cc4c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1d9ed0cdf24d84" /><Relationship Type="http://schemas.openxmlformats.org/officeDocument/2006/relationships/notesMaster" Target="/ppt/notesMasters/notesMaster1.xml" Id="R7b0a6782f6d742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469a17f17e47dc" /><Relationship Type="http://schemas.openxmlformats.org/officeDocument/2006/relationships/notesMaster" Target="/ppt/notesMasters/notesMaster1.xml" Id="Ra17258f9d7b64c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e01ffe0f3c4ac8" /><Relationship Type="http://schemas.openxmlformats.org/officeDocument/2006/relationships/notesMaster" Target="/ppt/notesMasters/notesMaster1.xml" Id="R1ff402fda0c24f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ac9903c87b44a2" /><Relationship Type="http://schemas.openxmlformats.org/officeDocument/2006/relationships/notesMaster" Target="/ppt/notesMasters/notesMaster1.xml" Id="R313104468f6740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e6ef04893945e0" /><Relationship Type="http://schemas.openxmlformats.org/officeDocument/2006/relationships/notesMaster" Target="/ppt/notesMasters/notesMaster1.xml" Id="Rd51a9a74719e42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5ebf26457a4c34" /><Relationship Type="http://schemas.openxmlformats.org/officeDocument/2006/relationships/notesMaster" Target="/ppt/notesMasters/notesMaster1.xml" Id="Rcf28458ceb7b4f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ec349fca4334879" /><Relationship Type="http://schemas.openxmlformats.org/officeDocument/2006/relationships/notesMaster" Target="/ppt/notesMasters/notesMaster1.xml" Id="Rd4afee29356842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db1149a3ef4bc8" /><Relationship Type="http://schemas.openxmlformats.org/officeDocument/2006/relationships/notesMaster" Target="/ppt/notesMasters/notesMaster1.xml" Id="R4830ade6661643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9e33e88bcc4062" /><Relationship Type="http://schemas.openxmlformats.org/officeDocument/2006/relationships/notesMaster" Target="/ppt/notesMasters/notesMaster1.xml" Id="R5efb8e88fb3543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55ba35ae364baa" /><Relationship Type="http://schemas.openxmlformats.org/officeDocument/2006/relationships/notesMaster" Target="/ppt/notesMasters/notesMaster1.xml" Id="R7339a6fbca4648c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0d976b40d44949" /><Relationship Type="http://schemas.openxmlformats.org/officeDocument/2006/relationships/notesMaster" Target="/ppt/notesMasters/notesMaster1.xml" Id="Rb006eb5170804e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eaa53f0b324c4b" /><Relationship Type="http://schemas.openxmlformats.org/officeDocument/2006/relationships/notesMaster" Target="/ppt/notesMasters/notesMaster1.xml" Id="R0a9777b899194f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83ddb2f75b4376" /><Relationship Type="http://schemas.openxmlformats.org/officeDocument/2006/relationships/notesMaster" Target="/ppt/notesMasters/notesMaster1.xml" Id="R1eef7699d5294a7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d4d0aa462b4050" /><Relationship Type="http://schemas.openxmlformats.org/officeDocument/2006/relationships/notesMaster" Target="/ppt/notesMasters/notesMaster1.xml" Id="R96cd83a23dc44a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547dffd9694f55" /><Relationship Type="http://schemas.openxmlformats.org/officeDocument/2006/relationships/notesMaster" Target="/ppt/notesMasters/notesMaster1.xml" Id="Rd483fd0af5c64ce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e0e5b249aaf4216" /><Relationship Type="http://schemas.openxmlformats.org/officeDocument/2006/relationships/notesMaster" Target="/ppt/notesMasters/notesMaster1.xml" Id="Re67d5576768741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bda5a716c94bc8" /><Relationship Type="http://schemas.openxmlformats.org/officeDocument/2006/relationships/notesMaster" Target="/ppt/notesMasters/notesMaster1.xml" Id="R349cb42da48b48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5dadb265292439c" /><Relationship Type="http://schemas.openxmlformats.org/officeDocument/2006/relationships/notesMaster" Target="/ppt/notesMasters/notesMaster1.xml" Id="R949dfc9bf88f4c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d3ac3a7821d4728" /><Relationship Type="http://schemas.openxmlformats.org/officeDocument/2006/relationships/notesMaster" Target="/ppt/notesMasters/notesMaster1.xml" Id="Re56103740ed2440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e94ab71d3c54fc0" /><Relationship Type="http://schemas.openxmlformats.org/officeDocument/2006/relationships/notesMaster" Target="/ppt/notesMasters/notesMaster1.xml" Id="Ra46000d14d38400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3e6283554e8486c" /><Relationship Type="http://schemas.openxmlformats.org/officeDocument/2006/relationships/notesMaster" Target="/ppt/notesMasters/notesMaster1.xml" Id="R780aa03123ed46e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7259815b45a48a2" /><Relationship Type="http://schemas.openxmlformats.org/officeDocument/2006/relationships/notesMaster" Target="/ppt/notesMasters/notesMaster1.xml" Id="R7f412700647c486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6f0555d46e48a9" /><Relationship Type="http://schemas.openxmlformats.org/officeDocument/2006/relationships/notesMaster" Target="/ppt/notesMasters/notesMaster1.xml" Id="R7d1482ad7c4a4d9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695497e3716437e" /><Relationship Type="http://schemas.openxmlformats.org/officeDocument/2006/relationships/notesMaster" Target="/ppt/notesMasters/notesMaster1.xml" Id="Re522a039d5a04f3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f578145d254e96" /><Relationship Type="http://schemas.openxmlformats.org/officeDocument/2006/relationships/notesMaster" Target="/ppt/notesMasters/notesMaster1.xml" Id="R0fe5bf946c0e4f3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1bad9855682480d" /><Relationship Type="http://schemas.openxmlformats.org/officeDocument/2006/relationships/notesMaster" Target="/ppt/notesMasters/notesMaster1.xml" Id="R93715dd2d3c54b3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d9ac5925e1a4f3f" /><Relationship Type="http://schemas.openxmlformats.org/officeDocument/2006/relationships/notesMaster" Target="/ppt/notesMasters/notesMaster1.xml" Id="R452bd453a465410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109a8a002624367" /><Relationship Type="http://schemas.openxmlformats.org/officeDocument/2006/relationships/notesMaster" Target="/ppt/notesMasters/notesMaster1.xml" Id="R0ff88132a2ce44a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0eaae3d02b4407" /><Relationship Type="http://schemas.openxmlformats.org/officeDocument/2006/relationships/notesMaster" Target="/ppt/notesMasters/notesMaster1.xml" Id="Ree1d0bf739c74ad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3b69334f9614fff" /><Relationship Type="http://schemas.openxmlformats.org/officeDocument/2006/relationships/notesMaster" Target="/ppt/notesMasters/notesMaster1.xml" Id="R88439b034ba1473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5ca5d6df58f49e4" /><Relationship Type="http://schemas.openxmlformats.org/officeDocument/2006/relationships/notesMaster" Target="/ppt/notesMasters/notesMaster1.xml" Id="R51caf622c965490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037a6986d1e4ea5" /><Relationship Type="http://schemas.openxmlformats.org/officeDocument/2006/relationships/notesMaster" Target="/ppt/notesMasters/notesMaster1.xml" Id="R86fcc0801aad440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3abdbcf7e644fbd" /><Relationship Type="http://schemas.openxmlformats.org/officeDocument/2006/relationships/notesMaster" Target="/ppt/notesMasters/notesMaster1.xml" Id="R7ce08b11990048e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777fd6938864b4a" /><Relationship Type="http://schemas.openxmlformats.org/officeDocument/2006/relationships/notesMaster" Target="/ppt/notesMasters/notesMaster1.xml" Id="Rf2f5727f7fc649f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cfa0dddcc79459c" /><Relationship Type="http://schemas.openxmlformats.org/officeDocument/2006/relationships/notesMaster" Target="/ppt/notesMasters/notesMaster1.xml" Id="R2267519c871e46f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c86820e8f604cd6" /><Relationship Type="http://schemas.openxmlformats.org/officeDocument/2006/relationships/notesMaster" Target="/ppt/notesMasters/notesMaster1.xml" Id="Ra91f325ccb07460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5fa52b5defa45fc" /><Relationship Type="http://schemas.openxmlformats.org/officeDocument/2006/relationships/notesMaster" Target="/ppt/notesMasters/notesMaster1.xml" Id="R122809547e004ea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716adfb81314a3b" /><Relationship Type="http://schemas.openxmlformats.org/officeDocument/2006/relationships/notesMaster" Target="/ppt/notesMasters/notesMaster1.xml" Id="R6f31e4848e8d4a7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e72019cf8d542e6" /><Relationship Type="http://schemas.openxmlformats.org/officeDocument/2006/relationships/notesMaster" Target="/ppt/notesMasters/notesMaster1.xml" Id="R7f45082a54bd444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97bd7071e944f75" /><Relationship Type="http://schemas.openxmlformats.org/officeDocument/2006/relationships/notesMaster" Target="/ppt/notesMasters/notesMaster1.xml" Id="Rbce3c58d1e3a46e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c01b16190924308" /><Relationship Type="http://schemas.openxmlformats.org/officeDocument/2006/relationships/notesMaster" Target="/ppt/notesMasters/notesMaster1.xml" Id="Rf006a90685b9483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3e4589687c04712" /><Relationship Type="http://schemas.openxmlformats.org/officeDocument/2006/relationships/notesMaster" Target="/ppt/notesMasters/notesMaster1.xml" Id="Rce8c4c3aa0bd41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as a teaching and audit document. It separates the exact implementation from physiological interpretation and from held-out evidence.</a:t>
            </a:r>
          </a:p>
          <a:p xmlns:a="http://schemas.openxmlformats.org/drawingml/2006/main">
            <a:r>
              <a:t/>
            </a:r>
          </a:p>
          <a:p xmlns:a="http://schemas.openxmlformats.org/drawingml/2006/main">
            <a:r>
              <a:t>[Sources]</a:t>
            </a:r>
          </a:p>
          <a:p xmlns:a="http://schemas.openxmlformats.org/drawingml/2006/main">
            <a:r>
              <a:t>- Local results: D:/us/cardiotoxicity_top_ensemble_feature_importance_results/top_ensemble_feature_importance_report.md</a:t>
            </a:r>
          </a:p>
          <a:p xmlns:a="http://schemas.openxmlformats.org/drawingml/2006/main">
            <a:r>
              <a:t>- Local implementation: D:/us/cardiotoxicity_top_ensemble_feature_importance.py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moves from the common prediction task to each constituent model, then compares the two ensembles. The appendix decodes every scalar feature family and the Catch22 catalog.</a:t>
            </a:r>
          </a:p>
          <a:p xmlns:a="http://schemas.openxmlformats.org/drawingml/2006/main">
            <a:r>
              <a:t/>
            </a:r>
          </a:p>
          <a:p xmlns:a="http://schemas.openxmlformats.org/drawingml/2006/main">
            <a:r>
              <a:t>[Sources]</a:t>
            </a:r>
          </a:p>
          <a:p xmlns:a="http://schemas.openxmlformats.org/drawingml/2006/main">
            <a:r>
              <a:t>- Local implementation and results listed throughout the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patient with four visits as the intuitive example: if visit 4 first crosses the 15% relative Mid-GLS threshold, the prediction is made from visit 3. Earlier transitions from the same patient can also be training examples, but patient-held-out folds prevent leakage.</a:t>
            </a:r>
          </a:p>
          <a:p xmlns:a="http://schemas.openxmlformats.org/drawingml/2006/main">
            <a:r>
              <a:t/>
            </a:r>
          </a:p>
          <a:p xmlns:a="http://schemas.openxmlformats.org/drawingml/2006/main">
            <a:r>
              <a:t>[Sources]</a:t>
            </a:r>
          </a:p>
          <a:p xmlns:a="http://schemas.openxmlformats.org/drawingml/2006/main">
            <a:r>
              <a:t>- Local target construction: D:/us/cardiotoxicity_next_visit_gpu.py</a:t>
            </a:r>
          </a:p>
          <a:p xmlns:a="http://schemas.openxmlformats.org/drawingml/2006/main">
            <a:r>
              <a:t>- https://academic.oup.com/eurheartj/article/43/41/4229/6673995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Average precision must be interpreted against prevalence. Here random ranking has expected AP around 0.206, so AP values around 0.36 are meaningfully better than random even though they look numerically lower than AUC.</a:t>
            </a:r>
          </a:p>
          <a:p xmlns:a="http://schemas.openxmlformats.org/drawingml/2006/main">
            <a:r>
              <a:t/>
            </a:r>
          </a:p>
          <a:p xmlns:a="http://schemas.openxmlformats.org/drawingml/2006/main">
            <a:r>
              <a:t>[Sources]</a:t>
            </a:r>
          </a:p>
          <a:p xmlns:a="http://schemas.openxmlformats.org/drawingml/2006/main">
            <a:r>
              <a:t>- Local results: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s indexes segment and tau indexes normalized cardiac-cycle time. Endo and Mid are signed strain curves; summary GLS magnitudes use absolute values. Channel 6 directly operationalizes the hypothesis that early deterioration is hidden in a changing Endo–Mid relationship.</a:t>
            </a:r>
          </a:p>
          <a:p xmlns:a="http://schemas.openxmlformats.org/drawingml/2006/main">
            <a:r>
              <a:t/>
            </a:r>
          </a:p>
          <a:p xmlns:a="http://schemas.openxmlformats.org/drawingml/2006/main">
            <a:r>
              <a:t>[Sources]</a:t>
            </a:r>
          </a:p>
          <a:p xmlns:a="http://schemas.openxmlformats.org/drawingml/2006/main">
            <a:r>
              <a:t>- Local tensor construction: D:/us/cardiotoxicity_cnn_channel_ablation.py</a:t>
            </a:r>
          </a:p>
          <a:p xmlns:a="http://schemas.openxmlformats.org/drawingml/2006/main">
            <a:r>
              <a:t>- Local sample-length experiments in D:/us/cardio*sample* and CNN ablation outputs</a:t>
            </a:r>
          </a:p>
          <a:p xmlns:a="http://schemas.openxmlformats.org/drawingml/2006/main">
            <a:r>
              <a:t>- https://pubmed.ncbi.nlm.nih.gov/26661049/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appendix provides every scalar family with a calculation and interpretation. Scalars are intentionally shared across models, so raw-curve models can be compared while retaining the same clinical context.</a:t>
            </a:r>
          </a:p>
          <a:p xmlns:a="http://schemas.openxmlformats.org/drawingml/2006/main">
            <a:r>
              <a:t/>
            </a:r>
          </a:p>
          <a:p xmlns:a="http://schemas.openxmlformats.org/drawingml/2006/main">
            <a:r>
              <a:t>[Sources]</a:t>
            </a:r>
          </a:p>
          <a:p xmlns:a="http://schemas.openxmlformats.org/drawingml/2006/main">
            <a:r>
              <a:t>- Local scalar construction: D:/us/cardiotoxicity_next_visit_gpu.py</a:t>
            </a:r>
          </a:p>
          <a:p xmlns:a="http://schemas.openxmlformats.org/drawingml/2006/main">
            <a:r>
              <a:t>- Local variability vocabulary: D:/us/cardiotoxicity_early_detection.py:44-62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Ensemble 1 has the higher AUC; Ensemble 2 has slightly higher AP. The difference between them is not large enough to claim a definitive winner. The important scientific point is that three different representations contribute complementary information.</a:t>
            </a:r>
          </a:p>
          <a:p xmlns:a="http://schemas.openxmlformats.org/drawingml/2006/main">
            <a:r>
              <a:t/>
            </a:r>
          </a:p>
          <a:p xmlns:a="http://schemas.openxmlformats.org/drawingml/2006/main">
            <a:r>
              <a:t>[Sources]</a:t>
            </a:r>
          </a:p>
          <a:p xmlns:a="http://schemas.openxmlformats.org/drawingml/2006/main">
            <a:r>
              <a:t>- Local round-4 implementation: D:/us/cardiotoxicity_timeseries_round4.py</a:t>
            </a:r>
          </a:p>
          <a:p xmlns:a="http://schemas.openxmlformats.org/drawingml/2006/main">
            <a:r>
              <a:t>- Local importance reproduction: D:/us/cardiotoxicity_top_ensemble_feature_importance.py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AUC and AP answer different questions. AUC asks how often an event transition ranks above a non-event. AP emphasizes the positive class and precision under imbalance; its chance baseline is prevalence, not 0.5.</a:t>
            </a:r>
          </a:p>
          <a:p xmlns:a="http://schemas.openxmlformats.org/drawingml/2006/main">
            <a:r>
              <a:t/>
            </a:r>
          </a:p>
          <a:p xmlns:a="http://schemas.openxmlformats.org/drawingml/2006/main">
            <a:r>
              <a:t>[Sources]</a:t>
            </a:r>
          </a:p>
          <a:p xmlns:a="http://schemas.openxmlformats.org/drawingml/2006/main">
            <a:r>
              <a:t>- Local metrics: D:/us/cardiotoxicity_timeseries_round4_results</a:t>
            </a:r>
          </a:p>
          <a:p xmlns:a="http://schemas.openxmlformats.org/drawingml/2006/main">
            <a:r>
              <a:t>- Local importance report: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uses confidence intervals because the ranking is unstable in a small cohort. Group-level permutation is often more credible than one-feature-at-a-time permutation when predictors are correlated.</a:t>
            </a:r>
          </a:p>
          <a:p xmlns:a="http://schemas.openxmlformats.org/drawingml/2006/main">
            <a:r>
              <a:t/>
            </a:r>
          </a:p>
          <a:p xmlns:a="http://schemas.openxmlformats.org/drawingml/2006/main">
            <a:r>
              <a:t>[Sources]</a:t>
            </a:r>
          </a:p>
          <a:p xmlns:a="http://schemas.openxmlformats.org/drawingml/2006/main">
            <a:r>
              <a:t>- Local importance implementation: D:/us/cardiotoxicity_top_ensemble_feature_importance.py</a:t>
            </a:r>
          </a:p>
          <a:p xmlns:a="http://schemas.openxmlformats.org/drawingml/2006/main">
            <a:r>
              <a:t>- Local report: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Shapley values distribute shared credit. Leave-one-out asks a different question: what is lost if this model is removed from the full ensemble? Correlated components can have meaningful Shapley value but small leave-one-out loss.</a:t>
            </a:r>
          </a:p>
          <a:p xmlns:a="http://schemas.openxmlformats.org/drawingml/2006/main">
            <a:r>
              <a:t/>
            </a:r>
          </a:p>
          <a:p xmlns:a="http://schemas.openxmlformats.org/drawingml/2006/main">
            <a:r>
              <a:t>[Sources]</a:t>
            </a:r>
          </a:p>
          <a:p xmlns:a="http://schemas.openxmlformats.org/drawingml/2006/main">
            <a:r>
              <a:t>- Local component table: D:/us/cardiotoxicity_top_ensemble_feature_importance_results/ensemble_component_shapley.csv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1 explains the retained CNN architecture and the features that mattered most under held-out permutation.</a:t>
            </a:r>
          </a:p>
          <a:p xmlns:a="http://schemas.openxmlformats.org/drawingml/2006/main">
            <a:r>
              <a:t/>
            </a:r>
          </a:p>
          <a:p xmlns:a="http://schemas.openxmlformats.org/drawingml/2006/main">
            <a:r>
              <a:t>[Sources]</a:t>
            </a:r>
          </a:p>
          <a:p xmlns:a="http://schemas.openxmlformats.org/drawingml/2006/main">
            <a:r>
              <a:t>- Local architecture: D:/us/cardiotoxicity_cnn_channel_ablation.py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one-dimensional kernel moves along time, but every convolutional filter sees all six channels simultaneously. Therefore channel information is already shared inside each temporal kernel. The model applies the same encoder to every segment.</a:t>
            </a:r>
          </a:p>
          <a:p xmlns:a="http://schemas.openxmlformats.org/drawingml/2006/main">
            <a:r>
              <a:t/>
            </a:r>
          </a:p>
          <a:p xmlns:a="http://schemas.openxmlformats.org/drawingml/2006/main">
            <a:r>
              <a:t>[Sources]</a:t>
            </a:r>
          </a:p>
          <a:p xmlns:a="http://schemas.openxmlformats.org/drawingml/2006/main">
            <a:r>
              <a:t>- Local class ChannelAttentionNet: D:/us/cardiotoxicity_cnn_channel_ablation.py:83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Curve features can be redundant with scalar summaries derived from those curves. When the scalar block is permuted, many correlated measurements are disrupted simultaneously; single curve-channel permutations leave the remaining channels and scalar summaries intact.</a:t>
            </a:r>
          </a:p>
          <a:p xmlns:a="http://schemas.openxmlformats.org/drawingml/2006/main">
            <a:r>
              <a:t/>
            </a:r>
          </a:p>
          <a:p xmlns:a="http://schemas.openxmlformats.org/drawingml/2006/main">
            <a:r>
              <a:t>[Sources]</a:t>
            </a:r>
          </a:p>
          <a:p xmlns:a="http://schemas.openxmlformats.org/drawingml/2006/main">
            <a:r>
              <a:t>- Local CNN importance output: D:/us/cardiotoxicity_top_ensemble_feature_importance_results/cnn_permutation_importance.csv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conclude that the network ignores raw curves. Scalar features are themselves curve-derived and strongly correlated. Also, the small sample favors stable hand-engineered summaries over high-dimensional raw inputs.</a:t>
            </a:r>
          </a:p>
          <a:p xmlns:a="http://schemas.openxmlformats.org/drawingml/2006/main">
            <a:r>
              <a:t/>
            </a:r>
          </a:p>
          <a:p xmlns:a="http://schemas.openxmlformats.org/drawingml/2006/main">
            <a:r>
              <a:t>[Sources]</a:t>
            </a:r>
          </a:p>
          <a:p xmlns:a="http://schemas.openxmlformats.org/drawingml/2006/main">
            <a:r>
              <a:t>- Local CNN permutation table: D:/us/cardiotoxicity_top_ensemble_feature_importance_results/cnn_permutation_importance.csv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highest-ranked named CNN scalar, but its AUC confidence interval includes zero. Treat it as a mechanistically plausible candidate, not a validated biomarker.</a:t>
            </a:r>
          </a:p>
          <a:p xmlns:a="http://schemas.openxmlformats.org/drawingml/2006/main">
            <a:r>
              <a:t/>
            </a:r>
          </a:p>
          <a:p xmlns:a="http://schemas.openxmlformats.org/drawingml/2006/main">
            <a:r>
              <a:t>[Sources]</a:t>
            </a:r>
          </a:p>
          <a:p xmlns:a="http://schemas.openxmlformats.org/drawingml/2006/main">
            <a:r>
              <a:t>- Local robust SD: D:/us/cardiotoxicity_early_detection.py:97-103</a:t>
            </a:r>
          </a:p>
          <a:p xmlns:a="http://schemas.openxmlformats.org/drawingml/2006/main">
            <a:r>
              <a:t>- Local feature name: D:/us/cardiotoxicity_early_detection.py:58</a:t>
            </a:r>
          </a:p>
          <a:p xmlns:a="http://schemas.openxmlformats.org/drawingml/2006/main">
            <a:r>
              <a:t>- https://pmc.ncbi.nlm.nih.gov/articles/PMC7984733/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curve importance is smaller because the scalar branch already contains GLS, slopes and variability summaries derived from the same underlying curves. Channel permutation measures unique residual value, not total biological relevance.</a:t>
            </a:r>
          </a:p>
          <a:p xmlns:a="http://schemas.openxmlformats.org/drawingml/2006/main">
            <a:r>
              <a:t/>
            </a:r>
          </a:p>
          <a:p xmlns:a="http://schemas.openxmlformats.org/drawingml/2006/main">
            <a:r>
              <a:t>[Sources]</a:t>
            </a:r>
          </a:p>
          <a:p xmlns:a="http://schemas.openxmlformats.org/drawingml/2006/main">
            <a:r>
              <a:t>- Local architecture: D:/us/cardiotoxicity_cnn_channel_ablation.py</a:t>
            </a:r>
          </a:p>
          <a:p xmlns:a="http://schemas.openxmlformats.org/drawingml/2006/main">
            <a:r>
              <a:t>- https://pubmed.ncbi.nlm.nih.gov/26661049/</a:t>
            </a:r>
          </a:p>
          <a:p xmlns:a="http://schemas.openxmlformats.org/drawingml/2006/main">
            <a:r>
              <a:t>- https://pmc.ncbi.nlm.nih.gov/articles/PMC5491258/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uses an MLP 24→12→1 followed by softmax across 18 segments. The narrow range of mean weights supports a diffuse, whole-heart signal rather than a single dominant segment.</a:t>
            </a:r>
          </a:p>
          <a:p xmlns:a="http://schemas.openxmlformats.org/drawingml/2006/main">
            <a:r>
              <a:t/>
            </a:r>
          </a:p>
          <a:p xmlns:a="http://schemas.openxmlformats.org/drawingml/2006/main">
            <a:r>
              <a:t>[Sources]</a:t>
            </a:r>
          </a:p>
          <a:p xmlns:a="http://schemas.openxmlformats.org/drawingml/2006/main">
            <a:r>
              <a:t>- Local attention class: D:/us/cardiotoxicity_cnn_channel_ablation.py:83</a:t>
            </a:r>
          </a:p>
          <a:p xmlns:a="http://schemas.openxmlformats.org/drawingml/2006/main">
            <a:r>
              <a:t>- Local attention output: D:/us/cardiotoxicity_top_ensemble_feature_importance_results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2 explains how MOMENT is used as a frozen feature extractor and why segment-max aggregation was the strongest feature family.</a:t>
            </a:r>
          </a:p>
          <a:p xmlns:a="http://schemas.openxmlformats.org/drawingml/2006/main">
            <a:r>
              <a:t/>
            </a:r>
          </a:p>
          <a:p xmlns:a="http://schemas.openxmlformats.org/drawingml/2006/main">
            <a:r>
              <a:t>[Sources]</a:t>
            </a:r>
          </a:p>
          <a:p xmlns:a="http://schemas.openxmlformats.org/drawingml/2006/main">
            <a:r>
              <a:t>- https://arxiv.org/abs/2402.03885</a:t>
            </a:r>
          </a:p>
          <a:p xmlns:a="http://schemas.openxmlformats.org/drawingml/2006/main">
            <a:r>
              <a:t>- Local implementation: D:/us/cardiotoxicity_timeseries_round1.py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approach limits overfitting in a small cohort. It also means the representation was not learned specifically for cardiac strain, so it may capture general morphology better than domain-specific physiology.</a:t>
            </a:r>
          </a:p>
          <a:p xmlns:a="http://schemas.openxmlformats.org/drawingml/2006/main">
            <a:r>
              <a:t/>
            </a:r>
          </a:p>
          <a:p xmlns:a="http://schemas.openxmlformats.org/drawingml/2006/main">
            <a:r>
              <a:t>[Sources]</a:t>
            </a:r>
          </a:p>
          <a:p xmlns:a="http://schemas.openxmlformats.org/drawingml/2006/main">
            <a:r>
              <a:t>- https://arxiv.org/abs/2402.03885</a:t>
            </a:r>
          </a:p>
          <a:p xmlns:a="http://schemas.openxmlformats.org/drawingml/2006/main">
            <a:r>
              <a:t>- https://github.com/moment-timeseries-foundation-model/moment</a:t>
            </a:r>
          </a:p>
          <a:p xmlns:a="http://schemas.openxmlformats.org/drawingml/2006/main">
            <a:r>
              <a:t>- Local implementation: D:/us/cardiotoxicity_timeseries_round1.py:117-121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Segment max is not the maximum raw strain and is not tied to one anatomical segment. It is the element-wise maximum in a learned representation. That distinction is essential for correct interpretation.</a:t>
            </a:r>
          </a:p>
          <a:p xmlns:a="http://schemas.openxmlformats.org/drawingml/2006/main">
            <a:r>
              <a:t/>
            </a:r>
          </a:p>
          <a:p xmlns:a="http://schemas.openxmlformats.org/drawingml/2006/main">
            <a:r>
              <a:t>[Sources]</a:t>
            </a:r>
          </a:p>
          <a:p xmlns:a="http://schemas.openxmlformats.org/drawingml/2006/main">
            <a:r>
              <a:t>- Local MOMENT aggregation: D:/us/cardiotoxicity_timeseries_round1.py</a:t>
            </a:r>
          </a:p>
          <a:p xmlns:a="http://schemas.openxmlformats.org/drawingml/2006/main">
            <a:r>
              <a:t>- Local importance reproduction: D:/us/cardiotoxicity_top_ensemble_feature_importance.py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Permutation occurs on embedding groups before PCA, then held-out predictions are recomputed. This keeps the interpretation attached to the meaningful aggregation family rather than anonymous principal components.</a:t>
            </a:r>
          </a:p>
          <a:p xmlns:a="http://schemas.openxmlformats.org/drawingml/2006/main">
            <a:r>
              <a:t/>
            </a:r>
          </a:p>
          <a:p xmlns:a="http://schemas.openxmlformats.org/drawingml/2006/main">
            <a:r>
              <a:t>[Sources]</a:t>
            </a:r>
          </a:p>
          <a:p xmlns:a="http://schemas.openxmlformats.org/drawingml/2006/main">
            <a:r>
              <a:t>- Local MOMENT importance: D:/us/cardiotoxicity_top_ensemble_feature_importance_results/moment_permutation_importance.csv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cannot translate an anonymous MOMENT embedding coordinate into a single physiological variable without further probing. The defensible physiological statement concerns the pooling operation: it preserves extreme segment-level learned responses.</a:t>
            </a:r>
          </a:p>
          <a:p xmlns:a="http://schemas.openxmlformats.org/drawingml/2006/main">
            <a:r>
              <a:t/>
            </a:r>
          </a:p>
          <a:p xmlns:a="http://schemas.openxmlformats.org/drawingml/2006/main">
            <a:r>
              <a:t>[Sources]</a:t>
            </a:r>
          </a:p>
          <a:p xmlns:a="http://schemas.openxmlformats.org/drawingml/2006/main">
            <a:r>
              <a:t>- Local implementation: D:/us/cardiotoxicity_timeseries_round1.py</a:t>
            </a:r>
          </a:p>
          <a:p xmlns:a="http://schemas.openxmlformats.org/drawingml/2006/main">
            <a:r>
              <a:t>- https://pmc.ncbi.nlm.nih.gov/articles/PMC7984733/</a:t>
            </a:r>
          </a:p>
          <a:p xmlns:a="http://schemas.openxmlformats.org/drawingml/2006/main">
            <a:r>
              <a:t>- https://arxiv.org/abs/2402.03885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feature directly tests the first biological hypothesis. It is sensitive to longitudinal change in the transmural relationship, but it may also amplify layer-specific measurement noise because it differences four curves.</a:t>
            </a:r>
          </a:p>
          <a:p xmlns:a="http://schemas.openxmlformats.org/drawingml/2006/main">
            <a:r>
              <a:t/>
            </a:r>
          </a:p>
          <a:p xmlns:a="http://schemas.openxmlformats.org/drawingml/2006/main">
            <a:r>
              <a:t>[Sources]</a:t>
            </a:r>
          </a:p>
          <a:p xmlns:a="http://schemas.openxmlformats.org/drawingml/2006/main">
            <a:r>
              <a:t>- Local channel construction: D:/us/cardiotoxicity_cnn_channel_ablation.py</a:t>
            </a:r>
          </a:p>
          <a:p xmlns:a="http://schemas.openxmlformats.org/drawingml/2006/main">
            <a:r>
              <a:t>- https://pubmed.ncbi.nlm.nih.gov/26661049/</a:t>
            </a:r>
          </a:p>
          <a:p xmlns:a="http://schemas.openxmlformats.org/drawingml/2006/main">
            <a:r>
              <a:t>- https://pmc.ncbi.nlm.nih.gov/articles/PMC5491258/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3 explains Random Dilated Shapelet Transform and why best-match location was the strongest RDST feature family.</a:t>
            </a:r>
          </a:p>
          <a:p xmlns:a="http://schemas.openxmlformats.org/drawingml/2006/main">
            <a:r>
              <a:t/>
            </a:r>
          </a:p>
          <a:p xmlns:a="http://schemas.openxmlformats.org/drawingml/2006/main">
            <a:r>
              <a:t>[Sources]</a:t>
            </a:r>
          </a:p>
          <a:p xmlns:a="http://schemas.openxmlformats.org/drawingml/2006/main">
            <a:r>
              <a:t>- https://arxiv.org/abs/2109.13514</a:t>
            </a:r>
          </a:p>
          <a:p xmlns:a="http://schemas.openxmlformats.org/drawingml/2006/main">
            <a:r>
              <a:t>- Local implementation: D:/us/cardiotoxicity_timeseries_round4.py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multivariate shapelet spans all 108 signals. It is not one segment or one channel. That increases expressive power but makes anatomical interpretation more diffuse.</a:t>
            </a:r>
          </a:p>
          <a:p xmlns:a="http://schemas.openxmlformats.org/drawingml/2006/main">
            <a:r>
              <a:t/>
            </a:r>
          </a:p>
          <a:p xmlns:a="http://schemas.openxmlformats.org/drawingml/2006/main">
            <a:r>
              <a:t>[Sources]</a:t>
            </a:r>
          </a:p>
          <a:p xmlns:a="http://schemas.openxmlformats.org/drawingml/2006/main">
            <a:r>
              <a:t>- https://arxiv.org/abs/2109.13514</a:t>
            </a:r>
          </a:p>
          <a:p xmlns:a="http://schemas.openxmlformats.org/drawingml/2006/main">
            <a:r>
              <a:t>- Local RDST fitting: D:/us/cardiotoxicity_timeseries_round4.py:525</a:t>
            </a:r>
          </a:p>
          <a:p xmlns:a="http://schemas.openxmlformats.org/drawingml/2006/main">
            <a:r>
              <a:t>- Local reproduction: D:/us/cardiotoxicity_top_ensemble_feature_importance.py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simplified line drawing shows one signal only. In this implementation each shapelet is multivariate, so its match jointly reflects all segment/channel inputs.</a:t>
            </a:r>
          </a:p>
          <a:p xmlns:a="http://schemas.openxmlformats.org/drawingml/2006/main">
            <a:r>
              <a:t/>
            </a:r>
          </a:p>
          <a:p xmlns:a="http://schemas.openxmlformats.org/drawingml/2006/main">
            <a:r>
              <a:t>[Sources]</a:t>
            </a:r>
          </a:p>
          <a:p xmlns:a="http://schemas.openxmlformats.org/drawingml/2006/main">
            <a:r>
              <a:t>- https://arxiv.org/abs/2109.13514</a:t>
            </a:r>
          </a:p>
          <a:p xmlns:a="http://schemas.openxmlformats.org/drawingml/2006/main">
            <a:r>
              <a:t>- Local RDST input reshape: D:/us/cardiotoxicity_timeseries_round4.py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Location can encode timing shifts even when the shape remains similar. Distance can encode morphology, and occurrence count can encode repeated or prolonged patterns.</a:t>
            </a:r>
          </a:p>
          <a:p xmlns:a="http://schemas.openxmlformats.org/drawingml/2006/main">
            <a:r>
              <a:t/>
            </a:r>
          </a:p>
          <a:p xmlns:a="http://schemas.openxmlformats.org/drawingml/2006/main">
            <a:r>
              <a:t>[Sources]</a:t>
            </a:r>
          </a:p>
          <a:p xmlns:a="http://schemas.openxmlformats.org/drawingml/2006/main">
            <a:r>
              <a:t>- https://arxiv.org/abs/2109.13514</a:t>
            </a:r>
          </a:p>
          <a:p xmlns:a="http://schemas.openxmlformats.org/drawingml/2006/main">
            <a:r>
              <a:t>- Local transform: D:/us/cardiotoxicity_timeseries_round4.py:525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location family is the only broad RDST family with an AUC confidence interval clearly above zero. It does not directly say which segment is late, because the shapelets are multivariate.</a:t>
            </a:r>
          </a:p>
          <a:p xmlns:a="http://schemas.openxmlformats.org/drawingml/2006/main">
            <a:r>
              <a:t/>
            </a:r>
          </a:p>
          <a:p xmlns:a="http://schemas.openxmlformats.org/drawingml/2006/main">
            <a:r>
              <a:t>[Sources]</a:t>
            </a:r>
          </a:p>
          <a:p xmlns:a="http://schemas.openxmlformats.org/drawingml/2006/main">
            <a:r>
              <a:t>- Local RDST importance: D:/us/cardiotoxicity_top_ensemble_feature_importance_results/rdst_permutation_importance.csv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model-derived timing feature. Its physiological interpretation is plausible but indirect. Future work should visualize the top stable shapelets and their best-match windows in true-positive and false-positive patients.</a:t>
            </a:r>
          </a:p>
          <a:p xmlns:a="http://schemas.openxmlformats.org/drawingml/2006/main">
            <a:r>
              <a:t/>
            </a:r>
          </a:p>
          <a:p xmlns:a="http://schemas.openxmlformats.org/drawingml/2006/main">
            <a:r>
              <a:t>[Sources]</a:t>
            </a:r>
          </a:p>
          <a:p xmlns:a="http://schemas.openxmlformats.org/drawingml/2006/main">
            <a:r>
              <a:t>- https://arxiv.org/abs/2109.13514</a:t>
            </a:r>
          </a:p>
          <a:p xmlns:a="http://schemas.openxmlformats.org/drawingml/2006/main">
            <a:r>
              <a:t>- Local RDST report: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prefix cur_var__ means current-visit variability. d_var__ would mean current minus previous variability. The suffix identifies the within-visit calculation.</a:t>
            </a:r>
          </a:p>
          <a:p xmlns:a="http://schemas.openxmlformats.org/drawingml/2006/main">
            <a:r>
              <a:t/>
            </a:r>
          </a:p>
          <a:p xmlns:a="http://schemas.openxmlformats.org/drawingml/2006/main">
            <a:r>
              <a:t>[Sources]</a:t>
            </a:r>
          </a:p>
          <a:p xmlns:a="http://schemas.openxmlformats.org/drawingml/2006/main">
            <a:r>
              <a:t>- Local robust SD: D:/us/cardiotoxicity_early_detection.py:97-103</a:t>
            </a:r>
          </a:p>
          <a:p xmlns:a="http://schemas.openxmlformats.org/drawingml/2006/main">
            <a:r>
              <a:t>- Local feature definitions: D:/us/cardiotoxicity_early_detection.py:44-62</a:t>
            </a:r>
          </a:p>
          <a:p xmlns:a="http://schemas.openxmlformats.org/drawingml/2006/main">
            <a:r>
              <a:t>- https://pmc.ncbi.nlm.nih.gov/articles/PMC7984733/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4 explains the 660 Catch22 curve features, the XGBoost classifier, and the strongest descriptor: positive-outlier timing in current Endo curves.</a:t>
            </a:r>
          </a:p>
          <a:p xmlns:a="http://schemas.openxmlformats.org/drawingml/2006/main">
            <a:r>
              <a:t/>
            </a:r>
          </a:p>
          <a:p xmlns:a="http://schemas.openxmlformats.org/drawingml/2006/main">
            <a:r>
              <a:t>[Sources]</a:t>
            </a:r>
          </a:p>
          <a:p xmlns:a="http://schemas.openxmlformats.org/drawingml/2006/main">
            <a:r>
              <a:t>- https://link.springer.com/article/10.1007/s10618-019-00647-x</a:t>
            </a:r>
          </a:p>
          <a:p xmlns:a="http://schemas.openxmlformats.org/drawingml/2006/main">
            <a:r>
              <a:t>- https://doi.org/10.1145/2939672.2939785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Depth-2 trees limit interaction complexity in a small dataset. Catch22 provides named features, making this constituent easier to audit than learned neural embeddings.</a:t>
            </a:r>
          </a:p>
          <a:p xmlns:a="http://schemas.openxmlformats.org/drawingml/2006/main">
            <a:r>
              <a:t/>
            </a:r>
          </a:p>
          <a:p xmlns:a="http://schemas.openxmlformats.org/drawingml/2006/main">
            <a:r>
              <a:t>[Sources]</a:t>
            </a:r>
          </a:p>
          <a:p xmlns:a="http://schemas.openxmlformats.org/drawingml/2006/main">
            <a:r>
              <a:t>- https://link.springer.com/article/10.1007/s10618-019-00647-x</a:t>
            </a:r>
          </a:p>
          <a:p xmlns:a="http://schemas.openxmlformats.org/drawingml/2006/main">
            <a:r>
              <a:t>- https://doi.org/10.1145/2939672.2939785</a:t>
            </a:r>
          </a:p>
          <a:p xmlns:a="http://schemas.openxmlformats.org/drawingml/2006/main">
            <a:r>
              <a:t>- Local Catch22 extraction: D:/us/cardiotoxicity_timeseries_round4.py:393-405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aggregation occurs after calculating a descriptor within each segment curve. Therefore c1_min is an extreme segment summary: it retains the segment with the smallest descriptor value.</a:t>
            </a:r>
          </a:p>
          <a:p xmlns:a="http://schemas.openxmlformats.org/drawingml/2006/main">
            <a:r>
              <a:t/>
            </a:r>
          </a:p>
          <a:p xmlns:a="http://schemas.openxmlformats.org/drawingml/2006/main">
            <a:r>
              <a:t>[Sources]</a:t>
            </a:r>
          </a:p>
          <a:p xmlns:a="http://schemas.openxmlformats.org/drawingml/2006/main">
            <a:r>
              <a:t>- Local feature-name output: D:/us/cardiotoxicity_timeseries_round4_results/catch22_feature_names.csv</a:t>
            </a:r>
          </a:p>
          <a:p xmlns:a="http://schemas.openxmlformats.org/drawingml/2006/main">
            <a:r>
              <a:t>- Local construction: D:/us/cardiotoxicity_timeseries_round4.py:393-405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important single Catch22 feature nearly accounts for the curve-group AUC drop, but correlated tree features mean this should not be interpreted as a univariate causal effect.</a:t>
            </a:r>
          </a:p>
          <a:p xmlns:a="http://schemas.openxmlformats.org/drawingml/2006/main">
            <a:r>
              <a:t/>
            </a:r>
          </a:p>
          <a:p xmlns:a="http://schemas.openxmlformats.org/drawingml/2006/main">
            <a:r>
              <a:t>[Sources]</a:t>
            </a:r>
          </a:p>
          <a:p xmlns:a="http://schemas.openxmlformats.org/drawingml/2006/main">
            <a:r>
              <a:t>- Local permutation: D:/us/cardiotoxicity_top_ensemble_feature_importance_results/catch22_permutation_importance.csv</a:t>
            </a:r>
          </a:p>
          <a:p xmlns:a="http://schemas.openxmlformats.org/drawingml/2006/main">
            <a:r>
              <a:t>- Local TreeSHAP: D:/us/cardiotoxicity_top_ensemble_feature_importance_results/catch22_native_tree_shap.csv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Catch22 algorithm uses a range of thresholds and summarizes median inter-event intervals; the readable physiological description should remain at the level of positive-extreme timing. The minimum aggregation means one unusually patterned segment can drive the feature.</a:t>
            </a:r>
          </a:p>
          <a:p xmlns:a="http://schemas.openxmlformats.org/drawingml/2006/main">
            <a:r>
              <a:t/>
            </a:r>
          </a:p>
          <a:p xmlns:a="http://schemas.openxmlformats.org/drawingml/2006/main">
            <a:r>
              <a:t>[Sources]</a:t>
            </a:r>
          </a:p>
          <a:p xmlns:a="http://schemas.openxmlformats.org/drawingml/2006/main">
            <a:r>
              <a:t>- https://time-series-features.gitbook.io/catch22/information-about-catch22/feature-descriptions/feature-overview-table</a:t>
            </a:r>
          </a:p>
          <a:p xmlns:a="http://schemas.openxmlformats.org/drawingml/2006/main">
            <a:r>
              <a:t>- https://link.springer.com/article/10.1007/s10618-019-00647-x</a:t>
            </a:r>
          </a:p>
          <a:p xmlns:a="http://schemas.openxmlformats.org/drawingml/2006/main">
            <a:r>
              <a:t>- Local construction: D:/us/cardiotoxicity_timeseries_round4.py:393-405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names are preserved so every slide can be traced to the exported feature table. The short readable names are from the pycatch22 implementation and the Catch22 documentation.</a:t>
            </a:r>
          </a:p>
          <a:p xmlns:a="http://schemas.openxmlformats.org/drawingml/2006/main">
            <a:r>
              <a:t/>
            </a:r>
          </a:p>
          <a:p xmlns:a="http://schemas.openxmlformats.org/drawingml/2006/main">
            <a:r>
              <a:t>[Sources]</a:t>
            </a:r>
          </a:p>
          <a:p xmlns:a="http://schemas.openxmlformats.org/drawingml/2006/main">
            <a:r>
              <a:t>- https://time-series-features.gitbook.io/catch22/information-about-catch22/feature-descriptions/feature-overview-table</a:t>
            </a:r>
          </a:p>
          <a:p xmlns:a="http://schemas.openxmlformats.org/drawingml/2006/main">
            <a:r>
              <a:t>- https://time-series-features.gitbook.io/catch22/information-about-catch22/feature-descriptions/incremental-differences</a:t>
            </a:r>
          </a:p>
          <a:p xmlns:a="http://schemas.openxmlformats.org/drawingml/2006/main">
            <a:r>
              <a:t>- Local TreeSHAP: D:/us/cardiotoxicity_top_ensemble_feature_importance_results/catch22_native_tree_shap.csv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three ideas recur: extreme segment representation, timing/location and changing Endo–Mid relationship. Only some intervals exclude zero, so the ranking should guide hypotheses and ablations rather than establish biomarkers.</a:t>
            </a:r>
          </a:p>
          <a:p xmlns:a="http://schemas.openxmlformats.org/drawingml/2006/main">
            <a:r>
              <a:t/>
            </a:r>
          </a:p>
          <a:p xmlns:a="http://schemas.openxmlformats.org/drawingml/2006/main">
            <a:r>
              <a:t>[Sources]</a:t>
            </a:r>
          </a:p>
          <a:p xmlns:a="http://schemas.openxmlformats.org/drawingml/2006/main">
            <a:r>
              <a:t>- Local ensemble importance: D:/us/cardiotoxicity_top_ensemble_feature_importance_results/ensemble_feature_importance.csv</a:t>
            </a:r>
          </a:p>
          <a:p xmlns:a="http://schemas.openxmlformats.org/drawingml/2006/main">
            <a:r>
              <a:t>- Local report: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synthesis is an inference from converging model feature families, not a causal conclusion. A future validation cohort should prespecify a small set of heterogeneity and Endo–Mid features.</a:t>
            </a:r>
          </a:p>
          <a:p xmlns:a="http://schemas.openxmlformats.org/drawingml/2006/main">
            <a:r>
              <a:t/>
            </a:r>
          </a:p>
          <a:p xmlns:a="http://schemas.openxmlformats.org/drawingml/2006/main">
            <a:r>
              <a:t>[Sources]</a:t>
            </a:r>
          </a:p>
          <a:p xmlns:a="http://schemas.openxmlformats.org/drawingml/2006/main">
            <a:r>
              <a:t>- https://pmc.ncbi.nlm.nih.gov/articles/PMC7984733/</a:t>
            </a:r>
          </a:p>
          <a:p xmlns:a="http://schemas.openxmlformats.org/drawingml/2006/main">
            <a:r>
              <a:t>- https://pubmed.ncbi.nlm.nih.gov/26661049/</a:t>
            </a:r>
          </a:p>
          <a:p xmlns:a="http://schemas.openxmlformats.org/drawingml/2006/main">
            <a:r>
              <a:t>- Local ensemble report: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Label noise may impose a performance ceiling because the endpoint is itself based on strain measurement. Repeatability analysis, threshold sensitivity and probabilistic/noise-aware labels should be reported alongside model performance.</a:t>
            </a:r>
          </a:p>
          <a:p xmlns:a="http://schemas.openxmlformats.org/drawingml/2006/main">
            <a:r>
              <a:t/>
            </a:r>
          </a:p>
          <a:p xmlns:a="http://schemas.openxmlformats.org/drawingml/2006/main">
            <a:r>
              <a:t>[Sources]</a:t>
            </a:r>
          </a:p>
          <a:p xmlns:a="http://schemas.openxmlformats.org/drawingml/2006/main">
            <a:r>
              <a:t>- Local noise analysis: D:/us/cardiotoxicity_error_noise.py</a:t>
            </a:r>
          </a:p>
          <a:p xmlns:a="http://schemas.openxmlformats.org/drawingml/2006/main">
            <a:r>
              <a:t>- Local plateau results: D:/us/cardiotoxicity_plateau_results</a:t>
            </a:r>
          </a:p>
          <a:p xmlns:a="http://schemas.openxmlformats.org/drawingml/2006/main">
            <a:r>
              <a:t>- https://academic.oup.com/eurheartj/article/43/41/4229/6673995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naming grammar lets a reader trace any exported scalar column back to its calculation. The baseline for the label is always first visit, as requested.</a:t>
            </a:r>
          </a:p>
          <a:p xmlns:a="http://schemas.openxmlformats.org/drawingml/2006/main">
            <a:r>
              <a:t/>
            </a:r>
          </a:p>
          <a:p xmlns:a="http://schemas.openxmlformats.org/drawingml/2006/main">
            <a:r>
              <a:t>[Sources]</a:t>
            </a:r>
          </a:p>
          <a:p xmlns:a="http://schemas.openxmlformats.org/drawingml/2006/main">
            <a:r>
              <a:t>- Local scalar construction: D:/us/cardiotoxicity_next_visit_gpu.py</a:t>
            </a:r>
          </a:p>
          <a:p xmlns:a="http://schemas.openxmlformats.org/drawingml/2006/main">
            <a:r>
              <a:t>- Local variability suffix list: D:/us/cardiotoxicity_early_detection.py:44-62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and first GLS are stored as positive magnitudes for trajectory features, even though raw longitudinal strain curves are signed and usually negative during systole.</a:t>
            </a:r>
          </a:p>
          <a:p xmlns:a="http://schemas.openxmlformats.org/drawingml/2006/main">
            <a:r>
              <a:t/>
            </a:r>
          </a:p>
          <a:p xmlns:a="http://schemas.openxmlformats.org/drawingml/2006/main">
            <a:r>
              <a:t>[Sources]</a:t>
            </a:r>
          </a:p>
          <a:p xmlns:a="http://schemas.openxmlformats.org/drawingml/2006/main">
            <a:r>
              <a:t>- Local feature construction: D:/us/cardiotoxicity_next_visit_gpu.py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rolling two-visit comparison is an input feature, not an alternative outcome baseline. The endpoint remains a relative Mid-GLS decline from the first visit.</a:t>
            </a:r>
          </a:p>
          <a:p xmlns:a="http://schemas.openxmlformats.org/drawingml/2006/main">
            <a:r>
              <a:t/>
            </a:r>
          </a:p>
          <a:p xmlns:a="http://schemas.openxmlformats.org/drawingml/2006/main">
            <a:r>
              <a:t>[Sources]</a:t>
            </a:r>
          </a:p>
          <a:p xmlns:a="http://schemas.openxmlformats.org/drawingml/2006/main">
            <a:r>
              <a:t>- Local feature construction: D:/us/cardiotoxicity_next_visit_gpu.py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Circular SD treats normalized time as a position on a cycle, avoiding an artificial large difference between values near 0 and 1. Post-systolic fraction depends on the systolic boundary available in the report pipeline.</a:t>
            </a:r>
          </a:p>
          <a:p xmlns:a="http://schemas.openxmlformats.org/drawingml/2006/main">
            <a:r>
              <a:t/>
            </a:r>
          </a:p>
          <a:p xmlns:a="http://schemas.openxmlformats.org/drawingml/2006/main">
            <a:r>
              <a:t>[Sources]</a:t>
            </a:r>
          </a:p>
          <a:p xmlns:a="http://schemas.openxmlformats.org/drawingml/2006/main">
            <a:r>
              <a:t>- Local variability suffixes: D:/us/cardiotoxicity_early_detection.py:44-62</a:t>
            </a:r>
          </a:p>
          <a:p xmlns:a="http://schemas.openxmlformats.org/drawingml/2006/main">
            <a:r>
              <a:t>- Local circular SD reference implementation: D:/us/cardiotoxicity_nonapical_qc.py:98-105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Normalization is only applied when curve magnitude is sufficiently large; otherwise shape values are treated as invalid to avoid amplifying noise. Shape features are designed to distinguish ‘contracts less’ from ‘contracts differently.’</a:t>
            </a:r>
          </a:p>
          <a:p xmlns:a="http://schemas.openxmlformats.org/drawingml/2006/main">
            <a:r>
              <a:t/>
            </a:r>
          </a:p>
          <a:p xmlns:a="http://schemas.openxmlformats.org/drawingml/2006/main">
            <a:r>
              <a:t>[Sources]</a:t>
            </a:r>
          </a:p>
          <a:p xmlns:a="http://schemas.openxmlformats.org/drawingml/2006/main">
            <a:r>
              <a:t>- Local normalized shape: D:/us/cardiotoxicity_early_detection.py:130-137</a:t>
            </a:r>
          </a:p>
          <a:p xmlns:a="http://schemas.openxmlformats.org/drawingml/2006/main">
            <a:r>
              <a:t>- Local pairwise/RMS definitions: D:/us/cardiotoxicity_nonapical_qc.py:76-95 and 205-219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layer-specific strain also varies from base to apex. Ring- and gradient-aware features reduce the chance that normal anatomy is mistaken for pathology, although vendor segment mapping and apex tracking remain possible sources of noise.</a:t>
            </a:r>
          </a:p>
          <a:p xmlns:a="http://schemas.openxmlformats.org/drawingml/2006/main">
            <a:r>
              <a:t/>
            </a:r>
          </a:p>
          <a:p xmlns:a="http://schemas.openxmlformats.org/drawingml/2006/main">
            <a:r>
              <a:t>[Sources]</a:t>
            </a:r>
          </a:p>
          <a:p xmlns:a="http://schemas.openxmlformats.org/drawingml/2006/main">
            <a:r>
              <a:t>- Local suffix list: D:/us/cardiotoxicity_early_detection.py:44-62</a:t>
            </a:r>
          </a:p>
          <a:p xmlns:a="http://schemas.openxmlformats.org/drawingml/2006/main">
            <a:r>
              <a:t>- Local spatial reference implementation: D:/us/cardiotoxicity_nonapical_qc.py:223-244</a:t>
            </a:r>
          </a:p>
          <a:p xmlns:a="http://schemas.openxmlformats.org/drawingml/2006/main">
            <a:r>
              <a:t>- https://pubmed.ncbi.nlm.nih.gov/26661049/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Catch22 was selected as a compact, minimally redundant feature set from a much larger time-series feature library. These descriptors are generic; the physiological meaning comes from applying them to a specific strain channel and segment aggregation.</a:t>
            </a:r>
          </a:p>
          <a:p xmlns:a="http://schemas.openxmlformats.org/drawingml/2006/main">
            <a:r>
              <a:t/>
            </a:r>
          </a:p>
          <a:p xmlns:a="http://schemas.openxmlformats.org/drawingml/2006/main">
            <a:r>
              <a:t>[Sources]</a:t>
            </a:r>
          </a:p>
          <a:p xmlns:a="http://schemas.openxmlformats.org/drawingml/2006/main">
            <a:r>
              <a:t>- https://link.springer.com/article/10.1007/s10618-019-00647-x</a:t>
            </a:r>
          </a:p>
          <a:p xmlns:a="http://schemas.openxmlformats.org/drawingml/2006/main">
            <a:r>
              <a:t>- https://time-series-features.gitbook.io/catch22/information-about-catch22/feature-descriptions/feature-overview-table</a:t>
            </a:r>
          </a:p>
          <a:p xmlns:a="http://schemas.openxmlformats.org/drawingml/2006/main">
            <a:r>
              <a:t>- Local names: D:/us/cardiotoxicity_timeseries_round4_results/catch22_feature_names.csv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fastest way for a reviewer or supervisor to trace a feature from the presentation to the implementation and exported result tables.</a:t>
            </a:r>
          </a:p>
          <a:p xmlns:a="http://schemas.openxmlformats.org/drawingml/2006/main">
            <a:r>
              <a:t/>
            </a:r>
          </a:p>
          <a:p xmlns:a="http://schemas.openxmlformats.org/drawingml/2006/main">
            <a:r>
              <a:t>[Sources]</a:t>
            </a:r>
          </a:p>
          <a:p xmlns:a="http://schemas.openxmlformats.org/drawingml/2006/main">
            <a:r>
              <a:t>-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used throughout the deck are listed here; exact URLs are preserved in this slide’s notes.</a:t>
            </a:r>
          </a:p>
          <a:p xmlns:a="http://schemas.openxmlformats.org/drawingml/2006/main">
            <a:r>
              <a:t/>
            </a:r>
          </a:p>
          <a:p xmlns:a="http://schemas.openxmlformats.org/drawingml/2006/main">
            <a:r>
              <a:t>[Sources]</a:t>
            </a:r>
          </a:p>
          <a:p xmlns:a="http://schemas.openxmlformats.org/drawingml/2006/main">
            <a:r>
              <a:t>- https://academic.oup.com/eurheartj/article/43/41/4229/6673995</a:t>
            </a:r>
          </a:p>
          <a:p xmlns:a="http://schemas.openxmlformats.org/drawingml/2006/main">
            <a:r>
              <a:t>- https://pmc.ncbi.nlm.nih.gov/articles/PMC7984733/</a:t>
            </a:r>
          </a:p>
          <a:p xmlns:a="http://schemas.openxmlformats.org/drawingml/2006/main">
            <a:r>
              <a:t>- https://pubmed.ncbi.nlm.nih.gov/26661049/</a:t>
            </a:r>
          </a:p>
          <a:p xmlns:a="http://schemas.openxmlformats.org/drawingml/2006/main">
            <a:r>
              <a:t>- https://arxiv.org/abs/2402.03885</a:t>
            </a:r>
          </a:p>
          <a:p xmlns:a="http://schemas.openxmlformats.org/drawingml/2006/main">
            <a:r>
              <a:t>- https://arxiv.org/abs/2109.13514</a:t>
            </a:r>
          </a:p>
          <a:p xmlns:a="http://schemas.openxmlformats.org/drawingml/2006/main">
            <a:r>
              <a:t>- https://link.springer.com/article/10.1007/s10618-019-00647-x</a:t>
            </a:r>
          </a:p>
          <a:p xmlns:a="http://schemas.openxmlformats.org/drawingml/2006/main">
            <a:r>
              <a:t>- https://doi.org/10.1145/2939672.2939785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emphasizing the distinction between a coherent mechanistic hypothesis and a clinically validated biomarker. The deck supports a thesis methods/results narrative, but the performance and uncertainty require cautious positioning.</a:t>
            </a:r>
          </a:p>
          <a:p xmlns:a="http://schemas.openxmlformats.org/drawingml/2006/main">
            <a:r>
              <a:t/>
            </a:r>
          </a:p>
          <a:p xmlns:a="http://schemas.openxmlformats.org/drawingml/2006/main">
            <a:r>
              <a:t>[Sources]</a:t>
            </a:r>
          </a:p>
          <a:p xmlns:a="http://schemas.openxmlformats.org/drawingml/2006/main">
            <a:r>
              <a:t>- Local full report: D:/us/cardiotoxicity_top_ensemble_feature_importance_results/top_ensemble_feature_importance_report.md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a5262d190a46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222b38d1744071" /><Relationship Type="http://schemas.openxmlformats.org/officeDocument/2006/relationships/slideLayout" Target="/ppt/slideLayouts/slideLayout1.xml" Id="Rd7860ff6782d44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860ff6782d44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a6fd6de5664f23" /><Relationship Type="http://schemas.openxmlformats.org/officeDocument/2006/relationships/notesSlide" Target="/ppt/notesSlides/notesSlide1.xml" Id="Rfea1e54c5ed548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90b877649442cb" /><Relationship Type="http://schemas.openxmlformats.org/officeDocument/2006/relationships/notesSlide" Target="/ppt/notesSlides/notesSlide2.xml" Id="R5f5b8bb5f04f47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fe1a92f66a4bcf" /><Relationship Type="http://schemas.openxmlformats.org/officeDocument/2006/relationships/notesSlide" Target="/ppt/notesSlides/notesSlide3.xml" Id="Re3de0527d3c843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27e343437946af" /><Relationship Type="http://schemas.openxmlformats.org/officeDocument/2006/relationships/notesSlide" Target="/ppt/notesSlides/notesSlide4.xml" Id="R6689034a952f42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fbe497b1e14bd7" /><Relationship Type="http://schemas.openxmlformats.org/officeDocument/2006/relationships/notesSlide" Target="/ppt/notesSlides/notesSlide5.xml" Id="R14f879bdf1104c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4d96febecc497e" /><Relationship Type="http://schemas.openxmlformats.org/officeDocument/2006/relationships/notesSlide" Target="/ppt/notesSlides/notesSlide6.xml" Id="Ra75c00f1511949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5c1b7f9d0c445f" /><Relationship Type="http://schemas.openxmlformats.org/officeDocument/2006/relationships/notesSlide" Target="/ppt/notesSlides/notesSlide7.xml" Id="Rc3a8a0245f4540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83454319d4083" /><Relationship Type="http://schemas.openxmlformats.org/officeDocument/2006/relationships/notesSlide" Target="/ppt/notesSlides/notesSlide8.xml" Id="Rf36913bf858943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0d7a36075f43ce" /><Relationship Type="http://schemas.openxmlformats.org/officeDocument/2006/relationships/notesSlide" Target="/ppt/notesSlides/notesSlide9.xml" Id="R0c06ab571a7d4e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2ef90adfdb42f9" /><Relationship Type="http://schemas.openxmlformats.org/officeDocument/2006/relationships/notesSlide" Target="/ppt/notesSlides/notesSlide10.xml" Id="Rdb99f13d359144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7711f611bb4cda" /><Relationship Type="http://schemas.openxmlformats.org/officeDocument/2006/relationships/notesSlide" Target="/ppt/notesSlides/notesSlide11.xml" Id="Reaba85cffe9c47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e374a44ce84b1a" /><Relationship Type="http://schemas.openxmlformats.org/officeDocument/2006/relationships/notesSlide" Target="/ppt/notesSlides/notesSlide12.xml" Id="R12b98f8ccb2d41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915ca5bce2421d" /><Relationship Type="http://schemas.openxmlformats.org/officeDocument/2006/relationships/notesSlide" Target="/ppt/notesSlides/notesSlide13.xml" Id="Rb04eb34708914a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c6ff0b6b6048d7" /><Relationship Type="http://schemas.openxmlformats.org/officeDocument/2006/relationships/notesSlide" Target="/ppt/notesSlides/notesSlide14.xml" Id="R50db57e01eb04b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a822d683f44c4a" /><Relationship Type="http://schemas.openxmlformats.org/officeDocument/2006/relationships/notesSlide" Target="/ppt/notesSlides/notesSlide15.xml" Id="R6932ad997b5a4f1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c476a77bd74788" /><Relationship Type="http://schemas.openxmlformats.org/officeDocument/2006/relationships/notesSlide" Target="/ppt/notesSlides/notesSlide16.xml" Id="Ra7455dcc0cea42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fae3d6cf88f4318" /><Relationship Type="http://schemas.openxmlformats.org/officeDocument/2006/relationships/notesSlide" Target="/ppt/notesSlides/notesSlide17.xml" Id="Ra623b9dbc85349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07f403404954dd0" /><Relationship Type="http://schemas.openxmlformats.org/officeDocument/2006/relationships/notesSlide" Target="/ppt/notesSlides/notesSlide18.xml" Id="R2a3f2cff5be447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f97ce6eae6f44bb" /><Relationship Type="http://schemas.openxmlformats.org/officeDocument/2006/relationships/notesSlide" Target="/ppt/notesSlides/notesSlide19.xml" Id="R53d41067df614d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bad23524dbc4cd6" /><Relationship Type="http://schemas.openxmlformats.org/officeDocument/2006/relationships/notesSlide" Target="/ppt/notesSlides/notesSlide20.xml" Id="R683065badff44c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b77b00bfdbb4965" /><Relationship Type="http://schemas.openxmlformats.org/officeDocument/2006/relationships/notesSlide" Target="/ppt/notesSlides/notesSlide21.xml" Id="R301a4099649844d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d3929c0be4240cc" /><Relationship Type="http://schemas.openxmlformats.org/officeDocument/2006/relationships/notesSlide" Target="/ppt/notesSlides/notesSlide22.xml" Id="Raaeab3e68aab4a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12da320b1c14420" /><Relationship Type="http://schemas.openxmlformats.org/officeDocument/2006/relationships/notesSlide" Target="/ppt/notesSlides/notesSlide23.xml" Id="Re4a1627a023c40d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3b2ee1e249f47fa" /><Relationship Type="http://schemas.openxmlformats.org/officeDocument/2006/relationships/notesSlide" Target="/ppt/notesSlides/notesSlide24.xml" Id="R669c8720591c465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c931d821e64be6" /><Relationship Type="http://schemas.openxmlformats.org/officeDocument/2006/relationships/notesSlide" Target="/ppt/notesSlides/notesSlide25.xml" Id="Rb73ce9bacf0944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b31c350957441eb" /><Relationship Type="http://schemas.openxmlformats.org/officeDocument/2006/relationships/notesSlide" Target="/ppt/notesSlides/notesSlide26.xml" Id="Rd8efb6f8771643a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3ebe3c39b094668" /><Relationship Type="http://schemas.openxmlformats.org/officeDocument/2006/relationships/notesSlide" Target="/ppt/notesSlides/notesSlide27.xml" Id="R81eb07e2361e4f1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53319f3b8594d61" /><Relationship Type="http://schemas.openxmlformats.org/officeDocument/2006/relationships/notesSlide" Target="/ppt/notesSlides/notesSlide28.xml" Id="R78a069416fd542c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cf06cf39495410d" /><Relationship Type="http://schemas.openxmlformats.org/officeDocument/2006/relationships/notesSlide" Target="/ppt/notesSlides/notesSlide29.xml" Id="R5e612c6636e6467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8bd6cbf941749f7" /><Relationship Type="http://schemas.openxmlformats.org/officeDocument/2006/relationships/notesSlide" Target="/ppt/notesSlides/notesSlide30.xml" Id="R3a13f7c6d0da4a5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9b4fdce4b254f16" /><Relationship Type="http://schemas.openxmlformats.org/officeDocument/2006/relationships/notesSlide" Target="/ppt/notesSlides/notesSlide31.xml" Id="R10bc178cfa654e0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46d1bc24fac4e62" /><Relationship Type="http://schemas.openxmlformats.org/officeDocument/2006/relationships/notesSlide" Target="/ppt/notesSlides/notesSlide32.xml" Id="R6a5c6409ed25493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6580b4493084e51" /><Relationship Type="http://schemas.openxmlformats.org/officeDocument/2006/relationships/notesSlide" Target="/ppt/notesSlides/notesSlide33.xml" Id="R5f066ed2346b484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7afdfbd3b4e43fd" /><Relationship Type="http://schemas.openxmlformats.org/officeDocument/2006/relationships/notesSlide" Target="/ppt/notesSlides/notesSlide34.xml" Id="R1114d028a164429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f8cf7eca29a41de" /><Relationship Type="http://schemas.openxmlformats.org/officeDocument/2006/relationships/notesSlide" Target="/ppt/notesSlides/notesSlide35.xml" Id="R2fb65ae42a3641d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509044669674ec9" /><Relationship Type="http://schemas.openxmlformats.org/officeDocument/2006/relationships/notesSlide" Target="/ppt/notesSlides/notesSlide36.xml" Id="Rfeb546204c0f4f6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c537ce2c93a4840" /><Relationship Type="http://schemas.openxmlformats.org/officeDocument/2006/relationships/notesSlide" Target="/ppt/notesSlides/notesSlide37.xml" Id="Rfec4b3cc2d7e419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56bbf0cd0ed44ee" /><Relationship Type="http://schemas.openxmlformats.org/officeDocument/2006/relationships/notesSlide" Target="/ppt/notesSlides/notesSlide38.xml" Id="R155de571cfdf4c7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072558a7c44aed" /><Relationship Type="http://schemas.openxmlformats.org/officeDocument/2006/relationships/notesSlide" Target="/ppt/notesSlides/notesSlide39.xml" Id="R39f5f76c5f5e4ae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ef31b6a66ca4a32" /><Relationship Type="http://schemas.openxmlformats.org/officeDocument/2006/relationships/notesSlide" Target="/ppt/notesSlides/notesSlide40.xml" Id="Ra1ffbfe93e46451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4bfd2ef2f944eea" /><Relationship Type="http://schemas.openxmlformats.org/officeDocument/2006/relationships/notesSlide" Target="/ppt/notesSlides/notesSlide41.xml" Id="R852b17d2be7e4aa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8c31927910b4af1" /><Relationship Type="http://schemas.openxmlformats.org/officeDocument/2006/relationships/notesSlide" Target="/ppt/notesSlides/notesSlide42.xml" Id="R3bfa2e5c215a470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2617e2c93c04040" /><Relationship Type="http://schemas.openxmlformats.org/officeDocument/2006/relationships/notesSlide" Target="/ppt/notesSlides/notesSlide43.xml" Id="R8415ceef89d642f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4ff3b58d9d4496c" /><Relationship Type="http://schemas.openxmlformats.org/officeDocument/2006/relationships/notesSlide" Target="/ppt/notesSlides/notesSlide44.xml" Id="R72e5cfb590954d6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43e4ed91ff2446e" /><Relationship Type="http://schemas.openxmlformats.org/officeDocument/2006/relationships/notesSlide" Target="/ppt/notesSlides/notesSlide45.xml" Id="R94dbfc63dfcd4de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0ecc5b4404a4264" /><Relationship Type="http://schemas.openxmlformats.org/officeDocument/2006/relationships/notesSlide" Target="/ppt/notesSlides/notesSlide46.xml" Id="Redf58a37414f409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cd8009ce6e04105" /><Relationship Type="http://schemas.openxmlformats.org/officeDocument/2006/relationships/notesSlide" Target="/ppt/notesSlides/notesSlide47.xml" Id="R0b406143f7104a0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f7951781aa44e42" /><Relationship Type="http://schemas.openxmlformats.org/officeDocument/2006/relationships/notesSlide" Target="/ppt/notesSlides/notesSlide48.xml" Id="R0dea50817ec24a7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f1d752eda1b473e" /><Relationship Type="http://schemas.openxmlformats.org/officeDocument/2006/relationships/notesSlide" Target="/ppt/notesSlides/notesSlide49.xml" Id="Rd1826bbbd9804676"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C97DF6-C4FB-4EE8-9AD5-265A21B7D2F9}"/>
              </a:ext>
            </a:extLst>
          </p:cNvPr>
          <p:cNvSpPr>
            <a:spLocks xmlns:a="http://schemas.openxmlformats.org/drawingml/2006/main" noGrp="1"/>
          </p:cNvSpPr>
          <p:nvPr/>
        </p:nvSpPr>
        <p:spPr>
          <a:xfrm xmlns:a="http://schemas.openxmlformats.org/drawingml/2006/main">
            <a:off x="552450" y="5143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DCBF4"/>
                </a:solidFill>
                <a:latin typeface="Arial"/>
                <a:ea typeface="Arial"/>
                <a:cs typeface="Arial"/>
              </a:defRPr>
            </a:pPr>
            <a:r>
              <a:rPr sz="1050" b="1" i="0">
                <a:solidFill>
                  <a:srgbClr val="6DCBF4"/>
                </a:solidFill>
                <a:latin typeface="Arial"/>
                <a:ea typeface="Arial"/>
                <a:cs typeface="Arial"/>
              </a:rPr>
              <a:t>EARLY CARDIOTOXICITY PREDICTION</a:t>
            </a:r>
          </a:p>
        </p:txBody>
      </p:sp>
      <p:sp>
        <p:nvSpPr>
          <p:cNvPr id="2" name="">
            <a:extLst xmlns:a="http://schemas.openxmlformats.org/drawingml/2006/main">
              <a:ext uri="{FF2B5EF4-FFF2-40B4-BE49-F238E27FC236}">
                <a16:creationId xmlns:a16="http://schemas.microsoft.com/office/drawing/2014/main" id="{74E61158-58AD-4457-B8CD-FB2138329806}"/>
              </a:ext>
            </a:extLst>
          </p:cNvPr>
          <p:cNvSpPr>
            <a:spLocks xmlns:a="http://schemas.openxmlformats.org/drawingml/2006/main" noGrp="1"/>
          </p:cNvSpPr>
          <p:nvPr/>
        </p:nvSpPr>
        <p:spPr>
          <a:xfrm xmlns:a="http://schemas.openxmlformats.org/drawingml/2006/main">
            <a:off x="552450" y="1276350"/>
            <a:ext cx="7810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i="0">
                <a:solidFill>
                  <a:srgbClr val="FFFFFF"/>
                </a:solidFill>
                <a:latin typeface="Arial"/>
                <a:ea typeface="Arial"/>
                <a:cs typeface="Arial"/>
              </a:defRPr>
            </a:pPr>
            <a:r>
              <a:rPr sz="4500" b="1" i="0">
                <a:solidFill>
                  <a:srgbClr val="FFFFFF"/>
                </a:solidFill>
                <a:latin typeface="Arial"/>
                <a:ea typeface="Arial"/>
                <a:cs typeface="Arial"/>
              </a:rPr>
              <a:t>Models, features</a:t>
            </a:r>
          </a:p>
          <a:p xmlns:a="http://schemas.openxmlformats.org/drawingml/2006/main">
            <a:pPr algn="l">
              <a:defRPr sz="4500" b="1" i="0">
                <a:solidFill>
                  <a:srgbClr val="FFFFFF"/>
                </a:solidFill>
                <a:latin typeface="Arial"/>
                <a:ea typeface="Arial"/>
                <a:cs typeface="Arial"/>
              </a:defRPr>
            </a:pPr>
            <a:r>
              <a:rPr sz="4500" b="1" i="0">
                <a:solidFill>
                  <a:srgbClr val="FFFFFF"/>
                </a:solidFill>
                <a:latin typeface="Arial"/>
                <a:ea typeface="Arial"/>
                <a:cs typeface="Arial"/>
              </a:rPr>
              <a:t>and physiological meaning</a:t>
            </a:r>
          </a:p>
        </p:txBody>
      </p:sp>
      <p:sp>
        <p:nvSpPr>
          <p:cNvPr id="3" name="">
            <a:extLst xmlns:a="http://schemas.openxmlformats.org/drawingml/2006/main">
              <a:ext uri="{FF2B5EF4-FFF2-40B4-BE49-F238E27FC236}">
                <a16:creationId xmlns:a16="http://schemas.microsoft.com/office/drawing/2014/main" id="{AC85F6E1-1F7A-4CC8-B059-9340F3A2A1E0}"/>
              </a:ext>
            </a:extLst>
          </p:cNvPr>
          <p:cNvSpPr>
            <a:spLocks xmlns:a="http://schemas.openxmlformats.org/drawingml/2006/main" noGrp="1"/>
          </p:cNvSpPr>
          <p:nvPr/>
        </p:nvSpPr>
        <p:spPr>
          <a:xfrm xmlns:a="http://schemas.openxmlformats.org/drawingml/2006/main">
            <a:off x="552450" y="3733800"/>
            <a:ext cx="723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B8BCC4"/>
                </a:solidFill>
                <a:latin typeface="Arial"/>
                <a:ea typeface="Arial"/>
                <a:cs typeface="Arial"/>
              </a:defRPr>
            </a:pPr>
            <a:r>
              <a:rPr sz="1800" b="0" i="0">
                <a:solidFill>
                  <a:srgbClr val="B8BCC4"/>
                </a:solidFill>
                <a:latin typeface="Arial"/>
                <a:ea typeface="Arial"/>
                <a:cs typeface="Arial"/>
              </a:rPr>
              <a:t>A sourceable guide to the CNN, MOMENT, RDST and Catch22 pipelines—and the two best ensembles.</a:t>
            </a:r>
          </a:p>
        </p:txBody>
      </p:sp>
      <p:sp>
        <p:nvSpPr>
          <p:cNvPr id="4" name="">
            <a:extLst xmlns:a="http://schemas.openxmlformats.org/drawingml/2006/main">
              <a:ext uri="{FF2B5EF4-FFF2-40B4-BE49-F238E27FC236}">
                <a16:creationId xmlns:a16="http://schemas.microsoft.com/office/drawing/2014/main" id="{83E81AC3-109D-4FF9-9DE7-D88F02F1E0A6}"/>
              </a:ext>
            </a:extLst>
          </p:cNvPr>
          <p:cNvSpPr>
            <a:spLocks xmlns:a="http://schemas.openxmlformats.org/drawingml/2006/main" noGrp="1"/>
          </p:cNvSpPr>
          <p:nvPr/>
        </p:nvSpPr>
        <p:spPr>
          <a:xfrm xmlns:a="http://schemas.openxmlformats.org/drawingml/2006/main">
            <a:off x="8953500" y="0"/>
            <a:ext cx="3238500" cy="685800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5" name="">
            <a:extLst xmlns:a="http://schemas.openxmlformats.org/drawingml/2006/main">
              <a:ext uri="{FF2B5EF4-FFF2-40B4-BE49-F238E27FC236}">
                <a16:creationId xmlns:a16="http://schemas.microsoft.com/office/drawing/2014/main" id="{701A5B2A-2DCE-4E18-BCA5-103FF2FEAA59}"/>
              </a:ext>
            </a:extLst>
          </p:cNvPr>
          <p:cNvSpPr>
            <a:spLocks xmlns:a="http://schemas.openxmlformats.org/drawingml/2006/main" noGrp="1"/>
          </p:cNvSpPr>
          <p:nvPr/>
        </p:nvSpPr>
        <p:spPr>
          <a:xfrm xmlns:a="http://schemas.openxmlformats.org/drawingml/2006/main">
            <a:off x="9315450" y="1390650"/>
            <a:ext cx="2476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150" b="1" i="0">
                <a:solidFill>
                  <a:srgbClr val="050505"/>
                </a:solidFill>
                <a:latin typeface="Arial"/>
                <a:ea typeface="Arial"/>
                <a:cs typeface="Arial"/>
              </a:defRPr>
            </a:pPr>
            <a:r>
              <a:rPr sz="6150" b="1" i="0">
                <a:solidFill>
                  <a:srgbClr val="050505"/>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B9B36D98-8512-4979-86E2-8230C410B9A8}"/>
              </a:ext>
            </a:extLst>
          </p:cNvPr>
          <p:cNvSpPr>
            <a:spLocks xmlns:a="http://schemas.openxmlformats.org/drawingml/2006/main" noGrp="1"/>
          </p:cNvSpPr>
          <p:nvPr/>
        </p:nvSpPr>
        <p:spPr>
          <a:xfrm xmlns:a="http://schemas.openxmlformats.org/drawingml/2006/main">
            <a:off x="9315450" y="2590800"/>
            <a:ext cx="2476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050505"/>
                </a:solidFill>
                <a:latin typeface="Arial"/>
                <a:ea typeface="Arial"/>
                <a:cs typeface="Arial"/>
              </a:defRPr>
            </a:pPr>
            <a:r>
              <a:rPr sz="1725" b="1" i="0">
                <a:solidFill>
                  <a:srgbClr val="050505"/>
                </a:solidFill>
                <a:latin typeface="Arial"/>
                <a:ea typeface="Arial"/>
                <a:cs typeface="Arial"/>
              </a:rPr>
              <a:t>relative Mid-GLS</a:t>
            </a:r>
          </a:p>
          <a:p xmlns:a="http://schemas.openxmlformats.org/drawingml/2006/main">
            <a:pPr algn="ctr">
              <a:defRPr sz="1725" b="1" i="0">
                <a:solidFill>
                  <a:srgbClr val="050505"/>
                </a:solidFill>
                <a:latin typeface="Arial"/>
                <a:ea typeface="Arial"/>
                <a:cs typeface="Arial"/>
              </a:defRPr>
            </a:pPr>
            <a:r>
              <a:rPr sz="1725" b="1" i="0">
                <a:solidFill>
                  <a:srgbClr val="050505"/>
                </a:solidFill>
                <a:latin typeface="Arial"/>
                <a:ea typeface="Arial"/>
                <a:cs typeface="Arial"/>
              </a:rPr>
              <a:t>deterioration</a:t>
            </a:r>
          </a:p>
        </p:txBody>
      </p:sp>
      <p:sp>
        <p:nvSpPr>
          <p:cNvPr id="7" name="">
            <a:extLst xmlns:a="http://schemas.openxmlformats.org/drawingml/2006/main">
              <a:ext uri="{FF2B5EF4-FFF2-40B4-BE49-F238E27FC236}">
                <a16:creationId xmlns:a16="http://schemas.microsoft.com/office/drawing/2014/main" id="{59A06696-F32D-443D-B8D7-B82365D73191}"/>
              </a:ext>
            </a:extLst>
          </p:cNvPr>
          <p:cNvSpPr>
            <a:spLocks xmlns:a="http://schemas.openxmlformats.org/drawingml/2006/main" noGrp="1"/>
          </p:cNvSpPr>
          <p:nvPr/>
        </p:nvSpPr>
        <p:spPr>
          <a:xfrm xmlns:a="http://schemas.openxmlformats.org/drawingml/2006/main">
            <a:off x="9429750" y="3676650"/>
            <a:ext cx="2247900" cy="0"/>
          </a:xfrm>
          <a:prstGeom xmlns:a="http://schemas.openxmlformats.org/drawingml/2006/main" prst="line">
            <a:avLst/>
          </a:prstGeom>
          <a:noFill xmlns:a="http://schemas.openxmlformats.org/drawingml/2006/main"/>
          <a:ln xmlns:a="http://schemas.openxmlformats.org/drawingml/2006/main" w="19050">
            <a:solidFill>
              <a:srgbClr val="050505"/>
            </a:solidFill>
            <a:prstDash val="solid"/>
          </a:ln>
        </p:spPr>
      </p:sp>
      <p:sp>
        <p:nvSpPr>
          <p:cNvPr id="8" name="">
            <a:extLst xmlns:a="http://schemas.openxmlformats.org/drawingml/2006/main">
              <a:ext uri="{FF2B5EF4-FFF2-40B4-BE49-F238E27FC236}">
                <a16:creationId xmlns:a16="http://schemas.microsoft.com/office/drawing/2014/main" id="{5F0A72FF-21A2-47A7-AAD1-423439C16C58}"/>
              </a:ext>
            </a:extLst>
          </p:cNvPr>
          <p:cNvSpPr>
            <a:spLocks xmlns:a="http://schemas.openxmlformats.org/drawingml/2006/main" noGrp="1"/>
          </p:cNvSpPr>
          <p:nvPr/>
        </p:nvSpPr>
        <p:spPr>
          <a:xfrm xmlns:a="http://schemas.openxmlformats.org/drawingml/2006/main">
            <a:off x="9315450" y="3981450"/>
            <a:ext cx="2476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050505"/>
                </a:solidFill>
                <a:latin typeface="Arial"/>
                <a:ea typeface="Arial"/>
                <a:cs typeface="Arial"/>
              </a:defRPr>
            </a:pPr>
            <a:r>
              <a:rPr sz="1650" b="0" i="0">
                <a:solidFill>
                  <a:srgbClr val="050505"/>
                </a:solidFill>
                <a:latin typeface="Arial"/>
                <a:ea typeface="Arial"/>
                <a:cs typeface="Arial"/>
              </a:rPr>
              <a:t>103 patients</a:t>
            </a:r>
          </a:p>
          <a:p xmlns:a="http://schemas.openxmlformats.org/drawingml/2006/main">
            <a:pPr algn="ctr">
              <a:defRPr sz="1650" b="0" i="0">
                <a:solidFill>
                  <a:srgbClr val="050505"/>
                </a:solidFill>
                <a:latin typeface="Arial"/>
                <a:ea typeface="Arial"/>
                <a:cs typeface="Arial"/>
              </a:defRPr>
            </a:pPr>
            <a:r>
              <a:rPr sz="1650" b="0" i="0">
                <a:solidFill>
                  <a:srgbClr val="050505"/>
                </a:solidFill>
                <a:latin typeface="Arial"/>
                <a:ea typeface="Arial"/>
                <a:cs typeface="Arial"/>
              </a:rPr>
              <a:t>238 visit transitions</a:t>
            </a:r>
          </a:p>
          <a:p xmlns:a="http://schemas.openxmlformats.org/drawingml/2006/main">
            <a:pPr algn="ctr">
              <a:defRPr sz="1650" b="0" i="0">
                <a:solidFill>
                  <a:srgbClr val="050505"/>
                </a:solidFill>
                <a:latin typeface="Arial"/>
                <a:ea typeface="Arial"/>
                <a:cs typeface="Arial"/>
              </a:defRPr>
            </a:pPr>
            <a:r>
              <a:rPr sz="1650" b="0" i="0">
                <a:solidFill>
                  <a:srgbClr val="050505"/>
                </a:solidFill>
                <a:latin typeface="Arial"/>
                <a:ea typeface="Arial"/>
                <a:cs typeface="Arial"/>
              </a:rPr>
              <a:t>49 events</a:t>
            </a:r>
          </a:p>
        </p:txBody>
      </p:sp>
      <p:sp>
        <p:nvSpPr>
          <p:cNvPr id="9" name="">
            <a:extLst xmlns:a="http://schemas.openxmlformats.org/drawingml/2006/main">
              <a:ext uri="{FF2B5EF4-FFF2-40B4-BE49-F238E27FC236}">
                <a16:creationId xmlns:a16="http://schemas.microsoft.com/office/drawing/2014/main" id="{ECD2A7C0-C8C2-4943-ACE0-09B02289D1E7}"/>
              </a:ext>
            </a:extLst>
          </p:cNvPr>
          <p:cNvSpPr>
            <a:spLocks xmlns:a="http://schemas.openxmlformats.org/drawingml/2006/main" noGrp="1"/>
          </p:cNvSpPr>
          <p:nvPr/>
        </p:nvSpPr>
        <p:spPr>
          <a:xfrm xmlns:a="http://schemas.openxmlformats.org/drawingml/2006/main">
            <a:off x="552450" y="6210300"/>
            <a:ext cx="752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B8BCC4"/>
                </a:solidFill>
                <a:latin typeface="Arial"/>
                <a:ea typeface="Arial"/>
                <a:cs typeface="Arial"/>
              </a:defRPr>
            </a:pPr>
            <a:r>
              <a:rPr sz="975" b="0" i="0">
                <a:solidFill>
                  <a:srgbClr val="B8BCC4"/>
                </a:solidFill>
                <a:latin typeface="Arial"/>
                <a:ea typeface="Arial"/>
                <a:cs typeface="Arial"/>
              </a:rPr>
              <a:t>Prepared from the complete local experimental pipeline · 11 Aug 2026</a:t>
            </a:r>
          </a:p>
        </p:txBody>
      </p:sp>
    </p:spTree>
    <p:extLst>
      <p:ext uri="{BB962C8B-B14F-4D97-AF65-F5344CB8AC3E}">
        <p14:creationId xmlns:p14="http://schemas.microsoft.com/office/powerpoint/2010/main" val="16407239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446B605-B22E-4B8F-840F-6B9C4103BD5D}"/>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ORIENTATION</a:t>
            </a:r>
          </a:p>
        </p:txBody>
      </p:sp>
      <p:sp>
        <p:nvSpPr>
          <p:cNvPr id="2" name="">
            <a:extLst xmlns:a="http://schemas.openxmlformats.org/drawingml/2006/main">
              <a:ext uri="{FF2B5EF4-FFF2-40B4-BE49-F238E27FC236}">
                <a16:creationId xmlns:a16="http://schemas.microsoft.com/office/drawing/2014/main" id="{78DE604C-8AAD-42F3-9784-1FBA923DDB4A}"/>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How to read this deck</a:t>
            </a:r>
          </a:p>
        </p:txBody>
      </p:sp>
      <p:sp>
        <p:nvSpPr>
          <p:cNvPr id="3" name="">
            <a:extLst xmlns:a="http://schemas.openxmlformats.org/drawingml/2006/main">
              <a:ext uri="{FF2B5EF4-FFF2-40B4-BE49-F238E27FC236}">
                <a16:creationId xmlns:a16="http://schemas.microsoft.com/office/drawing/2014/main" id="{B7584683-B4FD-46AC-A521-41C1D113F0D5}"/>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B0D7685-D0A4-482D-8DB1-90CEEF1AA1A4}"/>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10D8161-7DA0-4AC0-AF6A-17ADB0BA3161}"/>
              </a:ext>
            </a:extLst>
          </p:cNvPr>
          <p:cNvSpPr>
            <a:spLocks xmlns:a="http://schemas.openxmlformats.org/drawingml/2006/main" noGrp="1"/>
          </p:cNvSpPr>
          <p:nvPr/>
        </p:nvSpPr>
        <p:spPr>
          <a:xfrm xmlns:a="http://schemas.openxmlformats.org/drawingml/2006/main">
            <a:off x="400050" y="1524000"/>
            <a:ext cx="2667000" cy="3943350"/>
          </a:xfrm>
          <a:prstGeom xmlns:a="http://schemas.openxmlformats.org/drawingml/2006/main" prst="roundRect">
            <a:avLst>
              <a:gd name="adj" fmla="val 4286"/>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A90038A6-604C-4937-B4A7-17B2E1A201BA}"/>
              </a:ext>
            </a:extLst>
          </p:cNvPr>
          <p:cNvSpPr>
            <a:spLocks xmlns:a="http://schemas.openxmlformats.org/drawingml/2006/main" noGrp="1"/>
          </p:cNvSpPr>
          <p:nvPr/>
        </p:nvSpPr>
        <p:spPr>
          <a:xfrm xmlns:a="http://schemas.openxmlformats.org/drawingml/2006/main">
            <a:off x="571500" y="1676400"/>
            <a:ext cx="419100" cy="2667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5D00154D-08C6-4B53-BB6A-12D52BC25A87}"/>
              </a:ext>
            </a:extLst>
          </p:cNvPr>
          <p:cNvSpPr>
            <a:spLocks xmlns:a="http://schemas.openxmlformats.org/drawingml/2006/main" noGrp="1"/>
          </p:cNvSpPr>
          <p:nvPr/>
        </p:nvSpPr>
        <p:spPr>
          <a:xfrm xmlns:a="http://schemas.openxmlformats.org/drawingml/2006/main">
            <a:off x="657225" y="17240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01BB9BC2-AE0D-44BE-9DCF-43679AC172CB}"/>
              </a:ext>
            </a:extLst>
          </p:cNvPr>
          <p:cNvSpPr>
            <a:spLocks xmlns:a="http://schemas.openxmlformats.org/drawingml/2006/main" noGrp="1"/>
          </p:cNvSpPr>
          <p:nvPr/>
        </p:nvSpPr>
        <p:spPr>
          <a:xfrm xmlns:a="http://schemas.openxmlformats.org/drawingml/2006/main">
            <a:off x="571500" y="20574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1 · What enters</a:t>
            </a:r>
          </a:p>
        </p:txBody>
      </p:sp>
      <p:sp>
        <p:nvSpPr>
          <p:cNvPr id="9" name="">
            <a:extLst xmlns:a="http://schemas.openxmlformats.org/drawingml/2006/main">
              <a:ext uri="{FF2B5EF4-FFF2-40B4-BE49-F238E27FC236}">
                <a16:creationId xmlns:a16="http://schemas.microsoft.com/office/drawing/2014/main" id="{3130B832-9325-4377-8CAC-506B4EEA75E9}"/>
              </a:ext>
            </a:extLst>
          </p:cNvPr>
          <p:cNvSpPr>
            <a:spLocks xmlns:a="http://schemas.openxmlformats.org/drawingml/2006/main" noGrp="1"/>
          </p:cNvSpPr>
          <p:nvPr/>
        </p:nvSpPr>
        <p:spPr>
          <a:xfrm xmlns:a="http://schemas.openxmlformats.org/drawingml/2006/main">
            <a:off x="571500" y="2438400"/>
            <a:ext cx="232410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Raw strain curves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Clinical trajectory values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Inter-segment variability</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Current-versus-previous changes</a:t>
            </a:r>
          </a:p>
        </p:txBody>
      </p:sp>
      <p:sp>
        <p:nvSpPr>
          <p:cNvPr id="10" name="">
            <a:extLst xmlns:a="http://schemas.openxmlformats.org/drawingml/2006/main">
              <a:ext uri="{FF2B5EF4-FFF2-40B4-BE49-F238E27FC236}">
                <a16:creationId xmlns:a16="http://schemas.microsoft.com/office/drawing/2014/main" id="{1913623D-8A69-47C2-9938-A83D86B31512}"/>
              </a:ext>
            </a:extLst>
          </p:cNvPr>
          <p:cNvSpPr>
            <a:spLocks xmlns:a="http://schemas.openxmlformats.org/drawingml/2006/main" noGrp="1"/>
          </p:cNvSpPr>
          <p:nvPr/>
        </p:nvSpPr>
        <p:spPr>
          <a:xfrm xmlns:a="http://schemas.openxmlformats.org/drawingml/2006/main">
            <a:off x="3219450" y="1524000"/>
            <a:ext cx="2667000" cy="3943350"/>
          </a:xfrm>
          <a:prstGeom xmlns:a="http://schemas.openxmlformats.org/drawingml/2006/main" prst="roundRect">
            <a:avLst>
              <a:gd name="adj" fmla="val 4286"/>
            </a:avLst>
          </a:prstGeom>
          <a:solidFill xmlns:a="http://schemas.openxmlformats.org/drawingml/2006/main">
            <a:srgbClr val="EBF6EF"/>
          </a:solidFill>
          <a:ln xmlns:a="http://schemas.openxmlformats.org/drawingml/2006/main" w="9525">
            <a:solidFill>
              <a:srgbClr val="EDEDED"/>
            </a:solidFill>
            <a:prstDash val="solid"/>
          </a:ln>
        </p:spPr>
      </p:sp>
      <p:sp>
        <p:nvSpPr>
          <p:cNvPr id="11" name="">
            <a:extLst xmlns:a="http://schemas.openxmlformats.org/drawingml/2006/main">
              <a:ext uri="{FF2B5EF4-FFF2-40B4-BE49-F238E27FC236}">
                <a16:creationId xmlns:a16="http://schemas.microsoft.com/office/drawing/2014/main" id="{78D39D86-5BE3-4EC0-B2AD-CBFA0F1A4809}"/>
              </a:ext>
            </a:extLst>
          </p:cNvPr>
          <p:cNvSpPr>
            <a:spLocks xmlns:a="http://schemas.openxmlformats.org/drawingml/2006/main" noGrp="1"/>
          </p:cNvSpPr>
          <p:nvPr/>
        </p:nvSpPr>
        <p:spPr>
          <a:xfrm xmlns:a="http://schemas.openxmlformats.org/drawingml/2006/main">
            <a:off x="3390900" y="1676400"/>
            <a:ext cx="419100" cy="26670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2" name="">
            <a:extLst xmlns:a="http://schemas.openxmlformats.org/drawingml/2006/main">
              <a:ext uri="{FF2B5EF4-FFF2-40B4-BE49-F238E27FC236}">
                <a16:creationId xmlns:a16="http://schemas.microsoft.com/office/drawing/2014/main" id="{F0196916-26F1-4691-9B47-BD9CE0A9C938}"/>
              </a:ext>
            </a:extLst>
          </p:cNvPr>
          <p:cNvSpPr>
            <a:spLocks xmlns:a="http://schemas.openxmlformats.org/drawingml/2006/main" noGrp="1"/>
          </p:cNvSpPr>
          <p:nvPr/>
        </p:nvSpPr>
        <p:spPr>
          <a:xfrm xmlns:a="http://schemas.openxmlformats.org/drawingml/2006/main">
            <a:off x="3476625" y="17240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A3539944-8D8B-4D64-AFD6-FCA9D236951A}"/>
              </a:ext>
            </a:extLst>
          </p:cNvPr>
          <p:cNvSpPr>
            <a:spLocks xmlns:a="http://schemas.openxmlformats.org/drawingml/2006/main" noGrp="1"/>
          </p:cNvSpPr>
          <p:nvPr/>
        </p:nvSpPr>
        <p:spPr>
          <a:xfrm xmlns:a="http://schemas.openxmlformats.org/drawingml/2006/main">
            <a:off x="3390900" y="20574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2 · What the model does</a:t>
            </a:r>
          </a:p>
        </p:txBody>
      </p:sp>
      <p:sp>
        <p:nvSpPr>
          <p:cNvPr id="14" name="">
            <a:extLst xmlns:a="http://schemas.openxmlformats.org/drawingml/2006/main">
              <a:ext uri="{FF2B5EF4-FFF2-40B4-BE49-F238E27FC236}">
                <a16:creationId xmlns:a16="http://schemas.microsoft.com/office/drawing/2014/main" id="{AC8BD878-8CA6-4B0D-81A8-02D9FF848435}"/>
              </a:ext>
            </a:extLst>
          </p:cNvPr>
          <p:cNvSpPr>
            <a:spLocks xmlns:a="http://schemas.openxmlformats.org/drawingml/2006/main" noGrp="1"/>
          </p:cNvSpPr>
          <p:nvPr/>
        </p:nvSpPr>
        <p:spPr>
          <a:xfrm xmlns:a="http://schemas.openxmlformats.org/drawingml/2006/main">
            <a:off x="3390900" y="2438400"/>
            <a:ext cx="232410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Architecture and dimensions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Transform or representation</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Classifier and regularization</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How model outputs are ensembled</a:t>
            </a:r>
          </a:p>
        </p:txBody>
      </p:sp>
      <p:sp>
        <p:nvSpPr>
          <p:cNvPr id="15" name="">
            <a:extLst xmlns:a="http://schemas.openxmlformats.org/drawingml/2006/main">
              <a:ext uri="{FF2B5EF4-FFF2-40B4-BE49-F238E27FC236}">
                <a16:creationId xmlns:a16="http://schemas.microsoft.com/office/drawing/2014/main" id="{11677E68-A13F-4115-AA06-BDE47AC8B5C1}"/>
              </a:ext>
            </a:extLst>
          </p:cNvPr>
          <p:cNvSpPr>
            <a:spLocks xmlns:a="http://schemas.openxmlformats.org/drawingml/2006/main" noGrp="1"/>
          </p:cNvSpPr>
          <p:nvPr/>
        </p:nvSpPr>
        <p:spPr>
          <a:xfrm xmlns:a="http://schemas.openxmlformats.org/drawingml/2006/main">
            <a:off x="6038850" y="1524000"/>
            <a:ext cx="2667000" cy="3943350"/>
          </a:xfrm>
          <a:prstGeom xmlns:a="http://schemas.openxmlformats.org/drawingml/2006/main" prst="roundRect">
            <a:avLst>
              <a:gd name="adj" fmla="val 4286"/>
            </a:avLst>
          </a:prstGeom>
          <a:solidFill xmlns:a="http://schemas.openxmlformats.org/drawingml/2006/main">
            <a:srgbClr val="FFF2E7"/>
          </a:solidFill>
          <a:ln xmlns:a="http://schemas.openxmlformats.org/drawingml/2006/main" w="9525">
            <a:solidFill>
              <a:srgbClr val="EDEDED"/>
            </a:solidFill>
            <a:prstDash val="solid"/>
          </a:ln>
        </p:spPr>
      </p:sp>
      <p:sp>
        <p:nvSpPr>
          <p:cNvPr id="16" name="">
            <a:extLst xmlns:a="http://schemas.openxmlformats.org/drawingml/2006/main">
              <a:ext uri="{FF2B5EF4-FFF2-40B4-BE49-F238E27FC236}">
                <a16:creationId xmlns:a16="http://schemas.microsoft.com/office/drawing/2014/main" id="{FDFCF3DA-4B89-450E-A470-AAC42AA80680}"/>
              </a:ext>
            </a:extLst>
          </p:cNvPr>
          <p:cNvSpPr>
            <a:spLocks xmlns:a="http://schemas.openxmlformats.org/drawingml/2006/main" noGrp="1"/>
          </p:cNvSpPr>
          <p:nvPr/>
        </p:nvSpPr>
        <p:spPr>
          <a:xfrm xmlns:a="http://schemas.openxmlformats.org/drawingml/2006/main">
            <a:off x="6210300" y="1676400"/>
            <a:ext cx="419100" cy="26670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17" name="">
            <a:extLst xmlns:a="http://schemas.openxmlformats.org/drawingml/2006/main">
              <a:ext uri="{FF2B5EF4-FFF2-40B4-BE49-F238E27FC236}">
                <a16:creationId xmlns:a16="http://schemas.microsoft.com/office/drawing/2014/main" id="{9FECEEE8-EF3F-4BE6-BE09-0555DD6951B5}"/>
              </a:ext>
            </a:extLst>
          </p:cNvPr>
          <p:cNvSpPr>
            <a:spLocks xmlns:a="http://schemas.openxmlformats.org/drawingml/2006/main" noGrp="1"/>
          </p:cNvSpPr>
          <p:nvPr/>
        </p:nvSpPr>
        <p:spPr>
          <a:xfrm xmlns:a="http://schemas.openxmlformats.org/drawingml/2006/main">
            <a:off x="6296025" y="17240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22660EDA-A826-4B83-9FA9-1947ABC5AA8C}"/>
              </a:ext>
            </a:extLst>
          </p:cNvPr>
          <p:cNvSpPr>
            <a:spLocks xmlns:a="http://schemas.openxmlformats.org/drawingml/2006/main" noGrp="1"/>
          </p:cNvSpPr>
          <p:nvPr/>
        </p:nvSpPr>
        <p:spPr>
          <a:xfrm xmlns:a="http://schemas.openxmlformats.org/drawingml/2006/main">
            <a:off x="6210300" y="20574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3 · What was important</a:t>
            </a:r>
          </a:p>
        </p:txBody>
      </p:sp>
      <p:sp>
        <p:nvSpPr>
          <p:cNvPr id="19" name="">
            <a:extLst xmlns:a="http://schemas.openxmlformats.org/drawingml/2006/main">
              <a:ext uri="{FF2B5EF4-FFF2-40B4-BE49-F238E27FC236}">
                <a16:creationId xmlns:a16="http://schemas.microsoft.com/office/drawing/2014/main" id="{349F3894-17EF-4748-9167-AF20ECEB7681}"/>
              </a:ext>
            </a:extLst>
          </p:cNvPr>
          <p:cNvSpPr>
            <a:spLocks xmlns:a="http://schemas.openxmlformats.org/drawingml/2006/main" noGrp="1"/>
          </p:cNvSpPr>
          <p:nvPr/>
        </p:nvSpPr>
        <p:spPr>
          <a:xfrm xmlns:a="http://schemas.openxmlformats.org/drawingml/2006/main">
            <a:off x="6210300" y="2438400"/>
            <a:ext cx="232410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Held-out permutation importance</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TreeSHAP when available</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Model-level Shapley values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Confidence intervals and caveats</a:t>
            </a:r>
          </a:p>
        </p:txBody>
      </p:sp>
      <p:sp>
        <p:nvSpPr>
          <p:cNvPr id="20" name="">
            <a:extLst xmlns:a="http://schemas.openxmlformats.org/drawingml/2006/main">
              <a:ext uri="{FF2B5EF4-FFF2-40B4-BE49-F238E27FC236}">
                <a16:creationId xmlns:a16="http://schemas.microsoft.com/office/drawing/2014/main" id="{E68589EB-7CCB-4A9D-BFA1-B005096E0E4E}"/>
              </a:ext>
            </a:extLst>
          </p:cNvPr>
          <p:cNvSpPr>
            <a:spLocks xmlns:a="http://schemas.openxmlformats.org/drawingml/2006/main" noGrp="1"/>
          </p:cNvSpPr>
          <p:nvPr/>
        </p:nvSpPr>
        <p:spPr>
          <a:xfrm xmlns:a="http://schemas.openxmlformats.org/drawingml/2006/main">
            <a:off x="8858250" y="1524000"/>
            <a:ext cx="2667000" cy="3943350"/>
          </a:xfrm>
          <a:prstGeom xmlns:a="http://schemas.openxmlformats.org/drawingml/2006/main" prst="roundRect">
            <a:avLst>
              <a:gd name="adj" fmla="val 4286"/>
            </a:avLst>
          </a:prstGeom>
          <a:solidFill xmlns:a="http://schemas.openxmlformats.org/drawingml/2006/main">
            <a:srgbClr val="FBECEC"/>
          </a:solidFill>
          <a:ln xmlns:a="http://schemas.openxmlformats.org/drawingml/2006/main" w="9525">
            <a:solidFill>
              <a:srgbClr val="EDEDED"/>
            </a:solidFill>
            <a:prstDash val="solid"/>
          </a:ln>
        </p:spPr>
      </p:sp>
      <p:sp>
        <p:nvSpPr>
          <p:cNvPr id="21" name="">
            <a:extLst xmlns:a="http://schemas.openxmlformats.org/drawingml/2006/main">
              <a:ext uri="{FF2B5EF4-FFF2-40B4-BE49-F238E27FC236}">
                <a16:creationId xmlns:a16="http://schemas.microsoft.com/office/drawing/2014/main" id="{7B7F4F4B-FF6E-408E-AA7A-043C0E464AC9}"/>
              </a:ext>
            </a:extLst>
          </p:cNvPr>
          <p:cNvSpPr>
            <a:spLocks xmlns:a="http://schemas.openxmlformats.org/drawingml/2006/main" noGrp="1"/>
          </p:cNvSpPr>
          <p:nvPr/>
        </p:nvSpPr>
        <p:spPr>
          <a:xfrm xmlns:a="http://schemas.openxmlformats.org/drawingml/2006/main">
            <a:off x="9029700" y="1676400"/>
            <a:ext cx="419100" cy="266700"/>
          </a:xfrm>
          <a:prstGeom xmlns:a="http://schemas.openxmlformats.org/drawingml/2006/main" prst="roundRect">
            <a:avLst>
              <a:gd name="adj" fmla="val 50000"/>
            </a:avLst>
          </a:prstGeom>
          <a:solidFill xmlns:a="http://schemas.openxmlformats.org/drawingml/2006/main">
            <a:srgbClr val="C94949"/>
          </a:solidFill>
          <a:ln xmlns:a="http://schemas.openxmlformats.org/drawingml/2006/main" w="0">
            <a:solidFill>
              <a:srgbClr val="C94949"/>
            </a:solidFill>
            <a:prstDash val="solid"/>
          </a:ln>
        </p:spPr>
      </p:sp>
      <p:sp>
        <p:nvSpPr>
          <p:cNvPr id="22" name="">
            <a:extLst xmlns:a="http://schemas.openxmlformats.org/drawingml/2006/main">
              <a:ext uri="{FF2B5EF4-FFF2-40B4-BE49-F238E27FC236}">
                <a16:creationId xmlns:a16="http://schemas.microsoft.com/office/drawing/2014/main" id="{C9FE3620-CEBC-40FE-8EE0-91CD6B2A5B27}"/>
              </a:ext>
            </a:extLst>
          </p:cNvPr>
          <p:cNvSpPr>
            <a:spLocks xmlns:a="http://schemas.openxmlformats.org/drawingml/2006/main" noGrp="1"/>
          </p:cNvSpPr>
          <p:nvPr/>
        </p:nvSpPr>
        <p:spPr>
          <a:xfrm xmlns:a="http://schemas.openxmlformats.org/drawingml/2006/main">
            <a:off x="9115425" y="17240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879C87E2-597D-43E6-8D66-A198392269C0}"/>
              </a:ext>
            </a:extLst>
          </p:cNvPr>
          <p:cNvSpPr>
            <a:spLocks xmlns:a="http://schemas.openxmlformats.org/drawingml/2006/main" noGrp="1"/>
          </p:cNvSpPr>
          <p:nvPr/>
        </p:nvSpPr>
        <p:spPr>
          <a:xfrm xmlns:a="http://schemas.openxmlformats.org/drawingml/2006/main">
            <a:off x="9029700" y="20574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4 · Why it may matter</a:t>
            </a:r>
          </a:p>
        </p:txBody>
      </p:sp>
      <p:sp>
        <p:nvSpPr>
          <p:cNvPr id="24" name="">
            <a:extLst xmlns:a="http://schemas.openxmlformats.org/drawingml/2006/main">
              <a:ext uri="{FF2B5EF4-FFF2-40B4-BE49-F238E27FC236}">
                <a16:creationId xmlns:a16="http://schemas.microsoft.com/office/drawing/2014/main" id="{0CC2B74A-118E-4FA4-A6B1-C96DF61F8E24}"/>
              </a:ext>
            </a:extLst>
          </p:cNvPr>
          <p:cNvSpPr>
            <a:spLocks xmlns:a="http://schemas.openxmlformats.org/drawingml/2006/main" noGrp="1"/>
          </p:cNvSpPr>
          <p:nvPr/>
        </p:nvSpPr>
        <p:spPr>
          <a:xfrm xmlns:a="http://schemas.openxmlformats.org/drawingml/2006/main">
            <a:off x="9029700" y="2438400"/>
            <a:ext cx="232410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Contractile amplitude</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Mechanical timing</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Spatial heterogeneity</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Transmural Endo–Mid discordance</a:t>
            </a:r>
          </a:p>
        </p:txBody>
      </p:sp>
      <p:sp>
        <p:nvSpPr>
          <p:cNvPr id="25" name="">
            <a:extLst xmlns:a="http://schemas.openxmlformats.org/drawingml/2006/main">
              <a:ext uri="{FF2B5EF4-FFF2-40B4-BE49-F238E27FC236}">
                <a16:creationId xmlns:a16="http://schemas.microsoft.com/office/drawing/2014/main" id="{FB8E5478-2877-41EC-8D91-C923A34066E1}"/>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deck structure; local code + primary literature in speaker notes</a:t>
            </a:r>
          </a:p>
        </p:txBody>
      </p:sp>
    </p:spTree>
    <p:extLst>
      <p:ext uri="{BB962C8B-B14F-4D97-AF65-F5344CB8AC3E}">
        <p14:creationId xmlns:p14="http://schemas.microsoft.com/office/powerpoint/2010/main" val="32541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D62BD9B-776B-41E3-B40D-0CA27122C6BC}"/>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PREDICTION TASK</a:t>
            </a:r>
          </a:p>
        </p:txBody>
      </p:sp>
      <p:sp>
        <p:nvSpPr>
          <p:cNvPr id="2" name="">
            <a:extLst xmlns:a="http://schemas.openxmlformats.org/drawingml/2006/main">
              <a:ext uri="{FF2B5EF4-FFF2-40B4-BE49-F238E27FC236}">
                <a16:creationId xmlns:a16="http://schemas.microsoft.com/office/drawing/2014/main" id="{B96C0BD7-33F3-4F41-8576-4C674661840D}"/>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The prediction target is one visit ahead</a:t>
            </a:r>
          </a:p>
        </p:txBody>
      </p:sp>
      <p:sp>
        <p:nvSpPr>
          <p:cNvPr id="3" name="">
            <a:extLst xmlns:a="http://schemas.openxmlformats.org/drawingml/2006/main">
              <a:ext uri="{FF2B5EF4-FFF2-40B4-BE49-F238E27FC236}">
                <a16:creationId xmlns:a16="http://schemas.microsoft.com/office/drawing/2014/main" id="{45A5C09C-AD21-497C-AEA2-52215B874876}"/>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B032D8A-794D-4D2B-89FE-C64AB6355C65}"/>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C7A9568-1891-4426-8471-ECF8B76EAFEF}"/>
              </a:ext>
            </a:extLst>
          </p:cNvPr>
          <p:cNvSpPr>
            <a:spLocks xmlns:a="http://schemas.openxmlformats.org/drawingml/2006/main" noGrp="1"/>
          </p:cNvSpPr>
          <p:nvPr/>
        </p:nvSpPr>
        <p:spPr>
          <a:xfrm xmlns:a="http://schemas.openxmlformats.org/drawingml/2006/main">
            <a:off x="3195638" y="22764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6" name="">
            <a:extLst xmlns:a="http://schemas.openxmlformats.org/drawingml/2006/main">
              <a:ext uri="{FF2B5EF4-FFF2-40B4-BE49-F238E27FC236}">
                <a16:creationId xmlns:a16="http://schemas.microsoft.com/office/drawing/2014/main" id="{68A73675-0E89-4C8F-B195-87504E06042C}"/>
              </a:ext>
            </a:extLst>
          </p:cNvPr>
          <p:cNvSpPr>
            <a:spLocks xmlns:a="http://schemas.openxmlformats.org/drawingml/2006/main" noGrp="1"/>
          </p:cNvSpPr>
          <p:nvPr/>
        </p:nvSpPr>
        <p:spPr>
          <a:xfrm xmlns:a="http://schemas.openxmlformats.org/drawingml/2006/main">
            <a:off x="6019800" y="22764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
            <a:extLst xmlns:a="http://schemas.openxmlformats.org/drawingml/2006/main">
              <a:ext uri="{FF2B5EF4-FFF2-40B4-BE49-F238E27FC236}">
                <a16:creationId xmlns:a16="http://schemas.microsoft.com/office/drawing/2014/main" id="{FA294CA7-C66D-4175-BC17-C2129C67C2BC}"/>
              </a:ext>
            </a:extLst>
          </p:cNvPr>
          <p:cNvSpPr>
            <a:spLocks xmlns:a="http://schemas.openxmlformats.org/drawingml/2006/main" noGrp="1"/>
          </p:cNvSpPr>
          <p:nvPr/>
        </p:nvSpPr>
        <p:spPr>
          <a:xfrm xmlns:a="http://schemas.openxmlformats.org/drawingml/2006/main">
            <a:off x="8843963" y="22764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8" name="">
            <a:extLst xmlns:a="http://schemas.openxmlformats.org/drawingml/2006/main">
              <a:ext uri="{FF2B5EF4-FFF2-40B4-BE49-F238E27FC236}">
                <a16:creationId xmlns:a16="http://schemas.microsoft.com/office/drawing/2014/main" id="{7CB16211-813B-4713-98B4-AE9380C26720}"/>
              </a:ext>
            </a:extLst>
          </p:cNvPr>
          <p:cNvSpPr>
            <a:spLocks xmlns:a="http://schemas.openxmlformats.org/drawingml/2006/main" noGrp="1"/>
          </p:cNvSpPr>
          <p:nvPr/>
        </p:nvSpPr>
        <p:spPr>
          <a:xfrm xmlns:a="http://schemas.openxmlformats.org/drawingml/2006/main">
            <a:off x="552450" y="1676400"/>
            <a:ext cx="2614613" cy="1200150"/>
          </a:xfrm>
          <a:prstGeom xmlns:a="http://schemas.openxmlformats.org/drawingml/2006/main" prst="roundRect">
            <a:avLst>
              <a:gd name="adj" fmla="val 9524"/>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32B00078-80F8-4494-B332-5507240D213E}"/>
              </a:ext>
            </a:extLst>
          </p:cNvPr>
          <p:cNvSpPr>
            <a:spLocks xmlns:a="http://schemas.openxmlformats.org/drawingml/2006/main" noGrp="1"/>
          </p:cNvSpPr>
          <p:nvPr/>
        </p:nvSpPr>
        <p:spPr>
          <a:xfrm xmlns:a="http://schemas.openxmlformats.org/drawingml/2006/main">
            <a:off x="685800" y="18288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First visit</a:t>
            </a:r>
          </a:p>
        </p:txBody>
      </p:sp>
      <p:sp>
        <p:nvSpPr>
          <p:cNvPr id="10" name="">
            <a:extLst xmlns:a="http://schemas.openxmlformats.org/drawingml/2006/main">
              <a:ext uri="{FF2B5EF4-FFF2-40B4-BE49-F238E27FC236}">
                <a16:creationId xmlns:a16="http://schemas.microsoft.com/office/drawing/2014/main" id="{94FB028C-864F-4F7D-B065-18602BD41D4B}"/>
              </a:ext>
            </a:extLst>
          </p:cNvPr>
          <p:cNvSpPr>
            <a:spLocks xmlns:a="http://schemas.openxmlformats.org/drawingml/2006/main" noGrp="1"/>
          </p:cNvSpPr>
          <p:nvPr/>
        </p:nvSpPr>
        <p:spPr>
          <a:xfrm xmlns:a="http://schemas.openxmlformats.org/drawingml/2006/main">
            <a:off x="685800" y="219075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Defines the patient-specific Mid-GLS baseline</a:t>
            </a:r>
          </a:p>
        </p:txBody>
      </p:sp>
      <p:sp>
        <p:nvSpPr>
          <p:cNvPr id="11" name="">
            <a:extLst xmlns:a="http://schemas.openxmlformats.org/drawingml/2006/main">
              <a:ext uri="{FF2B5EF4-FFF2-40B4-BE49-F238E27FC236}">
                <a16:creationId xmlns:a16="http://schemas.microsoft.com/office/drawing/2014/main" id="{EADD0F46-795D-43E8-AD19-FCACA54B5EAC}"/>
              </a:ext>
            </a:extLst>
          </p:cNvPr>
          <p:cNvSpPr>
            <a:spLocks xmlns:a="http://schemas.openxmlformats.org/drawingml/2006/main" noGrp="1"/>
          </p:cNvSpPr>
          <p:nvPr/>
        </p:nvSpPr>
        <p:spPr>
          <a:xfrm xmlns:a="http://schemas.openxmlformats.org/drawingml/2006/main">
            <a:off x="3376613" y="1676400"/>
            <a:ext cx="2614613" cy="1200150"/>
          </a:xfrm>
          <a:prstGeom xmlns:a="http://schemas.openxmlformats.org/drawingml/2006/main" prst="roundRect">
            <a:avLst>
              <a:gd name="adj" fmla="val 9524"/>
            </a:avLst>
          </a:prstGeom>
          <a:solidFill xmlns:a="http://schemas.openxmlformats.org/drawingml/2006/main">
            <a:srgbClr val="E9FAF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DA2CAA8B-361A-400B-A458-6CF76500A2D8}"/>
              </a:ext>
            </a:extLst>
          </p:cNvPr>
          <p:cNvSpPr>
            <a:spLocks xmlns:a="http://schemas.openxmlformats.org/drawingml/2006/main" noGrp="1"/>
          </p:cNvSpPr>
          <p:nvPr/>
        </p:nvSpPr>
        <p:spPr>
          <a:xfrm xmlns:a="http://schemas.openxmlformats.org/drawingml/2006/main">
            <a:off x="3509963" y="18288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Current visit t</a:t>
            </a:r>
          </a:p>
        </p:txBody>
      </p:sp>
      <p:sp>
        <p:nvSpPr>
          <p:cNvPr id="13" name="">
            <a:extLst xmlns:a="http://schemas.openxmlformats.org/drawingml/2006/main">
              <a:ext uri="{FF2B5EF4-FFF2-40B4-BE49-F238E27FC236}">
                <a16:creationId xmlns:a16="http://schemas.microsoft.com/office/drawing/2014/main" id="{27E20043-157E-4FEB-8286-5019082288B2}"/>
              </a:ext>
            </a:extLst>
          </p:cNvPr>
          <p:cNvSpPr>
            <a:spLocks xmlns:a="http://schemas.openxmlformats.org/drawingml/2006/main" noGrp="1"/>
          </p:cNvSpPr>
          <p:nvPr/>
        </p:nvSpPr>
        <p:spPr>
          <a:xfrm xmlns:a="http://schemas.openxmlformats.org/drawingml/2006/main">
            <a:off x="3509963" y="219075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Curves + scalar trajectory available now</a:t>
            </a:r>
          </a:p>
        </p:txBody>
      </p:sp>
      <p:sp>
        <p:nvSpPr>
          <p:cNvPr id="14" name="">
            <a:extLst xmlns:a="http://schemas.openxmlformats.org/drawingml/2006/main">
              <a:ext uri="{FF2B5EF4-FFF2-40B4-BE49-F238E27FC236}">
                <a16:creationId xmlns:a16="http://schemas.microsoft.com/office/drawing/2014/main" id="{C7CD8D9E-E9DE-432A-BCAA-D361334650F3}"/>
              </a:ext>
            </a:extLst>
          </p:cNvPr>
          <p:cNvSpPr>
            <a:spLocks xmlns:a="http://schemas.openxmlformats.org/drawingml/2006/main" noGrp="1"/>
          </p:cNvSpPr>
          <p:nvPr/>
        </p:nvSpPr>
        <p:spPr>
          <a:xfrm xmlns:a="http://schemas.openxmlformats.org/drawingml/2006/main">
            <a:off x="6200775" y="1676400"/>
            <a:ext cx="2614613" cy="1200150"/>
          </a:xfrm>
          <a:prstGeom xmlns:a="http://schemas.openxmlformats.org/drawingml/2006/main" prst="roundRect">
            <a:avLst>
              <a:gd name="adj" fmla="val 9524"/>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12B166D4-484D-4E20-B0A4-2712FEBA5AF4}"/>
              </a:ext>
            </a:extLst>
          </p:cNvPr>
          <p:cNvSpPr>
            <a:spLocks xmlns:a="http://schemas.openxmlformats.org/drawingml/2006/main" noGrp="1"/>
          </p:cNvSpPr>
          <p:nvPr/>
        </p:nvSpPr>
        <p:spPr>
          <a:xfrm xmlns:a="http://schemas.openxmlformats.org/drawingml/2006/main">
            <a:off x="6334125" y="18288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Model alert</a:t>
            </a:r>
          </a:p>
        </p:txBody>
      </p:sp>
      <p:sp>
        <p:nvSpPr>
          <p:cNvPr id="16" name="">
            <a:extLst xmlns:a="http://schemas.openxmlformats.org/drawingml/2006/main">
              <a:ext uri="{FF2B5EF4-FFF2-40B4-BE49-F238E27FC236}">
                <a16:creationId xmlns:a16="http://schemas.microsoft.com/office/drawing/2014/main" id="{3F936B46-6A96-418A-84F2-BAA41A7E2317}"/>
              </a:ext>
            </a:extLst>
          </p:cNvPr>
          <p:cNvSpPr>
            <a:spLocks xmlns:a="http://schemas.openxmlformats.org/drawingml/2006/main" noGrp="1"/>
          </p:cNvSpPr>
          <p:nvPr/>
        </p:nvSpPr>
        <p:spPr>
          <a:xfrm xmlns:a="http://schemas.openxmlformats.org/drawingml/2006/main">
            <a:off x="6334125" y="219075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Probability of first deterioration at t+1</a:t>
            </a:r>
          </a:p>
        </p:txBody>
      </p:sp>
      <p:sp>
        <p:nvSpPr>
          <p:cNvPr id="17" name="">
            <a:extLst xmlns:a="http://schemas.openxmlformats.org/drawingml/2006/main">
              <a:ext uri="{FF2B5EF4-FFF2-40B4-BE49-F238E27FC236}">
                <a16:creationId xmlns:a16="http://schemas.microsoft.com/office/drawing/2014/main" id="{569598DB-3BA5-484F-8F76-85A84725833A}"/>
              </a:ext>
            </a:extLst>
          </p:cNvPr>
          <p:cNvSpPr>
            <a:spLocks xmlns:a="http://schemas.openxmlformats.org/drawingml/2006/main" noGrp="1"/>
          </p:cNvSpPr>
          <p:nvPr/>
        </p:nvSpPr>
        <p:spPr>
          <a:xfrm xmlns:a="http://schemas.openxmlformats.org/drawingml/2006/main">
            <a:off x="9024938" y="1676400"/>
            <a:ext cx="2614613" cy="1200150"/>
          </a:xfrm>
          <a:prstGeom xmlns:a="http://schemas.openxmlformats.org/drawingml/2006/main" prst="roundRect">
            <a:avLst>
              <a:gd name="adj" fmla="val 9524"/>
            </a:avLst>
          </a:prstGeom>
          <a:solidFill xmlns:a="http://schemas.openxmlformats.org/drawingml/2006/main">
            <a:srgbClr val="FBECEC"/>
          </a:solidFill>
          <a:ln xmlns:a="http://schemas.openxmlformats.org/drawingml/2006/main" w="9525">
            <a:solidFill>
              <a:srgbClr val="EDEDED"/>
            </a:solidFill>
            <a:prstDash val="solid"/>
          </a:ln>
        </p:spPr>
      </p:sp>
      <p:sp>
        <p:nvSpPr>
          <p:cNvPr id="18" name="">
            <a:extLst xmlns:a="http://schemas.openxmlformats.org/drawingml/2006/main">
              <a:ext uri="{FF2B5EF4-FFF2-40B4-BE49-F238E27FC236}">
                <a16:creationId xmlns:a16="http://schemas.microsoft.com/office/drawing/2014/main" id="{00E29115-DAD0-488F-9979-3B3F8B223536}"/>
              </a:ext>
            </a:extLst>
          </p:cNvPr>
          <p:cNvSpPr>
            <a:spLocks xmlns:a="http://schemas.openxmlformats.org/drawingml/2006/main" noGrp="1"/>
          </p:cNvSpPr>
          <p:nvPr/>
        </p:nvSpPr>
        <p:spPr>
          <a:xfrm xmlns:a="http://schemas.openxmlformats.org/drawingml/2006/main">
            <a:off x="9158288" y="18288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Next visit t+1</a:t>
            </a:r>
          </a:p>
        </p:txBody>
      </p:sp>
      <p:sp>
        <p:nvSpPr>
          <p:cNvPr id="19" name="">
            <a:extLst xmlns:a="http://schemas.openxmlformats.org/drawingml/2006/main">
              <a:ext uri="{FF2B5EF4-FFF2-40B4-BE49-F238E27FC236}">
                <a16:creationId xmlns:a16="http://schemas.microsoft.com/office/drawing/2014/main" id="{142823A3-88D7-4A95-8FA0-90ABF29593C1}"/>
              </a:ext>
            </a:extLst>
          </p:cNvPr>
          <p:cNvSpPr>
            <a:spLocks xmlns:a="http://schemas.openxmlformats.org/drawingml/2006/main" noGrp="1"/>
          </p:cNvSpPr>
          <p:nvPr/>
        </p:nvSpPr>
        <p:spPr>
          <a:xfrm xmlns:a="http://schemas.openxmlformats.org/drawingml/2006/main">
            <a:off x="9158288" y="219075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Label is revealed here—not given to the model</a:t>
            </a:r>
          </a:p>
        </p:txBody>
      </p:sp>
      <p:sp>
        <p:nvSpPr>
          <p:cNvPr id="20" name="">
            <a:extLst xmlns:a="http://schemas.openxmlformats.org/drawingml/2006/main">
              <a:ext uri="{FF2B5EF4-FFF2-40B4-BE49-F238E27FC236}">
                <a16:creationId xmlns:a16="http://schemas.microsoft.com/office/drawing/2014/main" id="{0F364AA9-E554-4C5C-9DFA-55AC8FBF25C6}"/>
              </a:ext>
            </a:extLst>
          </p:cNvPr>
          <p:cNvSpPr>
            <a:spLocks xmlns:a="http://schemas.openxmlformats.org/drawingml/2006/main" noGrp="1"/>
          </p:cNvSpPr>
          <p:nvPr/>
        </p:nvSpPr>
        <p:spPr>
          <a:xfrm xmlns:a="http://schemas.openxmlformats.org/drawingml/2006/main">
            <a:off x="1695450" y="3448050"/>
            <a:ext cx="8801100" cy="990600"/>
          </a:xfrm>
          <a:prstGeom xmlns:a="http://schemas.openxmlformats.org/drawingml/2006/main" prst="roundRect">
            <a:avLst>
              <a:gd name="adj" fmla="val 7692"/>
            </a:avLst>
          </a:prstGeom>
          <a:solidFill xmlns:a="http://schemas.openxmlformats.org/drawingml/2006/main">
            <a:srgbClr val="050505"/>
          </a:solidFill>
          <a:ln xmlns:a="http://schemas.openxmlformats.org/drawingml/2006/main" w="0">
            <a:solidFill>
              <a:srgbClr val="050505"/>
            </a:solidFill>
            <a:prstDash val="solid"/>
          </a:ln>
        </p:spPr>
      </p:sp>
      <p:sp>
        <p:nvSpPr>
          <p:cNvPr id="21" name="">
            <a:extLst xmlns:a="http://schemas.openxmlformats.org/drawingml/2006/main">
              <a:ext uri="{FF2B5EF4-FFF2-40B4-BE49-F238E27FC236}">
                <a16:creationId xmlns:a16="http://schemas.microsoft.com/office/drawing/2014/main" id="{B631EE8A-BA1D-41FC-9DFB-0B0098F058EC}"/>
              </a:ext>
            </a:extLst>
          </p:cNvPr>
          <p:cNvSpPr>
            <a:spLocks xmlns:a="http://schemas.openxmlformats.org/drawingml/2006/main" noGrp="1"/>
          </p:cNvSpPr>
          <p:nvPr/>
        </p:nvSpPr>
        <p:spPr>
          <a:xfrm xmlns:a="http://schemas.openxmlformats.org/drawingml/2006/main">
            <a:off x="1866900" y="3600450"/>
            <a:ext cx="845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relative decline = 1 − |Mid-GLS(t+1)| / |Mid-GLS(first)|</a:t>
            </a:r>
          </a:p>
        </p:txBody>
      </p:sp>
      <p:sp>
        <p:nvSpPr>
          <p:cNvPr id="22" name="">
            <a:extLst xmlns:a="http://schemas.openxmlformats.org/drawingml/2006/main">
              <a:ext uri="{FF2B5EF4-FFF2-40B4-BE49-F238E27FC236}">
                <a16:creationId xmlns:a16="http://schemas.microsoft.com/office/drawing/2014/main" id="{D5F84633-1EAC-4D1F-8081-D8FBC5EEA991}"/>
              </a:ext>
            </a:extLst>
          </p:cNvPr>
          <p:cNvSpPr>
            <a:spLocks xmlns:a="http://schemas.openxmlformats.org/drawingml/2006/main" noGrp="1"/>
          </p:cNvSpPr>
          <p:nvPr/>
        </p:nvSpPr>
        <p:spPr>
          <a:xfrm xmlns:a="http://schemas.openxmlformats.org/drawingml/2006/main">
            <a:off x="1828800" y="4171950"/>
            <a:ext cx="853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Event when decline ≥ 0.15</a:t>
            </a:r>
          </a:p>
        </p:txBody>
      </p:sp>
      <p:sp>
        <p:nvSpPr>
          <p:cNvPr id="23" name="">
            <a:extLst xmlns:a="http://schemas.openxmlformats.org/drawingml/2006/main">
              <a:ext uri="{FF2B5EF4-FFF2-40B4-BE49-F238E27FC236}">
                <a16:creationId xmlns:a16="http://schemas.microsoft.com/office/drawing/2014/main" id="{A54E5E36-D579-46F3-923C-423826AC7270}"/>
              </a:ext>
            </a:extLst>
          </p:cNvPr>
          <p:cNvSpPr>
            <a:spLocks xmlns:a="http://schemas.openxmlformats.org/drawingml/2006/main" noGrp="1"/>
          </p:cNvSpPr>
          <p:nvPr/>
        </p:nvSpPr>
        <p:spPr>
          <a:xfrm xmlns:a="http://schemas.openxmlformats.org/drawingml/2006/main">
            <a:off x="876300" y="49149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C94949"/>
                </a:solidFill>
                <a:latin typeface="Arial"/>
                <a:ea typeface="Arial"/>
                <a:cs typeface="Arial"/>
              </a:defRPr>
            </a:pPr>
            <a:r>
              <a:rPr sz="1500" b="1" i="0">
                <a:solidFill>
                  <a:srgbClr val="C94949"/>
                </a:solidFill>
                <a:latin typeface="Arial"/>
                <a:ea typeface="Arial"/>
                <a:cs typeface="Arial"/>
              </a:rPr>
              <a:t>Important</a:t>
            </a:r>
          </a:p>
        </p:txBody>
      </p:sp>
      <p:sp>
        <p:nvSpPr>
          <p:cNvPr id="24" name="">
            <a:extLst xmlns:a="http://schemas.openxmlformats.org/drawingml/2006/main">
              <a:ext uri="{FF2B5EF4-FFF2-40B4-BE49-F238E27FC236}">
                <a16:creationId xmlns:a16="http://schemas.microsoft.com/office/drawing/2014/main" id="{E2F85FC5-5EA9-4FDB-9D75-12A0AF8639CA}"/>
              </a:ext>
            </a:extLst>
          </p:cNvPr>
          <p:cNvSpPr>
            <a:spLocks xmlns:a="http://schemas.openxmlformats.org/drawingml/2006/main" noGrp="1"/>
          </p:cNvSpPr>
          <p:nvPr/>
        </p:nvSpPr>
        <p:spPr>
          <a:xfrm xmlns:a="http://schemas.openxmlformats.org/drawingml/2006/main">
            <a:off x="2266950" y="4876800"/>
            <a:ext cx="876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50505"/>
                </a:solidFill>
                <a:latin typeface="Arial"/>
                <a:ea typeface="Arial"/>
                <a:cs typeface="Arial"/>
              </a:defRPr>
            </a:pPr>
            <a:r>
              <a:rPr sz="1500" b="0" i="0">
                <a:solidFill>
                  <a:srgbClr val="050505"/>
                </a:solidFill>
                <a:latin typeface="Arial"/>
                <a:ea typeface="Arial"/>
                <a:cs typeface="Arial"/>
              </a:rPr>
              <a:t>The model is not tied to visit number. Every eligible transition becomes a landmark: visit t predicts the immediately following visit.</a:t>
            </a:r>
          </a:p>
        </p:txBody>
      </p:sp>
      <p:sp>
        <p:nvSpPr>
          <p:cNvPr id="25" name="">
            <a:extLst xmlns:a="http://schemas.openxmlformats.org/drawingml/2006/main">
              <a:ext uri="{FF2B5EF4-FFF2-40B4-BE49-F238E27FC236}">
                <a16:creationId xmlns:a16="http://schemas.microsoft.com/office/drawing/2014/main" id="{BB54737C-63CD-4E44-8E90-FCC77074702B}"/>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cardiotoxicity_next_visit_gpu.py · ESC 2022 definition context</a:t>
            </a:r>
          </a:p>
        </p:txBody>
      </p:sp>
    </p:spTree>
    <p:extLst>
      <p:ext uri="{BB962C8B-B14F-4D97-AF65-F5344CB8AC3E}">
        <p14:creationId xmlns:p14="http://schemas.microsoft.com/office/powerpoint/2010/main" val="728369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4166FA1-DEF5-4185-AFEF-9BC853B1894F}"/>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COHORT &amp; EVALUATION</a:t>
            </a:r>
          </a:p>
        </p:txBody>
      </p:sp>
      <p:sp>
        <p:nvSpPr>
          <p:cNvPr id="2" name="">
            <a:extLst xmlns:a="http://schemas.openxmlformats.org/drawingml/2006/main">
              <a:ext uri="{FF2B5EF4-FFF2-40B4-BE49-F238E27FC236}">
                <a16:creationId xmlns:a16="http://schemas.microsoft.com/office/drawing/2014/main" id="{0782C6D2-9206-404B-8024-63248146D0CE}"/>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Small, longitudinal and imbalanced</a:t>
            </a:r>
          </a:p>
        </p:txBody>
      </p:sp>
      <p:sp>
        <p:nvSpPr>
          <p:cNvPr id="3" name="">
            <a:extLst xmlns:a="http://schemas.openxmlformats.org/drawingml/2006/main">
              <a:ext uri="{FF2B5EF4-FFF2-40B4-BE49-F238E27FC236}">
                <a16:creationId xmlns:a16="http://schemas.microsoft.com/office/drawing/2014/main" id="{16807637-659B-400A-BF6B-16F74CB843C0}"/>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FDB3AB1B-27C0-4CB6-B6BF-1E634F2217DC}"/>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C244889-DA63-4E48-8568-2A663B62F143}"/>
              </a:ext>
            </a:extLst>
          </p:cNvPr>
          <p:cNvSpPr>
            <a:spLocks xmlns:a="http://schemas.openxmlformats.org/drawingml/2006/main" noGrp="1"/>
          </p:cNvSpPr>
          <p:nvPr/>
        </p:nvSpPr>
        <p:spPr>
          <a:xfrm xmlns:a="http://schemas.openxmlformats.org/drawingml/2006/main">
            <a:off x="400050" y="1524000"/>
            <a:ext cx="2571750" cy="1352550"/>
          </a:xfrm>
          <a:prstGeom xmlns:a="http://schemas.openxmlformats.org/drawingml/2006/main" prst="roundRect">
            <a:avLst>
              <a:gd name="adj" fmla="val 8451"/>
            </a:avLst>
          </a:prstGeom>
          <a:solidFill xmlns:a="http://schemas.openxmlformats.org/drawingml/2006/main">
            <a:srgbClr val="EDEDED"/>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456352A0-2B08-43FB-9057-F7F9B35EF780}"/>
              </a:ext>
            </a:extLst>
          </p:cNvPr>
          <p:cNvSpPr>
            <a:spLocks xmlns:a="http://schemas.openxmlformats.org/drawingml/2006/main" noGrp="1"/>
          </p:cNvSpPr>
          <p:nvPr/>
        </p:nvSpPr>
        <p:spPr>
          <a:xfrm xmlns:a="http://schemas.openxmlformats.org/drawingml/2006/main">
            <a:off x="571500" y="16764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i="0">
                <a:solidFill>
                  <a:srgbClr val="3D8DFF"/>
                </a:solidFill>
                <a:latin typeface="Arial"/>
                <a:ea typeface="Arial"/>
                <a:cs typeface="Arial"/>
              </a:defRPr>
            </a:pPr>
            <a:r>
              <a:rPr sz="3150" b="1" i="0">
                <a:solidFill>
                  <a:srgbClr val="3D8DFF"/>
                </a:solidFill>
                <a:latin typeface="Arial"/>
                <a:ea typeface="Arial"/>
                <a:cs typeface="Arial"/>
              </a:rPr>
              <a:t>103</a:t>
            </a:r>
          </a:p>
        </p:txBody>
      </p:sp>
      <p:sp>
        <p:nvSpPr>
          <p:cNvPr id="7" name="">
            <a:extLst xmlns:a="http://schemas.openxmlformats.org/drawingml/2006/main">
              <a:ext uri="{FF2B5EF4-FFF2-40B4-BE49-F238E27FC236}">
                <a16:creationId xmlns:a16="http://schemas.microsoft.com/office/drawing/2014/main" id="{5BF25372-D86A-4CEA-8D1D-6E43DE2B973C}"/>
              </a:ext>
            </a:extLst>
          </p:cNvPr>
          <p:cNvSpPr>
            <a:spLocks xmlns:a="http://schemas.openxmlformats.org/drawingml/2006/main" noGrp="1"/>
          </p:cNvSpPr>
          <p:nvPr/>
        </p:nvSpPr>
        <p:spPr>
          <a:xfrm xmlns:a="http://schemas.openxmlformats.org/drawingml/2006/main">
            <a:off x="571500" y="2324100"/>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5B616B"/>
                </a:solidFill>
                <a:latin typeface="Arial"/>
                <a:ea typeface="Arial"/>
                <a:cs typeface="Arial"/>
              </a:defRPr>
            </a:pPr>
            <a:r>
              <a:rPr sz="1125" b="0" i="0">
                <a:solidFill>
                  <a:srgbClr val="5B616B"/>
                </a:solidFill>
                <a:latin typeface="Arial"/>
                <a:ea typeface="Arial"/>
                <a:cs typeface="Arial"/>
              </a:rPr>
              <a:t>patients</a:t>
            </a:r>
          </a:p>
        </p:txBody>
      </p:sp>
      <p:sp>
        <p:nvSpPr>
          <p:cNvPr id="8" name="">
            <a:extLst xmlns:a="http://schemas.openxmlformats.org/drawingml/2006/main">
              <a:ext uri="{FF2B5EF4-FFF2-40B4-BE49-F238E27FC236}">
                <a16:creationId xmlns:a16="http://schemas.microsoft.com/office/drawing/2014/main" id="{2894768F-1E89-4746-ACCE-C24B9A593037}"/>
              </a:ext>
            </a:extLst>
          </p:cNvPr>
          <p:cNvSpPr>
            <a:spLocks xmlns:a="http://schemas.openxmlformats.org/drawingml/2006/main" noGrp="1"/>
          </p:cNvSpPr>
          <p:nvPr/>
        </p:nvSpPr>
        <p:spPr>
          <a:xfrm xmlns:a="http://schemas.openxmlformats.org/drawingml/2006/main">
            <a:off x="3181350" y="1524000"/>
            <a:ext cx="2571750" cy="1352550"/>
          </a:xfrm>
          <a:prstGeom xmlns:a="http://schemas.openxmlformats.org/drawingml/2006/main" prst="roundRect">
            <a:avLst>
              <a:gd name="adj" fmla="val 8451"/>
            </a:avLst>
          </a:prstGeom>
          <a:solidFill xmlns:a="http://schemas.openxmlformats.org/drawingml/2006/main">
            <a:srgbClr val="EDEDED"/>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D24A37F6-A8F3-4FB8-9C77-C72BCE009B33}"/>
              </a:ext>
            </a:extLst>
          </p:cNvPr>
          <p:cNvSpPr>
            <a:spLocks xmlns:a="http://schemas.openxmlformats.org/drawingml/2006/main" noGrp="1"/>
          </p:cNvSpPr>
          <p:nvPr/>
        </p:nvSpPr>
        <p:spPr>
          <a:xfrm xmlns:a="http://schemas.openxmlformats.org/drawingml/2006/main">
            <a:off x="3352800" y="16764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i="0">
                <a:solidFill>
                  <a:srgbClr val="1F8A8A"/>
                </a:solidFill>
                <a:latin typeface="Arial"/>
                <a:ea typeface="Arial"/>
                <a:cs typeface="Arial"/>
              </a:defRPr>
            </a:pPr>
            <a:r>
              <a:rPr sz="3150" b="1" i="0">
                <a:solidFill>
                  <a:srgbClr val="1F8A8A"/>
                </a:solidFill>
                <a:latin typeface="Arial"/>
                <a:ea typeface="Arial"/>
                <a:cs typeface="Arial"/>
              </a:rPr>
              <a:t>238</a:t>
            </a:r>
          </a:p>
        </p:txBody>
      </p:sp>
      <p:sp>
        <p:nvSpPr>
          <p:cNvPr id="10" name="">
            <a:extLst xmlns:a="http://schemas.openxmlformats.org/drawingml/2006/main">
              <a:ext uri="{FF2B5EF4-FFF2-40B4-BE49-F238E27FC236}">
                <a16:creationId xmlns:a16="http://schemas.microsoft.com/office/drawing/2014/main" id="{FBBD2C79-82CB-4B0F-A7D4-DEB525A07CB4}"/>
              </a:ext>
            </a:extLst>
          </p:cNvPr>
          <p:cNvSpPr>
            <a:spLocks xmlns:a="http://schemas.openxmlformats.org/drawingml/2006/main" noGrp="1"/>
          </p:cNvSpPr>
          <p:nvPr/>
        </p:nvSpPr>
        <p:spPr>
          <a:xfrm xmlns:a="http://schemas.openxmlformats.org/drawingml/2006/main">
            <a:off x="3352800" y="2324100"/>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5B616B"/>
                </a:solidFill>
                <a:latin typeface="Arial"/>
                <a:ea typeface="Arial"/>
                <a:cs typeface="Arial"/>
              </a:defRPr>
            </a:pPr>
            <a:r>
              <a:rPr sz="1125" b="0" i="0">
                <a:solidFill>
                  <a:srgbClr val="5B616B"/>
                </a:solidFill>
                <a:latin typeface="Arial"/>
                <a:ea typeface="Arial"/>
                <a:cs typeface="Arial"/>
              </a:rPr>
              <a:t>visit-to-next-visit transitions</a:t>
            </a:r>
          </a:p>
        </p:txBody>
      </p:sp>
      <p:sp>
        <p:nvSpPr>
          <p:cNvPr id="11" name="">
            <a:extLst xmlns:a="http://schemas.openxmlformats.org/drawingml/2006/main">
              <a:ext uri="{FF2B5EF4-FFF2-40B4-BE49-F238E27FC236}">
                <a16:creationId xmlns:a16="http://schemas.microsoft.com/office/drawing/2014/main" id="{0C980CE1-0166-41C3-B44B-B6368EF0CFB2}"/>
              </a:ext>
            </a:extLst>
          </p:cNvPr>
          <p:cNvSpPr>
            <a:spLocks xmlns:a="http://schemas.openxmlformats.org/drawingml/2006/main" noGrp="1"/>
          </p:cNvSpPr>
          <p:nvPr/>
        </p:nvSpPr>
        <p:spPr>
          <a:xfrm xmlns:a="http://schemas.openxmlformats.org/drawingml/2006/main">
            <a:off x="5962650" y="1524000"/>
            <a:ext cx="2571750" cy="1352550"/>
          </a:xfrm>
          <a:prstGeom xmlns:a="http://schemas.openxmlformats.org/drawingml/2006/main" prst="roundRect">
            <a:avLst>
              <a:gd name="adj" fmla="val 8451"/>
            </a:avLst>
          </a:prstGeom>
          <a:solidFill xmlns:a="http://schemas.openxmlformats.org/drawingml/2006/main">
            <a:srgbClr val="EDEDED"/>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686F93B2-0CB8-4622-AF84-F805CAB19F7A}"/>
              </a:ext>
            </a:extLst>
          </p:cNvPr>
          <p:cNvSpPr>
            <a:spLocks xmlns:a="http://schemas.openxmlformats.org/drawingml/2006/main" noGrp="1"/>
          </p:cNvSpPr>
          <p:nvPr/>
        </p:nvSpPr>
        <p:spPr>
          <a:xfrm xmlns:a="http://schemas.openxmlformats.org/drawingml/2006/main">
            <a:off x="6134100" y="16764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i="0">
                <a:solidFill>
                  <a:srgbClr val="E8893A"/>
                </a:solidFill>
                <a:latin typeface="Arial"/>
                <a:ea typeface="Arial"/>
                <a:cs typeface="Arial"/>
              </a:defRPr>
            </a:pPr>
            <a:r>
              <a:rPr sz="3150" b="1" i="0">
                <a:solidFill>
                  <a:srgbClr val="E8893A"/>
                </a:solidFill>
                <a:latin typeface="Arial"/>
                <a:ea typeface="Arial"/>
                <a:cs typeface="Arial"/>
              </a:rPr>
              <a:t>49</a:t>
            </a:r>
          </a:p>
        </p:txBody>
      </p:sp>
      <p:sp>
        <p:nvSpPr>
          <p:cNvPr id="13" name="">
            <a:extLst xmlns:a="http://schemas.openxmlformats.org/drawingml/2006/main">
              <a:ext uri="{FF2B5EF4-FFF2-40B4-BE49-F238E27FC236}">
                <a16:creationId xmlns:a16="http://schemas.microsoft.com/office/drawing/2014/main" id="{E6228EA7-9642-4BE4-BF2F-462CCEAF89F9}"/>
              </a:ext>
            </a:extLst>
          </p:cNvPr>
          <p:cNvSpPr>
            <a:spLocks xmlns:a="http://schemas.openxmlformats.org/drawingml/2006/main" noGrp="1"/>
          </p:cNvSpPr>
          <p:nvPr/>
        </p:nvSpPr>
        <p:spPr>
          <a:xfrm xmlns:a="http://schemas.openxmlformats.org/drawingml/2006/main">
            <a:off x="6134100" y="2324100"/>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5B616B"/>
                </a:solidFill>
                <a:latin typeface="Arial"/>
                <a:ea typeface="Arial"/>
                <a:cs typeface="Arial"/>
              </a:defRPr>
            </a:pPr>
            <a:r>
              <a:rPr sz="1125" b="0" i="0">
                <a:solidFill>
                  <a:srgbClr val="5B616B"/>
                </a:solidFill>
                <a:latin typeface="Arial"/>
                <a:ea typeface="Arial"/>
                <a:cs typeface="Arial"/>
              </a:rPr>
              <a:t>events</a:t>
            </a:r>
          </a:p>
        </p:txBody>
      </p:sp>
      <p:sp>
        <p:nvSpPr>
          <p:cNvPr id="14" name="">
            <a:extLst xmlns:a="http://schemas.openxmlformats.org/drawingml/2006/main">
              <a:ext uri="{FF2B5EF4-FFF2-40B4-BE49-F238E27FC236}">
                <a16:creationId xmlns:a16="http://schemas.microsoft.com/office/drawing/2014/main" id="{1F540982-3B5F-40B4-89A6-20DAEC91F390}"/>
              </a:ext>
            </a:extLst>
          </p:cNvPr>
          <p:cNvSpPr>
            <a:spLocks xmlns:a="http://schemas.openxmlformats.org/drawingml/2006/main" noGrp="1"/>
          </p:cNvSpPr>
          <p:nvPr/>
        </p:nvSpPr>
        <p:spPr>
          <a:xfrm xmlns:a="http://schemas.openxmlformats.org/drawingml/2006/main">
            <a:off x="8743950" y="1524000"/>
            <a:ext cx="2571750" cy="1352550"/>
          </a:xfrm>
          <a:prstGeom xmlns:a="http://schemas.openxmlformats.org/drawingml/2006/main" prst="roundRect">
            <a:avLst>
              <a:gd name="adj" fmla="val 8451"/>
            </a:avLst>
          </a:prstGeom>
          <a:solidFill xmlns:a="http://schemas.openxmlformats.org/drawingml/2006/main">
            <a:srgbClr val="FBECEC"/>
          </a:solidFill>
          <a:ln xmlns:a="http://schemas.openxmlformats.org/drawingml/2006/main" w="9525">
            <a:solidFill>
              <a:srgbClr val="C94949"/>
            </a:solidFill>
            <a:prstDash val="solid"/>
          </a:ln>
        </p:spPr>
      </p:sp>
      <p:sp>
        <p:nvSpPr>
          <p:cNvPr id="15" name="">
            <a:extLst xmlns:a="http://schemas.openxmlformats.org/drawingml/2006/main">
              <a:ext uri="{FF2B5EF4-FFF2-40B4-BE49-F238E27FC236}">
                <a16:creationId xmlns:a16="http://schemas.microsoft.com/office/drawing/2014/main" id="{3E623BDF-9597-4A9E-A88E-E9A81ED8FF55}"/>
              </a:ext>
            </a:extLst>
          </p:cNvPr>
          <p:cNvSpPr>
            <a:spLocks xmlns:a="http://schemas.openxmlformats.org/drawingml/2006/main" noGrp="1"/>
          </p:cNvSpPr>
          <p:nvPr/>
        </p:nvSpPr>
        <p:spPr>
          <a:xfrm xmlns:a="http://schemas.openxmlformats.org/drawingml/2006/main">
            <a:off x="8915400" y="16764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i="0">
                <a:solidFill>
                  <a:srgbClr val="C94949"/>
                </a:solidFill>
                <a:latin typeface="Arial"/>
                <a:ea typeface="Arial"/>
                <a:cs typeface="Arial"/>
              </a:defRPr>
            </a:pPr>
            <a:r>
              <a:rPr sz="3150" b="1" i="0">
                <a:solidFill>
                  <a:srgbClr val="C94949"/>
                </a:solidFill>
                <a:latin typeface="Arial"/>
                <a:ea typeface="Arial"/>
                <a:cs typeface="Arial"/>
              </a:rPr>
              <a:t>20.6%</a:t>
            </a:r>
          </a:p>
        </p:txBody>
      </p:sp>
      <p:sp>
        <p:nvSpPr>
          <p:cNvPr id="16" name="">
            <a:extLst xmlns:a="http://schemas.openxmlformats.org/drawingml/2006/main">
              <a:ext uri="{FF2B5EF4-FFF2-40B4-BE49-F238E27FC236}">
                <a16:creationId xmlns:a16="http://schemas.microsoft.com/office/drawing/2014/main" id="{A8FFFE2E-4E87-4849-A354-A925909F131F}"/>
              </a:ext>
            </a:extLst>
          </p:cNvPr>
          <p:cNvSpPr>
            <a:spLocks xmlns:a="http://schemas.openxmlformats.org/drawingml/2006/main" noGrp="1"/>
          </p:cNvSpPr>
          <p:nvPr/>
        </p:nvSpPr>
        <p:spPr>
          <a:xfrm xmlns:a="http://schemas.openxmlformats.org/drawingml/2006/main">
            <a:off x="8915400" y="2324100"/>
            <a:ext cx="2228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5B616B"/>
                </a:solidFill>
                <a:latin typeface="Arial"/>
                <a:ea typeface="Arial"/>
                <a:cs typeface="Arial"/>
              </a:defRPr>
            </a:pPr>
            <a:r>
              <a:rPr sz="1125" b="0" i="0">
                <a:solidFill>
                  <a:srgbClr val="5B616B"/>
                </a:solidFill>
                <a:latin typeface="Arial"/>
                <a:ea typeface="Arial"/>
                <a:cs typeface="Arial"/>
              </a:rPr>
              <a:t>event prevalence</a:t>
            </a:r>
          </a:p>
        </p:txBody>
      </p:sp>
      <p:sp>
        <p:nvSpPr>
          <p:cNvPr id="17" name="">
            <a:extLst xmlns:a="http://schemas.openxmlformats.org/drawingml/2006/main">
              <a:ext uri="{FF2B5EF4-FFF2-40B4-BE49-F238E27FC236}">
                <a16:creationId xmlns:a16="http://schemas.microsoft.com/office/drawing/2014/main" id="{005FD936-4067-4CB0-8CD2-DB277CD90F3B}"/>
              </a:ext>
            </a:extLst>
          </p:cNvPr>
          <p:cNvSpPr>
            <a:spLocks xmlns:a="http://schemas.openxmlformats.org/drawingml/2006/main" noGrp="1"/>
          </p:cNvSpPr>
          <p:nvPr/>
        </p:nvSpPr>
        <p:spPr>
          <a:xfrm xmlns:a="http://schemas.openxmlformats.org/drawingml/2006/main">
            <a:off x="400050" y="3276600"/>
            <a:ext cx="3524250" cy="2362200"/>
          </a:xfrm>
          <a:prstGeom xmlns:a="http://schemas.openxmlformats.org/drawingml/2006/main" prst="roundRect">
            <a:avLst>
              <a:gd name="adj" fmla="val 4839"/>
            </a:avLst>
          </a:prstGeom>
          <a:solidFill xmlns:a="http://schemas.openxmlformats.org/drawingml/2006/main">
            <a:srgbClr val="EAF5FF"/>
          </a:solidFill>
          <a:ln xmlns:a="http://schemas.openxmlformats.org/drawingml/2006/main" w="9525">
            <a:solidFill>
              <a:srgbClr val="EDEDED"/>
            </a:solidFill>
            <a:prstDash val="solid"/>
          </a:ln>
        </p:spPr>
      </p:sp>
      <p:sp>
        <p:nvSpPr>
          <p:cNvPr id="18" name="">
            <a:extLst xmlns:a="http://schemas.openxmlformats.org/drawingml/2006/main">
              <a:ext uri="{FF2B5EF4-FFF2-40B4-BE49-F238E27FC236}">
                <a16:creationId xmlns:a16="http://schemas.microsoft.com/office/drawing/2014/main" id="{5F8B71C7-4894-4DC4-BD91-032696CC89E4}"/>
              </a:ext>
            </a:extLst>
          </p:cNvPr>
          <p:cNvSpPr>
            <a:spLocks xmlns:a="http://schemas.openxmlformats.org/drawingml/2006/main" noGrp="1"/>
          </p:cNvSpPr>
          <p:nvPr/>
        </p:nvSpPr>
        <p:spPr>
          <a:xfrm xmlns:a="http://schemas.openxmlformats.org/drawingml/2006/main">
            <a:off x="571500" y="34480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Validation</a:t>
            </a:r>
          </a:p>
        </p:txBody>
      </p:sp>
      <p:sp>
        <p:nvSpPr>
          <p:cNvPr id="19" name="">
            <a:extLst xmlns:a="http://schemas.openxmlformats.org/drawingml/2006/main">
              <a:ext uri="{FF2B5EF4-FFF2-40B4-BE49-F238E27FC236}">
                <a16:creationId xmlns:a16="http://schemas.microsoft.com/office/drawing/2014/main" id="{0E3A90D6-CEC2-40AD-B47F-1B3D9892C005}"/>
              </a:ext>
            </a:extLst>
          </p:cNvPr>
          <p:cNvSpPr>
            <a:spLocks xmlns:a="http://schemas.openxmlformats.org/drawingml/2006/main" noGrp="1"/>
          </p:cNvSpPr>
          <p:nvPr/>
        </p:nvSpPr>
        <p:spPr>
          <a:xfrm xmlns:a="http://schemas.openxmlformats.org/drawingml/2006/main">
            <a:off x="571500" y="3867150"/>
            <a:ext cx="3181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Repeated 5-fold cross-validation</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3 repetitions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Patient-held-out folds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Same folds used across models</a:t>
            </a:r>
          </a:p>
        </p:txBody>
      </p:sp>
      <p:sp>
        <p:nvSpPr>
          <p:cNvPr id="20" name="">
            <a:extLst xmlns:a="http://schemas.openxmlformats.org/drawingml/2006/main">
              <a:ext uri="{FF2B5EF4-FFF2-40B4-BE49-F238E27FC236}">
                <a16:creationId xmlns:a16="http://schemas.microsoft.com/office/drawing/2014/main" id="{0B6F14BB-49F0-42E2-9583-66920ADE6AFA}"/>
              </a:ext>
            </a:extLst>
          </p:cNvPr>
          <p:cNvSpPr>
            <a:spLocks xmlns:a="http://schemas.openxmlformats.org/drawingml/2006/main" noGrp="1"/>
          </p:cNvSpPr>
          <p:nvPr/>
        </p:nvSpPr>
        <p:spPr>
          <a:xfrm xmlns:a="http://schemas.openxmlformats.org/drawingml/2006/main">
            <a:off x="4095750" y="3276600"/>
            <a:ext cx="3524250" cy="2362200"/>
          </a:xfrm>
          <a:prstGeom xmlns:a="http://schemas.openxmlformats.org/drawingml/2006/main" prst="roundRect">
            <a:avLst>
              <a:gd name="adj" fmla="val 4839"/>
            </a:avLst>
          </a:prstGeom>
          <a:solidFill xmlns:a="http://schemas.openxmlformats.org/drawingml/2006/main">
            <a:srgbClr val="EBF6EF"/>
          </a:solidFill>
          <a:ln xmlns:a="http://schemas.openxmlformats.org/drawingml/2006/main" w="9525">
            <a:solidFill>
              <a:srgbClr val="EDEDED"/>
            </a:solidFill>
            <a:prstDash val="solid"/>
          </a:ln>
        </p:spPr>
      </p:sp>
      <p:sp>
        <p:nvSpPr>
          <p:cNvPr id="21" name="">
            <a:extLst xmlns:a="http://schemas.openxmlformats.org/drawingml/2006/main">
              <a:ext uri="{FF2B5EF4-FFF2-40B4-BE49-F238E27FC236}">
                <a16:creationId xmlns:a16="http://schemas.microsoft.com/office/drawing/2014/main" id="{D2E93C48-55FF-48A5-81BE-ED33196FA4A3}"/>
              </a:ext>
            </a:extLst>
          </p:cNvPr>
          <p:cNvSpPr>
            <a:spLocks xmlns:a="http://schemas.openxmlformats.org/drawingml/2006/main" noGrp="1"/>
          </p:cNvSpPr>
          <p:nvPr/>
        </p:nvSpPr>
        <p:spPr>
          <a:xfrm xmlns:a="http://schemas.openxmlformats.org/drawingml/2006/main">
            <a:off x="4267200" y="34480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Metrics</a:t>
            </a:r>
          </a:p>
        </p:txBody>
      </p:sp>
      <p:sp>
        <p:nvSpPr>
          <p:cNvPr id="22" name="">
            <a:extLst xmlns:a="http://schemas.openxmlformats.org/drawingml/2006/main">
              <a:ext uri="{FF2B5EF4-FFF2-40B4-BE49-F238E27FC236}">
                <a16:creationId xmlns:a16="http://schemas.microsoft.com/office/drawing/2014/main" id="{353E8536-F3A1-478D-9CD2-680A710344E4}"/>
              </a:ext>
            </a:extLst>
          </p:cNvPr>
          <p:cNvSpPr>
            <a:spLocks xmlns:a="http://schemas.openxmlformats.org/drawingml/2006/main" noGrp="1"/>
          </p:cNvSpPr>
          <p:nvPr/>
        </p:nvSpPr>
        <p:spPr>
          <a:xfrm xmlns:a="http://schemas.openxmlformats.org/drawingml/2006/main">
            <a:off x="4267200" y="3867150"/>
            <a:ext cx="3181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ROC AUC: discrimination across thresholds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AP: precision–recall summary</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AP random baseline ≈ event prevalence = 0.206</a:t>
            </a:r>
          </a:p>
        </p:txBody>
      </p:sp>
      <p:sp>
        <p:nvSpPr>
          <p:cNvPr id="23" name="">
            <a:extLst xmlns:a="http://schemas.openxmlformats.org/drawingml/2006/main">
              <a:ext uri="{FF2B5EF4-FFF2-40B4-BE49-F238E27FC236}">
                <a16:creationId xmlns:a16="http://schemas.microsoft.com/office/drawing/2014/main" id="{7222A328-B377-49D7-A39E-F7C60835C69D}"/>
              </a:ext>
            </a:extLst>
          </p:cNvPr>
          <p:cNvSpPr>
            <a:spLocks xmlns:a="http://schemas.openxmlformats.org/drawingml/2006/main" noGrp="1"/>
          </p:cNvSpPr>
          <p:nvPr/>
        </p:nvSpPr>
        <p:spPr>
          <a:xfrm xmlns:a="http://schemas.openxmlformats.org/drawingml/2006/main">
            <a:off x="7791450" y="3276600"/>
            <a:ext cx="3733800" cy="2362200"/>
          </a:xfrm>
          <a:prstGeom xmlns:a="http://schemas.openxmlformats.org/drawingml/2006/main" prst="roundRect">
            <a:avLst>
              <a:gd name="adj" fmla="val 4839"/>
            </a:avLst>
          </a:prstGeom>
          <a:solidFill xmlns:a="http://schemas.openxmlformats.org/drawingml/2006/main">
            <a:srgbClr val="FFF2E7"/>
          </a:solidFill>
          <a:ln xmlns:a="http://schemas.openxmlformats.org/drawingml/2006/main" w="9525">
            <a:solidFill>
              <a:srgbClr val="EDEDED"/>
            </a:solidFill>
            <a:prstDash val="solid"/>
          </a:ln>
        </p:spPr>
      </p:sp>
      <p:sp>
        <p:nvSpPr>
          <p:cNvPr id="24" name="">
            <a:extLst xmlns:a="http://schemas.openxmlformats.org/drawingml/2006/main">
              <a:ext uri="{FF2B5EF4-FFF2-40B4-BE49-F238E27FC236}">
                <a16:creationId xmlns:a16="http://schemas.microsoft.com/office/drawing/2014/main" id="{0A2C3382-3E87-4338-AD2D-B9901681A90C}"/>
              </a:ext>
            </a:extLst>
          </p:cNvPr>
          <p:cNvSpPr>
            <a:spLocks xmlns:a="http://schemas.openxmlformats.org/drawingml/2006/main" noGrp="1"/>
          </p:cNvSpPr>
          <p:nvPr/>
        </p:nvSpPr>
        <p:spPr>
          <a:xfrm xmlns:a="http://schemas.openxmlformats.org/drawingml/2006/main">
            <a:off x="7962900" y="34480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Uncertainty</a:t>
            </a:r>
          </a:p>
        </p:txBody>
      </p:sp>
      <p:sp>
        <p:nvSpPr>
          <p:cNvPr id="25" name="">
            <a:extLst xmlns:a="http://schemas.openxmlformats.org/drawingml/2006/main">
              <a:ext uri="{FF2B5EF4-FFF2-40B4-BE49-F238E27FC236}">
                <a16:creationId xmlns:a16="http://schemas.microsoft.com/office/drawing/2014/main" id="{4C8989E0-C663-4A5E-B217-BC3D6EC36B24}"/>
              </a:ext>
            </a:extLst>
          </p:cNvPr>
          <p:cNvSpPr>
            <a:spLocks xmlns:a="http://schemas.openxmlformats.org/drawingml/2006/main" noGrp="1"/>
          </p:cNvSpPr>
          <p:nvPr/>
        </p:nvSpPr>
        <p:spPr>
          <a:xfrm xmlns:a="http://schemas.openxmlformats.org/drawingml/2006/main">
            <a:off x="7962900" y="3867150"/>
            <a:ext cx="33909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Patient-level bootstrap confidence intervals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Importance is measured on held-out predictions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Small samples make ranking intervals wide</a:t>
            </a:r>
          </a:p>
        </p:txBody>
      </p:sp>
      <p:sp>
        <p:nvSpPr>
          <p:cNvPr id="26" name="">
            <a:extLst xmlns:a="http://schemas.openxmlformats.org/drawingml/2006/main">
              <a:ext uri="{FF2B5EF4-FFF2-40B4-BE49-F238E27FC236}">
                <a16:creationId xmlns:a16="http://schemas.microsoft.com/office/drawing/2014/main" id="{2E473279-86D0-4DF8-B783-C4AA8A2BD739}"/>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top ensemble feature-importance report; patient-level resampling</a:t>
            </a:r>
          </a:p>
        </p:txBody>
      </p:sp>
    </p:spTree>
    <p:extLst>
      <p:ext uri="{BB962C8B-B14F-4D97-AF65-F5344CB8AC3E}">
        <p14:creationId xmlns:p14="http://schemas.microsoft.com/office/powerpoint/2010/main" val="3871555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50EB2873-20BC-4289-877C-FEF56DE1788A}"/>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RAW CURVE TENSOR</a:t>
            </a:r>
          </a:p>
        </p:txBody>
      </p:sp>
      <p:sp>
        <p:nvSpPr>
          <p:cNvPr id="2" name="">
            <a:extLst xmlns:a="http://schemas.openxmlformats.org/drawingml/2006/main">
              <a:ext uri="{FF2B5EF4-FFF2-40B4-BE49-F238E27FC236}">
                <a16:creationId xmlns:a16="http://schemas.microsoft.com/office/drawing/2014/main" id="{6B702D44-C7D8-4AC2-847E-3A8E7D38F7BA}"/>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Six channels preserve anatomy and longitudinal change</a:t>
            </a:r>
          </a:p>
        </p:txBody>
      </p:sp>
      <p:sp>
        <p:nvSpPr>
          <p:cNvPr id="3" name="">
            <a:extLst xmlns:a="http://schemas.openxmlformats.org/drawingml/2006/main">
              <a:ext uri="{FF2B5EF4-FFF2-40B4-BE49-F238E27FC236}">
                <a16:creationId xmlns:a16="http://schemas.microsoft.com/office/drawing/2014/main" id="{43583DE7-58C1-4C24-BB99-60D4B88AE252}"/>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76797B9-0F88-48D9-9827-EE7015BEB614}"/>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E3C49E4-B058-4540-B603-63D1C84CFA30}"/>
              </a:ext>
            </a:extLst>
          </p:cNvPr>
          <p:cNvSpPr>
            <a:spLocks xmlns:a="http://schemas.openxmlformats.org/drawingml/2006/main" noGrp="1"/>
          </p:cNvSpPr>
          <p:nvPr/>
        </p:nvSpPr>
        <p:spPr>
          <a:xfrm xmlns:a="http://schemas.openxmlformats.org/drawingml/2006/main">
            <a:off x="400050" y="1390650"/>
            <a:ext cx="1139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Per sample tensor: 18 segments × 6 channels × 96 normalized time samples</a:t>
            </a:r>
          </a:p>
        </p:txBody>
      </p:sp>
      <p:sp>
        <p:nvSpPr>
          <p:cNvPr id="6" name="">
            <a:extLst xmlns:a="http://schemas.openxmlformats.org/drawingml/2006/main">
              <a:ext uri="{FF2B5EF4-FFF2-40B4-BE49-F238E27FC236}">
                <a16:creationId xmlns:a16="http://schemas.microsoft.com/office/drawing/2014/main" id="{138B27CD-B1D2-46AE-B222-6645B5EB403D}"/>
              </a:ext>
            </a:extLst>
          </p:cNvPr>
          <p:cNvSpPr>
            <a:spLocks xmlns:a="http://schemas.openxmlformats.org/drawingml/2006/main" noGrp="1"/>
          </p:cNvSpPr>
          <p:nvPr/>
        </p:nvSpPr>
        <p:spPr>
          <a:xfrm xmlns:a="http://schemas.openxmlformats.org/drawingml/2006/main">
            <a:off x="400050" y="1885950"/>
            <a:ext cx="666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67944B11-3762-4D54-964F-A3E20AF97D73}"/>
              </a:ext>
            </a:extLst>
          </p:cNvPr>
          <p:cNvSpPr>
            <a:spLocks xmlns:a="http://schemas.openxmlformats.org/drawingml/2006/main" noGrp="1"/>
          </p:cNvSpPr>
          <p:nvPr/>
        </p:nvSpPr>
        <p:spPr>
          <a:xfrm xmlns:a="http://schemas.openxmlformats.org/drawingml/2006/main">
            <a:off x="476250" y="1971675"/>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Ch</a:t>
            </a:r>
          </a:p>
        </p:txBody>
      </p:sp>
      <p:sp>
        <p:nvSpPr>
          <p:cNvPr id="8" name="">
            <a:extLst xmlns:a="http://schemas.openxmlformats.org/drawingml/2006/main">
              <a:ext uri="{FF2B5EF4-FFF2-40B4-BE49-F238E27FC236}">
                <a16:creationId xmlns:a16="http://schemas.microsoft.com/office/drawing/2014/main" id="{D5B509D2-E846-4420-BFB3-BEFCF996E821}"/>
              </a:ext>
            </a:extLst>
          </p:cNvPr>
          <p:cNvSpPr>
            <a:spLocks xmlns:a="http://schemas.openxmlformats.org/drawingml/2006/main" noGrp="1"/>
          </p:cNvSpPr>
          <p:nvPr/>
        </p:nvSpPr>
        <p:spPr>
          <a:xfrm xmlns:a="http://schemas.openxmlformats.org/drawingml/2006/main">
            <a:off x="1066800" y="1885950"/>
            <a:ext cx="2190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AED88282-CA91-4A6B-B087-B5656F608EDB}"/>
              </a:ext>
            </a:extLst>
          </p:cNvPr>
          <p:cNvSpPr>
            <a:spLocks xmlns:a="http://schemas.openxmlformats.org/drawingml/2006/main" noGrp="1"/>
          </p:cNvSpPr>
          <p:nvPr/>
        </p:nvSpPr>
        <p:spPr>
          <a:xfrm xmlns:a="http://schemas.openxmlformats.org/drawingml/2006/main">
            <a:off x="1143000" y="1971675"/>
            <a:ext cx="2038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Content</a:t>
            </a:r>
          </a:p>
        </p:txBody>
      </p:sp>
      <p:sp>
        <p:nvSpPr>
          <p:cNvPr id="10" name="">
            <a:extLst xmlns:a="http://schemas.openxmlformats.org/drawingml/2006/main">
              <a:ext uri="{FF2B5EF4-FFF2-40B4-BE49-F238E27FC236}">
                <a16:creationId xmlns:a16="http://schemas.microsoft.com/office/drawing/2014/main" id="{32AAB002-A98F-404A-8212-F9244F6BFACE}"/>
              </a:ext>
            </a:extLst>
          </p:cNvPr>
          <p:cNvSpPr>
            <a:spLocks xmlns:a="http://schemas.openxmlformats.org/drawingml/2006/main" noGrp="1"/>
          </p:cNvSpPr>
          <p:nvPr/>
        </p:nvSpPr>
        <p:spPr>
          <a:xfrm xmlns:a="http://schemas.openxmlformats.org/drawingml/2006/main">
            <a:off x="3257550" y="1885950"/>
            <a:ext cx="34290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FFD24E08-2802-4764-A2ED-CCD06A1EE46D}"/>
              </a:ext>
            </a:extLst>
          </p:cNvPr>
          <p:cNvSpPr>
            <a:spLocks xmlns:a="http://schemas.openxmlformats.org/drawingml/2006/main" noGrp="1"/>
          </p:cNvSpPr>
          <p:nvPr/>
        </p:nvSpPr>
        <p:spPr>
          <a:xfrm xmlns:a="http://schemas.openxmlformats.org/drawingml/2006/main">
            <a:off x="3333750" y="1971675"/>
            <a:ext cx="3276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Exact calculation</a:t>
            </a:r>
          </a:p>
        </p:txBody>
      </p:sp>
      <p:sp>
        <p:nvSpPr>
          <p:cNvPr id="12" name="">
            <a:extLst xmlns:a="http://schemas.openxmlformats.org/drawingml/2006/main">
              <a:ext uri="{FF2B5EF4-FFF2-40B4-BE49-F238E27FC236}">
                <a16:creationId xmlns:a16="http://schemas.microsoft.com/office/drawing/2014/main" id="{CA3C0E0B-8157-473B-8C85-3858402561EF}"/>
              </a:ext>
            </a:extLst>
          </p:cNvPr>
          <p:cNvSpPr>
            <a:spLocks xmlns:a="http://schemas.openxmlformats.org/drawingml/2006/main" noGrp="1"/>
          </p:cNvSpPr>
          <p:nvPr/>
        </p:nvSpPr>
        <p:spPr>
          <a:xfrm xmlns:a="http://schemas.openxmlformats.org/drawingml/2006/main">
            <a:off x="6686550" y="1885950"/>
            <a:ext cx="51054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5B9E49D6-B700-4597-B801-19D1E6A510E7}"/>
              </a:ext>
            </a:extLst>
          </p:cNvPr>
          <p:cNvSpPr>
            <a:spLocks xmlns:a="http://schemas.openxmlformats.org/drawingml/2006/main" noGrp="1"/>
          </p:cNvSpPr>
          <p:nvPr/>
        </p:nvSpPr>
        <p:spPr>
          <a:xfrm xmlns:a="http://schemas.openxmlformats.org/drawingml/2006/main">
            <a:off x="6762750" y="19716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Physiological question</a:t>
            </a:r>
          </a:p>
        </p:txBody>
      </p:sp>
      <p:sp>
        <p:nvSpPr>
          <p:cNvPr id="14" name="">
            <a:extLst xmlns:a="http://schemas.openxmlformats.org/drawingml/2006/main">
              <a:ext uri="{FF2B5EF4-FFF2-40B4-BE49-F238E27FC236}">
                <a16:creationId xmlns:a16="http://schemas.microsoft.com/office/drawing/2014/main" id="{301192C4-02BA-41B8-8381-4821753A540F}"/>
              </a:ext>
            </a:extLst>
          </p:cNvPr>
          <p:cNvSpPr>
            <a:spLocks xmlns:a="http://schemas.openxmlformats.org/drawingml/2006/main" noGrp="1"/>
          </p:cNvSpPr>
          <p:nvPr/>
        </p:nvSpPr>
        <p:spPr>
          <a:xfrm xmlns:a="http://schemas.openxmlformats.org/drawingml/2006/main">
            <a:off x="400050" y="2266950"/>
            <a:ext cx="66675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5" name="">
            <a:extLst xmlns:a="http://schemas.openxmlformats.org/drawingml/2006/main">
              <a:ext uri="{FF2B5EF4-FFF2-40B4-BE49-F238E27FC236}">
                <a16:creationId xmlns:a16="http://schemas.microsoft.com/office/drawing/2014/main" id="{000A2C6F-ED25-488E-864B-AB185C3F4838}"/>
              </a:ext>
            </a:extLst>
          </p:cNvPr>
          <p:cNvSpPr>
            <a:spLocks xmlns:a="http://schemas.openxmlformats.org/drawingml/2006/main" noGrp="1"/>
          </p:cNvSpPr>
          <p:nvPr/>
        </p:nvSpPr>
        <p:spPr>
          <a:xfrm xmlns:a="http://schemas.openxmlformats.org/drawingml/2006/main">
            <a:off x="476250" y="234315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35364036-64F6-403F-B703-5281672CD360}"/>
              </a:ext>
            </a:extLst>
          </p:cNvPr>
          <p:cNvSpPr>
            <a:spLocks xmlns:a="http://schemas.openxmlformats.org/drawingml/2006/main" noGrp="1"/>
          </p:cNvSpPr>
          <p:nvPr/>
        </p:nvSpPr>
        <p:spPr>
          <a:xfrm xmlns:a="http://schemas.openxmlformats.org/drawingml/2006/main">
            <a:off x="1066800" y="2266950"/>
            <a:ext cx="219075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7" name="">
            <a:extLst xmlns:a="http://schemas.openxmlformats.org/drawingml/2006/main">
              <a:ext uri="{FF2B5EF4-FFF2-40B4-BE49-F238E27FC236}">
                <a16:creationId xmlns:a16="http://schemas.microsoft.com/office/drawing/2014/main" id="{57CD8BAE-CA0B-4FC9-9E81-53D03D97C733}"/>
              </a:ext>
            </a:extLst>
          </p:cNvPr>
          <p:cNvSpPr>
            <a:spLocks xmlns:a="http://schemas.openxmlformats.org/drawingml/2006/main" noGrp="1"/>
          </p:cNvSpPr>
          <p:nvPr/>
        </p:nvSpPr>
        <p:spPr>
          <a:xfrm xmlns:a="http://schemas.openxmlformats.org/drawingml/2006/main">
            <a:off x="1143000" y="2343150"/>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Current Endo</a:t>
            </a:r>
          </a:p>
        </p:txBody>
      </p:sp>
      <p:sp>
        <p:nvSpPr>
          <p:cNvPr id="18" name="">
            <a:extLst xmlns:a="http://schemas.openxmlformats.org/drawingml/2006/main">
              <a:ext uri="{FF2B5EF4-FFF2-40B4-BE49-F238E27FC236}">
                <a16:creationId xmlns:a16="http://schemas.microsoft.com/office/drawing/2014/main" id="{C7DE6F18-9395-43C0-8C4B-9080A8AA6551}"/>
              </a:ext>
            </a:extLst>
          </p:cNvPr>
          <p:cNvSpPr>
            <a:spLocks xmlns:a="http://schemas.openxmlformats.org/drawingml/2006/main" noGrp="1"/>
          </p:cNvSpPr>
          <p:nvPr/>
        </p:nvSpPr>
        <p:spPr>
          <a:xfrm xmlns:a="http://schemas.openxmlformats.org/drawingml/2006/main">
            <a:off x="3257550" y="2266950"/>
            <a:ext cx="342900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9" name="">
            <a:extLst xmlns:a="http://schemas.openxmlformats.org/drawingml/2006/main">
              <a:ext uri="{FF2B5EF4-FFF2-40B4-BE49-F238E27FC236}">
                <a16:creationId xmlns:a16="http://schemas.microsoft.com/office/drawing/2014/main" id="{3928896E-F596-4F92-A4E0-FF137A3E9C5E}"/>
              </a:ext>
            </a:extLst>
          </p:cNvPr>
          <p:cNvSpPr>
            <a:spLocks xmlns:a="http://schemas.openxmlformats.org/drawingml/2006/main" noGrp="1"/>
          </p:cNvSpPr>
          <p:nvPr/>
        </p:nvSpPr>
        <p:spPr>
          <a:xfrm xmlns:a="http://schemas.openxmlformats.org/drawingml/2006/main">
            <a:off x="3333750" y="23431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Eₜ(s,τ)</a:t>
            </a:r>
          </a:p>
        </p:txBody>
      </p:sp>
      <p:sp>
        <p:nvSpPr>
          <p:cNvPr id="20" name="">
            <a:extLst xmlns:a="http://schemas.openxmlformats.org/drawingml/2006/main">
              <a:ext uri="{FF2B5EF4-FFF2-40B4-BE49-F238E27FC236}">
                <a16:creationId xmlns:a16="http://schemas.microsoft.com/office/drawing/2014/main" id="{CA9CD05E-91CC-4085-BBF4-E8F17BDD2ECF}"/>
              </a:ext>
            </a:extLst>
          </p:cNvPr>
          <p:cNvSpPr>
            <a:spLocks xmlns:a="http://schemas.openxmlformats.org/drawingml/2006/main" noGrp="1"/>
          </p:cNvSpPr>
          <p:nvPr/>
        </p:nvSpPr>
        <p:spPr>
          <a:xfrm xmlns:a="http://schemas.openxmlformats.org/drawingml/2006/main">
            <a:off x="6686550" y="2266950"/>
            <a:ext cx="510540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1" name="">
            <a:extLst xmlns:a="http://schemas.openxmlformats.org/drawingml/2006/main">
              <a:ext uri="{FF2B5EF4-FFF2-40B4-BE49-F238E27FC236}">
                <a16:creationId xmlns:a16="http://schemas.microsoft.com/office/drawing/2014/main" id="{819CCE2A-40D3-4062-A611-15D55B94A54F}"/>
              </a:ext>
            </a:extLst>
          </p:cNvPr>
          <p:cNvSpPr>
            <a:spLocks xmlns:a="http://schemas.openxmlformats.org/drawingml/2006/main" noGrp="1"/>
          </p:cNvSpPr>
          <p:nvPr/>
        </p:nvSpPr>
        <p:spPr>
          <a:xfrm xmlns:a="http://schemas.openxmlformats.org/drawingml/2006/main">
            <a:off x="6762750" y="23431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Endocardial longitudinal shortening</a:t>
            </a:r>
          </a:p>
        </p:txBody>
      </p:sp>
      <p:sp>
        <p:nvSpPr>
          <p:cNvPr id="22" name="">
            <a:extLst xmlns:a="http://schemas.openxmlformats.org/drawingml/2006/main">
              <a:ext uri="{FF2B5EF4-FFF2-40B4-BE49-F238E27FC236}">
                <a16:creationId xmlns:a16="http://schemas.microsoft.com/office/drawing/2014/main" id="{3C263DD2-C015-43E8-BD01-ED076B349126}"/>
              </a:ext>
            </a:extLst>
          </p:cNvPr>
          <p:cNvSpPr>
            <a:spLocks xmlns:a="http://schemas.openxmlformats.org/drawingml/2006/main" noGrp="1"/>
          </p:cNvSpPr>
          <p:nvPr/>
        </p:nvSpPr>
        <p:spPr>
          <a:xfrm xmlns:a="http://schemas.openxmlformats.org/drawingml/2006/main">
            <a:off x="400050" y="2819400"/>
            <a:ext cx="66675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3" name="">
            <a:extLst xmlns:a="http://schemas.openxmlformats.org/drawingml/2006/main">
              <a:ext uri="{FF2B5EF4-FFF2-40B4-BE49-F238E27FC236}">
                <a16:creationId xmlns:a16="http://schemas.microsoft.com/office/drawing/2014/main" id="{A235D2DC-65B6-4E52-805A-45B82E168BEF}"/>
              </a:ext>
            </a:extLst>
          </p:cNvPr>
          <p:cNvSpPr>
            <a:spLocks xmlns:a="http://schemas.openxmlformats.org/drawingml/2006/main" noGrp="1"/>
          </p:cNvSpPr>
          <p:nvPr/>
        </p:nvSpPr>
        <p:spPr>
          <a:xfrm xmlns:a="http://schemas.openxmlformats.org/drawingml/2006/main">
            <a:off x="476250" y="28956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B4446434-374C-4585-B807-223DBF4C14B7}"/>
              </a:ext>
            </a:extLst>
          </p:cNvPr>
          <p:cNvSpPr>
            <a:spLocks xmlns:a="http://schemas.openxmlformats.org/drawingml/2006/main" noGrp="1"/>
          </p:cNvSpPr>
          <p:nvPr/>
        </p:nvSpPr>
        <p:spPr>
          <a:xfrm xmlns:a="http://schemas.openxmlformats.org/drawingml/2006/main">
            <a:off x="1066800" y="2819400"/>
            <a:ext cx="219075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5" name="">
            <a:extLst xmlns:a="http://schemas.openxmlformats.org/drawingml/2006/main">
              <a:ext uri="{FF2B5EF4-FFF2-40B4-BE49-F238E27FC236}">
                <a16:creationId xmlns:a16="http://schemas.microsoft.com/office/drawing/2014/main" id="{5B58CFE1-53FB-4E17-B177-54BAE7BA7F80}"/>
              </a:ext>
            </a:extLst>
          </p:cNvPr>
          <p:cNvSpPr>
            <a:spLocks xmlns:a="http://schemas.openxmlformats.org/drawingml/2006/main" noGrp="1"/>
          </p:cNvSpPr>
          <p:nvPr/>
        </p:nvSpPr>
        <p:spPr>
          <a:xfrm xmlns:a="http://schemas.openxmlformats.org/drawingml/2006/main">
            <a:off x="1143000" y="2895600"/>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Current Mid</a:t>
            </a:r>
          </a:p>
        </p:txBody>
      </p:sp>
      <p:sp>
        <p:nvSpPr>
          <p:cNvPr id="26" name="">
            <a:extLst xmlns:a="http://schemas.openxmlformats.org/drawingml/2006/main">
              <a:ext uri="{FF2B5EF4-FFF2-40B4-BE49-F238E27FC236}">
                <a16:creationId xmlns:a16="http://schemas.microsoft.com/office/drawing/2014/main" id="{AE2328BE-3C5C-4F43-AAEA-08453CE94591}"/>
              </a:ext>
            </a:extLst>
          </p:cNvPr>
          <p:cNvSpPr>
            <a:spLocks xmlns:a="http://schemas.openxmlformats.org/drawingml/2006/main" noGrp="1"/>
          </p:cNvSpPr>
          <p:nvPr/>
        </p:nvSpPr>
        <p:spPr>
          <a:xfrm xmlns:a="http://schemas.openxmlformats.org/drawingml/2006/main">
            <a:off x="3257550" y="2819400"/>
            <a:ext cx="342900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7" name="">
            <a:extLst xmlns:a="http://schemas.openxmlformats.org/drawingml/2006/main">
              <a:ext uri="{FF2B5EF4-FFF2-40B4-BE49-F238E27FC236}">
                <a16:creationId xmlns:a16="http://schemas.microsoft.com/office/drawing/2014/main" id="{B09D16F1-A69F-49C4-8179-841A0BBC6455}"/>
              </a:ext>
            </a:extLst>
          </p:cNvPr>
          <p:cNvSpPr>
            <a:spLocks xmlns:a="http://schemas.openxmlformats.org/drawingml/2006/main" noGrp="1"/>
          </p:cNvSpPr>
          <p:nvPr/>
        </p:nvSpPr>
        <p:spPr>
          <a:xfrm xmlns:a="http://schemas.openxmlformats.org/drawingml/2006/main">
            <a:off x="3333750" y="289560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Mₜ(s,τ)</a:t>
            </a:r>
          </a:p>
        </p:txBody>
      </p:sp>
      <p:sp>
        <p:nvSpPr>
          <p:cNvPr id="28" name="">
            <a:extLst xmlns:a="http://schemas.openxmlformats.org/drawingml/2006/main">
              <a:ext uri="{FF2B5EF4-FFF2-40B4-BE49-F238E27FC236}">
                <a16:creationId xmlns:a16="http://schemas.microsoft.com/office/drawing/2014/main" id="{605E607A-0650-408A-A3A7-67FA6FAD58D2}"/>
              </a:ext>
            </a:extLst>
          </p:cNvPr>
          <p:cNvSpPr>
            <a:spLocks xmlns:a="http://schemas.openxmlformats.org/drawingml/2006/main" noGrp="1"/>
          </p:cNvSpPr>
          <p:nvPr/>
        </p:nvSpPr>
        <p:spPr>
          <a:xfrm xmlns:a="http://schemas.openxmlformats.org/drawingml/2006/main">
            <a:off x="6686550" y="2819400"/>
            <a:ext cx="510540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9" name="">
            <a:extLst xmlns:a="http://schemas.openxmlformats.org/drawingml/2006/main">
              <a:ext uri="{FF2B5EF4-FFF2-40B4-BE49-F238E27FC236}">
                <a16:creationId xmlns:a16="http://schemas.microsoft.com/office/drawing/2014/main" id="{4F82F446-798C-4035-9691-A4ACB46F2113}"/>
              </a:ext>
            </a:extLst>
          </p:cNvPr>
          <p:cNvSpPr>
            <a:spLocks xmlns:a="http://schemas.openxmlformats.org/drawingml/2006/main" noGrp="1"/>
          </p:cNvSpPr>
          <p:nvPr/>
        </p:nvSpPr>
        <p:spPr>
          <a:xfrm xmlns:a="http://schemas.openxmlformats.org/drawingml/2006/main">
            <a:off x="6762750" y="28956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Mid-wall longitudinal shortening</a:t>
            </a:r>
          </a:p>
        </p:txBody>
      </p:sp>
      <p:sp>
        <p:nvSpPr>
          <p:cNvPr id="30" name="">
            <a:extLst xmlns:a="http://schemas.openxmlformats.org/drawingml/2006/main">
              <a:ext uri="{FF2B5EF4-FFF2-40B4-BE49-F238E27FC236}">
                <a16:creationId xmlns:a16="http://schemas.microsoft.com/office/drawing/2014/main" id="{0CA263F1-7595-4942-BB66-D9379C64730F}"/>
              </a:ext>
            </a:extLst>
          </p:cNvPr>
          <p:cNvSpPr>
            <a:spLocks xmlns:a="http://schemas.openxmlformats.org/drawingml/2006/main" noGrp="1"/>
          </p:cNvSpPr>
          <p:nvPr/>
        </p:nvSpPr>
        <p:spPr>
          <a:xfrm xmlns:a="http://schemas.openxmlformats.org/drawingml/2006/main">
            <a:off x="400050" y="3371850"/>
            <a:ext cx="66675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1" name="">
            <a:extLst xmlns:a="http://schemas.openxmlformats.org/drawingml/2006/main">
              <a:ext uri="{FF2B5EF4-FFF2-40B4-BE49-F238E27FC236}">
                <a16:creationId xmlns:a16="http://schemas.microsoft.com/office/drawing/2014/main" id="{E490FAE4-D575-43E8-9097-2A90FCB9B993}"/>
              </a:ext>
            </a:extLst>
          </p:cNvPr>
          <p:cNvSpPr>
            <a:spLocks xmlns:a="http://schemas.openxmlformats.org/drawingml/2006/main" noGrp="1"/>
          </p:cNvSpPr>
          <p:nvPr/>
        </p:nvSpPr>
        <p:spPr>
          <a:xfrm xmlns:a="http://schemas.openxmlformats.org/drawingml/2006/main">
            <a:off x="476250" y="344805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3</a:t>
            </a:r>
          </a:p>
        </p:txBody>
      </p:sp>
      <p:sp>
        <p:nvSpPr>
          <p:cNvPr id="32" name="">
            <a:extLst xmlns:a="http://schemas.openxmlformats.org/drawingml/2006/main">
              <a:ext uri="{FF2B5EF4-FFF2-40B4-BE49-F238E27FC236}">
                <a16:creationId xmlns:a16="http://schemas.microsoft.com/office/drawing/2014/main" id="{4AC99DCE-8890-460B-9C7F-FB1AA56AB7C6}"/>
              </a:ext>
            </a:extLst>
          </p:cNvPr>
          <p:cNvSpPr>
            <a:spLocks xmlns:a="http://schemas.openxmlformats.org/drawingml/2006/main" noGrp="1"/>
          </p:cNvSpPr>
          <p:nvPr/>
        </p:nvSpPr>
        <p:spPr>
          <a:xfrm xmlns:a="http://schemas.openxmlformats.org/drawingml/2006/main">
            <a:off x="1066800" y="3371850"/>
            <a:ext cx="219075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3" name="">
            <a:extLst xmlns:a="http://schemas.openxmlformats.org/drawingml/2006/main">
              <a:ext uri="{FF2B5EF4-FFF2-40B4-BE49-F238E27FC236}">
                <a16:creationId xmlns:a16="http://schemas.microsoft.com/office/drawing/2014/main" id="{24CF7C71-FC76-4078-BA7E-BFC7F7DC6370}"/>
              </a:ext>
            </a:extLst>
          </p:cNvPr>
          <p:cNvSpPr>
            <a:spLocks xmlns:a="http://schemas.openxmlformats.org/drawingml/2006/main" noGrp="1"/>
          </p:cNvSpPr>
          <p:nvPr/>
        </p:nvSpPr>
        <p:spPr>
          <a:xfrm xmlns:a="http://schemas.openxmlformats.org/drawingml/2006/main">
            <a:off x="1143000" y="3448050"/>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Current gap</a:t>
            </a:r>
          </a:p>
        </p:txBody>
      </p:sp>
      <p:sp>
        <p:nvSpPr>
          <p:cNvPr id="34" name="">
            <a:extLst xmlns:a="http://schemas.openxmlformats.org/drawingml/2006/main">
              <a:ext uri="{FF2B5EF4-FFF2-40B4-BE49-F238E27FC236}">
                <a16:creationId xmlns:a16="http://schemas.microsoft.com/office/drawing/2014/main" id="{0BD9BC8F-C011-498A-B3C7-CFA9F9D23B0D}"/>
              </a:ext>
            </a:extLst>
          </p:cNvPr>
          <p:cNvSpPr>
            <a:spLocks xmlns:a="http://schemas.openxmlformats.org/drawingml/2006/main" noGrp="1"/>
          </p:cNvSpPr>
          <p:nvPr/>
        </p:nvSpPr>
        <p:spPr>
          <a:xfrm xmlns:a="http://schemas.openxmlformats.org/drawingml/2006/main">
            <a:off x="3257550" y="3371850"/>
            <a:ext cx="342900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5" name="">
            <a:extLst xmlns:a="http://schemas.openxmlformats.org/drawingml/2006/main">
              <a:ext uri="{FF2B5EF4-FFF2-40B4-BE49-F238E27FC236}">
                <a16:creationId xmlns:a16="http://schemas.microsoft.com/office/drawing/2014/main" id="{5A2B9A01-6C63-4928-9DFF-2030D3F3ED90}"/>
              </a:ext>
            </a:extLst>
          </p:cNvPr>
          <p:cNvSpPr>
            <a:spLocks xmlns:a="http://schemas.openxmlformats.org/drawingml/2006/main" noGrp="1"/>
          </p:cNvSpPr>
          <p:nvPr/>
        </p:nvSpPr>
        <p:spPr>
          <a:xfrm xmlns:a="http://schemas.openxmlformats.org/drawingml/2006/main">
            <a:off x="3333750" y="34480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Eₜ − Mₜ</a:t>
            </a:r>
          </a:p>
        </p:txBody>
      </p:sp>
      <p:sp>
        <p:nvSpPr>
          <p:cNvPr id="36" name="">
            <a:extLst xmlns:a="http://schemas.openxmlformats.org/drawingml/2006/main">
              <a:ext uri="{FF2B5EF4-FFF2-40B4-BE49-F238E27FC236}">
                <a16:creationId xmlns:a16="http://schemas.microsoft.com/office/drawing/2014/main" id="{3BE17238-3214-4763-A15E-751D8CEC217D}"/>
              </a:ext>
            </a:extLst>
          </p:cNvPr>
          <p:cNvSpPr>
            <a:spLocks xmlns:a="http://schemas.openxmlformats.org/drawingml/2006/main" noGrp="1"/>
          </p:cNvSpPr>
          <p:nvPr/>
        </p:nvSpPr>
        <p:spPr>
          <a:xfrm xmlns:a="http://schemas.openxmlformats.org/drawingml/2006/main">
            <a:off x="6686550" y="3371850"/>
            <a:ext cx="510540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7" name="">
            <a:extLst xmlns:a="http://schemas.openxmlformats.org/drawingml/2006/main">
              <a:ext uri="{FF2B5EF4-FFF2-40B4-BE49-F238E27FC236}">
                <a16:creationId xmlns:a16="http://schemas.microsoft.com/office/drawing/2014/main" id="{8D4AFF4E-7BEB-4E06-A550-AC5B23AFFB51}"/>
              </a:ext>
            </a:extLst>
          </p:cNvPr>
          <p:cNvSpPr>
            <a:spLocks xmlns:a="http://schemas.openxmlformats.org/drawingml/2006/main" noGrp="1"/>
          </p:cNvSpPr>
          <p:nvPr/>
        </p:nvSpPr>
        <p:spPr>
          <a:xfrm xmlns:a="http://schemas.openxmlformats.org/drawingml/2006/main">
            <a:off x="6762750" y="34480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Transmural Endo–Mid discordance</a:t>
            </a:r>
          </a:p>
        </p:txBody>
      </p:sp>
      <p:sp>
        <p:nvSpPr>
          <p:cNvPr id="38" name="">
            <a:extLst xmlns:a="http://schemas.openxmlformats.org/drawingml/2006/main">
              <a:ext uri="{FF2B5EF4-FFF2-40B4-BE49-F238E27FC236}">
                <a16:creationId xmlns:a16="http://schemas.microsoft.com/office/drawing/2014/main" id="{AD470919-C71E-4C47-A77B-FA3CF02B77C1}"/>
              </a:ext>
            </a:extLst>
          </p:cNvPr>
          <p:cNvSpPr>
            <a:spLocks xmlns:a="http://schemas.openxmlformats.org/drawingml/2006/main" noGrp="1"/>
          </p:cNvSpPr>
          <p:nvPr/>
        </p:nvSpPr>
        <p:spPr>
          <a:xfrm xmlns:a="http://schemas.openxmlformats.org/drawingml/2006/main">
            <a:off x="400050" y="3924300"/>
            <a:ext cx="66675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9" name="">
            <a:extLst xmlns:a="http://schemas.openxmlformats.org/drawingml/2006/main">
              <a:ext uri="{FF2B5EF4-FFF2-40B4-BE49-F238E27FC236}">
                <a16:creationId xmlns:a16="http://schemas.microsoft.com/office/drawing/2014/main" id="{5438963B-3A48-467F-9333-1BA6C1E861D1}"/>
              </a:ext>
            </a:extLst>
          </p:cNvPr>
          <p:cNvSpPr>
            <a:spLocks xmlns:a="http://schemas.openxmlformats.org/drawingml/2006/main" noGrp="1"/>
          </p:cNvSpPr>
          <p:nvPr/>
        </p:nvSpPr>
        <p:spPr>
          <a:xfrm xmlns:a="http://schemas.openxmlformats.org/drawingml/2006/main">
            <a:off x="476250" y="40005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4</a:t>
            </a:r>
          </a:p>
        </p:txBody>
      </p:sp>
      <p:sp>
        <p:nvSpPr>
          <p:cNvPr id="40" name="">
            <a:extLst xmlns:a="http://schemas.openxmlformats.org/drawingml/2006/main">
              <a:ext uri="{FF2B5EF4-FFF2-40B4-BE49-F238E27FC236}">
                <a16:creationId xmlns:a16="http://schemas.microsoft.com/office/drawing/2014/main" id="{70839E29-5A64-40D1-92F8-63D5593F7423}"/>
              </a:ext>
            </a:extLst>
          </p:cNvPr>
          <p:cNvSpPr>
            <a:spLocks xmlns:a="http://schemas.openxmlformats.org/drawingml/2006/main" noGrp="1"/>
          </p:cNvSpPr>
          <p:nvPr/>
        </p:nvSpPr>
        <p:spPr>
          <a:xfrm xmlns:a="http://schemas.openxmlformats.org/drawingml/2006/main">
            <a:off x="1066800" y="3924300"/>
            <a:ext cx="219075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1" name="">
            <a:extLst xmlns:a="http://schemas.openxmlformats.org/drawingml/2006/main">
              <a:ext uri="{FF2B5EF4-FFF2-40B4-BE49-F238E27FC236}">
                <a16:creationId xmlns:a16="http://schemas.microsoft.com/office/drawing/2014/main" id="{46EAA104-C6EA-43AD-BB8D-B3B4533D903E}"/>
              </a:ext>
            </a:extLst>
          </p:cNvPr>
          <p:cNvSpPr>
            <a:spLocks xmlns:a="http://schemas.openxmlformats.org/drawingml/2006/main" noGrp="1"/>
          </p:cNvSpPr>
          <p:nvPr/>
        </p:nvSpPr>
        <p:spPr>
          <a:xfrm xmlns:a="http://schemas.openxmlformats.org/drawingml/2006/main">
            <a:off x="1143000" y="4000500"/>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Change Endo</a:t>
            </a:r>
          </a:p>
        </p:txBody>
      </p:sp>
      <p:sp>
        <p:nvSpPr>
          <p:cNvPr id="42" name="">
            <a:extLst xmlns:a="http://schemas.openxmlformats.org/drawingml/2006/main">
              <a:ext uri="{FF2B5EF4-FFF2-40B4-BE49-F238E27FC236}">
                <a16:creationId xmlns:a16="http://schemas.microsoft.com/office/drawing/2014/main" id="{21CE51B6-A362-4906-804F-E085EA66E7AC}"/>
              </a:ext>
            </a:extLst>
          </p:cNvPr>
          <p:cNvSpPr>
            <a:spLocks xmlns:a="http://schemas.openxmlformats.org/drawingml/2006/main" noGrp="1"/>
          </p:cNvSpPr>
          <p:nvPr/>
        </p:nvSpPr>
        <p:spPr>
          <a:xfrm xmlns:a="http://schemas.openxmlformats.org/drawingml/2006/main">
            <a:off x="3257550" y="3924300"/>
            <a:ext cx="342900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3" name="">
            <a:extLst xmlns:a="http://schemas.openxmlformats.org/drawingml/2006/main">
              <a:ext uri="{FF2B5EF4-FFF2-40B4-BE49-F238E27FC236}">
                <a16:creationId xmlns:a16="http://schemas.microsoft.com/office/drawing/2014/main" id="{26698B28-0A5B-46D5-9881-E716583102C8}"/>
              </a:ext>
            </a:extLst>
          </p:cNvPr>
          <p:cNvSpPr>
            <a:spLocks xmlns:a="http://schemas.openxmlformats.org/drawingml/2006/main" noGrp="1"/>
          </p:cNvSpPr>
          <p:nvPr/>
        </p:nvSpPr>
        <p:spPr>
          <a:xfrm xmlns:a="http://schemas.openxmlformats.org/drawingml/2006/main">
            <a:off x="3333750" y="400050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Eₜ − Eₜ₋₁</a:t>
            </a:r>
          </a:p>
        </p:txBody>
      </p:sp>
      <p:sp>
        <p:nvSpPr>
          <p:cNvPr id="44" name="">
            <a:extLst xmlns:a="http://schemas.openxmlformats.org/drawingml/2006/main">
              <a:ext uri="{FF2B5EF4-FFF2-40B4-BE49-F238E27FC236}">
                <a16:creationId xmlns:a16="http://schemas.microsoft.com/office/drawing/2014/main" id="{57F75473-C27F-4F7E-8869-8C44AD176F15}"/>
              </a:ext>
            </a:extLst>
          </p:cNvPr>
          <p:cNvSpPr>
            <a:spLocks xmlns:a="http://schemas.openxmlformats.org/drawingml/2006/main" noGrp="1"/>
          </p:cNvSpPr>
          <p:nvPr/>
        </p:nvSpPr>
        <p:spPr>
          <a:xfrm xmlns:a="http://schemas.openxmlformats.org/drawingml/2006/main">
            <a:off x="6686550" y="3924300"/>
            <a:ext cx="510540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5" name="">
            <a:extLst xmlns:a="http://schemas.openxmlformats.org/drawingml/2006/main">
              <a:ext uri="{FF2B5EF4-FFF2-40B4-BE49-F238E27FC236}">
                <a16:creationId xmlns:a16="http://schemas.microsoft.com/office/drawing/2014/main" id="{6E859C8B-0994-42E9-BCA6-3F57FBD1A9D7}"/>
              </a:ext>
            </a:extLst>
          </p:cNvPr>
          <p:cNvSpPr>
            <a:spLocks xmlns:a="http://schemas.openxmlformats.org/drawingml/2006/main" noGrp="1"/>
          </p:cNvSpPr>
          <p:nvPr/>
        </p:nvSpPr>
        <p:spPr>
          <a:xfrm xmlns:a="http://schemas.openxmlformats.org/drawingml/2006/main">
            <a:off x="6762750" y="40005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Evolution of endocardial mechanics</a:t>
            </a:r>
          </a:p>
        </p:txBody>
      </p:sp>
      <p:sp>
        <p:nvSpPr>
          <p:cNvPr id="46" name="">
            <a:extLst xmlns:a="http://schemas.openxmlformats.org/drawingml/2006/main">
              <a:ext uri="{FF2B5EF4-FFF2-40B4-BE49-F238E27FC236}">
                <a16:creationId xmlns:a16="http://schemas.microsoft.com/office/drawing/2014/main" id="{2FB95736-7A08-4E26-BF2E-B858459942D7}"/>
              </a:ext>
            </a:extLst>
          </p:cNvPr>
          <p:cNvSpPr>
            <a:spLocks xmlns:a="http://schemas.openxmlformats.org/drawingml/2006/main" noGrp="1"/>
          </p:cNvSpPr>
          <p:nvPr/>
        </p:nvSpPr>
        <p:spPr>
          <a:xfrm xmlns:a="http://schemas.openxmlformats.org/drawingml/2006/main">
            <a:off x="400050" y="4476750"/>
            <a:ext cx="66675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7" name="">
            <a:extLst xmlns:a="http://schemas.openxmlformats.org/drawingml/2006/main">
              <a:ext uri="{FF2B5EF4-FFF2-40B4-BE49-F238E27FC236}">
                <a16:creationId xmlns:a16="http://schemas.microsoft.com/office/drawing/2014/main" id="{5BA6A5BF-1C36-4788-8521-55E14225811F}"/>
              </a:ext>
            </a:extLst>
          </p:cNvPr>
          <p:cNvSpPr>
            <a:spLocks xmlns:a="http://schemas.openxmlformats.org/drawingml/2006/main" noGrp="1"/>
          </p:cNvSpPr>
          <p:nvPr/>
        </p:nvSpPr>
        <p:spPr>
          <a:xfrm xmlns:a="http://schemas.openxmlformats.org/drawingml/2006/main">
            <a:off x="476250" y="455295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5</a:t>
            </a:r>
          </a:p>
        </p:txBody>
      </p:sp>
      <p:sp>
        <p:nvSpPr>
          <p:cNvPr id="48" name="">
            <a:extLst xmlns:a="http://schemas.openxmlformats.org/drawingml/2006/main">
              <a:ext uri="{FF2B5EF4-FFF2-40B4-BE49-F238E27FC236}">
                <a16:creationId xmlns:a16="http://schemas.microsoft.com/office/drawing/2014/main" id="{0AA3A73E-6BB5-4207-B837-F4E34C6CE719}"/>
              </a:ext>
            </a:extLst>
          </p:cNvPr>
          <p:cNvSpPr>
            <a:spLocks xmlns:a="http://schemas.openxmlformats.org/drawingml/2006/main" noGrp="1"/>
          </p:cNvSpPr>
          <p:nvPr/>
        </p:nvSpPr>
        <p:spPr>
          <a:xfrm xmlns:a="http://schemas.openxmlformats.org/drawingml/2006/main">
            <a:off x="1066800" y="4476750"/>
            <a:ext cx="219075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9" name="">
            <a:extLst xmlns:a="http://schemas.openxmlformats.org/drawingml/2006/main">
              <a:ext uri="{FF2B5EF4-FFF2-40B4-BE49-F238E27FC236}">
                <a16:creationId xmlns:a16="http://schemas.microsoft.com/office/drawing/2014/main" id="{8FBB28F1-D959-4784-8EBF-EC02D3399293}"/>
              </a:ext>
            </a:extLst>
          </p:cNvPr>
          <p:cNvSpPr>
            <a:spLocks xmlns:a="http://schemas.openxmlformats.org/drawingml/2006/main" noGrp="1"/>
          </p:cNvSpPr>
          <p:nvPr/>
        </p:nvSpPr>
        <p:spPr>
          <a:xfrm xmlns:a="http://schemas.openxmlformats.org/drawingml/2006/main">
            <a:off x="1143000" y="4552950"/>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Change Mid</a:t>
            </a:r>
          </a:p>
        </p:txBody>
      </p:sp>
      <p:sp>
        <p:nvSpPr>
          <p:cNvPr id="50" name="">
            <a:extLst xmlns:a="http://schemas.openxmlformats.org/drawingml/2006/main">
              <a:ext uri="{FF2B5EF4-FFF2-40B4-BE49-F238E27FC236}">
                <a16:creationId xmlns:a16="http://schemas.microsoft.com/office/drawing/2014/main" id="{A1B31E11-AE7C-4A83-9DAC-7D7EECAD5D51}"/>
              </a:ext>
            </a:extLst>
          </p:cNvPr>
          <p:cNvSpPr>
            <a:spLocks xmlns:a="http://schemas.openxmlformats.org/drawingml/2006/main" noGrp="1"/>
          </p:cNvSpPr>
          <p:nvPr/>
        </p:nvSpPr>
        <p:spPr>
          <a:xfrm xmlns:a="http://schemas.openxmlformats.org/drawingml/2006/main">
            <a:off x="3257550" y="4476750"/>
            <a:ext cx="342900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1" name="">
            <a:extLst xmlns:a="http://schemas.openxmlformats.org/drawingml/2006/main">
              <a:ext uri="{FF2B5EF4-FFF2-40B4-BE49-F238E27FC236}">
                <a16:creationId xmlns:a16="http://schemas.microsoft.com/office/drawing/2014/main" id="{B421826A-A39C-4AC9-BE12-186AC14E5F66}"/>
              </a:ext>
            </a:extLst>
          </p:cNvPr>
          <p:cNvSpPr>
            <a:spLocks xmlns:a="http://schemas.openxmlformats.org/drawingml/2006/main" noGrp="1"/>
          </p:cNvSpPr>
          <p:nvPr/>
        </p:nvSpPr>
        <p:spPr>
          <a:xfrm xmlns:a="http://schemas.openxmlformats.org/drawingml/2006/main">
            <a:off x="3333750" y="45529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Mₜ − Mₜ₋₁</a:t>
            </a:r>
          </a:p>
        </p:txBody>
      </p:sp>
      <p:sp>
        <p:nvSpPr>
          <p:cNvPr id="52" name="">
            <a:extLst xmlns:a="http://schemas.openxmlformats.org/drawingml/2006/main">
              <a:ext uri="{FF2B5EF4-FFF2-40B4-BE49-F238E27FC236}">
                <a16:creationId xmlns:a16="http://schemas.microsoft.com/office/drawing/2014/main" id="{558FA4EA-F18A-4997-A59B-5E09847B3C39}"/>
              </a:ext>
            </a:extLst>
          </p:cNvPr>
          <p:cNvSpPr>
            <a:spLocks xmlns:a="http://schemas.openxmlformats.org/drawingml/2006/main" noGrp="1"/>
          </p:cNvSpPr>
          <p:nvPr/>
        </p:nvSpPr>
        <p:spPr>
          <a:xfrm xmlns:a="http://schemas.openxmlformats.org/drawingml/2006/main">
            <a:off x="6686550" y="4476750"/>
            <a:ext cx="5105400" cy="5524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3" name="">
            <a:extLst xmlns:a="http://schemas.openxmlformats.org/drawingml/2006/main">
              <a:ext uri="{FF2B5EF4-FFF2-40B4-BE49-F238E27FC236}">
                <a16:creationId xmlns:a16="http://schemas.microsoft.com/office/drawing/2014/main" id="{AE9DD62D-07EB-4C1D-A167-D74604E43B6C}"/>
              </a:ext>
            </a:extLst>
          </p:cNvPr>
          <p:cNvSpPr>
            <a:spLocks xmlns:a="http://schemas.openxmlformats.org/drawingml/2006/main" noGrp="1"/>
          </p:cNvSpPr>
          <p:nvPr/>
        </p:nvSpPr>
        <p:spPr>
          <a:xfrm xmlns:a="http://schemas.openxmlformats.org/drawingml/2006/main">
            <a:off x="6762750" y="45529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Evolution of mid-wall mechanics</a:t>
            </a:r>
          </a:p>
        </p:txBody>
      </p:sp>
      <p:sp>
        <p:nvSpPr>
          <p:cNvPr id="54" name="">
            <a:extLst xmlns:a="http://schemas.openxmlformats.org/drawingml/2006/main">
              <a:ext uri="{FF2B5EF4-FFF2-40B4-BE49-F238E27FC236}">
                <a16:creationId xmlns:a16="http://schemas.microsoft.com/office/drawing/2014/main" id="{C9862B42-E3FD-4542-94DF-052F02FD6221}"/>
              </a:ext>
            </a:extLst>
          </p:cNvPr>
          <p:cNvSpPr>
            <a:spLocks xmlns:a="http://schemas.openxmlformats.org/drawingml/2006/main" noGrp="1"/>
          </p:cNvSpPr>
          <p:nvPr/>
        </p:nvSpPr>
        <p:spPr>
          <a:xfrm xmlns:a="http://schemas.openxmlformats.org/drawingml/2006/main">
            <a:off x="400050" y="5029200"/>
            <a:ext cx="66675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55" name="">
            <a:extLst xmlns:a="http://schemas.openxmlformats.org/drawingml/2006/main">
              <a:ext uri="{FF2B5EF4-FFF2-40B4-BE49-F238E27FC236}">
                <a16:creationId xmlns:a16="http://schemas.microsoft.com/office/drawing/2014/main" id="{81012401-C16F-4FAD-A23E-CCA558786FE3}"/>
              </a:ext>
            </a:extLst>
          </p:cNvPr>
          <p:cNvSpPr>
            <a:spLocks xmlns:a="http://schemas.openxmlformats.org/drawingml/2006/main" noGrp="1"/>
          </p:cNvSpPr>
          <p:nvPr/>
        </p:nvSpPr>
        <p:spPr>
          <a:xfrm xmlns:a="http://schemas.openxmlformats.org/drawingml/2006/main">
            <a:off x="476250" y="5105400"/>
            <a:ext cx="51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6</a:t>
            </a:r>
          </a:p>
        </p:txBody>
      </p:sp>
      <p:sp>
        <p:nvSpPr>
          <p:cNvPr id="56" name="">
            <a:extLst xmlns:a="http://schemas.openxmlformats.org/drawingml/2006/main">
              <a:ext uri="{FF2B5EF4-FFF2-40B4-BE49-F238E27FC236}">
                <a16:creationId xmlns:a16="http://schemas.microsoft.com/office/drawing/2014/main" id="{1244872F-82A9-4CB4-8A06-48952C61AE5E}"/>
              </a:ext>
            </a:extLst>
          </p:cNvPr>
          <p:cNvSpPr>
            <a:spLocks xmlns:a="http://schemas.openxmlformats.org/drawingml/2006/main" noGrp="1"/>
          </p:cNvSpPr>
          <p:nvPr/>
        </p:nvSpPr>
        <p:spPr>
          <a:xfrm xmlns:a="http://schemas.openxmlformats.org/drawingml/2006/main">
            <a:off x="1066800" y="5029200"/>
            <a:ext cx="219075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57" name="">
            <a:extLst xmlns:a="http://schemas.openxmlformats.org/drawingml/2006/main">
              <a:ext uri="{FF2B5EF4-FFF2-40B4-BE49-F238E27FC236}">
                <a16:creationId xmlns:a16="http://schemas.microsoft.com/office/drawing/2014/main" id="{B091278B-5CE8-46CD-9E87-0BB77B19F3B5}"/>
              </a:ext>
            </a:extLst>
          </p:cNvPr>
          <p:cNvSpPr>
            <a:spLocks xmlns:a="http://schemas.openxmlformats.org/drawingml/2006/main" noGrp="1"/>
          </p:cNvSpPr>
          <p:nvPr/>
        </p:nvSpPr>
        <p:spPr>
          <a:xfrm xmlns:a="http://schemas.openxmlformats.org/drawingml/2006/main">
            <a:off x="1143000" y="5105400"/>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Change gap</a:t>
            </a:r>
          </a:p>
        </p:txBody>
      </p:sp>
      <p:sp>
        <p:nvSpPr>
          <p:cNvPr id="58" name="">
            <a:extLst xmlns:a="http://schemas.openxmlformats.org/drawingml/2006/main">
              <a:ext uri="{FF2B5EF4-FFF2-40B4-BE49-F238E27FC236}">
                <a16:creationId xmlns:a16="http://schemas.microsoft.com/office/drawing/2014/main" id="{D2BCE91C-985C-45C1-B269-C1B9D346D1EF}"/>
              </a:ext>
            </a:extLst>
          </p:cNvPr>
          <p:cNvSpPr>
            <a:spLocks xmlns:a="http://schemas.openxmlformats.org/drawingml/2006/main" noGrp="1"/>
          </p:cNvSpPr>
          <p:nvPr/>
        </p:nvSpPr>
        <p:spPr>
          <a:xfrm xmlns:a="http://schemas.openxmlformats.org/drawingml/2006/main">
            <a:off x="3257550" y="5029200"/>
            <a:ext cx="342900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59" name="">
            <a:extLst xmlns:a="http://schemas.openxmlformats.org/drawingml/2006/main">
              <a:ext uri="{FF2B5EF4-FFF2-40B4-BE49-F238E27FC236}">
                <a16:creationId xmlns:a16="http://schemas.microsoft.com/office/drawing/2014/main" id="{8953757A-A99A-4816-9384-F9FF42103E1A}"/>
              </a:ext>
            </a:extLst>
          </p:cNvPr>
          <p:cNvSpPr>
            <a:spLocks xmlns:a="http://schemas.openxmlformats.org/drawingml/2006/main" noGrp="1"/>
          </p:cNvSpPr>
          <p:nvPr/>
        </p:nvSpPr>
        <p:spPr>
          <a:xfrm xmlns:a="http://schemas.openxmlformats.org/drawingml/2006/main">
            <a:off x="3333750" y="510540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(E−M)ₜ − (E−M)ₜ₋₁</a:t>
            </a:r>
          </a:p>
        </p:txBody>
      </p:sp>
      <p:sp>
        <p:nvSpPr>
          <p:cNvPr id="60" name="">
            <a:extLst xmlns:a="http://schemas.openxmlformats.org/drawingml/2006/main">
              <a:ext uri="{FF2B5EF4-FFF2-40B4-BE49-F238E27FC236}">
                <a16:creationId xmlns:a16="http://schemas.microsoft.com/office/drawing/2014/main" id="{8359B5E4-5E19-429D-BC1A-3ED3A36372BF}"/>
              </a:ext>
            </a:extLst>
          </p:cNvPr>
          <p:cNvSpPr>
            <a:spLocks xmlns:a="http://schemas.openxmlformats.org/drawingml/2006/main" noGrp="1"/>
          </p:cNvSpPr>
          <p:nvPr/>
        </p:nvSpPr>
        <p:spPr>
          <a:xfrm xmlns:a="http://schemas.openxmlformats.org/drawingml/2006/main">
            <a:off x="6686550" y="5029200"/>
            <a:ext cx="5105400" cy="5524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61" name="">
            <a:extLst xmlns:a="http://schemas.openxmlformats.org/drawingml/2006/main">
              <a:ext uri="{FF2B5EF4-FFF2-40B4-BE49-F238E27FC236}">
                <a16:creationId xmlns:a16="http://schemas.microsoft.com/office/drawing/2014/main" id="{7336032B-40E8-4C14-9C6F-51F9C7750F93}"/>
              </a:ext>
            </a:extLst>
          </p:cNvPr>
          <p:cNvSpPr>
            <a:spLocks xmlns:a="http://schemas.openxmlformats.org/drawingml/2006/main" noGrp="1"/>
          </p:cNvSpPr>
          <p:nvPr/>
        </p:nvSpPr>
        <p:spPr>
          <a:xfrm xmlns:a="http://schemas.openxmlformats.org/drawingml/2006/main">
            <a:off x="6762750" y="51054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Evolution of the transmural gradient</a:t>
            </a:r>
          </a:p>
        </p:txBody>
      </p:sp>
      <p:sp>
        <p:nvSpPr>
          <p:cNvPr id="62" name="">
            <a:extLst xmlns:a="http://schemas.openxmlformats.org/drawingml/2006/main">
              <a:ext uri="{FF2B5EF4-FFF2-40B4-BE49-F238E27FC236}">
                <a16:creationId xmlns:a16="http://schemas.microsoft.com/office/drawing/2014/main" id="{AB014D50-30F4-4327-B403-42E181DB6A99}"/>
              </a:ext>
            </a:extLst>
          </p:cNvPr>
          <p:cNvSpPr>
            <a:spLocks xmlns:a="http://schemas.openxmlformats.org/drawingml/2006/main" noGrp="1"/>
          </p:cNvSpPr>
          <p:nvPr/>
        </p:nvSpPr>
        <p:spPr>
          <a:xfrm xmlns:a="http://schemas.openxmlformats.org/drawingml/2006/main">
            <a:off x="400050" y="5734050"/>
            <a:ext cx="1133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Preprocessing: curve / 30 → clip to [−2, 2]. Missing previous-visit channels are encoded consistently with the pipeline.</a:t>
            </a:r>
          </a:p>
        </p:txBody>
      </p:sp>
      <p:sp>
        <p:nvSpPr>
          <p:cNvPr id="63" name="">
            <a:extLst xmlns:a="http://schemas.openxmlformats.org/drawingml/2006/main">
              <a:ext uri="{FF2B5EF4-FFF2-40B4-BE49-F238E27FC236}">
                <a16:creationId xmlns:a16="http://schemas.microsoft.com/office/drawing/2014/main" id="{66369140-A340-4E4A-858B-43B2ECAB1461}"/>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cardiotoxicity_cnn_channel_ablation.py; 96-sample ablation retained</a:t>
            </a:r>
          </a:p>
        </p:txBody>
      </p:sp>
    </p:spTree>
    <p:extLst>
      <p:ext uri="{BB962C8B-B14F-4D97-AF65-F5344CB8AC3E}">
        <p14:creationId xmlns:p14="http://schemas.microsoft.com/office/powerpoint/2010/main" val="11234923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54B4535-C619-410D-98AA-D8F6A9FD0A63}"/>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SCALAR BRANCH</a:t>
            </a:r>
          </a:p>
        </p:txBody>
      </p:sp>
      <p:sp>
        <p:nvSpPr>
          <p:cNvPr id="2" name="">
            <a:extLst xmlns:a="http://schemas.openxmlformats.org/drawingml/2006/main">
              <a:ext uri="{FF2B5EF4-FFF2-40B4-BE49-F238E27FC236}">
                <a16:creationId xmlns:a16="http://schemas.microsoft.com/office/drawing/2014/main" id="{FB34E8C8-5BED-4DA3-B6DD-D76B1991B8B5}"/>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The 96 scalar features provide clinical context</a:t>
            </a:r>
          </a:p>
        </p:txBody>
      </p:sp>
      <p:sp>
        <p:nvSpPr>
          <p:cNvPr id="3" name="">
            <a:extLst xmlns:a="http://schemas.openxmlformats.org/drawingml/2006/main">
              <a:ext uri="{FF2B5EF4-FFF2-40B4-BE49-F238E27FC236}">
                <a16:creationId xmlns:a16="http://schemas.microsoft.com/office/drawing/2014/main" id="{F958BD8C-D441-4444-A43C-386A7869E581}"/>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491C6286-D8BF-4DC2-A0CD-A6DA90586DC3}"/>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D881159-4403-4C65-AA30-6B657C977557}"/>
              </a:ext>
            </a:extLst>
          </p:cNvPr>
          <p:cNvSpPr>
            <a:spLocks xmlns:a="http://schemas.openxmlformats.org/drawingml/2006/main" noGrp="1"/>
          </p:cNvSpPr>
          <p:nvPr/>
        </p:nvSpPr>
        <p:spPr>
          <a:xfrm xmlns:a="http://schemas.openxmlformats.org/drawingml/2006/main">
            <a:off x="400050" y="1562100"/>
            <a:ext cx="2628900" cy="3848100"/>
          </a:xfrm>
          <a:prstGeom xmlns:a="http://schemas.openxmlformats.org/drawingml/2006/main" prst="roundRect">
            <a:avLst>
              <a:gd name="adj" fmla="val 4348"/>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99A5D136-552F-4382-B832-EE25033EF1BB}"/>
              </a:ext>
            </a:extLst>
          </p:cNvPr>
          <p:cNvSpPr>
            <a:spLocks xmlns:a="http://schemas.openxmlformats.org/drawingml/2006/main" noGrp="1"/>
          </p:cNvSpPr>
          <p:nvPr/>
        </p:nvSpPr>
        <p:spPr>
          <a:xfrm xmlns:a="http://schemas.openxmlformats.org/drawingml/2006/main">
            <a:off x="571500" y="1733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50505"/>
                </a:solidFill>
                <a:latin typeface="Arial"/>
                <a:ea typeface="Arial"/>
                <a:cs typeface="Arial"/>
              </a:defRPr>
            </a:pPr>
            <a:r>
              <a:rPr sz="1650" b="1" i="0">
                <a:solidFill>
                  <a:srgbClr val="050505"/>
                </a:solidFill>
                <a:latin typeface="Arial"/>
                <a:ea typeface="Arial"/>
                <a:cs typeface="Arial"/>
              </a:rPr>
              <a:t>24 trajectory features</a:t>
            </a:r>
          </a:p>
        </p:txBody>
      </p:sp>
      <p:sp>
        <p:nvSpPr>
          <p:cNvPr id="7" name="">
            <a:extLst xmlns:a="http://schemas.openxmlformats.org/drawingml/2006/main">
              <a:ext uri="{FF2B5EF4-FFF2-40B4-BE49-F238E27FC236}">
                <a16:creationId xmlns:a16="http://schemas.microsoft.com/office/drawing/2014/main" id="{268CB21A-0FB7-4F40-8F86-439855830F28}"/>
              </a:ext>
            </a:extLst>
          </p:cNvPr>
          <p:cNvSpPr>
            <a:spLocks xmlns:a="http://schemas.openxmlformats.org/drawingml/2006/main" noGrp="1"/>
          </p:cNvSpPr>
          <p:nvPr/>
        </p:nvSpPr>
        <p:spPr>
          <a:xfrm xmlns:a="http://schemas.openxmlformats.org/drawingml/2006/main">
            <a:off x="571500" y="2152650"/>
            <a:ext cx="2286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Visit history and timing</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Current Mid/Endo GLS and EF</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First-visit Mid/Endo GLS and EF</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Relative change from first visit</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Relative change from previous visit</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100-day slopes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Endo–Mid gap</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Two-visit rolling comparison</a:t>
            </a:r>
          </a:p>
        </p:txBody>
      </p:sp>
      <p:sp>
        <p:nvSpPr>
          <p:cNvPr id="8" name="">
            <a:extLst xmlns:a="http://schemas.openxmlformats.org/drawingml/2006/main">
              <a:ext uri="{FF2B5EF4-FFF2-40B4-BE49-F238E27FC236}">
                <a16:creationId xmlns:a16="http://schemas.microsoft.com/office/drawing/2014/main" id="{F8F378F1-7ADF-4B3B-A040-2AA027BFC7F5}"/>
              </a:ext>
            </a:extLst>
          </p:cNvPr>
          <p:cNvSpPr>
            <a:spLocks xmlns:a="http://schemas.openxmlformats.org/drawingml/2006/main" noGrp="1"/>
          </p:cNvSpPr>
          <p:nvPr/>
        </p:nvSpPr>
        <p:spPr>
          <a:xfrm xmlns:a="http://schemas.openxmlformats.org/drawingml/2006/main">
            <a:off x="3181350" y="1562100"/>
            <a:ext cx="2628900" cy="3848100"/>
          </a:xfrm>
          <a:prstGeom xmlns:a="http://schemas.openxmlformats.org/drawingml/2006/main" prst="roundRect">
            <a:avLst>
              <a:gd name="adj" fmla="val 4348"/>
            </a:avLst>
          </a:prstGeom>
          <a:solidFill xmlns:a="http://schemas.openxmlformats.org/drawingml/2006/main">
            <a:srgbClr val="E9FA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4BFC9872-F71B-44DF-9D43-B3AF066549CC}"/>
              </a:ext>
            </a:extLst>
          </p:cNvPr>
          <p:cNvSpPr>
            <a:spLocks xmlns:a="http://schemas.openxmlformats.org/drawingml/2006/main" noGrp="1"/>
          </p:cNvSpPr>
          <p:nvPr/>
        </p:nvSpPr>
        <p:spPr>
          <a:xfrm xmlns:a="http://schemas.openxmlformats.org/drawingml/2006/main">
            <a:off x="3352800" y="1733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50505"/>
                </a:solidFill>
                <a:latin typeface="Arial"/>
                <a:ea typeface="Arial"/>
                <a:cs typeface="Arial"/>
              </a:defRPr>
            </a:pPr>
            <a:r>
              <a:rPr sz="1650" b="1" i="0">
                <a:solidFill>
                  <a:srgbClr val="050505"/>
                </a:solidFill>
                <a:latin typeface="Arial"/>
                <a:ea typeface="Arial"/>
                <a:cs typeface="Arial"/>
              </a:rPr>
              <a:t>36 Endo variability</a:t>
            </a:r>
          </a:p>
        </p:txBody>
      </p:sp>
      <p:sp>
        <p:nvSpPr>
          <p:cNvPr id="10" name="">
            <a:extLst xmlns:a="http://schemas.openxmlformats.org/drawingml/2006/main">
              <a:ext uri="{FF2B5EF4-FFF2-40B4-BE49-F238E27FC236}">
                <a16:creationId xmlns:a16="http://schemas.microsoft.com/office/drawing/2014/main" id="{7363ECBD-B8FA-40C5-80DD-1B95B3661954}"/>
              </a:ext>
            </a:extLst>
          </p:cNvPr>
          <p:cNvSpPr>
            <a:spLocks xmlns:a="http://schemas.openxmlformats.org/drawingml/2006/main" noGrp="1"/>
          </p:cNvSpPr>
          <p:nvPr/>
        </p:nvSpPr>
        <p:spPr>
          <a:xfrm xmlns:a="http://schemas.openxmlformats.org/drawingml/2006/main">
            <a:off x="3352800" y="2152650"/>
            <a:ext cx="2286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18 current inter-segment descriptors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 the same 18 changes from previous visit</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Amplitude dispersion</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Timing dispersion</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Curve/shape incoherence</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Spatial roughness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Regional gradients</a:t>
            </a:r>
          </a:p>
        </p:txBody>
      </p:sp>
      <p:sp>
        <p:nvSpPr>
          <p:cNvPr id="11" name="">
            <a:extLst xmlns:a="http://schemas.openxmlformats.org/drawingml/2006/main">
              <a:ext uri="{FF2B5EF4-FFF2-40B4-BE49-F238E27FC236}">
                <a16:creationId xmlns:a16="http://schemas.microsoft.com/office/drawing/2014/main" id="{6DD53205-29C7-465C-A7DD-28CE76C97091}"/>
              </a:ext>
            </a:extLst>
          </p:cNvPr>
          <p:cNvSpPr>
            <a:spLocks xmlns:a="http://schemas.openxmlformats.org/drawingml/2006/main" noGrp="1"/>
          </p:cNvSpPr>
          <p:nvPr/>
        </p:nvSpPr>
        <p:spPr>
          <a:xfrm xmlns:a="http://schemas.openxmlformats.org/drawingml/2006/main">
            <a:off x="5962650" y="1562100"/>
            <a:ext cx="2628900" cy="3848100"/>
          </a:xfrm>
          <a:prstGeom xmlns:a="http://schemas.openxmlformats.org/drawingml/2006/main" prst="roundRect">
            <a:avLst>
              <a:gd name="adj" fmla="val 4348"/>
            </a:avLst>
          </a:prstGeom>
          <a:solidFill xmlns:a="http://schemas.openxmlformats.org/drawingml/2006/main">
            <a:srgbClr val="EBF6E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58561614-BC60-4B8F-9BD7-D06F48E54DC7}"/>
              </a:ext>
            </a:extLst>
          </p:cNvPr>
          <p:cNvSpPr>
            <a:spLocks xmlns:a="http://schemas.openxmlformats.org/drawingml/2006/main" noGrp="1"/>
          </p:cNvSpPr>
          <p:nvPr/>
        </p:nvSpPr>
        <p:spPr>
          <a:xfrm xmlns:a="http://schemas.openxmlformats.org/drawingml/2006/main">
            <a:off x="6134100" y="1733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50505"/>
                </a:solidFill>
                <a:latin typeface="Arial"/>
                <a:ea typeface="Arial"/>
                <a:cs typeface="Arial"/>
              </a:defRPr>
            </a:pPr>
            <a:r>
              <a:rPr sz="1650" b="1" i="0">
                <a:solidFill>
                  <a:srgbClr val="050505"/>
                </a:solidFill>
                <a:latin typeface="Arial"/>
                <a:ea typeface="Arial"/>
                <a:cs typeface="Arial"/>
              </a:rPr>
              <a:t>36 Mid variability</a:t>
            </a:r>
          </a:p>
        </p:txBody>
      </p:sp>
      <p:sp>
        <p:nvSpPr>
          <p:cNvPr id="13" name="">
            <a:extLst xmlns:a="http://schemas.openxmlformats.org/drawingml/2006/main">
              <a:ext uri="{FF2B5EF4-FFF2-40B4-BE49-F238E27FC236}">
                <a16:creationId xmlns:a16="http://schemas.microsoft.com/office/drawing/2014/main" id="{2AE5A9AB-CB2D-4EA4-B30E-DE762DCBF808}"/>
              </a:ext>
            </a:extLst>
          </p:cNvPr>
          <p:cNvSpPr>
            <a:spLocks xmlns:a="http://schemas.openxmlformats.org/drawingml/2006/main" noGrp="1"/>
          </p:cNvSpPr>
          <p:nvPr/>
        </p:nvSpPr>
        <p:spPr>
          <a:xfrm xmlns:a="http://schemas.openxmlformats.org/drawingml/2006/main">
            <a:off x="6134100" y="2152650"/>
            <a:ext cx="22860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identical 18-descriptor vocabulary is calculated for Mid-wall curves, then duplicated as current value and current-minus-previous change.</a:t>
            </a:r>
          </a:p>
        </p:txBody>
      </p:sp>
      <p:sp>
        <p:nvSpPr>
          <p:cNvPr id="14" name="">
            <a:extLst xmlns:a="http://schemas.openxmlformats.org/drawingml/2006/main">
              <a:ext uri="{FF2B5EF4-FFF2-40B4-BE49-F238E27FC236}">
                <a16:creationId xmlns:a16="http://schemas.microsoft.com/office/drawing/2014/main" id="{385616E3-D1F0-498F-BC9D-18BB03FDE193}"/>
              </a:ext>
            </a:extLst>
          </p:cNvPr>
          <p:cNvSpPr>
            <a:spLocks xmlns:a="http://schemas.openxmlformats.org/drawingml/2006/main" noGrp="1"/>
          </p:cNvSpPr>
          <p:nvPr/>
        </p:nvSpPr>
        <p:spPr>
          <a:xfrm xmlns:a="http://schemas.openxmlformats.org/drawingml/2006/main">
            <a:off x="8743950" y="1562100"/>
            <a:ext cx="2781300" cy="3848100"/>
          </a:xfrm>
          <a:prstGeom xmlns:a="http://schemas.openxmlformats.org/drawingml/2006/main" prst="roundRect">
            <a:avLst>
              <a:gd name="adj" fmla="val 4110"/>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972610DB-210F-4A92-8D19-DD946B017EFB}"/>
              </a:ext>
            </a:extLst>
          </p:cNvPr>
          <p:cNvSpPr>
            <a:spLocks xmlns:a="http://schemas.openxmlformats.org/drawingml/2006/main" noGrp="1"/>
          </p:cNvSpPr>
          <p:nvPr/>
        </p:nvSpPr>
        <p:spPr>
          <a:xfrm xmlns:a="http://schemas.openxmlformats.org/drawingml/2006/main">
            <a:off x="8915400" y="173355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50505"/>
                </a:solidFill>
                <a:latin typeface="Arial"/>
                <a:ea typeface="Arial"/>
                <a:cs typeface="Arial"/>
              </a:defRPr>
            </a:pPr>
            <a:r>
              <a:rPr sz="1650" b="1" i="0">
                <a:solidFill>
                  <a:srgbClr val="050505"/>
                </a:solidFill>
                <a:latin typeface="Arial"/>
                <a:ea typeface="Arial"/>
                <a:cs typeface="Arial"/>
              </a:rPr>
              <a:t>Fold-safe scaling</a:t>
            </a:r>
          </a:p>
        </p:txBody>
      </p:sp>
      <p:sp>
        <p:nvSpPr>
          <p:cNvPr id="16" name="">
            <a:extLst xmlns:a="http://schemas.openxmlformats.org/drawingml/2006/main">
              <a:ext uri="{FF2B5EF4-FFF2-40B4-BE49-F238E27FC236}">
                <a16:creationId xmlns:a16="http://schemas.microsoft.com/office/drawing/2014/main" id="{A24841DC-6BA3-43A8-B8A5-B28659B36265}"/>
              </a:ext>
            </a:extLst>
          </p:cNvPr>
          <p:cNvSpPr>
            <a:spLocks xmlns:a="http://schemas.openxmlformats.org/drawingml/2006/main" noGrp="1"/>
          </p:cNvSpPr>
          <p:nvPr/>
        </p:nvSpPr>
        <p:spPr>
          <a:xfrm xmlns:a="http://schemas.openxmlformats.org/drawingml/2006/main">
            <a:off x="8915400" y="2152650"/>
            <a:ext cx="243840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Median imputation fitted on training fold</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RobustScaler using 10th–90th quantiles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Clip to [−5, 5]</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No information from held-out patients is used to fit preprocessing.</a:t>
            </a:r>
          </a:p>
        </p:txBody>
      </p:sp>
      <p:sp>
        <p:nvSpPr>
          <p:cNvPr id="17" name="">
            <a:extLst xmlns:a="http://schemas.openxmlformats.org/drawingml/2006/main">
              <a:ext uri="{FF2B5EF4-FFF2-40B4-BE49-F238E27FC236}">
                <a16:creationId xmlns:a16="http://schemas.microsoft.com/office/drawing/2014/main" id="{B2A4E0FF-E89E-4444-A3BB-FEF5537FB091}"/>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cardiotoxicity_next_visit_gpu.py; cardiotoxicity_early_detection.py</a:t>
            </a:r>
          </a:p>
        </p:txBody>
      </p:sp>
    </p:spTree>
    <p:extLst>
      <p:ext uri="{BB962C8B-B14F-4D97-AF65-F5344CB8AC3E}">
        <p14:creationId xmlns:p14="http://schemas.microsoft.com/office/powerpoint/2010/main" val="18552756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657C19D-EC07-4B96-A2D7-FC7461C0D3C1}"/>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MODEL MAP</a:t>
            </a:r>
          </a:p>
        </p:txBody>
      </p:sp>
      <p:sp>
        <p:nvSpPr>
          <p:cNvPr id="2" name="">
            <a:extLst xmlns:a="http://schemas.openxmlformats.org/drawingml/2006/main">
              <a:ext uri="{FF2B5EF4-FFF2-40B4-BE49-F238E27FC236}">
                <a16:creationId xmlns:a16="http://schemas.microsoft.com/office/drawing/2014/main" id="{7E10FE10-3EDA-41F1-8818-7CD3CBDC0E16}"/>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Two equal-weight ensembles reached the top</a:t>
            </a:r>
          </a:p>
        </p:txBody>
      </p:sp>
      <p:sp>
        <p:nvSpPr>
          <p:cNvPr id="3" name="">
            <a:extLst xmlns:a="http://schemas.openxmlformats.org/drawingml/2006/main">
              <a:ext uri="{FF2B5EF4-FFF2-40B4-BE49-F238E27FC236}">
                <a16:creationId xmlns:a16="http://schemas.microsoft.com/office/drawing/2014/main" id="{25ACA2D7-1942-40F2-ACC8-ABA281EB1D6E}"/>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102B06A-A352-4F69-AA32-B784C599C392}"/>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44ED502-7FF7-49BC-BC84-16494BF5062A}"/>
              </a:ext>
            </a:extLst>
          </p:cNvPr>
          <p:cNvSpPr>
            <a:spLocks xmlns:a="http://schemas.openxmlformats.org/drawingml/2006/main" noGrp="1"/>
          </p:cNvSpPr>
          <p:nvPr/>
        </p:nvSpPr>
        <p:spPr>
          <a:xfrm xmlns:a="http://schemas.openxmlformats.org/drawingml/2006/main">
            <a:off x="400050" y="14287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3D8DFF"/>
                </a:solidFill>
                <a:latin typeface="Arial"/>
                <a:ea typeface="Arial"/>
                <a:cs typeface="Arial"/>
              </a:defRPr>
            </a:pPr>
            <a:r>
              <a:rPr sz="975" b="1" i="0">
                <a:solidFill>
                  <a:srgbClr val="3D8DFF"/>
                </a:solidFill>
                <a:latin typeface="Arial"/>
                <a:ea typeface="Arial"/>
                <a:cs typeface="Arial"/>
              </a:rPr>
              <a:t>ENSEMBLE 1</a:t>
            </a:r>
          </a:p>
        </p:txBody>
      </p:sp>
      <p:sp>
        <p:nvSpPr>
          <p:cNvPr id="6" name="">
            <a:extLst xmlns:a="http://schemas.openxmlformats.org/drawingml/2006/main">
              <a:ext uri="{FF2B5EF4-FFF2-40B4-BE49-F238E27FC236}">
                <a16:creationId xmlns:a16="http://schemas.microsoft.com/office/drawing/2014/main" id="{CA4D6019-BBA2-4BC2-9447-A67703F576D2}"/>
              </a:ext>
            </a:extLst>
          </p:cNvPr>
          <p:cNvSpPr>
            <a:spLocks xmlns:a="http://schemas.openxmlformats.org/drawingml/2006/main" noGrp="1"/>
          </p:cNvSpPr>
          <p:nvPr/>
        </p:nvSpPr>
        <p:spPr>
          <a:xfrm xmlns:a="http://schemas.openxmlformats.org/drawingml/2006/main">
            <a:off x="3195638" y="22860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
            <a:extLst xmlns:a="http://schemas.openxmlformats.org/drawingml/2006/main">
              <a:ext uri="{FF2B5EF4-FFF2-40B4-BE49-F238E27FC236}">
                <a16:creationId xmlns:a16="http://schemas.microsoft.com/office/drawing/2014/main" id="{5B7399C9-61E8-4B16-8737-7E29FD2A935B}"/>
              </a:ext>
            </a:extLst>
          </p:cNvPr>
          <p:cNvSpPr>
            <a:spLocks xmlns:a="http://schemas.openxmlformats.org/drawingml/2006/main" noGrp="1"/>
          </p:cNvSpPr>
          <p:nvPr/>
        </p:nvSpPr>
        <p:spPr>
          <a:xfrm xmlns:a="http://schemas.openxmlformats.org/drawingml/2006/main">
            <a:off x="6019800" y="22860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8" name="">
            <a:extLst xmlns:a="http://schemas.openxmlformats.org/drawingml/2006/main">
              <a:ext uri="{FF2B5EF4-FFF2-40B4-BE49-F238E27FC236}">
                <a16:creationId xmlns:a16="http://schemas.microsoft.com/office/drawing/2014/main" id="{2EBDBB5E-5646-407E-ABCE-1622682CF8E9}"/>
              </a:ext>
            </a:extLst>
          </p:cNvPr>
          <p:cNvSpPr>
            <a:spLocks xmlns:a="http://schemas.openxmlformats.org/drawingml/2006/main" noGrp="1"/>
          </p:cNvSpPr>
          <p:nvPr/>
        </p:nvSpPr>
        <p:spPr>
          <a:xfrm xmlns:a="http://schemas.openxmlformats.org/drawingml/2006/main">
            <a:off x="8843963" y="22860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9" name="">
            <a:extLst xmlns:a="http://schemas.openxmlformats.org/drawingml/2006/main">
              <a:ext uri="{FF2B5EF4-FFF2-40B4-BE49-F238E27FC236}">
                <a16:creationId xmlns:a16="http://schemas.microsoft.com/office/drawing/2014/main" id="{A76FE583-600F-438B-881A-6C3152B3ADDA}"/>
              </a:ext>
            </a:extLst>
          </p:cNvPr>
          <p:cNvSpPr>
            <a:spLocks xmlns:a="http://schemas.openxmlformats.org/drawingml/2006/main" noGrp="1"/>
          </p:cNvSpPr>
          <p:nvPr/>
        </p:nvSpPr>
        <p:spPr>
          <a:xfrm xmlns:a="http://schemas.openxmlformats.org/drawingml/2006/main">
            <a:off x="552450" y="1752600"/>
            <a:ext cx="2614613" cy="1066800"/>
          </a:xfrm>
          <a:prstGeom xmlns:a="http://schemas.openxmlformats.org/drawingml/2006/main" prst="roundRect">
            <a:avLst>
              <a:gd name="adj" fmla="val 10714"/>
            </a:avLst>
          </a:prstGeom>
          <a:solidFill xmlns:a="http://schemas.openxmlformats.org/drawingml/2006/main">
            <a:srgbClr val="EAF5FF"/>
          </a:solidFill>
          <a:ln xmlns:a="http://schemas.openxmlformats.org/drawingml/2006/main" w="9525">
            <a:solidFill>
              <a:srgbClr val="EDEDED"/>
            </a:solidFill>
            <a:prstDash val="solid"/>
          </a:ln>
        </p:spPr>
      </p:sp>
      <p:sp>
        <p:nvSpPr>
          <p:cNvPr id="10" name="">
            <a:extLst xmlns:a="http://schemas.openxmlformats.org/drawingml/2006/main">
              <a:ext uri="{FF2B5EF4-FFF2-40B4-BE49-F238E27FC236}">
                <a16:creationId xmlns:a16="http://schemas.microsoft.com/office/drawing/2014/main" id="{57E57A6D-743B-4CB5-9935-6EB69E1D4D90}"/>
              </a:ext>
            </a:extLst>
          </p:cNvPr>
          <p:cNvSpPr>
            <a:spLocks xmlns:a="http://schemas.openxmlformats.org/drawingml/2006/main" noGrp="1"/>
          </p:cNvSpPr>
          <p:nvPr/>
        </p:nvSpPr>
        <p:spPr>
          <a:xfrm xmlns:a="http://schemas.openxmlformats.org/drawingml/2006/main">
            <a:off x="685800" y="19050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CNN</a:t>
            </a:r>
          </a:p>
        </p:txBody>
      </p:sp>
      <p:sp>
        <p:nvSpPr>
          <p:cNvPr id="11" name="">
            <a:extLst xmlns:a="http://schemas.openxmlformats.org/drawingml/2006/main">
              <a:ext uri="{FF2B5EF4-FFF2-40B4-BE49-F238E27FC236}">
                <a16:creationId xmlns:a16="http://schemas.microsoft.com/office/drawing/2014/main" id="{67E4C980-1103-42CF-84BD-2BC266D3D1C1}"/>
              </a:ext>
            </a:extLst>
          </p:cNvPr>
          <p:cNvSpPr>
            <a:spLocks xmlns:a="http://schemas.openxmlformats.org/drawingml/2006/main" noGrp="1"/>
          </p:cNvSpPr>
          <p:nvPr/>
        </p:nvSpPr>
        <p:spPr>
          <a:xfrm xmlns:a="http://schemas.openxmlformats.org/drawingml/2006/main">
            <a:off x="685800" y="22669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local curve motifs + attention + scalars</a:t>
            </a:r>
          </a:p>
        </p:txBody>
      </p:sp>
      <p:sp>
        <p:nvSpPr>
          <p:cNvPr id="12" name="">
            <a:extLst xmlns:a="http://schemas.openxmlformats.org/drawingml/2006/main">
              <a:ext uri="{FF2B5EF4-FFF2-40B4-BE49-F238E27FC236}">
                <a16:creationId xmlns:a16="http://schemas.microsoft.com/office/drawing/2014/main" id="{51B61D38-3B2F-4931-8653-B65C332BEC29}"/>
              </a:ext>
            </a:extLst>
          </p:cNvPr>
          <p:cNvSpPr>
            <a:spLocks xmlns:a="http://schemas.openxmlformats.org/drawingml/2006/main" noGrp="1"/>
          </p:cNvSpPr>
          <p:nvPr/>
        </p:nvSpPr>
        <p:spPr>
          <a:xfrm xmlns:a="http://schemas.openxmlformats.org/drawingml/2006/main">
            <a:off x="3376613" y="1752600"/>
            <a:ext cx="2614613" cy="1066800"/>
          </a:xfrm>
          <a:prstGeom xmlns:a="http://schemas.openxmlformats.org/drawingml/2006/main" prst="roundRect">
            <a:avLst>
              <a:gd name="adj" fmla="val 10714"/>
            </a:avLst>
          </a:prstGeom>
          <a:solidFill xmlns:a="http://schemas.openxmlformats.org/drawingml/2006/main">
            <a:srgbClr val="E9FAFF"/>
          </a:solidFill>
          <a:ln xmlns:a="http://schemas.openxmlformats.org/drawingml/2006/main" w="9525">
            <a:solidFill>
              <a:srgbClr val="EDEDED"/>
            </a:solidFill>
            <a:prstDash val="solid"/>
          </a:ln>
        </p:spPr>
      </p:sp>
      <p:sp>
        <p:nvSpPr>
          <p:cNvPr id="13" name="">
            <a:extLst xmlns:a="http://schemas.openxmlformats.org/drawingml/2006/main">
              <a:ext uri="{FF2B5EF4-FFF2-40B4-BE49-F238E27FC236}">
                <a16:creationId xmlns:a16="http://schemas.microsoft.com/office/drawing/2014/main" id="{364E8540-7773-4BD2-9E4B-CF136673BBD1}"/>
              </a:ext>
            </a:extLst>
          </p:cNvPr>
          <p:cNvSpPr>
            <a:spLocks xmlns:a="http://schemas.openxmlformats.org/drawingml/2006/main" noGrp="1"/>
          </p:cNvSpPr>
          <p:nvPr/>
        </p:nvSpPr>
        <p:spPr>
          <a:xfrm xmlns:a="http://schemas.openxmlformats.org/drawingml/2006/main">
            <a:off x="3509963" y="19050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MOMENT</a:t>
            </a:r>
          </a:p>
        </p:txBody>
      </p:sp>
      <p:sp>
        <p:nvSpPr>
          <p:cNvPr id="14" name="">
            <a:extLst xmlns:a="http://schemas.openxmlformats.org/drawingml/2006/main">
              <a:ext uri="{FF2B5EF4-FFF2-40B4-BE49-F238E27FC236}">
                <a16:creationId xmlns:a16="http://schemas.microsoft.com/office/drawing/2014/main" id="{7EC4B132-F922-49B4-8678-46FFE01DF545}"/>
              </a:ext>
            </a:extLst>
          </p:cNvPr>
          <p:cNvSpPr>
            <a:spLocks xmlns:a="http://schemas.openxmlformats.org/drawingml/2006/main" noGrp="1"/>
          </p:cNvSpPr>
          <p:nvPr/>
        </p:nvSpPr>
        <p:spPr>
          <a:xfrm xmlns:a="http://schemas.openxmlformats.org/drawingml/2006/main">
            <a:off x="3509963" y="22669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frozen foundation-model embeddings</a:t>
            </a:r>
          </a:p>
        </p:txBody>
      </p:sp>
      <p:sp>
        <p:nvSpPr>
          <p:cNvPr id="15" name="">
            <a:extLst xmlns:a="http://schemas.openxmlformats.org/drawingml/2006/main">
              <a:ext uri="{FF2B5EF4-FFF2-40B4-BE49-F238E27FC236}">
                <a16:creationId xmlns:a16="http://schemas.microsoft.com/office/drawing/2014/main" id="{A486B2EF-607D-4412-A1A9-C400F2E98245}"/>
              </a:ext>
            </a:extLst>
          </p:cNvPr>
          <p:cNvSpPr>
            <a:spLocks xmlns:a="http://schemas.openxmlformats.org/drawingml/2006/main" noGrp="1"/>
          </p:cNvSpPr>
          <p:nvPr/>
        </p:nvSpPr>
        <p:spPr>
          <a:xfrm xmlns:a="http://schemas.openxmlformats.org/drawingml/2006/main">
            <a:off x="6200775" y="1752600"/>
            <a:ext cx="2614613" cy="1066800"/>
          </a:xfrm>
          <a:prstGeom xmlns:a="http://schemas.openxmlformats.org/drawingml/2006/main" prst="roundRect">
            <a:avLst>
              <a:gd name="adj" fmla="val 10714"/>
            </a:avLst>
          </a:prstGeom>
          <a:solidFill xmlns:a="http://schemas.openxmlformats.org/drawingml/2006/main">
            <a:srgbClr val="EBF6EF"/>
          </a:solidFill>
          <a:ln xmlns:a="http://schemas.openxmlformats.org/drawingml/2006/main" w="9525">
            <a:solidFill>
              <a:srgbClr val="EDEDED"/>
            </a:solidFill>
            <a:prstDash val="solid"/>
          </a:ln>
        </p:spPr>
      </p:sp>
      <p:sp>
        <p:nvSpPr>
          <p:cNvPr id="16" name="">
            <a:extLst xmlns:a="http://schemas.openxmlformats.org/drawingml/2006/main">
              <a:ext uri="{FF2B5EF4-FFF2-40B4-BE49-F238E27FC236}">
                <a16:creationId xmlns:a16="http://schemas.microsoft.com/office/drawing/2014/main" id="{C66C826A-4B19-4E7C-A9F9-62E26B342962}"/>
              </a:ext>
            </a:extLst>
          </p:cNvPr>
          <p:cNvSpPr>
            <a:spLocks xmlns:a="http://schemas.openxmlformats.org/drawingml/2006/main" noGrp="1"/>
          </p:cNvSpPr>
          <p:nvPr/>
        </p:nvSpPr>
        <p:spPr>
          <a:xfrm xmlns:a="http://schemas.openxmlformats.org/drawingml/2006/main">
            <a:off x="6334125" y="19050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RDST</a:t>
            </a:r>
          </a:p>
        </p:txBody>
      </p:sp>
      <p:sp>
        <p:nvSpPr>
          <p:cNvPr id="17" name="">
            <a:extLst xmlns:a="http://schemas.openxmlformats.org/drawingml/2006/main">
              <a:ext uri="{FF2B5EF4-FFF2-40B4-BE49-F238E27FC236}">
                <a16:creationId xmlns:a16="http://schemas.microsoft.com/office/drawing/2014/main" id="{83D8A18A-4F7E-497F-805A-31D02C538821}"/>
              </a:ext>
            </a:extLst>
          </p:cNvPr>
          <p:cNvSpPr>
            <a:spLocks xmlns:a="http://schemas.openxmlformats.org/drawingml/2006/main" noGrp="1"/>
          </p:cNvSpPr>
          <p:nvPr/>
        </p:nvSpPr>
        <p:spPr>
          <a:xfrm xmlns:a="http://schemas.openxmlformats.org/drawingml/2006/main">
            <a:off x="6334125" y="22669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random dilated multivariate shapelets</a:t>
            </a:r>
          </a:p>
        </p:txBody>
      </p:sp>
      <p:sp>
        <p:nvSpPr>
          <p:cNvPr id="18" name="">
            <a:extLst xmlns:a="http://schemas.openxmlformats.org/drawingml/2006/main">
              <a:ext uri="{FF2B5EF4-FFF2-40B4-BE49-F238E27FC236}">
                <a16:creationId xmlns:a16="http://schemas.microsoft.com/office/drawing/2014/main" id="{794A07EC-BCEE-4BB9-84BA-38F08FD3852D}"/>
              </a:ext>
            </a:extLst>
          </p:cNvPr>
          <p:cNvSpPr>
            <a:spLocks xmlns:a="http://schemas.openxmlformats.org/drawingml/2006/main" noGrp="1"/>
          </p:cNvSpPr>
          <p:nvPr/>
        </p:nvSpPr>
        <p:spPr>
          <a:xfrm xmlns:a="http://schemas.openxmlformats.org/drawingml/2006/main">
            <a:off x="9024938" y="1752600"/>
            <a:ext cx="2614613" cy="1066800"/>
          </a:xfrm>
          <a:prstGeom xmlns:a="http://schemas.openxmlformats.org/drawingml/2006/main" prst="roundRect">
            <a:avLst>
              <a:gd name="adj" fmla="val 10714"/>
            </a:avLst>
          </a:prstGeom>
          <a:solidFill xmlns:a="http://schemas.openxmlformats.org/drawingml/2006/main">
            <a:srgbClr val="FFF2E7"/>
          </a:solidFill>
          <a:ln xmlns:a="http://schemas.openxmlformats.org/drawingml/2006/main" w="9525">
            <a:solidFill>
              <a:srgbClr val="EDEDED"/>
            </a:solidFill>
            <a:prstDash val="solid"/>
          </a:ln>
        </p:spPr>
      </p:sp>
      <p:sp>
        <p:nvSpPr>
          <p:cNvPr id="19" name="">
            <a:extLst xmlns:a="http://schemas.openxmlformats.org/drawingml/2006/main">
              <a:ext uri="{FF2B5EF4-FFF2-40B4-BE49-F238E27FC236}">
                <a16:creationId xmlns:a16="http://schemas.microsoft.com/office/drawing/2014/main" id="{56FB0C64-F6D9-49D6-9F14-F05D3FC7F8BC}"/>
              </a:ext>
            </a:extLst>
          </p:cNvPr>
          <p:cNvSpPr>
            <a:spLocks xmlns:a="http://schemas.openxmlformats.org/drawingml/2006/main" noGrp="1"/>
          </p:cNvSpPr>
          <p:nvPr/>
        </p:nvSpPr>
        <p:spPr>
          <a:xfrm xmlns:a="http://schemas.openxmlformats.org/drawingml/2006/main">
            <a:off x="9158288" y="19050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Mean probability</a:t>
            </a:r>
          </a:p>
        </p:txBody>
      </p:sp>
      <p:sp>
        <p:nvSpPr>
          <p:cNvPr id="20" name="">
            <a:extLst xmlns:a="http://schemas.openxmlformats.org/drawingml/2006/main">
              <a:ext uri="{FF2B5EF4-FFF2-40B4-BE49-F238E27FC236}">
                <a16:creationId xmlns:a16="http://schemas.microsoft.com/office/drawing/2014/main" id="{400F88A0-F766-4A15-AC32-3A449BAD1BBA}"/>
              </a:ext>
            </a:extLst>
          </p:cNvPr>
          <p:cNvSpPr>
            <a:spLocks xmlns:a="http://schemas.openxmlformats.org/drawingml/2006/main" noGrp="1"/>
          </p:cNvSpPr>
          <p:nvPr/>
        </p:nvSpPr>
        <p:spPr>
          <a:xfrm xmlns:a="http://schemas.openxmlformats.org/drawingml/2006/main">
            <a:off x="9158288" y="22669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AUC 0.706 · AP 0.362</a:t>
            </a:r>
          </a:p>
        </p:txBody>
      </p:sp>
      <p:sp>
        <p:nvSpPr>
          <p:cNvPr id="21" name="">
            <a:extLst xmlns:a="http://schemas.openxmlformats.org/drawingml/2006/main">
              <a:ext uri="{FF2B5EF4-FFF2-40B4-BE49-F238E27FC236}">
                <a16:creationId xmlns:a16="http://schemas.microsoft.com/office/drawing/2014/main" id="{D1B2BABA-2AD3-423D-A0DF-F29DB15C1B16}"/>
              </a:ext>
            </a:extLst>
          </p:cNvPr>
          <p:cNvSpPr>
            <a:spLocks xmlns:a="http://schemas.openxmlformats.org/drawingml/2006/main" noGrp="1"/>
          </p:cNvSpPr>
          <p:nvPr/>
        </p:nvSpPr>
        <p:spPr>
          <a:xfrm xmlns:a="http://schemas.openxmlformats.org/drawingml/2006/main">
            <a:off x="400050" y="3371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1F8A8A"/>
                </a:solidFill>
                <a:latin typeface="Arial"/>
                <a:ea typeface="Arial"/>
                <a:cs typeface="Arial"/>
              </a:defRPr>
            </a:pPr>
            <a:r>
              <a:rPr sz="975" b="1" i="0">
                <a:solidFill>
                  <a:srgbClr val="1F8A8A"/>
                </a:solidFill>
                <a:latin typeface="Arial"/>
                <a:ea typeface="Arial"/>
                <a:cs typeface="Arial"/>
              </a:rPr>
              <a:t>ENSEMBLE 2</a:t>
            </a:r>
          </a:p>
        </p:txBody>
      </p:sp>
      <p:sp>
        <p:nvSpPr>
          <p:cNvPr id="22" name="">
            <a:extLst xmlns:a="http://schemas.openxmlformats.org/drawingml/2006/main">
              <a:ext uri="{FF2B5EF4-FFF2-40B4-BE49-F238E27FC236}">
                <a16:creationId xmlns:a16="http://schemas.microsoft.com/office/drawing/2014/main" id="{E0A45D77-821F-44D7-8308-39A86BD209AF}"/>
              </a:ext>
            </a:extLst>
          </p:cNvPr>
          <p:cNvSpPr>
            <a:spLocks xmlns:a="http://schemas.openxmlformats.org/drawingml/2006/main" noGrp="1"/>
          </p:cNvSpPr>
          <p:nvPr/>
        </p:nvSpPr>
        <p:spPr>
          <a:xfrm xmlns:a="http://schemas.openxmlformats.org/drawingml/2006/main">
            <a:off x="3195638" y="42291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3" name="">
            <a:extLst xmlns:a="http://schemas.openxmlformats.org/drawingml/2006/main">
              <a:ext uri="{FF2B5EF4-FFF2-40B4-BE49-F238E27FC236}">
                <a16:creationId xmlns:a16="http://schemas.microsoft.com/office/drawing/2014/main" id="{D711604A-642A-47C0-9C2B-8114A36AC4C1}"/>
              </a:ext>
            </a:extLst>
          </p:cNvPr>
          <p:cNvSpPr>
            <a:spLocks xmlns:a="http://schemas.openxmlformats.org/drawingml/2006/main" noGrp="1"/>
          </p:cNvSpPr>
          <p:nvPr/>
        </p:nvSpPr>
        <p:spPr>
          <a:xfrm xmlns:a="http://schemas.openxmlformats.org/drawingml/2006/main">
            <a:off x="6019800" y="42291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4" name="">
            <a:extLst xmlns:a="http://schemas.openxmlformats.org/drawingml/2006/main">
              <a:ext uri="{FF2B5EF4-FFF2-40B4-BE49-F238E27FC236}">
                <a16:creationId xmlns:a16="http://schemas.microsoft.com/office/drawing/2014/main" id="{9285E25C-1C4B-4E63-9300-08DE4C2173AF}"/>
              </a:ext>
            </a:extLst>
          </p:cNvPr>
          <p:cNvSpPr>
            <a:spLocks xmlns:a="http://schemas.openxmlformats.org/drawingml/2006/main" noGrp="1"/>
          </p:cNvSpPr>
          <p:nvPr/>
        </p:nvSpPr>
        <p:spPr>
          <a:xfrm xmlns:a="http://schemas.openxmlformats.org/drawingml/2006/main">
            <a:off x="8843963" y="42291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5" name="">
            <a:extLst xmlns:a="http://schemas.openxmlformats.org/drawingml/2006/main">
              <a:ext uri="{FF2B5EF4-FFF2-40B4-BE49-F238E27FC236}">
                <a16:creationId xmlns:a16="http://schemas.microsoft.com/office/drawing/2014/main" id="{9F1B89F8-8B4A-42CA-8DE4-AF93F810C66F}"/>
              </a:ext>
            </a:extLst>
          </p:cNvPr>
          <p:cNvSpPr>
            <a:spLocks xmlns:a="http://schemas.openxmlformats.org/drawingml/2006/main" noGrp="1"/>
          </p:cNvSpPr>
          <p:nvPr/>
        </p:nvSpPr>
        <p:spPr>
          <a:xfrm xmlns:a="http://schemas.openxmlformats.org/drawingml/2006/main">
            <a:off x="552450" y="3695700"/>
            <a:ext cx="2614613" cy="1066800"/>
          </a:xfrm>
          <a:prstGeom xmlns:a="http://schemas.openxmlformats.org/drawingml/2006/main" prst="roundRect">
            <a:avLst>
              <a:gd name="adj" fmla="val 10714"/>
            </a:avLst>
          </a:prstGeom>
          <a:solidFill xmlns:a="http://schemas.openxmlformats.org/drawingml/2006/main">
            <a:srgbClr val="EAF5FF"/>
          </a:solidFill>
          <a:ln xmlns:a="http://schemas.openxmlformats.org/drawingml/2006/main" w="9525">
            <a:solidFill>
              <a:srgbClr val="EDEDED"/>
            </a:solidFill>
            <a:prstDash val="solid"/>
          </a:ln>
        </p:spPr>
      </p:sp>
      <p:sp>
        <p:nvSpPr>
          <p:cNvPr id="26" name="">
            <a:extLst xmlns:a="http://schemas.openxmlformats.org/drawingml/2006/main">
              <a:ext uri="{FF2B5EF4-FFF2-40B4-BE49-F238E27FC236}">
                <a16:creationId xmlns:a16="http://schemas.microsoft.com/office/drawing/2014/main" id="{6C8EA58F-ED90-4B9B-BB09-43C2C9D9C554}"/>
              </a:ext>
            </a:extLst>
          </p:cNvPr>
          <p:cNvSpPr>
            <a:spLocks xmlns:a="http://schemas.openxmlformats.org/drawingml/2006/main" noGrp="1"/>
          </p:cNvSpPr>
          <p:nvPr/>
        </p:nvSpPr>
        <p:spPr>
          <a:xfrm xmlns:a="http://schemas.openxmlformats.org/drawingml/2006/main">
            <a:off x="685800" y="38481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CNN</a:t>
            </a:r>
          </a:p>
        </p:txBody>
      </p:sp>
      <p:sp>
        <p:nvSpPr>
          <p:cNvPr id="27" name="">
            <a:extLst xmlns:a="http://schemas.openxmlformats.org/drawingml/2006/main">
              <a:ext uri="{FF2B5EF4-FFF2-40B4-BE49-F238E27FC236}">
                <a16:creationId xmlns:a16="http://schemas.microsoft.com/office/drawing/2014/main" id="{8AF9DBE1-3344-452E-B30B-18ABB75499C5}"/>
              </a:ext>
            </a:extLst>
          </p:cNvPr>
          <p:cNvSpPr>
            <a:spLocks xmlns:a="http://schemas.openxmlformats.org/drawingml/2006/main" noGrp="1"/>
          </p:cNvSpPr>
          <p:nvPr/>
        </p:nvSpPr>
        <p:spPr>
          <a:xfrm xmlns:a="http://schemas.openxmlformats.org/drawingml/2006/main">
            <a:off x="685800" y="42100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local curve motifs + attention + scalars</a:t>
            </a:r>
          </a:p>
        </p:txBody>
      </p:sp>
      <p:sp>
        <p:nvSpPr>
          <p:cNvPr id="28" name="">
            <a:extLst xmlns:a="http://schemas.openxmlformats.org/drawingml/2006/main">
              <a:ext uri="{FF2B5EF4-FFF2-40B4-BE49-F238E27FC236}">
                <a16:creationId xmlns:a16="http://schemas.microsoft.com/office/drawing/2014/main" id="{04A25070-A87B-41AC-BD68-9302C39DDF1E}"/>
              </a:ext>
            </a:extLst>
          </p:cNvPr>
          <p:cNvSpPr>
            <a:spLocks xmlns:a="http://schemas.openxmlformats.org/drawingml/2006/main" noGrp="1"/>
          </p:cNvSpPr>
          <p:nvPr/>
        </p:nvSpPr>
        <p:spPr>
          <a:xfrm xmlns:a="http://schemas.openxmlformats.org/drawingml/2006/main">
            <a:off x="3376613" y="3695700"/>
            <a:ext cx="2614613" cy="1066800"/>
          </a:xfrm>
          <a:prstGeom xmlns:a="http://schemas.openxmlformats.org/drawingml/2006/main" prst="roundRect">
            <a:avLst>
              <a:gd name="adj" fmla="val 10714"/>
            </a:avLst>
          </a:prstGeom>
          <a:solidFill xmlns:a="http://schemas.openxmlformats.org/drawingml/2006/main">
            <a:srgbClr val="E9FAFF"/>
          </a:solidFill>
          <a:ln xmlns:a="http://schemas.openxmlformats.org/drawingml/2006/main" w="9525">
            <a:solidFill>
              <a:srgbClr val="EDEDED"/>
            </a:solidFill>
            <a:prstDash val="solid"/>
          </a:ln>
        </p:spPr>
      </p:sp>
      <p:sp>
        <p:nvSpPr>
          <p:cNvPr id="29" name="">
            <a:extLst xmlns:a="http://schemas.openxmlformats.org/drawingml/2006/main">
              <a:ext uri="{FF2B5EF4-FFF2-40B4-BE49-F238E27FC236}">
                <a16:creationId xmlns:a16="http://schemas.microsoft.com/office/drawing/2014/main" id="{B471AFD8-32CF-40E6-BE29-341D0B82F6B3}"/>
              </a:ext>
            </a:extLst>
          </p:cNvPr>
          <p:cNvSpPr>
            <a:spLocks xmlns:a="http://schemas.openxmlformats.org/drawingml/2006/main" noGrp="1"/>
          </p:cNvSpPr>
          <p:nvPr/>
        </p:nvSpPr>
        <p:spPr>
          <a:xfrm xmlns:a="http://schemas.openxmlformats.org/drawingml/2006/main">
            <a:off x="3509963" y="38481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MOMENT</a:t>
            </a:r>
          </a:p>
        </p:txBody>
      </p:sp>
      <p:sp>
        <p:nvSpPr>
          <p:cNvPr id="30" name="">
            <a:extLst xmlns:a="http://schemas.openxmlformats.org/drawingml/2006/main">
              <a:ext uri="{FF2B5EF4-FFF2-40B4-BE49-F238E27FC236}">
                <a16:creationId xmlns:a16="http://schemas.microsoft.com/office/drawing/2014/main" id="{3D6188A3-2361-4927-A5CE-5B2DDDB50D35}"/>
              </a:ext>
            </a:extLst>
          </p:cNvPr>
          <p:cNvSpPr>
            <a:spLocks xmlns:a="http://schemas.openxmlformats.org/drawingml/2006/main" noGrp="1"/>
          </p:cNvSpPr>
          <p:nvPr/>
        </p:nvSpPr>
        <p:spPr>
          <a:xfrm xmlns:a="http://schemas.openxmlformats.org/drawingml/2006/main">
            <a:off x="3509963" y="42100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frozen foundation-model embeddings</a:t>
            </a:r>
          </a:p>
        </p:txBody>
      </p:sp>
      <p:sp>
        <p:nvSpPr>
          <p:cNvPr id="31" name="">
            <a:extLst xmlns:a="http://schemas.openxmlformats.org/drawingml/2006/main">
              <a:ext uri="{FF2B5EF4-FFF2-40B4-BE49-F238E27FC236}">
                <a16:creationId xmlns:a16="http://schemas.microsoft.com/office/drawing/2014/main" id="{964725B0-CFED-4F76-9FBF-D9C7306DA2D3}"/>
              </a:ext>
            </a:extLst>
          </p:cNvPr>
          <p:cNvSpPr>
            <a:spLocks xmlns:a="http://schemas.openxmlformats.org/drawingml/2006/main" noGrp="1"/>
          </p:cNvSpPr>
          <p:nvPr/>
        </p:nvSpPr>
        <p:spPr>
          <a:xfrm xmlns:a="http://schemas.openxmlformats.org/drawingml/2006/main">
            <a:off x="6200775" y="3695700"/>
            <a:ext cx="2614613" cy="1066800"/>
          </a:xfrm>
          <a:prstGeom xmlns:a="http://schemas.openxmlformats.org/drawingml/2006/main" prst="roundRect">
            <a:avLst>
              <a:gd name="adj" fmla="val 10714"/>
            </a:avLst>
          </a:prstGeom>
          <a:solidFill xmlns:a="http://schemas.openxmlformats.org/drawingml/2006/main">
            <a:srgbClr val="EBF6EF"/>
          </a:solidFill>
          <a:ln xmlns:a="http://schemas.openxmlformats.org/drawingml/2006/main" w="9525">
            <a:solidFill>
              <a:srgbClr val="EDEDED"/>
            </a:solidFill>
            <a:prstDash val="solid"/>
          </a:ln>
        </p:spPr>
      </p:sp>
      <p:sp>
        <p:nvSpPr>
          <p:cNvPr id="32" name="">
            <a:extLst xmlns:a="http://schemas.openxmlformats.org/drawingml/2006/main">
              <a:ext uri="{FF2B5EF4-FFF2-40B4-BE49-F238E27FC236}">
                <a16:creationId xmlns:a16="http://schemas.microsoft.com/office/drawing/2014/main" id="{5F7AEB75-B027-46C8-89B1-5A8AD4FD048D}"/>
              </a:ext>
            </a:extLst>
          </p:cNvPr>
          <p:cNvSpPr>
            <a:spLocks xmlns:a="http://schemas.openxmlformats.org/drawingml/2006/main" noGrp="1"/>
          </p:cNvSpPr>
          <p:nvPr/>
        </p:nvSpPr>
        <p:spPr>
          <a:xfrm xmlns:a="http://schemas.openxmlformats.org/drawingml/2006/main">
            <a:off x="6334125" y="38481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Catch22 + XGB</a:t>
            </a:r>
          </a:p>
        </p:txBody>
      </p:sp>
      <p:sp>
        <p:nvSpPr>
          <p:cNvPr id="33" name="">
            <a:extLst xmlns:a="http://schemas.openxmlformats.org/drawingml/2006/main">
              <a:ext uri="{FF2B5EF4-FFF2-40B4-BE49-F238E27FC236}">
                <a16:creationId xmlns:a16="http://schemas.microsoft.com/office/drawing/2014/main" id="{DC5F4506-4192-4971-9D8F-75671F2AA720}"/>
              </a:ext>
            </a:extLst>
          </p:cNvPr>
          <p:cNvSpPr>
            <a:spLocks xmlns:a="http://schemas.openxmlformats.org/drawingml/2006/main" noGrp="1"/>
          </p:cNvSpPr>
          <p:nvPr/>
        </p:nvSpPr>
        <p:spPr>
          <a:xfrm xmlns:a="http://schemas.openxmlformats.org/drawingml/2006/main">
            <a:off x="6334125" y="42100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interpretable curve descriptors</a:t>
            </a:r>
          </a:p>
        </p:txBody>
      </p:sp>
      <p:sp>
        <p:nvSpPr>
          <p:cNvPr id="34" name="">
            <a:extLst xmlns:a="http://schemas.openxmlformats.org/drawingml/2006/main">
              <a:ext uri="{FF2B5EF4-FFF2-40B4-BE49-F238E27FC236}">
                <a16:creationId xmlns:a16="http://schemas.microsoft.com/office/drawing/2014/main" id="{BE9C8E0C-D6C4-47B7-881F-F1A4712D2A7B}"/>
              </a:ext>
            </a:extLst>
          </p:cNvPr>
          <p:cNvSpPr>
            <a:spLocks xmlns:a="http://schemas.openxmlformats.org/drawingml/2006/main" noGrp="1"/>
          </p:cNvSpPr>
          <p:nvPr/>
        </p:nvSpPr>
        <p:spPr>
          <a:xfrm xmlns:a="http://schemas.openxmlformats.org/drawingml/2006/main">
            <a:off x="9024938" y="3695700"/>
            <a:ext cx="2614613" cy="1066800"/>
          </a:xfrm>
          <a:prstGeom xmlns:a="http://schemas.openxmlformats.org/drawingml/2006/main" prst="roundRect">
            <a:avLst>
              <a:gd name="adj" fmla="val 10714"/>
            </a:avLst>
          </a:prstGeom>
          <a:solidFill xmlns:a="http://schemas.openxmlformats.org/drawingml/2006/main">
            <a:srgbClr val="FFF2E7"/>
          </a:solidFill>
          <a:ln xmlns:a="http://schemas.openxmlformats.org/drawingml/2006/main" w="9525">
            <a:solidFill>
              <a:srgbClr val="EDEDED"/>
            </a:solidFill>
            <a:prstDash val="solid"/>
          </a:ln>
        </p:spPr>
      </p:sp>
      <p:sp>
        <p:nvSpPr>
          <p:cNvPr id="35" name="">
            <a:extLst xmlns:a="http://schemas.openxmlformats.org/drawingml/2006/main">
              <a:ext uri="{FF2B5EF4-FFF2-40B4-BE49-F238E27FC236}">
                <a16:creationId xmlns:a16="http://schemas.microsoft.com/office/drawing/2014/main" id="{A6DF7088-07ED-4562-AADC-FB8D5685CF8F}"/>
              </a:ext>
            </a:extLst>
          </p:cNvPr>
          <p:cNvSpPr>
            <a:spLocks xmlns:a="http://schemas.openxmlformats.org/drawingml/2006/main" noGrp="1"/>
          </p:cNvSpPr>
          <p:nvPr/>
        </p:nvSpPr>
        <p:spPr>
          <a:xfrm xmlns:a="http://schemas.openxmlformats.org/drawingml/2006/main">
            <a:off x="9158288" y="384810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Mean probability</a:t>
            </a:r>
          </a:p>
        </p:txBody>
      </p:sp>
      <p:sp>
        <p:nvSpPr>
          <p:cNvPr id="36" name="">
            <a:extLst xmlns:a="http://schemas.openxmlformats.org/drawingml/2006/main">
              <a:ext uri="{FF2B5EF4-FFF2-40B4-BE49-F238E27FC236}">
                <a16:creationId xmlns:a16="http://schemas.microsoft.com/office/drawing/2014/main" id="{2EF89C13-9F6A-4E2B-BBC1-4DA9512EEF78}"/>
              </a:ext>
            </a:extLst>
          </p:cNvPr>
          <p:cNvSpPr>
            <a:spLocks xmlns:a="http://schemas.openxmlformats.org/drawingml/2006/main" noGrp="1"/>
          </p:cNvSpPr>
          <p:nvPr/>
        </p:nvSpPr>
        <p:spPr>
          <a:xfrm xmlns:a="http://schemas.openxmlformats.org/drawingml/2006/main">
            <a:off x="9158288" y="4210050"/>
            <a:ext cx="23479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AUC 0.698 · AP 0.364</a:t>
            </a:r>
          </a:p>
        </p:txBody>
      </p:sp>
      <p:sp>
        <p:nvSpPr>
          <p:cNvPr id="37" name="">
            <a:extLst xmlns:a="http://schemas.openxmlformats.org/drawingml/2006/main">
              <a:ext uri="{FF2B5EF4-FFF2-40B4-BE49-F238E27FC236}">
                <a16:creationId xmlns:a16="http://schemas.microsoft.com/office/drawing/2014/main" id="{16AE186D-D9FF-454F-A478-2FEEF73CA344}"/>
              </a:ext>
            </a:extLst>
          </p:cNvPr>
          <p:cNvSpPr>
            <a:spLocks xmlns:a="http://schemas.openxmlformats.org/drawingml/2006/main" noGrp="1"/>
          </p:cNvSpPr>
          <p:nvPr/>
        </p:nvSpPr>
        <p:spPr>
          <a:xfrm xmlns:a="http://schemas.openxmlformats.org/drawingml/2006/main">
            <a:off x="876300" y="5295900"/>
            <a:ext cx="1043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050505"/>
                </a:solidFill>
                <a:latin typeface="Arial"/>
                <a:ea typeface="Arial"/>
                <a:cs typeface="Arial"/>
              </a:defRPr>
            </a:pPr>
            <a:r>
              <a:rPr sz="1425" b="0" i="0">
                <a:solidFill>
                  <a:srgbClr val="050505"/>
                </a:solidFill>
                <a:latin typeface="Arial"/>
                <a:ea typeface="Arial"/>
                <a:cs typeface="Arial"/>
              </a:rPr>
              <a:t>Why ensemble? Different representations can make different errors. Equal averaging avoids fitting another high-variance meta-model on only 103 patients.</a:t>
            </a:r>
          </a:p>
        </p:txBody>
      </p:sp>
      <p:sp>
        <p:nvSpPr>
          <p:cNvPr id="38" name="">
            <a:extLst xmlns:a="http://schemas.openxmlformats.org/drawingml/2006/main">
              <a:ext uri="{FF2B5EF4-FFF2-40B4-BE49-F238E27FC236}">
                <a16:creationId xmlns:a16="http://schemas.microsoft.com/office/drawing/2014/main" id="{1CD235D8-374B-4712-94F9-0EA8E2CBA501}"/>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round 4 OOF predictions; equal probability averaging</a:t>
            </a:r>
          </a:p>
        </p:txBody>
      </p:sp>
    </p:spTree>
    <p:extLst>
      <p:ext uri="{BB962C8B-B14F-4D97-AF65-F5344CB8AC3E}">
        <p14:creationId xmlns:p14="http://schemas.microsoft.com/office/powerpoint/2010/main" val="20277764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94168552-C200-44BD-BC3F-5ADA9860DE1B}"/>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HELD-OUT PERFORMANCE</a:t>
            </a:r>
          </a:p>
        </p:txBody>
      </p:sp>
      <p:sp>
        <p:nvSpPr>
          <p:cNvPr id="2" name="">
            <a:extLst xmlns:a="http://schemas.openxmlformats.org/drawingml/2006/main">
              <a:ext uri="{FF2B5EF4-FFF2-40B4-BE49-F238E27FC236}">
                <a16:creationId xmlns:a16="http://schemas.microsoft.com/office/drawing/2014/main" id="{B06B0DD3-EB40-459B-B90F-1F1FBCF70BFB}"/>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Performance is above random—but still exploratory</a:t>
            </a:r>
          </a:p>
        </p:txBody>
      </p:sp>
      <p:sp>
        <p:nvSpPr>
          <p:cNvPr id="3" name="">
            <a:extLst xmlns:a="http://schemas.openxmlformats.org/drawingml/2006/main">
              <a:ext uri="{FF2B5EF4-FFF2-40B4-BE49-F238E27FC236}">
                <a16:creationId xmlns:a16="http://schemas.microsoft.com/office/drawing/2014/main" id="{CC42FB5E-B558-4223-BBC4-E4E4BB7E56B7}"/>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D3F097C0-D9E9-43A8-8F7C-01393ABE694E}"/>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8B13BEC-9E6C-45D4-A86A-EA6047A01962}"/>
              </a:ext>
            </a:extLst>
          </p:cNvPr>
          <p:cNvSpPr>
            <a:spLocks xmlns:a="http://schemas.openxmlformats.org/drawingml/2006/main" noGrp="1"/>
          </p:cNvSpPr>
          <p:nvPr/>
        </p:nvSpPr>
        <p:spPr>
          <a:xfrm xmlns:a="http://schemas.openxmlformats.org/drawingml/2006/main">
            <a:off x="400050" y="1485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50505"/>
                </a:solidFill>
                <a:latin typeface="Arial"/>
                <a:ea typeface="Arial"/>
                <a:cs typeface="Arial"/>
              </a:defRPr>
            </a:pPr>
            <a:r>
              <a:rPr sz="1650" b="1" i="0">
                <a:solidFill>
                  <a:srgbClr val="050505"/>
                </a:solidFill>
                <a:latin typeface="Arial"/>
                <a:ea typeface="Arial"/>
                <a:cs typeface="Arial"/>
              </a:rPr>
              <a:t>ROC AUC</a:t>
            </a:r>
          </a:p>
        </p:txBody>
      </p:sp>
      <p:sp>
        <p:nvSpPr>
          <p:cNvPr id="6" name="">
            <a:extLst xmlns:a="http://schemas.openxmlformats.org/drawingml/2006/main">
              <a:ext uri="{FF2B5EF4-FFF2-40B4-BE49-F238E27FC236}">
                <a16:creationId xmlns:a16="http://schemas.microsoft.com/office/drawing/2014/main" id="{6250C531-FDA2-4DC4-A18D-CD204D06FBE4}"/>
              </a:ext>
            </a:extLst>
          </p:cNvPr>
          <p:cNvSpPr>
            <a:spLocks xmlns:a="http://schemas.openxmlformats.org/drawingml/2006/main" noGrp="1"/>
          </p:cNvSpPr>
          <p:nvPr/>
        </p:nvSpPr>
        <p:spPr>
          <a:xfrm xmlns:a="http://schemas.openxmlformats.org/drawingml/2006/main">
            <a:off x="400050" y="194310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CNN + MOMENT + RDST</a:t>
            </a:r>
          </a:p>
        </p:txBody>
      </p:sp>
      <p:sp>
        <p:nvSpPr>
          <p:cNvPr id="7" name="">
            <a:extLst xmlns:a="http://schemas.openxmlformats.org/drawingml/2006/main">
              <a:ext uri="{FF2B5EF4-FFF2-40B4-BE49-F238E27FC236}">
                <a16:creationId xmlns:a16="http://schemas.microsoft.com/office/drawing/2014/main" id="{AE26E68E-6B68-48D9-BC61-1C77C5EA6A9B}"/>
              </a:ext>
            </a:extLst>
          </p:cNvPr>
          <p:cNvSpPr>
            <a:spLocks xmlns:a="http://schemas.openxmlformats.org/drawingml/2006/main" noGrp="1"/>
          </p:cNvSpPr>
          <p:nvPr/>
        </p:nvSpPr>
        <p:spPr>
          <a:xfrm xmlns:a="http://schemas.openxmlformats.org/drawingml/2006/main">
            <a:off x="2747010" y="198120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8" name="">
            <a:extLst xmlns:a="http://schemas.openxmlformats.org/drawingml/2006/main">
              <a:ext uri="{FF2B5EF4-FFF2-40B4-BE49-F238E27FC236}">
                <a16:creationId xmlns:a16="http://schemas.microsoft.com/office/drawing/2014/main" id="{E828E1AD-FB72-4014-8C57-9EE9D365D205}"/>
              </a:ext>
            </a:extLst>
          </p:cNvPr>
          <p:cNvSpPr>
            <a:spLocks xmlns:a="http://schemas.openxmlformats.org/drawingml/2006/main" noGrp="1"/>
          </p:cNvSpPr>
          <p:nvPr/>
        </p:nvSpPr>
        <p:spPr>
          <a:xfrm xmlns:a="http://schemas.openxmlformats.org/drawingml/2006/main">
            <a:off x="2747010" y="1981200"/>
            <a:ext cx="1977047"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70349CBB-33ED-40E7-A852-B5A26F1CB793}"/>
              </a:ext>
            </a:extLst>
          </p:cNvPr>
          <p:cNvSpPr>
            <a:spLocks xmlns:a="http://schemas.openxmlformats.org/drawingml/2006/main" noGrp="1"/>
          </p:cNvSpPr>
          <p:nvPr/>
        </p:nvSpPr>
        <p:spPr>
          <a:xfrm xmlns:a="http://schemas.openxmlformats.org/drawingml/2006/main">
            <a:off x="5093970" y="194310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0.706</a:t>
            </a:r>
          </a:p>
        </p:txBody>
      </p:sp>
      <p:sp>
        <p:nvSpPr>
          <p:cNvPr id="10" name="">
            <a:extLst xmlns:a="http://schemas.openxmlformats.org/drawingml/2006/main">
              <a:ext uri="{FF2B5EF4-FFF2-40B4-BE49-F238E27FC236}">
                <a16:creationId xmlns:a16="http://schemas.microsoft.com/office/drawing/2014/main" id="{7151AE7E-7E37-42C6-8C70-1BAA594A3373}"/>
              </a:ext>
            </a:extLst>
          </p:cNvPr>
          <p:cNvSpPr>
            <a:spLocks xmlns:a="http://schemas.openxmlformats.org/drawingml/2006/main" noGrp="1"/>
          </p:cNvSpPr>
          <p:nvPr/>
        </p:nvSpPr>
        <p:spPr>
          <a:xfrm xmlns:a="http://schemas.openxmlformats.org/drawingml/2006/main">
            <a:off x="2747010" y="219075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0.630–0.779</a:t>
            </a:r>
          </a:p>
        </p:txBody>
      </p:sp>
      <p:sp>
        <p:nvSpPr>
          <p:cNvPr id="11" name="">
            <a:extLst xmlns:a="http://schemas.openxmlformats.org/drawingml/2006/main">
              <a:ext uri="{FF2B5EF4-FFF2-40B4-BE49-F238E27FC236}">
                <a16:creationId xmlns:a16="http://schemas.microsoft.com/office/drawing/2014/main" id="{B3AE4D55-32FB-4311-875F-D6AFE3BAA3DC}"/>
              </a:ext>
            </a:extLst>
          </p:cNvPr>
          <p:cNvSpPr>
            <a:spLocks xmlns:a="http://schemas.openxmlformats.org/drawingml/2006/main" noGrp="1"/>
          </p:cNvSpPr>
          <p:nvPr/>
        </p:nvSpPr>
        <p:spPr>
          <a:xfrm xmlns:a="http://schemas.openxmlformats.org/drawingml/2006/main">
            <a:off x="400050" y="266700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CNN + MOMENT + Catch22</a:t>
            </a:r>
          </a:p>
        </p:txBody>
      </p:sp>
      <p:sp>
        <p:nvSpPr>
          <p:cNvPr id="12" name="">
            <a:extLst xmlns:a="http://schemas.openxmlformats.org/drawingml/2006/main">
              <a:ext uri="{FF2B5EF4-FFF2-40B4-BE49-F238E27FC236}">
                <a16:creationId xmlns:a16="http://schemas.microsoft.com/office/drawing/2014/main" id="{57DAE4BB-B4CD-4967-8DAA-0A9B0C62419B}"/>
              </a:ext>
            </a:extLst>
          </p:cNvPr>
          <p:cNvSpPr>
            <a:spLocks xmlns:a="http://schemas.openxmlformats.org/drawingml/2006/main" noGrp="1"/>
          </p:cNvSpPr>
          <p:nvPr/>
        </p:nvSpPr>
        <p:spPr>
          <a:xfrm xmlns:a="http://schemas.openxmlformats.org/drawingml/2006/main">
            <a:off x="2747010" y="270510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3" name="">
            <a:extLst xmlns:a="http://schemas.openxmlformats.org/drawingml/2006/main">
              <a:ext uri="{FF2B5EF4-FFF2-40B4-BE49-F238E27FC236}">
                <a16:creationId xmlns:a16="http://schemas.microsoft.com/office/drawing/2014/main" id="{087A1E13-0B1F-4BC8-90FC-8F58400D417F}"/>
              </a:ext>
            </a:extLst>
          </p:cNvPr>
          <p:cNvSpPr>
            <a:spLocks xmlns:a="http://schemas.openxmlformats.org/drawingml/2006/main" noGrp="1"/>
          </p:cNvSpPr>
          <p:nvPr/>
        </p:nvSpPr>
        <p:spPr>
          <a:xfrm xmlns:a="http://schemas.openxmlformats.org/drawingml/2006/main">
            <a:off x="2747010" y="2705100"/>
            <a:ext cx="1954644"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4" name="">
            <a:extLst xmlns:a="http://schemas.openxmlformats.org/drawingml/2006/main">
              <a:ext uri="{FF2B5EF4-FFF2-40B4-BE49-F238E27FC236}">
                <a16:creationId xmlns:a16="http://schemas.microsoft.com/office/drawing/2014/main" id="{17F4BF08-F0FE-4983-B3E5-80524D4A3453}"/>
              </a:ext>
            </a:extLst>
          </p:cNvPr>
          <p:cNvSpPr>
            <a:spLocks xmlns:a="http://schemas.openxmlformats.org/drawingml/2006/main" noGrp="1"/>
          </p:cNvSpPr>
          <p:nvPr/>
        </p:nvSpPr>
        <p:spPr>
          <a:xfrm xmlns:a="http://schemas.openxmlformats.org/drawingml/2006/main">
            <a:off x="5093970" y="266700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0.698</a:t>
            </a:r>
          </a:p>
        </p:txBody>
      </p:sp>
      <p:sp>
        <p:nvSpPr>
          <p:cNvPr id="15" name="">
            <a:extLst xmlns:a="http://schemas.openxmlformats.org/drawingml/2006/main">
              <a:ext uri="{FF2B5EF4-FFF2-40B4-BE49-F238E27FC236}">
                <a16:creationId xmlns:a16="http://schemas.microsoft.com/office/drawing/2014/main" id="{D40AD63A-D088-4E86-809E-8CB34990479A}"/>
              </a:ext>
            </a:extLst>
          </p:cNvPr>
          <p:cNvSpPr>
            <a:spLocks xmlns:a="http://schemas.openxmlformats.org/drawingml/2006/main" noGrp="1"/>
          </p:cNvSpPr>
          <p:nvPr/>
        </p:nvSpPr>
        <p:spPr>
          <a:xfrm xmlns:a="http://schemas.openxmlformats.org/drawingml/2006/main">
            <a:off x="2747010" y="291465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0.622–0.769</a:t>
            </a:r>
          </a:p>
        </p:txBody>
      </p:sp>
      <p:sp>
        <p:nvSpPr>
          <p:cNvPr id="16" name="">
            <a:extLst xmlns:a="http://schemas.openxmlformats.org/drawingml/2006/main">
              <a:ext uri="{FF2B5EF4-FFF2-40B4-BE49-F238E27FC236}">
                <a16:creationId xmlns:a16="http://schemas.microsoft.com/office/drawing/2014/main" id="{89B38D35-DACD-42AA-9E2C-E6917C37DE0F}"/>
              </a:ext>
            </a:extLst>
          </p:cNvPr>
          <p:cNvSpPr>
            <a:spLocks xmlns:a="http://schemas.openxmlformats.org/drawingml/2006/main" noGrp="1"/>
          </p:cNvSpPr>
          <p:nvPr/>
        </p:nvSpPr>
        <p:spPr>
          <a:xfrm xmlns:a="http://schemas.openxmlformats.org/drawingml/2006/main">
            <a:off x="400050" y="339090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Random ranking</a:t>
            </a:r>
          </a:p>
        </p:txBody>
      </p:sp>
      <p:sp>
        <p:nvSpPr>
          <p:cNvPr id="17" name="">
            <a:extLst xmlns:a="http://schemas.openxmlformats.org/drawingml/2006/main">
              <a:ext uri="{FF2B5EF4-FFF2-40B4-BE49-F238E27FC236}">
                <a16:creationId xmlns:a16="http://schemas.microsoft.com/office/drawing/2014/main" id="{15406877-13A1-4DB1-8CF1-636E6A9AE638}"/>
              </a:ext>
            </a:extLst>
          </p:cNvPr>
          <p:cNvSpPr>
            <a:spLocks xmlns:a="http://schemas.openxmlformats.org/drawingml/2006/main" noGrp="1"/>
          </p:cNvSpPr>
          <p:nvPr/>
        </p:nvSpPr>
        <p:spPr>
          <a:xfrm xmlns:a="http://schemas.openxmlformats.org/drawingml/2006/main">
            <a:off x="2747010" y="342900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8" name="">
            <a:extLst xmlns:a="http://schemas.openxmlformats.org/drawingml/2006/main">
              <a:ext uri="{FF2B5EF4-FFF2-40B4-BE49-F238E27FC236}">
                <a16:creationId xmlns:a16="http://schemas.microsoft.com/office/drawing/2014/main" id="{F9B3CD07-1A02-44AD-B148-E8D74DBF9D6E}"/>
              </a:ext>
            </a:extLst>
          </p:cNvPr>
          <p:cNvSpPr>
            <a:spLocks xmlns:a="http://schemas.openxmlformats.org/drawingml/2006/main" noGrp="1"/>
          </p:cNvSpPr>
          <p:nvPr/>
        </p:nvSpPr>
        <p:spPr>
          <a:xfrm xmlns:a="http://schemas.openxmlformats.org/drawingml/2006/main">
            <a:off x="2747010" y="3429000"/>
            <a:ext cx="1400175" cy="171450"/>
          </a:xfrm>
          <a:prstGeom xmlns:a="http://schemas.openxmlformats.org/drawingml/2006/main" prst="roundRect">
            <a:avLst>
              <a:gd name="adj" fmla="val 50000"/>
            </a:avLst>
          </a:prstGeom>
          <a:solidFill xmlns:a="http://schemas.openxmlformats.org/drawingml/2006/main">
            <a:srgbClr val="B8BCC4"/>
          </a:solidFill>
          <a:ln xmlns:a="http://schemas.openxmlformats.org/drawingml/2006/main" w="0">
            <a:solidFill>
              <a:srgbClr val="B8BCC4"/>
            </a:solidFill>
            <a:prstDash val="solid"/>
          </a:ln>
        </p:spPr>
      </p:sp>
      <p:sp>
        <p:nvSpPr>
          <p:cNvPr id="19" name="">
            <a:extLst xmlns:a="http://schemas.openxmlformats.org/drawingml/2006/main">
              <a:ext uri="{FF2B5EF4-FFF2-40B4-BE49-F238E27FC236}">
                <a16:creationId xmlns:a16="http://schemas.microsoft.com/office/drawing/2014/main" id="{2280B53D-D984-44D3-A260-09B86E36C4BE}"/>
              </a:ext>
            </a:extLst>
          </p:cNvPr>
          <p:cNvSpPr>
            <a:spLocks xmlns:a="http://schemas.openxmlformats.org/drawingml/2006/main" noGrp="1"/>
          </p:cNvSpPr>
          <p:nvPr/>
        </p:nvSpPr>
        <p:spPr>
          <a:xfrm xmlns:a="http://schemas.openxmlformats.org/drawingml/2006/main">
            <a:off x="5093970" y="339090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0.500</a:t>
            </a:r>
          </a:p>
        </p:txBody>
      </p:sp>
      <p:sp>
        <p:nvSpPr>
          <p:cNvPr id="20" name="">
            <a:extLst xmlns:a="http://schemas.openxmlformats.org/drawingml/2006/main">
              <a:ext uri="{FF2B5EF4-FFF2-40B4-BE49-F238E27FC236}">
                <a16:creationId xmlns:a16="http://schemas.microsoft.com/office/drawing/2014/main" id="{E888FD8F-1B83-487C-B95A-AFA0E914785A}"/>
              </a:ext>
            </a:extLst>
          </p:cNvPr>
          <p:cNvSpPr>
            <a:spLocks xmlns:a="http://schemas.openxmlformats.org/drawingml/2006/main" noGrp="1"/>
          </p:cNvSpPr>
          <p:nvPr/>
        </p:nvSpPr>
        <p:spPr>
          <a:xfrm xmlns:a="http://schemas.openxmlformats.org/drawingml/2006/main">
            <a:off x="2747010" y="363855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reference</a:t>
            </a:r>
          </a:p>
        </p:txBody>
      </p:sp>
      <p:sp>
        <p:nvSpPr>
          <p:cNvPr id="21" name="">
            <a:extLst xmlns:a="http://schemas.openxmlformats.org/drawingml/2006/main">
              <a:ext uri="{FF2B5EF4-FFF2-40B4-BE49-F238E27FC236}">
                <a16:creationId xmlns:a16="http://schemas.microsoft.com/office/drawing/2014/main" id="{D190AE6B-5085-423C-AA69-EA41DA4EB931}"/>
              </a:ext>
            </a:extLst>
          </p:cNvPr>
          <p:cNvSpPr>
            <a:spLocks xmlns:a="http://schemas.openxmlformats.org/drawingml/2006/main" noGrp="1"/>
          </p:cNvSpPr>
          <p:nvPr/>
        </p:nvSpPr>
        <p:spPr>
          <a:xfrm xmlns:a="http://schemas.openxmlformats.org/drawingml/2006/main">
            <a:off x="6305550" y="14859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050505"/>
                </a:solidFill>
                <a:latin typeface="Arial"/>
                <a:ea typeface="Arial"/>
                <a:cs typeface="Arial"/>
              </a:defRPr>
            </a:pPr>
            <a:r>
              <a:rPr sz="1650" b="1" i="0">
                <a:solidFill>
                  <a:srgbClr val="050505"/>
                </a:solidFill>
                <a:latin typeface="Arial"/>
                <a:ea typeface="Arial"/>
                <a:cs typeface="Arial"/>
              </a:rPr>
              <a:t>Average precision</a:t>
            </a:r>
          </a:p>
        </p:txBody>
      </p:sp>
      <p:sp>
        <p:nvSpPr>
          <p:cNvPr id="22" name="">
            <a:extLst xmlns:a="http://schemas.openxmlformats.org/drawingml/2006/main">
              <a:ext uri="{FF2B5EF4-FFF2-40B4-BE49-F238E27FC236}">
                <a16:creationId xmlns:a16="http://schemas.microsoft.com/office/drawing/2014/main" id="{447D302E-5956-4529-8CA1-BEFC63EE7E33}"/>
              </a:ext>
            </a:extLst>
          </p:cNvPr>
          <p:cNvSpPr>
            <a:spLocks xmlns:a="http://schemas.openxmlformats.org/drawingml/2006/main" noGrp="1"/>
          </p:cNvSpPr>
          <p:nvPr/>
        </p:nvSpPr>
        <p:spPr>
          <a:xfrm xmlns:a="http://schemas.openxmlformats.org/drawingml/2006/main">
            <a:off x="6305550" y="1943100"/>
            <a:ext cx="2192274"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CNN + MOMENT + RDST</a:t>
            </a:r>
          </a:p>
        </p:txBody>
      </p:sp>
      <p:sp>
        <p:nvSpPr>
          <p:cNvPr id="23" name="">
            <a:extLst xmlns:a="http://schemas.openxmlformats.org/drawingml/2006/main">
              <a:ext uri="{FF2B5EF4-FFF2-40B4-BE49-F238E27FC236}">
                <a16:creationId xmlns:a16="http://schemas.microsoft.com/office/drawing/2014/main" id="{02FF0F4A-2D57-4DBE-AE9B-F1DBDCC4B689}"/>
              </a:ext>
            </a:extLst>
          </p:cNvPr>
          <p:cNvSpPr>
            <a:spLocks xmlns:a="http://schemas.openxmlformats.org/drawingml/2006/main" noGrp="1"/>
          </p:cNvSpPr>
          <p:nvPr/>
        </p:nvSpPr>
        <p:spPr>
          <a:xfrm xmlns:a="http://schemas.openxmlformats.org/drawingml/2006/main">
            <a:off x="8602218" y="1981200"/>
            <a:ext cx="2192274"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4" name="">
            <a:extLst xmlns:a="http://schemas.openxmlformats.org/drawingml/2006/main">
              <a:ext uri="{FF2B5EF4-FFF2-40B4-BE49-F238E27FC236}">
                <a16:creationId xmlns:a16="http://schemas.microsoft.com/office/drawing/2014/main" id="{809795AE-5209-4787-9A59-4BA4AF0204F3}"/>
              </a:ext>
            </a:extLst>
          </p:cNvPr>
          <p:cNvSpPr>
            <a:spLocks xmlns:a="http://schemas.openxmlformats.org/drawingml/2006/main" noGrp="1"/>
          </p:cNvSpPr>
          <p:nvPr/>
        </p:nvSpPr>
        <p:spPr>
          <a:xfrm xmlns:a="http://schemas.openxmlformats.org/drawingml/2006/main">
            <a:off x="8602218" y="1981200"/>
            <a:ext cx="1763563"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802B6A79-96B6-42DC-9F62-B5192E7EF6F4}"/>
              </a:ext>
            </a:extLst>
          </p:cNvPr>
          <p:cNvSpPr>
            <a:spLocks xmlns:a="http://schemas.openxmlformats.org/drawingml/2006/main" noGrp="1"/>
          </p:cNvSpPr>
          <p:nvPr/>
        </p:nvSpPr>
        <p:spPr>
          <a:xfrm xmlns:a="http://schemas.openxmlformats.org/drawingml/2006/main">
            <a:off x="10898886" y="1943100"/>
            <a:ext cx="626364"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0.362</a:t>
            </a:r>
          </a:p>
        </p:txBody>
      </p:sp>
      <p:sp>
        <p:nvSpPr>
          <p:cNvPr id="26" name="">
            <a:extLst xmlns:a="http://schemas.openxmlformats.org/drawingml/2006/main">
              <a:ext uri="{FF2B5EF4-FFF2-40B4-BE49-F238E27FC236}">
                <a16:creationId xmlns:a16="http://schemas.microsoft.com/office/drawing/2014/main" id="{C8F32A97-1D88-4B5A-ABD0-8C8C60B08D3E}"/>
              </a:ext>
            </a:extLst>
          </p:cNvPr>
          <p:cNvSpPr>
            <a:spLocks xmlns:a="http://schemas.openxmlformats.org/drawingml/2006/main" noGrp="1"/>
          </p:cNvSpPr>
          <p:nvPr/>
        </p:nvSpPr>
        <p:spPr>
          <a:xfrm xmlns:a="http://schemas.openxmlformats.org/drawingml/2006/main">
            <a:off x="8602218" y="2190750"/>
            <a:ext cx="2818638"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0.262–0.498</a:t>
            </a:r>
          </a:p>
        </p:txBody>
      </p:sp>
      <p:sp>
        <p:nvSpPr>
          <p:cNvPr id="27" name="">
            <a:extLst xmlns:a="http://schemas.openxmlformats.org/drawingml/2006/main">
              <a:ext uri="{FF2B5EF4-FFF2-40B4-BE49-F238E27FC236}">
                <a16:creationId xmlns:a16="http://schemas.microsoft.com/office/drawing/2014/main" id="{D6CDB7DD-DCFD-410F-8EF4-6B04BE56D677}"/>
              </a:ext>
            </a:extLst>
          </p:cNvPr>
          <p:cNvSpPr>
            <a:spLocks xmlns:a="http://schemas.openxmlformats.org/drawingml/2006/main" noGrp="1"/>
          </p:cNvSpPr>
          <p:nvPr/>
        </p:nvSpPr>
        <p:spPr>
          <a:xfrm xmlns:a="http://schemas.openxmlformats.org/drawingml/2006/main">
            <a:off x="6305550" y="2667000"/>
            <a:ext cx="2192274"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CNN + MOMENT + Catch22</a:t>
            </a:r>
          </a:p>
        </p:txBody>
      </p:sp>
      <p:sp>
        <p:nvSpPr>
          <p:cNvPr id="28" name="">
            <a:extLst xmlns:a="http://schemas.openxmlformats.org/drawingml/2006/main">
              <a:ext uri="{FF2B5EF4-FFF2-40B4-BE49-F238E27FC236}">
                <a16:creationId xmlns:a16="http://schemas.microsoft.com/office/drawing/2014/main" id="{AC8CD5C5-CC18-4901-B3E8-A3CD77C5319E}"/>
              </a:ext>
            </a:extLst>
          </p:cNvPr>
          <p:cNvSpPr>
            <a:spLocks xmlns:a="http://schemas.openxmlformats.org/drawingml/2006/main" noGrp="1"/>
          </p:cNvSpPr>
          <p:nvPr/>
        </p:nvSpPr>
        <p:spPr>
          <a:xfrm xmlns:a="http://schemas.openxmlformats.org/drawingml/2006/main">
            <a:off x="8602218" y="2705100"/>
            <a:ext cx="2192274"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9" name="">
            <a:extLst xmlns:a="http://schemas.openxmlformats.org/drawingml/2006/main">
              <a:ext uri="{FF2B5EF4-FFF2-40B4-BE49-F238E27FC236}">
                <a16:creationId xmlns:a16="http://schemas.microsoft.com/office/drawing/2014/main" id="{BA5BDC18-4428-4099-9C48-812CE197E2D2}"/>
              </a:ext>
            </a:extLst>
          </p:cNvPr>
          <p:cNvSpPr>
            <a:spLocks xmlns:a="http://schemas.openxmlformats.org/drawingml/2006/main" noGrp="1"/>
          </p:cNvSpPr>
          <p:nvPr/>
        </p:nvSpPr>
        <p:spPr>
          <a:xfrm xmlns:a="http://schemas.openxmlformats.org/drawingml/2006/main">
            <a:off x="8602218" y="2705100"/>
            <a:ext cx="1773306"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30" name="">
            <a:extLst xmlns:a="http://schemas.openxmlformats.org/drawingml/2006/main">
              <a:ext uri="{FF2B5EF4-FFF2-40B4-BE49-F238E27FC236}">
                <a16:creationId xmlns:a16="http://schemas.microsoft.com/office/drawing/2014/main" id="{A41346BC-8486-42CC-AC44-38075351F206}"/>
              </a:ext>
            </a:extLst>
          </p:cNvPr>
          <p:cNvSpPr>
            <a:spLocks xmlns:a="http://schemas.openxmlformats.org/drawingml/2006/main" noGrp="1"/>
          </p:cNvSpPr>
          <p:nvPr/>
        </p:nvSpPr>
        <p:spPr>
          <a:xfrm xmlns:a="http://schemas.openxmlformats.org/drawingml/2006/main">
            <a:off x="10898886" y="2667000"/>
            <a:ext cx="626364"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0.364</a:t>
            </a:r>
          </a:p>
        </p:txBody>
      </p:sp>
      <p:sp>
        <p:nvSpPr>
          <p:cNvPr id="31" name="">
            <a:extLst xmlns:a="http://schemas.openxmlformats.org/drawingml/2006/main">
              <a:ext uri="{FF2B5EF4-FFF2-40B4-BE49-F238E27FC236}">
                <a16:creationId xmlns:a16="http://schemas.microsoft.com/office/drawing/2014/main" id="{926D035F-E462-4317-B577-CC7911C679AC}"/>
              </a:ext>
            </a:extLst>
          </p:cNvPr>
          <p:cNvSpPr>
            <a:spLocks xmlns:a="http://schemas.openxmlformats.org/drawingml/2006/main" noGrp="1"/>
          </p:cNvSpPr>
          <p:nvPr/>
        </p:nvSpPr>
        <p:spPr>
          <a:xfrm xmlns:a="http://schemas.openxmlformats.org/drawingml/2006/main">
            <a:off x="8602218" y="2914650"/>
            <a:ext cx="2818638"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0.264–0.493</a:t>
            </a:r>
          </a:p>
        </p:txBody>
      </p:sp>
      <p:sp>
        <p:nvSpPr>
          <p:cNvPr id="32" name="">
            <a:extLst xmlns:a="http://schemas.openxmlformats.org/drawingml/2006/main">
              <a:ext uri="{FF2B5EF4-FFF2-40B4-BE49-F238E27FC236}">
                <a16:creationId xmlns:a16="http://schemas.microsoft.com/office/drawing/2014/main" id="{536B584F-DDFD-4B0D-95ED-0914516F045C}"/>
              </a:ext>
            </a:extLst>
          </p:cNvPr>
          <p:cNvSpPr>
            <a:spLocks xmlns:a="http://schemas.openxmlformats.org/drawingml/2006/main" noGrp="1"/>
          </p:cNvSpPr>
          <p:nvPr/>
        </p:nvSpPr>
        <p:spPr>
          <a:xfrm xmlns:a="http://schemas.openxmlformats.org/drawingml/2006/main">
            <a:off x="6305550" y="3390900"/>
            <a:ext cx="2192274"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Random ranking</a:t>
            </a:r>
          </a:p>
        </p:txBody>
      </p:sp>
      <p:sp>
        <p:nvSpPr>
          <p:cNvPr id="33" name="">
            <a:extLst xmlns:a="http://schemas.openxmlformats.org/drawingml/2006/main">
              <a:ext uri="{FF2B5EF4-FFF2-40B4-BE49-F238E27FC236}">
                <a16:creationId xmlns:a16="http://schemas.microsoft.com/office/drawing/2014/main" id="{C2B4A579-FBB9-4902-BD0F-BB5E9F0F2FC3}"/>
              </a:ext>
            </a:extLst>
          </p:cNvPr>
          <p:cNvSpPr>
            <a:spLocks xmlns:a="http://schemas.openxmlformats.org/drawingml/2006/main" noGrp="1"/>
          </p:cNvSpPr>
          <p:nvPr/>
        </p:nvSpPr>
        <p:spPr>
          <a:xfrm xmlns:a="http://schemas.openxmlformats.org/drawingml/2006/main">
            <a:off x="8602218" y="3429000"/>
            <a:ext cx="2192274"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34" name="">
            <a:extLst xmlns:a="http://schemas.openxmlformats.org/drawingml/2006/main">
              <a:ext uri="{FF2B5EF4-FFF2-40B4-BE49-F238E27FC236}">
                <a16:creationId xmlns:a16="http://schemas.microsoft.com/office/drawing/2014/main" id="{E8647491-F565-4952-97F2-37F97CC2CC98}"/>
              </a:ext>
            </a:extLst>
          </p:cNvPr>
          <p:cNvSpPr>
            <a:spLocks xmlns:a="http://schemas.openxmlformats.org/drawingml/2006/main" noGrp="1"/>
          </p:cNvSpPr>
          <p:nvPr/>
        </p:nvSpPr>
        <p:spPr>
          <a:xfrm xmlns:a="http://schemas.openxmlformats.org/drawingml/2006/main">
            <a:off x="8602218" y="3429000"/>
            <a:ext cx="1003574" cy="171450"/>
          </a:xfrm>
          <a:prstGeom xmlns:a="http://schemas.openxmlformats.org/drawingml/2006/main" prst="roundRect">
            <a:avLst>
              <a:gd name="adj" fmla="val 50000"/>
            </a:avLst>
          </a:prstGeom>
          <a:solidFill xmlns:a="http://schemas.openxmlformats.org/drawingml/2006/main">
            <a:srgbClr val="B8BCC4"/>
          </a:solidFill>
          <a:ln xmlns:a="http://schemas.openxmlformats.org/drawingml/2006/main" w="0">
            <a:solidFill>
              <a:srgbClr val="B8BCC4"/>
            </a:solidFill>
            <a:prstDash val="solid"/>
          </a:ln>
        </p:spPr>
      </p:sp>
      <p:sp>
        <p:nvSpPr>
          <p:cNvPr id="35" name="">
            <a:extLst xmlns:a="http://schemas.openxmlformats.org/drawingml/2006/main">
              <a:ext uri="{FF2B5EF4-FFF2-40B4-BE49-F238E27FC236}">
                <a16:creationId xmlns:a16="http://schemas.microsoft.com/office/drawing/2014/main" id="{EABC800B-D71E-4D88-9D6B-ED524D0B259D}"/>
              </a:ext>
            </a:extLst>
          </p:cNvPr>
          <p:cNvSpPr>
            <a:spLocks xmlns:a="http://schemas.openxmlformats.org/drawingml/2006/main" noGrp="1"/>
          </p:cNvSpPr>
          <p:nvPr/>
        </p:nvSpPr>
        <p:spPr>
          <a:xfrm xmlns:a="http://schemas.openxmlformats.org/drawingml/2006/main">
            <a:off x="10898886" y="3390900"/>
            <a:ext cx="626364"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0.206</a:t>
            </a:r>
          </a:p>
        </p:txBody>
      </p:sp>
      <p:sp>
        <p:nvSpPr>
          <p:cNvPr id="36" name="">
            <a:extLst xmlns:a="http://schemas.openxmlformats.org/drawingml/2006/main">
              <a:ext uri="{FF2B5EF4-FFF2-40B4-BE49-F238E27FC236}">
                <a16:creationId xmlns:a16="http://schemas.microsoft.com/office/drawing/2014/main" id="{CC6B3F1C-3567-4256-A2D2-CE96614D1A9B}"/>
              </a:ext>
            </a:extLst>
          </p:cNvPr>
          <p:cNvSpPr>
            <a:spLocks xmlns:a="http://schemas.openxmlformats.org/drawingml/2006/main" noGrp="1"/>
          </p:cNvSpPr>
          <p:nvPr/>
        </p:nvSpPr>
        <p:spPr>
          <a:xfrm xmlns:a="http://schemas.openxmlformats.org/drawingml/2006/main">
            <a:off x="8602218" y="3638550"/>
            <a:ext cx="2818638"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equals event prevalence</a:t>
            </a:r>
          </a:p>
        </p:txBody>
      </p:sp>
      <p:sp>
        <p:nvSpPr>
          <p:cNvPr id="37" name="">
            <a:extLst xmlns:a="http://schemas.openxmlformats.org/drawingml/2006/main">
              <a:ext uri="{FF2B5EF4-FFF2-40B4-BE49-F238E27FC236}">
                <a16:creationId xmlns:a16="http://schemas.microsoft.com/office/drawing/2014/main" id="{C3C17096-0AD5-48BE-9F94-B3B7CBC4CBC0}"/>
              </a:ext>
            </a:extLst>
          </p:cNvPr>
          <p:cNvSpPr>
            <a:spLocks xmlns:a="http://schemas.openxmlformats.org/drawingml/2006/main" noGrp="1"/>
          </p:cNvSpPr>
          <p:nvPr/>
        </p:nvSpPr>
        <p:spPr>
          <a:xfrm xmlns:a="http://schemas.openxmlformats.org/drawingml/2006/main">
            <a:off x="400050" y="4610100"/>
            <a:ext cx="11125200" cy="1162050"/>
          </a:xfrm>
          <a:prstGeom xmlns:a="http://schemas.openxmlformats.org/drawingml/2006/main" prst="roundRect">
            <a:avLst>
              <a:gd name="adj" fmla="val 9836"/>
            </a:avLst>
          </a:prstGeom>
          <a:solidFill xmlns:a="http://schemas.openxmlformats.org/drawingml/2006/main">
            <a:srgbClr val="050505"/>
          </a:solidFill>
          <a:ln xmlns:a="http://schemas.openxmlformats.org/drawingml/2006/main" w="0">
            <a:solidFill>
              <a:srgbClr val="050505"/>
            </a:solidFill>
            <a:prstDash val="solid"/>
          </a:ln>
        </p:spPr>
      </p:sp>
      <p:sp>
        <p:nvSpPr>
          <p:cNvPr id="38" name="">
            <a:extLst xmlns:a="http://schemas.openxmlformats.org/drawingml/2006/main">
              <a:ext uri="{FF2B5EF4-FFF2-40B4-BE49-F238E27FC236}">
                <a16:creationId xmlns:a16="http://schemas.microsoft.com/office/drawing/2014/main" id="{3B785B13-6FC2-4505-960E-559CF335A985}"/>
              </a:ext>
            </a:extLst>
          </p:cNvPr>
          <p:cNvSpPr>
            <a:spLocks xmlns:a="http://schemas.openxmlformats.org/drawingml/2006/main" noGrp="1"/>
          </p:cNvSpPr>
          <p:nvPr/>
        </p:nvSpPr>
        <p:spPr>
          <a:xfrm xmlns:a="http://schemas.openxmlformats.org/drawingml/2006/main">
            <a:off x="609600" y="4819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6DCBF4"/>
                </a:solidFill>
                <a:latin typeface="Arial"/>
                <a:ea typeface="Arial"/>
                <a:cs typeface="Arial"/>
              </a:defRPr>
            </a:pPr>
            <a:r>
              <a:rPr sz="1650" b="1" i="0">
                <a:solidFill>
                  <a:srgbClr val="6DCBF4"/>
                </a:solidFill>
                <a:latin typeface="Arial"/>
                <a:ea typeface="Arial"/>
                <a:cs typeface="Arial"/>
              </a:rPr>
              <a:t>Interpretation</a:t>
            </a:r>
          </a:p>
        </p:txBody>
      </p:sp>
      <p:sp>
        <p:nvSpPr>
          <p:cNvPr id="39" name="">
            <a:extLst xmlns:a="http://schemas.openxmlformats.org/drawingml/2006/main">
              <a:ext uri="{FF2B5EF4-FFF2-40B4-BE49-F238E27FC236}">
                <a16:creationId xmlns:a16="http://schemas.microsoft.com/office/drawing/2014/main" id="{1F779FE9-C10D-4B04-8E01-4360BEFE1FB7}"/>
              </a:ext>
            </a:extLst>
          </p:cNvPr>
          <p:cNvSpPr>
            <a:spLocks xmlns:a="http://schemas.openxmlformats.org/drawingml/2006/main" noGrp="1"/>
          </p:cNvSpPr>
          <p:nvPr/>
        </p:nvSpPr>
        <p:spPr>
          <a:xfrm xmlns:a="http://schemas.openxmlformats.org/drawingml/2006/main">
            <a:off x="2247900" y="4781550"/>
            <a:ext cx="9010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AUC ≈ 0.70 means useful rank separation, not clinical readiness. AP ≈ 0.36 is ~1.76× the random baseline, so it has not ‘fallen to random’; class imbalance makes AP numerically lower than AUC.</a:t>
            </a:r>
          </a:p>
        </p:txBody>
      </p:sp>
      <p:sp>
        <p:nvSpPr>
          <p:cNvPr id="40" name="">
            <a:extLst xmlns:a="http://schemas.openxmlformats.org/drawingml/2006/main">
              <a:ext uri="{FF2B5EF4-FFF2-40B4-BE49-F238E27FC236}">
                <a16:creationId xmlns:a16="http://schemas.microsoft.com/office/drawing/2014/main" id="{BA68BDBE-7082-451D-BBAF-C005CDF724AB}"/>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round4_results; patient-bootstrap confidence intervals</a:t>
            </a:r>
          </a:p>
        </p:txBody>
      </p:sp>
    </p:spTree>
    <p:extLst>
      <p:ext uri="{BB962C8B-B14F-4D97-AF65-F5344CB8AC3E}">
        <p14:creationId xmlns:p14="http://schemas.microsoft.com/office/powerpoint/2010/main" val="14556056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9400092-C362-46FA-80BB-5E28049D8FA5}"/>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INTERPRETABILITY PROTOCOL</a:t>
            </a:r>
          </a:p>
        </p:txBody>
      </p:sp>
      <p:sp>
        <p:nvSpPr>
          <p:cNvPr id="2" name="">
            <a:extLst xmlns:a="http://schemas.openxmlformats.org/drawingml/2006/main">
              <a:ext uri="{FF2B5EF4-FFF2-40B4-BE49-F238E27FC236}">
                <a16:creationId xmlns:a16="http://schemas.microsoft.com/office/drawing/2014/main" id="{ECCF1103-DD7D-4D9C-B970-C12AF2EF15A6}"/>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‘Important’ has three different meanings here</a:t>
            </a:r>
          </a:p>
        </p:txBody>
      </p:sp>
      <p:sp>
        <p:nvSpPr>
          <p:cNvPr id="3" name="">
            <a:extLst xmlns:a="http://schemas.openxmlformats.org/drawingml/2006/main">
              <a:ext uri="{FF2B5EF4-FFF2-40B4-BE49-F238E27FC236}">
                <a16:creationId xmlns:a16="http://schemas.microsoft.com/office/drawing/2014/main" id="{AE076F97-3CBF-49E3-B501-BAA0E2741BEF}"/>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928427F-451E-43D1-B173-5EDD12B6A52A}"/>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EB25443-F8D5-45FA-9DA2-EA8A7A3E1F2D}"/>
              </a:ext>
            </a:extLst>
          </p:cNvPr>
          <p:cNvSpPr>
            <a:spLocks xmlns:a="http://schemas.openxmlformats.org/drawingml/2006/main" noGrp="1"/>
          </p:cNvSpPr>
          <p:nvPr/>
        </p:nvSpPr>
        <p:spPr>
          <a:xfrm xmlns:a="http://schemas.openxmlformats.org/drawingml/2006/main">
            <a:off x="400050" y="1562100"/>
            <a:ext cx="3467100" cy="3695700"/>
          </a:xfrm>
          <a:prstGeom xmlns:a="http://schemas.openxmlformats.org/drawingml/2006/main" prst="roundRect">
            <a:avLst>
              <a:gd name="adj" fmla="val 3297"/>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835C1391-63D2-4CCF-ABD5-C77E4A768CCB}"/>
              </a:ext>
            </a:extLst>
          </p:cNvPr>
          <p:cNvSpPr>
            <a:spLocks xmlns:a="http://schemas.openxmlformats.org/drawingml/2006/main" noGrp="1"/>
          </p:cNvSpPr>
          <p:nvPr/>
        </p:nvSpPr>
        <p:spPr>
          <a:xfrm xmlns:a="http://schemas.openxmlformats.org/drawingml/2006/main">
            <a:off x="571500" y="1733550"/>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Held-out permutation</a:t>
            </a:r>
          </a:p>
        </p:txBody>
      </p:sp>
      <p:sp>
        <p:nvSpPr>
          <p:cNvPr id="7" name="">
            <a:extLst xmlns:a="http://schemas.openxmlformats.org/drawingml/2006/main">
              <a:ext uri="{FF2B5EF4-FFF2-40B4-BE49-F238E27FC236}">
                <a16:creationId xmlns:a16="http://schemas.microsoft.com/office/drawing/2014/main" id="{F252BCB4-D158-4D5E-B631-11DFB76E45F1}"/>
              </a:ext>
            </a:extLst>
          </p:cNvPr>
          <p:cNvSpPr>
            <a:spLocks xmlns:a="http://schemas.openxmlformats.org/drawingml/2006/main" noGrp="1"/>
          </p:cNvSpPr>
          <p:nvPr/>
        </p:nvSpPr>
        <p:spPr>
          <a:xfrm xmlns:a="http://schemas.openxmlformats.org/drawingml/2006/main">
            <a:off x="571500" y="2152650"/>
            <a:ext cx="31242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Shuffle one feature or feature group only in held-out patients. Recompute AUC/AP. The performance drop estimates predictive information that cannot be recovered from the other unshuffled inputs.</a:t>
            </a:r>
          </a:p>
        </p:txBody>
      </p:sp>
      <p:sp>
        <p:nvSpPr>
          <p:cNvPr id="8" name="">
            <a:extLst xmlns:a="http://schemas.openxmlformats.org/drawingml/2006/main">
              <a:ext uri="{FF2B5EF4-FFF2-40B4-BE49-F238E27FC236}">
                <a16:creationId xmlns:a16="http://schemas.microsoft.com/office/drawing/2014/main" id="{2399C8AE-C803-41B3-9484-63710592C623}"/>
              </a:ext>
            </a:extLst>
          </p:cNvPr>
          <p:cNvSpPr>
            <a:spLocks xmlns:a="http://schemas.openxmlformats.org/drawingml/2006/main" noGrp="1"/>
          </p:cNvSpPr>
          <p:nvPr/>
        </p:nvSpPr>
        <p:spPr>
          <a:xfrm xmlns:a="http://schemas.openxmlformats.org/drawingml/2006/main">
            <a:off x="4038600" y="1562100"/>
            <a:ext cx="3467100" cy="3695700"/>
          </a:xfrm>
          <a:prstGeom xmlns:a="http://schemas.openxmlformats.org/drawingml/2006/main" prst="roundRect">
            <a:avLst>
              <a:gd name="adj" fmla="val 3297"/>
            </a:avLst>
          </a:prstGeom>
          <a:solidFill xmlns:a="http://schemas.openxmlformats.org/drawingml/2006/main">
            <a:srgbClr val="EBF6E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E3CC0ABE-6D2A-4ED2-A163-A7498F3245AE}"/>
              </a:ext>
            </a:extLst>
          </p:cNvPr>
          <p:cNvSpPr>
            <a:spLocks xmlns:a="http://schemas.openxmlformats.org/drawingml/2006/main" noGrp="1"/>
          </p:cNvSpPr>
          <p:nvPr/>
        </p:nvSpPr>
        <p:spPr>
          <a:xfrm xmlns:a="http://schemas.openxmlformats.org/drawingml/2006/main">
            <a:off x="4210050" y="1733550"/>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Native TreeSHAP</a:t>
            </a:r>
          </a:p>
        </p:txBody>
      </p:sp>
      <p:sp>
        <p:nvSpPr>
          <p:cNvPr id="10" name="">
            <a:extLst xmlns:a="http://schemas.openxmlformats.org/drawingml/2006/main">
              <a:ext uri="{FF2B5EF4-FFF2-40B4-BE49-F238E27FC236}">
                <a16:creationId xmlns:a16="http://schemas.microsoft.com/office/drawing/2014/main" id="{2A0D9736-AE9B-4869-B4DC-5DBAE02B3EFC}"/>
              </a:ext>
            </a:extLst>
          </p:cNvPr>
          <p:cNvSpPr>
            <a:spLocks xmlns:a="http://schemas.openxmlformats.org/drawingml/2006/main" noGrp="1"/>
          </p:cNvSpPr>
          <p:nvPr/>
        </p:nvSpPr>
        <p:spPr>
          <a:xfrm xmlns:a="http://schemas.openxmlformats.org/drawingml/2006/main">
            <a:off x="4210050" y="2152650"/>
            <a:ext cx="31242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For Catch22-XGBoost only: decompose each prediction into additive contributions of individual tree inputs. Useful for ranking, but correlated features can split or exchange attribution.</a:t>
            </a:r>
          </a:p>
        </p:txBody>
      </p:sp>
      <p:sp>
        <p:nvSpPr>
          <p:cNvPr id="11" name="">
            <a:extLst xmlns:a="http://schemas.openxmlformats.org/drawingml/2006/main">
              <a:ext uri="{FF2B5EF4-FFF2-40B4-BE49-F238E27FC236}">
                <a16:creationId xmlns:a16="http://schemas.microsoft.com/office/drawing/2014/main" id="{E910C75B-A21F-4D5B-AA1E-A238D8EBAD9F}"/>
              </a:ext>
            </a:extLst>
          </p:cNvPr>
          <p:cNvSpPr>
            <a:spLocks xmlns:a="http://schemas.openxmlformats.org/drawingml/2006/main" noGrp="1"/>
          </p:cNvSpPr>
          <p:nvPr/>
        </p:nvSpPr>
        <p:spPr>
          <a:xfrm xmlns:a="http://schemas.openxmlformats.org/drawingml/2006/main">
            <a:off x="7677150" y="1562100"/>
            <a:ext cx="3848100" cy="3695700"/>
          </a:xfrm>
          <a:prstGeom xmlns:a="http://schemas.openxmlformats.org/drawingml/2006/main" prst="roundRect">
            <a:avLst>
              <a:gd name="adj" fmla="val 3093"/>
            </a:avLst>
          </a:prstGeom>
          <a:solidFill xmlns:a="http://schemas.openxmlformats.org/drawingml/2006/main">
            <a:srgbClr val="FFF2E7"/>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80EAB4EB-7AFB-4B2B-A56D-E1CE2F97686D}"/>
              </a:ext>
            </a:extLst>
          </p:cNvPr>
          <p:cNvSpPr>
            <a:spLocks xmlns:a="http://schemas.openxmlformats.org/drawingml/2006/main" noGrp="1"/>
          </p:cNvSpPr>
          <p:nvPr/>
        </p:nvSpPr>
        <p:spPr>
          <a:xfrm xmlns:a="http://schemas.openxmlformats.org/drawingml/2006/main">
            <a:off x="7848600" y="17335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Model-level Shapley</a:t>
            </a:r>
          </a:p>
        </p:txBody>
      </p:sp>
      <p:sp>
        <p:nvSpPr>
          <p:cNvPr id="13" name="">
            <a:extLst xmlns:a="http://schemas.openxmlformats.org/drawingml/2006/main">
              <a:ext uri="{FF2B5EF4-FFF2-40B4-BE49-F238E27FC236}">
                <a16:creationId xmlns:a16="http://schemas.microsoft.com/office/drawing/2014/main" id="{2A5F85D2-CA57-48D9-B29F-609BC1053929}"/>
              </a:ext>
            </a:extLst>
          </p:cNvPr>
          <p:cNvSpPr>
            <a:spLocks xmlns:a="http://schemas.openxmlformats.org/drawingml/2006/main" noGrp="1"/>
          </p:cNvSpPr>
          <p:nvPr/>
        </p:nvSpPr>
        <p:spPr>
          <a:xfrm xmlns:a="http://schemas.openxmlformats.org/drawingml/2006/main">
            <a:off x="7848600" y="2152650"/>
            <a:ext cx="35052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Evaluate all component subsets and average each model’s marginal contribution. This allocates shared value more fairly than simple leave-one-model-out analysis.</a:t>
            </a:r>
          </a:p>
        </p:txBody>
      </p:sp>
      <p:sp>
        <p:nvSpPr>
          <p:cNvPr id="14" name="">
            <a:extLst xmlns:a="http://schemas.openxmlformats.org/drawingml/2006/main">
              <a:ext uri="{FF2B5EF4-FFF2-40B4-BE49-F238E27FC236}">
                <a16:creationId xmlns:a16="http://schemas.microsoft.com/office/drawing/2014/main" id="{D0073E6C-EAE9-4DA9-864A-947B26D2CF03}"/>
              </a:ext>
            </a:extLst>
          </p:cNvPr>
          <p:cNvSpPr>
            <a:spLocks xmlns:a="http://schemas.openxmlformats.org/drawingml/2006/main" noGrp="1"/>
          </p:cNvSpPr>
          <p:nvPr/>
        </p:nvSpPr>
        <p:spPr>
          <a:xfrm xmlns:a="http://schemas.openxmlformats.org/drawingml/2006/main">
            <a:off x="1104900" y="5600700"/>
            <a:ext cx="9982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C94949"/>
                </a:solidFill>
                <a:latin typeface="Arial"/>
                <a:ea typeface="Arial"/>
                <a:cs typeface="Arial"/>
              </a:defRPr>
            </a:pPr>
            <a:r>
              <a:rPr sz="1350" b="1" i="0">
                <a:solidFill>
                  <a:srgbClr val="C94949"/>
                </a:solidFill>
                <a:latin typeface="Arial"/>
                <a:ea typeface="Arial"/>
                <a:cs typeface="Arial"/>
              </a:rPr>
              <a:t>Do not read attention weights, shapelet coefficient energy or SHAP as proof of causal myocardial mechanisms.</a:t>
            </a:r>
          </a:p>
        </p:txBody>
      </p:sp>
      <p:sp>
        <p:nvSpPr>
          <p:cNvPr id="15" name="">
            <a:extLst xmlns:a="http://schemas.openxmlformats.org/drawingml/2006/main">
              <a:ext uri="{FF2B5EF4-FFF2-40B4-BE49-F238E27FC236}">
                <a16:creationId xmlns:a16="http://schemas.microsoft.com/office/drawing/2014/main" id="{1E0A2FD3-2D1E-4992-AF60-FC28E6384614}"/>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importance code reproduces OOF scores exactly before perturbation</a:t>
            </a:r>
          </a:p>
        </p:txBody>
      </p:sp>
    </p:spTree>
    <p:extLst>
      <p:ext uri="{BB962C8B-B14F-4D97-AF65-F5344CB8AC3E}">
        <p14:creationId xmlns:p14="http://schemas.microsoft.com/office/powerpoint/2010/main" val="9677594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46AD3F0-9CD0-475F-93B0-733A3655F7C9}"/>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MODEL-LEVEL SHAPLEY ALLOCATION</a:t>
            </a:r>
          </a:p>
        </p:txBody>
      </p:sp>
      <p:sp>
        <p:nvSpPr>
          <p:cNvPr id="2" name="">
            <a:extLst xmlns:a="http://schemas.openxmlformats.org/drawingml/2006/main">
              <a:ext uri="{FF2B5EF4-FFF2-40B4-BE49-F238E27FC236}">
                <a16:creationId xmlns:a16="http://schemas.microsoft.com/office/drawing/2014/main" id="{BE5913DB-6E13-4902-976A-BCBDA3ADB3DB}"/>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No single component owns the ensemble signal</a:t>
            </a:r>
          </a:p>
        </p:txBody>
      </p:sp>
      <p:sp>
        <p:nvSpPr>
          <p:cNvPr id="3" name="">
            <a:extLst xmlns:a="http://schemas.openxmlformats.org/drawingml/2006/main">
              <a:ext uri="{FF2B5EF4-FFF2-40B4-BE49-F238E27FC236}">
                <a16:creationId xmlns:a16="http://schemas.microsoft.com/office/drawing/2014/main" id="{812C2FAD-05C7-4C8D-9341-3A0C373E5FCD}"/>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4E7498F-38A6-49E6-9692-FED3F4FF46EB}"/>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9F15465-B5A7-4738-90CF-E49CC129BA07}"/>
              </a:ext>
            </a:extLst>
          </p:cNvPr>
          <p:cNvSpPr>
            <a:spLocks xmlns:a="http://schemas.openxmlformats.org/drawingml/2006/main" noGrp="1"/>
          </p:cNvSpPr>
          <p:nvPr/>
        </p:nvSpPr>
        <p:spPr>
          <a:xfrm xmlns:a="http://schemas.openxmlformats.org/drawingml/2006/main">
            <a:off x="400050" y="14287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50505"/>
                </a:solidFill>
                <a:latin typeface="Arial"/>
                <a:ea typeface="Arial"/>
                <a:cs typeface="Arial"/>
              </a:defRPr>
            </a:pPr>
            <a:r>
              <a:rPr sz="1500" b="1" i="0">
                <a:solidFill>
                  <a:srgbClr val="050505"/>
                </a:solidFill>
                <a:latin typeface="Arial"/>
                <a:ea typeface="Arial"/>
                <a:cs typeface="Arial"/>
              </a:rPr>
              <a:t>Ensemble 1 · CNN + MOMENT + RDST</a:t>
            </a:r>
          </a:p>
        </p:txBody>
      </p:sp>
      <p:sp>
        <p:nvSpPr>
          <p:cNvPr id="6" name="">
            <a:extLst xmlns:a="http://schemas.openxmlformats.org/drawingml/2006/main">
              <a:ext uri="{FF2B5EF4-FFF2-40B4-BE49-F238E27FC236}">
                <a16:creationId xmlns:a16="http://schemas.microsoft.com/office/drawing/2014/main" id="{AD689301-A496-42BB-9A26-4D119183E7F2}"/>
              </a:ext>
            </a:extLst>
          </p:cNvPr>
          <p:cNvSpPr>
            <a:spLocks xmlns:a="http://schemas.openxmlformats.org/drawingml/2006/main" noGrp="1"/>
          </p:cNvSpPr>
          <p:nvPr/>
        </p:nvSpPr>
        <p:spPr>
          <a:xfrm xmlns:a="http://schemas.openxmlformats.org/drawingml/2006/main">
            <a:off x="400050" y="1905000"/>
            <a:ext cx="216027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CNN</a:t>
            </a:r>
          </a:p>
        </p:txBody>
      </p:sp>
      <p:sp>
        <p:nvSpPr>
          <p:cNvPr id="7" name="">
            <a:extLst xmlns:a="http://schemas.openxmlformats.org/drawingml/2006/main">
              <a:ext uri="{FF2B5EF4-FFF2-40B4-BE49-F238E27FC236}">
                <a16:creationId xmlns:a16="http://schemas.microsoft.com/office/drawing/2014/main" id="{D33972C9-0BD0-4813-8D11-89776DB922CD}"/>
              </a:ext>
            </a:extLst>
          </p:cNvPr>
          <p:cNvSpPr>
            <a:spLocks xmlns:a="http://schemas.openxmlformats.org/drawingml/2006/main" noGrp="1"/>
          </p:cNvSpPr>
          <p:nvPr/>
        </p:nvSpPr>
        <p:spPr>
          <a:xfrm xmlns:a="http://schemas.openxmlformats.org/drawingml/2006/main">
            <a:off x="2663190" y="1943100"/>
            <a:ext cx="216027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8" name="">
            <a:extLst xmlns:a="http://schemas.openxmlformats.org/drawingml/2006/main">
              <a:ext uri="{FF2B5EF4-FFF2-40B4-BE49-F238E27FC236}">
                <a16:creationId xmlns:a16="http://schemas.microsoft.com/office/drawing/2014/main" id="{4F7B9B59-4EB7-46EA-B596-8E8B457D033E}"/>
              </a:ext>
            </a:extLst>
          </p:cNvPr>
          <p:cNvSpPr>
            <a:spLocks xmlns:a="http://schemas.openxmlformats.org/drawingml/2006/main" noGrp="1"/>
          </p:cNvSpPr>
          <p:nvPr/>
        </p:nvSpPr>
        <p:spPr>
          <a:xfrm xmlns:a="http://schemas.openxmlformats.org/drawingml/2006/main">
            <a:off x="2663190" y="1943100"/>
            <a:ext cx="1883247"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B303AA3D-653C-4EEF-81F1-0B5A4EA7333A}"/>
              </a:ext>
            </a:extLst>
          </p:cNvPr>
          <p:cNvSpPr>
            <a:spLocks xmlns:a="http://schemas.openxmlformats.org/drawingml/2006/main" noGrp="1"/>
          </p:cNvSpPr>
          <p:nvPr/>
        </p:nvSpPr>
        <p:spPr>
          <a:xfrm xmlns:a="http://schemas.openxmlformats.org/drawingml/2006/main">
            <a:off x="4926330" y="1905000"/>
            <a:ext cx="6172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0.074</a:t>
            </a:r>
          </a:p>
        </p:txBody>
      </p:sp>
      <p:sp>
        <p:nvSpPr>
          <p:cNvPr id="10" name="">
            <a:extLst xmlns:a="http://schemas.openxmlformats.org/drawingml/2006/main">
              <a:ext uri="{FF2B5EF4-FFF2-40B4-BE49-F238E27FC236}">
                <a16:creationId xmlns:a16="http://schemas.microsoft.com/office/drawing/2014/main" id="{11C6FC2B-BE2B-4422-9D9B-21B70E0BACFA}"/>
              </a:ext>
            </a:extLst>
          </p:cNvPr>
          <p:cNvSpPr>
            <a:spLocks xmlns:a="http://schemas.openxmlformats.org/drawingml/2006/main" noGrp="1"/>
          </p:cNvSpPr>
          <p:nvPr/>
        </p:nvSpPr>
        <p:spPr>
          <a:xfrm xmlns:a="http://schemas.openxmlformats.org/drawingml/2006/main">
            <a:off x="400050" y="2533650"/>
            <a:ext cx="216027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MOMENT</a:t>
            </a:r>
          </a:p>
        </p:txBody>
      </p:sp>
      <p:sp>
        <p:nvSpPr>
          <p:cNvPr id="11" name="">
            <a:extLst xmlns:a="http://schemas.openxmlformats.org/drawingml/2006/main">
              <a:ext uri="{FF2B5EF4-FFF2-40B4-BE49-F238E27FC236}">
                <a16:creationId xmlns:a16="http://schemas.microsoft.com/office/drawing/2014/main" id="{A2B8B124-8671-42CC-AC10-36B0326078D5}"/>
              </a:ext>
            </a:extLst>
          </p:cNvPr>
          <p:cNvSpPr>
            <a:spLocks xmlns:a="http://schemas.openxmlformats.org/drawingml/2006/main" noGrp="1"/>
          </p:cNvSpPr>
          <p:nvPr/>
        </p:nvSpPr>
        <p:spPr>
          <a:xfrm xmlns:a="http://schemas.openxmlformats.org/drawingml/2006/main">
            <a:off x="2663190" y="2571750"/>
            <a:ext cx="216027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2" name="">
            <a:extLst xmlns:a="http://schemas.openxmlformats.org/drawingml/2006/main">
              <a:ext uri="{FF2B5EF4-FFF2-40B4-BE49-F238E27FC236}">
                <a16:creationId xmlns:a16="http://schemas.microsoft.com/office/drawing/2014/main" id="{34D1487E-39F4-4923-90AD-3F8D33D527F1}"/>
              </a:ext>
            </a:extLst>
          </p:cNvPr>
          <p:cNvSpPr>
            <a:spLocks xmlns:a="http://schemas.openxmlformats.org/drawingml/2006/main" noGrp="1"/>
          </p:cNvSpPr>
          <p:nvPr/>
        </p:nvSpPr>
        <p:spPr>
          <a:xfrm xmlns:a="http://schemas.openxmlformats.org/drawingml/2006/main">
            <a:off x="2663190" y="2571750"/>
            <a:ext cx="1801919"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3" name="">
            <a:extLst xmlns:a="http://schemas.openxmlformats.org/drawingml/2006/main">
              <a:ext uri="{FF2B5EF4-FFF2-40B4-BE49-F238E27FC236}">
                <a16:creationId xmlns:a16="http://schemas.microsoft.com/office/drawing/2014/main" id="{88E990B4-2F65-4EA5-8567-DE6FB50DC801}"/>
              </a:ext>
            </a:extLst>
          </p:cNvPr>
          <p:cNvSpPr>
            <a:spLocks xmlns:a="http://schemas.openxmlformats.org/drawingml/2006/main" noGrp="1"/>
          </p:cNvSpPr>
          <p:nvPr/>
        </p:nvSpPr>
        <p:spPr>
          <a:xfrm xmlns:a="http://schemas.openxmlformats.org/drawingml/2006/main">
            <a:off x="4926330" y="2533650"/>
            <a:ext cx="6172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0.071</a:t>
            </a:r>
          </a:p>
        </p:txBody>
      </p:sp>
      <p:sp>
        <p:nvSpPr>
          <p:cNvPr id="14" name="">
            <a:extLst xmlns:a="http://schemas.openxmlformats.org/drawingml/2006/main">
              <a:ext uri="{FF2B5EF4-FFF2-40B4-BE49-F238E27FC236}">
                <a16:creationId xmlns:a16="http://schemas.microsoft.com/office/drawing/2014/main" id="{B2404770-C1F3-48C5-B1AB-3B4007D72BB6}"/>
              </a:ext>
            </a:extLst>
          </p:cNvPr>
          <p:cNvSpPr>
            <a:spLocks xmlns:a="http://schemas.openxmlformats.org/drawingml/2006/main" noGrp="1"/>
          </p:cNvSpPr>
          <p:nvPr/>
        </p:nvSpPr>
        <p:spPr>
          <a:xfrm xmlns:a="http://schemas.openxmlformats.org/drawingml/2006/main">
            <a:off x="400050" y="3162300"/>
            <a:ext cx="216027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RDST</a:t>
            </a:r>
          </a:p>
        </p:txBody>
      </p:sp>
      <p:sp>
        <p:nvSpPr>
          <p:cNvPr id="15" name="">
            <a:extLst xmlns:a="http://schemas.openxmlformats.org/drawingml/2006/main">
              <a:ext uri="{FF2B5EF4-FFF2-40B4-BE49-F238E27FC236}">
                <a16:creationId xmlns:a16="http://schemas.microsoft.com/office/drawing/2014/main" id="{D261A3BC-9EC5-41D3-A188-EA2ED2679DAD}"/>
              </a:ext>
            </a:extLst>
          </p:cNvPr>
          <p:cNvSpPr>
            <a:spLocks xmlns:a="http://schemas.openxmlformats.org/drawingml/2006/main" noGrp="1"/>
          </p:cNvSpPr>
          <p:nvPr/>
        </p:nvSpPr>
        <p:spPr>
          <a:xfrm xmlns:a="http://schemas.openxmlformats.org/drawingml/2006/main">
            <a:off x="2663190" y="3200400"/>
            <a:ext cx="216027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6" name="">
            <a:extLst xmlns:a="http://schemas.openxmlformats.org/drawingml/2006/main">
              <a:ext uri="{FF2B5EF4-FFF2-40B4-BE49-F238E27FC236}">
                <a16:creationId xmlns:a16="http://schemas.microsoft.com/office/drawing/2014/main" id="{8DB25EB1-40FB-4F9F-92D8-71DB74A92A6E}"/>
              </a:ext>
            </a:extLst>
          </p:cNvPr>
          <p:cNvSpPr>
            <a:spLocks xmlns:a="http://schemas.openxmlformats.org/drawingml/2006/main" noGrp="1"/>
          </p:cNvSpPr>
          <p:nvPr/>
        </p:nvSpPr>
        <p:spPr>
          <a:xfrm xmlns:a="http://schemas.openxmlformats.org/drawingml/2006/main">
            <a:off x="2663190" y="3200400"/>
            <a:ext cx="1557936"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17" name="">
            <a:extLst xmlns:a="http://schemas.openxmlformats.org/drawingml/2006/main">
              <a:ext uri="{FF2B5EF4-FFF2-40B4-BE49-F238E27FC236}">
                <a16:creationId xmlns:a16="http://schemas.microsoft.com/office/drawing/2014/main" id="{3CE46BC2-3382-4871-B23E-7004E96D7F46}"/>
              </a:ext>
            </a:extLst>
          </p:cNvPr>
          <p:cNvSpPr>
            <a:spLocks xmlns:a="http://schemas.openxmlformats.org/drawingml/2006/main" noGrp="1"/>
          </p:cNvSpPr>
          <p:nvPr/>
        </p:nvSpPr>
        <p:spPr>
          <a:xfrm xmlns:a="http://schemas.openxmlformats.org/drawingml/2006/main">
            <a:off x="4926330" y="3162300"/>
            <a:ext cx="6172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0.061</a:t>
            </a:r>
          </a:p>
        </p:txBody>
      </p:sp>
      <p:sp>
        <p:nvSpPr>
          <p:cNvPr id="18" name="">
            <a:extLst xmlns:a="http://schemas.openxmlformats.org/drawingml/2006/main">
              <a:ext uri="{FF2B5EF4-FFF2-40B4-BE49-F238E27FC236}">
                <a16:creationId xmlns:a16="http://schemas.microsoft.com/office/drawing/2014/main" id="{76B74BA1-F6FB-4809-A68F-AAF54BD8A16D}"/>
              </a:ext>
            </a:extLst>
          </p:cNvPr>
          <p:cNvSpPr>
            <a:spLocks xmlns:a="http://schemas.openxmlformats.org/drawingml/2006/main" noGrp="1"/>
          </p:cNvSpPr>
          <p:nvPr/>
        </p:nvSpPr>
        <p:spPr>
          <a:xfrm xmlns:a="http://schemas.openxmlformats.org/drawingml/2006/main">
            <a:off x="6229350" y="14287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50505"/>
                </a:solidFill>
                <a:latin typeface="Arial"/>
                <a:ea typeface="Arial"/>
                <a:cs typeface="Arial"/>
              </a:defRPr>
            </a:pPr>
            <a:r>
              <a:rPr sz="1500" b="1" i="0">
                <a:solidFill>
                  <a:srgbClr val="050505"/>
                </a:solidFill>
                <a:latin typeface="Arial"/>
                <a:ea typeface="Arial"/>
                <a:cs typeface="Arial"/>
              </a:rPr>
              <a:t>Ensemble 2 · CNN + MOMENT + Catch22</a:t>
            </a:r>
          </a:p>
        </p:txBody>
      </p:sp>
      <p:sp>
        <p:nvSpPr>
          <p:cNvPr id="19" name="">
            <a:extLst xmlns:a="http://schemas.openxmlformats.org/drawingml/2006/main">
              <a:ext uri="{FF2B5EF4-FFF2-40B4-BE49-F238E27FC236}">
                <a16:creationId xmlns:a16="http://schemas.microsoft.com/office/drawing/2014/main" id="{0A1C3B31-F7CD-4331-8766-C903A2D328C7}"/>
              </a:ext>
            </a:extLst>
          </p:cNvPr>
          <p:cNvSpPr>
            <a:spLocks xmlns:a="http://schemas.openxmlformats.org/drawingml/2006/main" noGrp="1"/>
          </p:cNvSpPr>
          <p:nvPr/>
        </p:nvSpPr>
        <p:spPr>
          <a:xfrm xmlns:a="http://schemas.openxmlformats.org/drawingml/2006/main">
            <a:off x="6229350" y="1905000"/>
            <a:ext cx="222427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MOMENT</a:t>
            </a:r>
          </a:p>
        </p:txBody>
      </p:sp>
      <p:sp>
        <p:nvSpPr>
          <p:cNvPr id="20" name="">
            <a:extLst xmlns:a="http://schemas.openxmlformats.org/drawingml/2006/main">
              <a:ext uri="{FF2B5EF4-FFF2-40B4-BE49-F238E27FC236}">
                <a16:creationId xmlns:a16="http://schemas.microsoft.com/office/drawing/2014/main" id="{F9A791BC-52CE-417D-B688-DE69BDD5EDF9}"/>
              </a:ext>
            </a:extLst>
          </p:cNvPr>
          <p:cNvSpPr>
            <a:spLocks xmlns:a="http://schemas.openxmlformats.org/drawingml/2006/main" noGrp="1"/>
          </p:cNvSpPr>
          <p:nvPr/>
        </p:nvSpPr>
        <p:spPr>
          <a:xfrm xmlns:a="http://schemas.openxmlformats.org/drawingml/2006/main">
            <a:off x="8559546" y="1943100"/>
            <a:ext cx="2224278"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1" name="">
            <a:extLst xmlns:a="http://schemas.openxmlformats.org/drawingml/2006/main">
              <a:ext uri="{FF2B5EF4-FFF2-40B4-BE49-F238E27FC236}">
                <a16:creationId xmlns:a16="http://schemas.microsoft.com/office/drawing/2014/main" id="{9FA1B2F3-FCD6-4036-B59E-C867644103AC}"/>
              </a:ext>
            </a:extLst>
          </p:cNvPr>
          <p:cNvSpPr>
            <a:spLocks xmlns:a="http://schemas.openxmlformats.org/drawingml/2006/main" noGrp="1"/>
          </p:cNvSpPr>
          <p:nvPr/>
        </p:nvSpPr>
        <p:spPr>
          <a:xfrm xmlns:a="http://schemas.openxmlformats.org/drawingml/2006/main">
            <a:off x="8559546" y="1943100"/>
            <a:ext cx="1949514"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22" name="">
            <a:extLst xmlns:a="http://schemas.openxmlformats.org/drawingml/2006/main">
              <a:ext uri="{FF2B5EF4-FFF2-40B4-BE49-F238E27FC236}">
                <a16:creationId xmlns:a16="http://schemas.microsoft.com/office/drawing/2014/main" id="{F30C3977-78EF-4280-99EB-F2AB1B44C258}"/>
              </a:ext>
            </a:extLst>
          </p:cNvPr>
          <p:cNvSpPr>
            <a:spLocks xmlns:a="http://schemas.openxmlformats.org/drawingml/2006/main" noGrp="1"/>
          </p:cNvSpPr>
          <p:nvPr/>
        </p:nvSpPr>
        <p:spPr>
          <a:xfrm xmlns:a="http://schemas.openxmlformats.org/drawingml/2006/main">
            <a:off x="10889742" y="1905000"/>
            <a:ext cx="635508"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0.074</a:t>
            </a:r>
          </a:p>
        </p:txBody>
      </p:sp>
      <p:sp>
        <p:nvSpPr>
          <p:cNvPr id="23" name="">
            <a:extLst xmlns:a="http://schemas.openxmlformats.org/drawingml/2006/main">
              <a:ext uri="{FF2B5EF4-FFF2-40B4-BE49-F238E27FC236}">
                <a16:creationId xmlns:a16="http://schemas.microsoft.com/office/drawing/2014/main" id="{22349B7D-66B6-4D78-BC0E-88031B248DF1}"/>
              </a:ext>
            </a:extLst>
          </p:cNvPr>
          <p:cNvSpPr>
            <a:spLocks xmlns:a="http://schemas.openxmlformats.org/drawingml/2006/main" noGrp="1"/>
          </p:cNvSpPr>
          <p:nvPr/>
        </p:nvSpPr>
        <p:spPr>
          <a:xfrm xmlns:a="http://schemas.openxmlformats.org/drawingml/2006/main">
            <a:off x="6229350" y="2533650"/>
            <a:ext cx="222427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CNN</a:t>
            </a:r>
          </a:p>
        </p:txBody>
      </p:sp>
      <p:sp>
        <p:nvSpPr>
          <p:cNvPr id="24" name="">
            <a:extLst xmlns:a="http://schemas.openxmlformats.org/drawingml/2006/main">
              <a:ext uri="{FF2B5EF4-FFF2-40B4-BE49-F238E27FC236}">
                <a16:creationId xmlns:a16="http://schemas.microsoft.com/office/drawing/2014/main" id="{6F8E95B7-FAAC-4867-9CB4-6DC8C0708518}"/>
              </a:ext>
            </a:extLst>
          </p:cNvPr>
          <p:cNvSpPr>
            <a:spLocks xmlns:a="http://schemas.openxmlformats.org/drawingml/2006/main" noGrp="1"/>
          </p:cNvSpPr>
          <p:nvPr/>
        </p:nvSpPr>
        <p:spPr>
          <a:xfrm xmlns:a="http://schemas.openxmlformats.org/drawingml/2006/main">
            <a:off x="8559546" y="2571750"/>
            <a:ext cx="2224278"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5" name="">
            <a:extLst xmlns:a="http://schemas.openxmlformats.org/drawingml/2006/main">
              <a:ext uri="{FF2B5EF4-FFF2-40B4-BE49-F238E27FC236}">
                <a16:creationId xmlns:a16="http://schemas.microsoft.com/office/drawing/2014/main" id="{FFA1E7C0-3176-4C16-9303-6E3A0EF1F454}"/>
              </a:ext>
            </a:extLst>
          </p:cNvPr>
          <p:cNvSpPr>
            <a:spLocks xmlns:a="http://schemas.openxmlformats.org/drawingml/2006/main" noGrp="1"/>
          </p:cNvSpPr>
          <p:nvPr/>
        </p:nvSpPr>
        <p:spPr>
          <a:xfrm xmlns:a="http://schemas.openxmlformats.org/drawingml/2006/main">
            <a:off x="8559546" y="2571750"/>
            <a:ext cx="1946897"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26" name="">
            <a:extLst xmlns:a="http://schemas.openxmlformats.org/drawingml/2006/main">
              <a:ext uri="{FF2B5EF4-FFF2-40B4-BE49-F238E27FC236}">
                <a16:creationId xmlns:a16="http://schemas.microsoft.com/office/drawing/2014/main" id="{45A5C9CD-B8CC-4FD5-9D50-29D8EEC254D0}"/>
              </a:ext>
            </a:extLst>
          </p:cNvPr>
          <p:cNvSpPr>
            <a:spLocks xmlns:a="http://schemas.openxmlformats.org/drawingml/2006/main" noGrp="1"/>
          </p:cNvSpPr>
          <p:nvPr/>
        </p:nvSpPr>
        <p:spPr>
          <a:xfrm xmlns:a="http://schemas.openxmlformats.org/drawingml/2006/main">
            <a:off x="10889742" y="2533650"/>
            <a:ext cx="635508"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0.074</a:t>
            </a:r>
          </a:p>
        </p:txBody>
      </p:sp>
      <p:sp>
        <p:nvSpPr>
          <p:cNvPr id="27" name="">
            <a:extLst xmlns:a="http://schemas.openxmlformats.org/drawingml/2006/main">
              <a:ext uri="{FF2B5EF4-FFF2-40B4-BE49-F238E27FC236}">
                <a16:creationId xmlns:a16="http://schemas.microsoft.com/office/drawing/2014/main" id="{36989FAE-CD13-4DB4-B7F0-B53BDF6CE7F2}"/>
              </a:ext>
            </a:extLst>
          </p:cNvPr>
          <p:cNvSpPr>
            <a:spLocks xmlns:a="http://schemas.openxmlformats.org/drawingml/2006/main" noGrp="1"/>
          </p:cNvSpPr>
          <p:nvPr/>
        </p:nvSpPr>
        <p:spPr>
          <a:xfrm xmlns:a="http://schemas.openxmlformats.org/drawingml/2006/main">
            <a:off x="6229350" y="3162300"/>
            <a:ext cx="222427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Catch22</a:t>
            </a:r>
          </a:p>
        </p:txBody>
      </p:sp>
      <p:sp>
        <p:nvSpPr>
          <p:cNvPr id="28" name="">
            <a:extLst xmlns:a="http://schemas.openxmlformats.org/drawingml/2006/main">
              <a:ext uri="{FF2B5EF4-FFF2-40B4-BE49-F238E27FC236}">
                <a16:creationId xmlns:a16="http://schemas.microsoft.com/office/drawing/2014/main" id="{F0248CB4-07E6-4100-87A7-133E72F7AB98}"/>
              </a:ext>
            </a:extLst>
          </p:cNvPr>
          <p:cNvSpPr>
            <a:spLocks xmlns:a="http://schemas.openxmlformats.org/drawingml/2006/main" noGrp="1"/>
          </p:cNvSpPr>
          <p:nvPr/>
        </p:nvSpPr>
        <p:spPr>
          <a:xfrm xmlns:a="http://schemas.openxmlformats.org/drawingml/2006/main">
            <a:off x="8559546" y="3200400"/>
            <a:ext cx="2224278"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9" name="">
            <a:extLst xmlns:a="http://schemas.openxmlformats.org/drawingml/2006/main">
              <a:ext uri="{FF2B5EF4-FFF2-40B4-BE49-F238E27FC236}">
                <a16:creationId xmlns:a16="http://schemas.microsoft.com/office/drawing/2014/main" id="{BDA12D7D-2790-4E1E-9C20-C7A933289670}"/>
              </a:ext>
            </a:extLst>
          </p:cNvPr>
          <p:cNvSpPr>
            <a:spLocks xmlns:a="http://schemas.openxmlformats.org/drawingml/2006/main" noGrp="1"/>
          </p:cNvSpPr>
          <p:nvPr/>
        </p:nvSpPr>
        <p:spPr>
          <a:xfrm xmlns:a="http://schemas.openxmlformats.org/drawingml/2006/main">
            <a:off x="8559546" y="3200400"/>
            <a:ext cx="1282231"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30" name="">
            <a:extLst xmlns:a="http://schemas.openxmlformats.org/drawingml/2006/main">
              <a:ext uri="{FF2B5EF4-FFF2-40B4-BE49-F238E27FC236}">
                <a16:creationId xmlns:a16="http://schemas.microsoft.com/office/drawing/2014/main" id="{999471B2-6AB5-4B66-BF8C-A2D7DD5ED961}"/>
              </a:ext>
            </a:extLst>
          </p:cNvPr>
          <p:cNvSpPr>
            <a:spLocks xmlns:a="http://schemas.openxmlformats.org/drawingml/2006/main" noGrp="1"/>
          </p:cNvSpPr>
          <p:nvPr/>
        </p:nvSpPr>
        <p:spPr>
          <a:xfrm xmlns:a="http://schemas.openxmlformats.org/drawingml/2006/main">
            <a:off x="10889742" y="3162300"/>
            <a:ext cx="635508"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0.049</a:t>
            </a:r>
          </a:p>
        </p:txBody>
      </p:sp>
      <p:sp>
        <p:nvSpPr>
          <p:cNvPr id="31" name="">
            <a:extLst xmlns:a="http://schemas.openxmlformats.org/drawingml/2006/main">
              <a:ext uri="{FF2B5EF4-FFF2-40B4-BE49-F238E27FC236}">
                <a16:creationId xmlns:a16="http://schemas.microsoft.com/office/drawing/2014/main" id="{C309E9CF-87DC-45C8-9ADC-51EDF140AC8B}"/>
              </a:ext>
            </a:extLst>
          </p:cNvPr>
          <p:cNvSpPr>
            <a:spLocks xmlns:a="http://schemas.openxmlformats.org/drawingml/2006/main" noGrp="1"/>
          </p:cNvSpPr>
          <p:nvPr/>
        </p:nvSpPr>
        <p:spPr>
          <a:xfrm xmlns:a="http://schemas.openxmlformats.org/drawingml/2006/main">
            <a:off x="1066800" y="4305300"/>
            <a:ext cx="10058400" cy="1219200"/>
          </a:xfrm>
          <a:prstGeom xmlns:a="http://schemas.openxmlformats.org/drawingml/2006/main" prst="roundRect">
            <a:avLst>
              <a:gd name="adj" fmla="val 9375"/>
            </a:avLst>
          </a:prstGeom>
          <a:solidFill xmlns:a="http://schemas.openxmlformats.org/drawingml/2006/main">
            <a:srgbClr val="EDEDED"/>
          </a:solidFill>
          <a:ln xmlns:a="http://schemas.openxmlformats.org/drawingml/2006/main" w="0">
            <a:solidFill>
              <a:srgbClr val="EDEDED"/>
            </a:solidFill>
            <a:prstDash val="solid"/>
          </a:ln>
        </p:spPr>
      </p:sp>
      <p:sp>
        <p:nvSpPr>
          <p:cNvPr id="32" name="">
            <a:extLst xmlns:a="http://schemas.openxmlformats.org/drawingml/2006/main">
              <a:ext uri="{FF2B5EF4-FFF2-40B4-BE49-F238E27FC236}">
                <a16:creationId xmlns:a16="http://schemas.microsoft.com/office/drawing/2014/main" id="{417E7373-4471-4A9A-88EF-E24299216827}"/>
              </a:ext>
            </a:extLst>
          </p:cNvPr>
          <p:cNvSpPr>
            <a:spLocks xmlns:a="http://schemas.openxmlformats.org/drawingml/2006/main" noGrp="1"/>
          </p:cNvSpPr>
          <p:nvPr/>
        </p:nvSpPr>
        <p:spPr>
          <a:xfrm xmlns:a="http://schemas.openxmlformats.org/drawingml/2006/main">
            <a:off x="1276350" y="45148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D8DFF"/>
                </a:solidFill>
                <a:latin typeface="Arial"/>
                <a:ea typeface="Arial"/>
                <a:cs typeface="Arial"/>
              </a:defRPr>
            </a:pPr>
            <a:r>
              <a:rPr sz="1350" b="1" i="0">
                <a:solidFill>
                  <a:srgbClr val="3D8DFF"/>
                </a:solidFill>
                <a:latin typeface="Arial"/>
                <a:ea typeface="Arial"/>
                <a:cs typeface="Arial"/>
              </a:rPr>
              <a:t>AUC Shapley contribution</a:t>
            </a:r>
          </a:p>
        </p:txBody>
      </p:sp>
      <p:sp>
        <p:nvSpPr>
          <p:cNvPr id="33" name="">
            <a:extLst xmlns:a="http://schemas.openxmlformats.org/drawingml/2006/main">
              <a:ext uri="{FF2B5EF4-FFF2-40B4-BE49-F238E27FC236}">
                <a16:creationId xmlns:a16="http://schemas.microsoft.com/office/drawing/2014/main" id="{50B20C34-8F2A-441A-B207-9FA10B3CD85D}"/>
              </a:ext>
            </a:extLst>
          </p:cNvPr>
          <p:cNvSpPr>
            <a:spLocks xmlns:a="http://schemas.openxmlformats.org/drawingml/2006/main" noGrp="1"/>
          </p:cNvSpPr>
          <p:nvPr/>
        </p:nvSpPr>
        <p:spPr>
          <a:xfrm xmlns:a="http://schemas.openxmlformats.org/drawingml/2006/main">
            <a:off x="3924300" y="4476750"/>
            <a:ext cx="695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50505"/>
                </a:solidFill>
                <a:latin typeface="Arial"/>
                <a:ea typeface="Arial"/>
                <a:cs typeface="Arial"/>
              </a:defRPr>
            </a:pPr>
            <a:r>
              <a:rPr sz="1350" b="0" i="0">
                <a:solidFill>
                  <a:srgbClr val="050505"/>
                </a:solidFill>
                <a:latin typeface="Arial"/>
                <a:ea typeface="Arial"/>
                <a:cs typeface="Arial"/>
              </a:rPr>
              <a:t>The values are similar across components because the models share useful signal and add complementary residual information. Catch22 adds almost no unique AUC by leave-one-out, but adds ~0.011 AP.</a:t>
            </a:r>
          </a:p>
        </p:txBody>
      </p:sp>
      <p:sp>
        <p:nvSpPr>
          <p:cNvPr id="34" name="">
            <a:extLst xmlns:a="http://schemas.openxmlformats.org/drawingml/2006/main">
              <a:ext uri="{FF2B5EF4-FFF2-40B4-BE49-F238E27FC236}">
                <a16:creationId xmlns:a16="http://schemas.microsoft.com/office/drawing/2014/main" id="{19DE2E77-00FE-40FC-BE32-0D3D60E905E4}"/>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exact subset Shapley values from held-out OOF predictions</a:t>
            </a:r>
          </a:p>
        </p:txBody>
      </p:sp>
    </p:spTree>
    <p:extLst>
      <p:ext uri="{BB962C8B-B14F-4D97-AF65-F5344CB8AC3E}">
        <p14:creationId xmlns:p14="http://schemas.microsoft.com/office/powerpoint/2010/main" val="2072850728"/>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2D07F5-C41A-44E6-A421-9D2CADBFB377}"/>
              </a:ext>
            </a:extLst>
          </p:cNvPr>
          <p:cNvSpPr>
            <a:spLocks xmlns:a="http://schemas.openxmlformats.org/drawingml/2006/main" noGrp="1"/>
          </p:cNvSpPr>
          <p:nvPr/>
        </p:nvSpPr>
        <p:spPr>
          <a:xfrm xmlns:a="http://schemas.openxmlformats.org/drawingml/2006/main">
            <a:off x="552450" y="533400"/>
            <a:ext cx="2286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600" b="1" i="0">
                <a:solidFill>
                  <a:srgbClr val="6DCBF4"/>
                </a:solidFill>
                <a:latin typeface="Arial"/>
                <a:ea typeface="Arial"/>
                <a:cs typeface="Arial"/>
              </a:defRPr>
            </a:pPr>
            <a:r>
              <a:rPr sz="9600" b="1" i="0">
                <a:solidFill>
                  <a:srgbClr val="6DCBF4"/>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28D693ED-2A5F-43FD-B883-45534C752617}"/>
              </a:ext>
            </a:extLst>
          </p:cNvPr>
          <p:cNvSpPr>
            <a:spLocks xmlns:a="http://schemas.openxmlformats.org/drawingml/2006/main" noGrp="1"/>
          </p:cNvSpPr>
          <p:nvPr/>
        </p:nvSpPr>
        <p:spPr>
          <a:xfrm xmlns:a="http://schemas.openxmlformats.org/drawingml/2006/main">
            <a:off x="552450" y="272415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i="0">
                <a:solidFill>
                  <a:srgbClr val="FFFFFF"/>
                </a:solidFill>
                <a:latin typeface="Arial"/>
                <a:ea typeface="Arial"/>
                <a:cs typeface="Arial"/>
              </a:defRPr>
            </a:pPr>
            <a:r>
              <a:rPr sz="4200" b="1" i="0">
                <a:solidFill>
                  <a:srgbClr val="FFFFFF"/>
                </a:solidFill>
                <a:latin typeface="Arial"/>
                <a:ea typeface="Arial"/>
                <a:cs typeface="Arial"/>
              </a:rPr>
              <a:t>Attention CNN</a:t>
            </a:r>
          </a:p>
        </p:txBody>
      </p:sp>
      <p:sp>
        <p:nvSpPr>
          <p:cNvPr id="3" name="">
            <a:extLst xmlns:a="http://schemas.openxmlformats.org/drawingml/2006/main">
              <a:ext uri="{FF2B5EF4-FFF2-40B4-BE49-F238E27FC236}">
                <a16:creationId xmlns:a16="http://schemas.microsoft.com/office/drawing/2014/main" id="{90614421-6CEC-4970-98C1-F7CBB00AE44C}"/>
              </a:ext>
            </a:extLst>
          </p:cNvPr>
          <p:cNvSpPr>
            <a:spLocks xmlns:a="http://schemas.openxmlformats.org/drawingml/2006/main" noGrp="1"/>
          </p:cNvSpPr>
          <p:nvPr/>
        </p:nvSpPr>
        <p:spPr>
          <a:xfrm xmlns:a="http://schemas.openxmlformats.org/drawingml/2006/main">
            <a:off x="552450" y="4095750"/>
            <a:ext cx="942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B8BCC4"/>
                </a:solidFill>
                <a:latin typeface="Arial"/>
                <a:ea typeface="Arial"/>
                <a:cs typeface="Arial"/>
              </a:defRPr>
            </a:pPr>
            <a:r>
              <a:rPr sz="1800" b="0" i="0">
                <a:solidFill>
                  <a:srgbClr val="B8BCC4"/>
                </a:solidFill>
                <a:latin typeface="Arial"/>
                <a:ea typeface="Arial"/>
                <a:cs typeface="Arial"/>
              </a:rPr>
              <a:t>A compact supervised model that learns local curve motifs per segment, then combines them with clinical and variability scalars.</a:t>
            </a:r>
          </a:p>
        </p:txBody>
      </p:sp>
      <p:sp>
        <p:nvSpPr>
          <p:cNvPr id="4" name="">
            <a:extLst xmlns:a="http://schemas.openxmlformats.org/drawingml/2006/main">
              <a:ext uri="{FF2B5EF4-FFF2-40B4-BE49-F238E27FC236}">
                <a16:creationId xmlns:a16="http://schemas.microsoft.com/office/drawing/2014/main" id="{D76363F6-C49C-4533-A96F-F404925DB725}"/>
              </a:ext>
            </a:extLst>
          </p:cNvPr>
          <p:cNvSpPr>
            <a:spLocks xmlns:a="http://schemas.openxmlformats.org/drawingml/2006/main" noGrp="1"/>
          </p:cNvSpPr>
          <p:nvPr/>
        </p:nvSpPr>
        <p:spPr>
          <a:xfrm xmlns:a="http://schemas.openxmlformats.org/drawingml/2006/main">
            <a:off x="552450" y="5562600"/>
            <a:ext cx="11068050" cy="0"/>
          </a:xfrm>
          <a:prstGeom xmlns:a="http://schemas.openxmlformats.org/drawingml/2006/main" prst="line">
            <a:avLst/>
          </a:prstGeom>
          <a:noFill xmlns:a="http://schemas.openxmlformats.org/drawingml/2006/main"/>
          <a:ln xmlns:a="http://schemas.openxmlformats.org/drawingml/2006/main" w="38100">
            <a:solidFill>
              <a:srgbClr val="6DCBF4"/>
            </a:solidFill>
            <a:prstDash val="solid"/>
          </a:ln>
        </p:spPr>
      </p:sp>
      <p:sp>
        <p:nvSpPr>
          <p:cNvPr id="5" name="">
            <a:extLst xmlns:a="http://schemas.openxmlformats.org/drawingml/2006/main">
              <a:ext uri="{FF2B5EF4-FFF2-40B4-BE49-F238E27FC236}">
                <a16:creationId xmlns:a16="http://schemas.microsoft.com/office/drawing/2014/main" id="{B72698F8-2F8E-440F-BDB0-D7B3B742F865}"/>
              </a:ext>
            </a:extLst>
          </p:cNvPr>
          <p:cNvSpPr>
            <a:spLocks xmlns:a="http://schemas.openxmlformats.org/drawingml/2006/main" noGrp="1"/>
          </p:cNvSpPr>
          <p:nvPr/>
        </p:nvSpPr>
        <p:spPr>
          <a:xfrm xmlns:a="http://schemas.openxmlformats.org/drawingml/2006/main">
            <a:off x="552450" y="590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DCBF4"/>
                </a:solidFill>
                <a:latin typeface="Arial"/>
                <a:ea typeface="Arial"/>
                <a:cs typeface="Arial"/>
              </a:defRPr>
            </a:pPr>
            <a:r>
              <a:rPr sz="975" b="1" i="0">
                <a:solidFill>
                  <a:srgbClr val="6DCBF4"/>
                </a:solidFill>
                <a:latin typeface="Arial"/>
                <a:ea typeface="Arial"/>
                <a:cs typeface="Arial"/>
              </a:rPr>
              <a:t>MODEL 01</a:t>
            </a:r>
          </a:p>
        </p:txBody>
      </p:sp>
    </p:spTree>
    <p:extLst>
      <p:ext uri="{BB962C8B-B14F-4D97-AF65-F5344CB8AC3E}">
        <p14:creationId xmlns:p14="http://schemas.microsoft.com/office/powerpoint/2010/main" val="18987730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E8DECB5-4536-4A9F-A3D8-BBA89FC594AA}"/>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ATTENTION CNN</a:t>
            </a:r>
          </a:p>
        </p:txBody>
      </p:sp>
      <p:sp>
        <p:nvSpPr>
          <p:cNvPr id="2" name="">
            <a:extLst xmlns:a="http://schemas.openxmlformats.org/drawingml/2006/main">
              <a:ext uri="{FF2B5EF4-FFF2-40B4-BE49-F238E27FC236}">
                <a16:creationId xmlns:a16="http://schemas.microsoft.com/office/drawing/2014/main" id="{68ED268C-D271-42C1-B1E1-C083CE4913F2}"/>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CNN architecture and exact dimensions</a:t>
            </a:r>
          </a:p>
        </p:txBody>
      </p:sp>
      <p:sp>
        <p:nvSpPr>
          <p:cNvPr id="3" name="">
            <a:extLst xmlns:a="http://schemas.openxmlformats.org/drawingml/2006/main">
              <a:ext uri="{FF2B5EF4-FFF2-40B4-BE49-F238E27FC236}">
                <a16:creationId xmlns:a16="http://schemas.microsoft.com/office/drawing/2014/main" id="{6ABB339D-A5CD-4180-95D2-AC4127CC7BAC}"/>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2F8A77A-746E-4030-B01A-235F7BC9841D}"/>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B416A9A-372E-4877-9BB9-F3F73F64158D}"/>
              </a:ext>
            </a:extLst>
          </p:cNvPr>
          <p:cNvSpPr>
            <a:spLocks xmlns:a="http://schemas.openxmlformats.org/drawingml/2006/main" noGrp="1"/>
          </p:cNvSpPr>
          <p:nvPr/>
        </p:nvSpPr>
        <p:spPr>
          <a:xfrm xmlns:a="http://schemas.openxmlformats.org/drawingml/2006/main">
            <a:off x="2630805" y="21812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6" name="">
            <a:extLst xmlns:a="http://schemas.openxmlformats.org/drawingml/2006/main">
              <a:ext uri="{FF2B5EF4-FFF2-40B4-BE49-F238E27FC236}">
                <a16:creationId xmlns:a16="http://schemas.microsoft.com/office/drawing/2014/main" id="{7B0FF615-100C-4331-A5E7-512433E19781}"/>
              </a:ext>
            </a:extLst>
          </p:cNvPr>
          <p:cNvSpPr>
            <a:spLocks xmlns:a="http://schemas.openxmlformats.org/drawingml/2006/main" noGrp="1"/>
          </p:cNvSpPr>
          <p:nvPr/>
        </p:nvSpPr>
        <p:spPr>
          <a:xfrm xmlns:a="http://schemas.openxmlformats.org/drawingml/2006/main">
            <a:off x="4890135" y="21812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
            <a:extLst xmlns:a="http://schemas.openxmlformats.org/drawingml/2006/main">
              <a:ext uri="{FF2B5EF4-FFF2-40B4-BE49-F238E27FC236}">
                <a16:creationId xmlns:a16="http://schemas.microsoft.com/office/drawing/2014/main" id="{CB4A5CB1-C6F5-491A-AE1D-635E1099B66F}"/>
              </a:ext>
            </a:extLst>
          </p:cNvPr>
          <p:cNvSpPr>
            <a:spLocks xmlns:a="http://schemas.openxmlformats.org/drawingml/2006/main" noGrp="1"/>
          </p:cNvSpPr>
          <p:nvPr/>
        </p:nvSpPr>
        <p:spPr>
          <a:xfrm xmlns:a="http://schemas.openxmlformats.org/drawingml/2006/main">
            <a:off x="7149465" y="21812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8" name="">
            <a:extLst xmlns:a="http://schemas.openxmlformats.org/drawingml/2006/main">
              <a:ext uri="{FF2B5EF4-FFF2-40B4-BE49-F238E27FC236}">
                <a16:creationId xmlns:a16="http://schemas.microsoft.com/office/drawing/2014/main" id="{88467BBB-1009-4B01-8422-1F5F9E1CEBC4}"/>
              </a:ext>
            </a:extLst>
          </p:cNvPr>
          <p:cNvSpPr>
            <a:spLocks xmlns:a="http://schemas.openxmlformats.org/drawingml/2006/main" noGrp="1"/>
          </p:cNvSpPr>
          <p:nvPr/>
        </p:nvSpPr>
        <p:spPr>
          <a:xfrm xmlns:a="http://schemas.openxmlformats.org/drawingml/2006/main">
            <a:off x="9408795" y="21812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9" name="">
            <a:extLst xmlns:a="http://schemas.openxmlformats.org/drawingml/2006/main">
              <a:ext uri="{FF2B5EF4-FFF2-40B4-BE49-F238E27FC236}">
                <a16:creationId xmlns:a16="http://schemas.microsoft.com/office/drawing/2014/main" id="{F9FF735B-5F3B-4D29-A9E2-FD39051325A9}"/>
              </a:ext>
            </a:extLst>
          </p:cNvPr>
          <p:cNvSpPr>
            <a:spLocks xmlns:a="http://schemas.openxmlformats.org/drawingml/2006/main" noGrp="1"/>
          </p:cNvSpPr>
          <p:nvPr/>
        </p:nvSpPr>
        <p:spPr>
          <a:xfrm xmlns:a="http://schemas.openxmlformats.org/drawingml/2006/main">
            <a:off x="552450" y="1619250"/>
            <a:ext cx="2049780" cy="1123950"/>
          </a:xfrm>
          <a:prstGeom xmlns:a="http://schemas.openxmlformats.org/drawingml/2006/main" prst="roundRect">
            <a:avLst>
              <a:gd name="adj" fmla="val 10169"/>
            </a:avLst>
          </a:prstGeom>
          <a:solidFill xmlns:a="http://schemas.openxmlformats.org/drawingml/2006/main">
            <a:srgbClr val="EAF5FF"/>
          </a:solidFill>
          <a:ln xmlns:a="http://schemas.openxmlformats.org/drawingml/2006/main" w="9525">
            <a:solidFill>
              <a:srgbClr val="EDEDED"/>
            </a:solidFill>
            <a:prstDash val="solid"/>
          </a:ln>
        </p:spPr>
      </p:sp>
      <p:sp>
        <p:nvSpPr>
          <p:cNvPr id="10" name="">
            <a:extLst xmlns:a="http://schemas.openxmlformats.org/drawingml/2006/main">
              <a:ext uri="{FF2B5EF4-FFF2-40B4-BE49-F238E27FC236}">
                <a16:creationId xmlns:a16="http://schemas.microsoft.com/office/drawing/2014/main" id="{A19A6ABE-47F1-4621-B46F-9C503303ED71}"/>
              </a:ext>
            </a:extLst>
          </p:cNvPr>
          <p:cNvSpPr>
            <a:spLocks xmlns:a="http://schemas.openxmlformats.org/drawingml/2006/main" noGrp="1"/>
          </p:cNvSpPr>
          <p:nvPr/>
        </p:nvSpPr>
        <p:spPr>
          <a:xfrm xmlns:a="http://schemas.openxmlformats.org/drawingml/2006/main">
            <a:off x="685800" y="17716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Per segment</a:t>
            </a:r>
          </a:p>
        </p:txBody>
      </p:sp>
      <p:sp>
        <p:nvSpPr>
          <p:cNvPr id="11" name="">
            <a:extLst xmlns:a="http://schemas.openxmlformats.org/drawingml/2006/main">
              <a:ext uri="{FF2B5EF4-FFF2-40B4-BE49-F238E27FC236}">
                <a16:creationId xmlns:a16="http://schemas.microsoft.com/office/drawing/2014/main" id="{8D1E4913-4B14-4CDD-8E17-0866AFF9E21D}"/>
              </a:ext>
            </a:extLst>
          </p:cNvPr>
          <p:cNvSpPr>
            <a:spLocks xmlns:a="http://schemas.openxmlformats.org/drawingml/2006/main" noGrp="1"/>
          </p:cNvSpPr>
          <p:nvPr/>
        </p:nvSpPr>
        <p:spPr>
          <a:xfrm xmlns:a="http://schemas.openxmlformats.org/drawingml/2006/main">
            <a:off x="685800" y="2133600"/>
            <a:ext cx="178308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[6, 96]</a:t>
            </a:r>
          </a:p>
        </p:txBody>
      </p:sp>
      <p:sp>
        <p:nvSpPr>
          <p:cNvPr id="12" name="">
            <a:extLst xmlns:a="http://schemas.openxmlformats.org/drawingml/2006/main">
              <a:ext uri="{FF2B5EF4-FFF2-40B4-BE49-F238E27FC236}">
                <a16:creationId xmlns:a16="http://schemas.microsoft.com/office/drawing/2014/main" id="{B8588735-2819-48E6-A5C7-EB8EE1F0DC21}"/>
              </a:ext>
            </a:extLst>
          </p:cNvPr>
          <p:cNvSpPr>
            <a:spLocks xmlns:a="http://schemas.openxmlformats.org/drawingml/2006/main" noGrp="1"/>
          </p:cNvSpPr>
          <p:nvPr/>
        </p:nvSpPr>
        <p:spPr>
          <a:xfrm xmlns:a="http://schemas.openxmlformats.org/drawingml/2006/main">
            <a:off x="2811780" y="1619250"/>
            <a:ext cx="2049780" cy="1123950"/>
          </a:xfrm>
          <a:prstGeom xmlns:a="http://schemas.openxmlformats.org/drawingml/2006/main" prst="roundRect">
            <a:avLst>
              <a:gd name="adj" fmla="val 10169"/>
            </a:avLst>
          </a:prstGeom>
          <a:solidFill xmlns:a="http://schemas.openxmlformats.org/drawingml/2006/main">
            <a:srgbClr val="E9FAFF"/>
          </a:solidFill>
          <a:ln xmlns:a="http://schemas.openxmlformats.org/drawingml/2006/main" w="9525">
            <a:solidFill>
              <a:srgbClr val="EDEDED"/>
            </a:solidFill>
            <a:prstDash val="solid"/>
          </a:ln>
        </p:spPr>
      </p:sp>
      <p:sp>
        <p:nvSpPr>
          <p:cNvPr id="13" name="">
            <a:extLst xmlns:a="http://schemas.openxmlformats.org/drawingml/2006/main">
              <a:ext uri="{FF2B5EF4-FFF2-40B4-BE49-F238E27FC236}">
                <a16:creationId xmlns:a16="http://schemas.microsoft.com/office/drawing/2014/main" id="{78ACB111-A8B2-4302-A41A-FED15CA29759}"/>
              </a:ext>
            </a:extLst>
          </p:cNvPr>
          <p:cNvSpPr>
            <a:spLocks xmlns:a="http://schemas.openxmlformats.org/drawingml/2006/main" noGrp="1"/>
          </p:cNvSpPr>
          <p:nvPr/>
        </p:nvSpPr>
        <p:spPr>
          <a:xfrm xmlns:a="http://schemas.openxmlformats.org/drawingml/2006/main">
            <a:off x="2945130" y="17716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Conv1D</a:t>
            </a:r>
          </a:p>
        </p:txBody>
      </p:sp>
      <p:sp>
        <p:nvSpPr>
          <p:cNvPr id="14" name="">
            <a:extLst xmlns:a="http://schemas.openxmlformats.org/drawingml/2006/main">
              <a:ext uri="{FF2B5EF4-FFF2-40B4-BE49-F238E27FC236}">
                <a16:creationId xmlns:a16="http://schemas.microsoft.com/office/drawing/2014/main" id="{AA727F1A-E185-4DD0-BC28-82D623BFFECC}"/>
              </a:ext>
            </a:extLst>
          </p:cNvPr>
          <p:cNvSpPr>
            <a:spLocks xmlns:a="http://schemas.openxmlformats.org/drawingml/2006/main" noGrp="1"/>
          </p:cNvSpPr>
          <p:nvPr/>
        </p:nvSpPr>
        <p:spPr>
          <a:xfrm xmlns:a="http://schemas.openxmlformats.org/drawingml/2006/main">
            <a:off x="2945130" y="2133600"/>
            <a:ext cx="178308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6→16 · k=7</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GELU</a:t>
            </a:r>
          </a:p>
        </p:txBody>
      </p:sp>
      <p:sp>
        <p:nvSpPr>
          <p:cNvPr id="15" name="">
            <a:extLst xmlns:a="http://schemas.openxmlformats.org/drawingml/2006/main">
              <a:ext uri="{FF2B5EF4-FFF2-40B4-BE49-F238E27FC236}">
                <a16:creationId xmlns:a16="http://schemas.microsoft.com/office/drawing/2014/main" id="{F11E9258-F071-4AB2-90FD-4C72300F6DC1}"/>
              </a:ext>
            </a:extLst>
          </p:cNvPr>
          <p:cNvSpPr>
            <a:spLocks xmlns:a="http://schemas.openxmlformats.org/drawingml/2006/main" noGrp="1"/>
          </p:cNvSpPr>
          <p:nvPr/>
        </p:nvSpPr>
        <p:spPr>
          <a:xfrm xmlns:a="http://schemas.openxmlformats.org/drawingml/2006/main">
            <a:off x="5071110" y="1619250"/>
            <a:ext cx="2049780" cy="1123950"/>
          </a:xfrm>
          <a:prstGeom xmlns:a="http://schemas.openxmlformats.org/drawingml/2006/main" prst="roundRect">
            <a:avLst>
              <a:gd name="adj" fmla="val 10169"/>
            </a:avLst>
          </a:prstGeom>
          <a:solidFill xmlns:a="http://schemas.openxmlformats.org/drawingml/2006/main">
            <a:srgbClr val="E9FAFF"/>
          </a:solidFill>
          <a:ln xmlns:a="http://schemas.openxmlformats.org/drawingml/2006/main" w="9525">
            <a:solidFill>
              <a:srgbClr val="EDEDED"/>
            </a:solidFill>
            <a:prstDash val="solid"/>
          </a:ln>
        </p:spPr>
      </p:sp>
      <p:sp>
        <p:nvSpPr>
          <p:cNvPr id="16" name="">
            <a:extLst xmlns:a="http://schemas.openxmlformats.org/drawingml/2006/main">
              <a:ext uri="{FF2B5EF4-FFF2-40B4-BE49-F238E27FC236}">
                <a16:creationId xmlns:a16="http://schemas.microsoft.com/office/drawing/2014/main" id="{71BEBDA1-4F49-404C-B1F6-6D4EA03014DC}"/>
              </a:ext>
            </a:extLst>
          </p:cNvPr>
          <p:cNvSpPr>
            <a:spLocks xmlns:a="http://schemas.openxmlformats.org/drawingml/2006/main" noGrp="1"/>
          </p:cNvSpPr>
          <p:nvPr/>
        </p:nvSpPr>
        <p:spPr>
          <a:xfrm xmlns:a="http://schemas.openxmlformats.org/drawingml/2006/main">
            <a:off x="5204460" y="17716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Conv1D</a:t>
            </a:r>
          </a:p>
        </p:txBody>
      </p:sp>
      <p:sp>
        <p:nvSpPr>
          <p:cNvPr id="17" name="">
            <a:extLst xmlns:a="http://schemas.openxmlformats.org/drawingml/2006/main">
              <a:ext uri="{FF2B5EF4-FFF2-40B4-BE49-F238E27FC236}">
                <a16:creationId xmlns:a16="http://schemas.microsoft.com/office/drawing/2014/main" id="{C66F5D1B-A89E-4EF5-9F71-9DD8B177C05A}"/>
              </a:ext>
            </a:extLst>
          </p:cNvPr>
          <p:cNvSpPr>
            <a:spLocks xmlns:a="http://schemas.openxmlformats.org/drawingml/2006/main" noGrp="1"/>
          </p:cNvSpPr>
          <p:nvPr/>
        </p:nvSpPr>
        <p:spPr>
          <a:xfrm xmlns:a="http://schemas.openxmlformats.org/drawingml/2006/main">
            <a:off x="5204460" y="2133600"/>
            <a:ext cx="178308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16→24 · k=5</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GELU</a:t>
            </a:r>
          </a:p>
        </p:txBody>
      </p:sp>
      <p:sp>
        <p:nvSpPr>
          <p:cNvPr id="18" name="">
            <a:extLst xmlns:a="http://schemas.openxmlformats.org/drawingml/2006/main">
              <a:ext uri="{FF2B5EF4-FFF2-40B4-BE49-F238E27FC236}">
                <a16:creationId xmlns:a16="http://schemas.microsoft.com/office/drawing/2014/main" id="{D1345621-B9BB-4399-BCDE-7B13C9FEC92E}"/>
              </a:ext>
            </a:extLst>
          </p:cNvPr>
          <p:cNvSpPr>
            <a:spLocks xmlns:a="http://schemas.openxmlformats.org/drawingml/2006/main" noGrp="1"/>
          </p:cNvSpPr>
          <p:nvPr/>
        </p:nvSpPr>
        <p:spPr>
          <a:xfrm xmlns:a="http://schemas.openxmlformats.org/drawingml/2006/main">
            <a:off x="7330440" y="1619250"/>
            <a:ext cx="2049780" cy="1123950"/>
          </a:xfrm>
          <a:prstGeom xmlns:a="http://schemas.openxmlformats.org/drawingml/2006/main" prst="roundRect">
            <a:avLst>
              <a:gd name="adj" fmla="val 10169"/>
            </a:avLst>
          </a:prstGeom>
          <a:solidFill xmlns:a="http://schemas.openxmlformats.org/drawingml/2006/main">
            <a:srgbClr val="EBF6EF"/>
          </a:solidFill>
          <a:ln xmlns:a="http://schemas.openxmlformats.org/drawingml/2006/main" w="9525">
            <a:solidFill>
              <a:srgbClr val="EDEDED"/>
            </a:solidFill>
            <a:prstDash val="solid"/>
          </a:ln>
        </p:spPr>
      </p:sp>
      <p:sp>
        <p:nvSpPr>
          <p:cNvPr id="19" name="">
            <a:extLst xmlns:a="http://schemas.openxmlformats.org/drawingml/2006/main">
              <a:ext uri="{FF2B5EF4-FFF2-40B4-BE49-F238E27FC236}">
                <a16:creationId xmlns:a16="http://schemas.microsoft.com/office/drawing/2014/main" id="{2837834D-E9DC-4357-A07A-A2B8294CB2AC}"/>
              </a:ext>
            </a:extLst>
          </p:cNvPr>
          <p:cNvSpPr>
            <a:spLocks xmlns:a="http://schemas.openxmlformats.org/drawingml/2006/main" noGrp="1"/>
          </p:cNvSpPr>
          <p:nvPr/>
        </p:nvSpPr>
        <p:spPr>
          <a:xfrm xmlns:a="http://schemas.openxmlformats.org/drawingml/2006/main">
            <a:off x="7463790" y="17716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Avg pool</a:t>
            </a:r>
          </a:p>
        </p:txBody>
      </p:sp>
      <p:sp>
        <p:nvSpPr>
          <p:cNvPr id="20" name="">
            <a:extLst xmlns:a="http://schemas.openxmlformats.org/drawingml/2006/main">
              <a:ext uri="{FF2B5EF4-FFF2-40B4-BE49-F238E27FC236}">
                <a16:creationId xmlns:a16="http://schemas.microsoft.com/office/drawing/2014/main" id="{F070EC1C-8275-4134-AA63-7080387D64A0}"/>
              </a:ext>
            </a:extLst>
          </p:cNvPr>
          <p:cNvSpPr>
            <a:spLocks xmlns:a="http://schemas.openxmlformats.org/drawingml/2006/main" noGrp="1"/>
          </p:cNvSpPr>
          <p:nvPr/>
        </p:nvSpPr>
        <p:spPr>
          <a:xfrm xmlns:a="http://schemas.openxmlformats.org/drawingml/2006/main">
            <a:off x="7463790" y="2133600"/>
            <a:ext cx="178308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time→1</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[24]</a:t>
            </a:r>
          </a:p>
        </p:txBody>
      </p:sp>
      <p:sp>
        <p:nvSpPr>
          <p:cNvPr id="21" name="">
            <a:extLst xmlns:a="http://schemas.openxmlformats.org/drawingml/2006/main">
              <a:ext uri="{FF2B5EF4-FFF2-40B4-BE49-F238E27FC236}">
                <a16:creationId xmlns:a16="http://schemas.microsoft.com/office/drawing/2014/main" id="{06483584-6ABE-484E-AEA2-4AE24CB28B36}"/>
              </a:ext>
            </a:extLst>
          </p:cNvPr>
          <p:cNvSpPr>
            <a:spLocks xmlns:a="http://schemas.openxmlformats.org/drawingml/2006/main" noGrp="1"/>
          </p:cNvSpPr>
          <p:nvPr/>
        </p:nvSpPr>
        <p:spPr>
          <a:xfrm xmlns:a="http://schemas.openxmlformats.org/drawingml/2006/main">
            <a:off x="9589770" y="1619250"/>
            <a:ext cx="2049780" cy="1123950"/>
          </a:xfrm>
          <a:prstGeom xmlns:a="http://schemas.openxmlformats.org/drawingml/2006/main" prst="roundRect">
            <a:avLst>
              <a:gd name="adj" fmla="val 10169"/>
            </a:avLst>
          </a:prstGeom>
          <a:solidFill xmlns:a="http://schemas.openxmlformats.org/drawingml/2006/main">
            <a:srgbClr val="FFF2E7"/>
          </a:solidFill>
          <a:ln xmlns:a="http://schemas.openxmlformats.org/drawingml/2006/main" w="9525">
            <a:solidFill>
              <a:srgbClr val="EDEDED"/>
            </a:solidFill>
            <a:prstDash val="solid"/>
          </a:ln>
        </p:spPr>
      </p:sp>
      <p:sp>
        <p:nvSpPr>
          <p:cNvPr id="22" name="">
            <a:extLst xmlns:a="http://schemas.openxmlformats.org/drawingml/2006/main">
              <a:ext uri="{FF2B5EF4-FFF2-40B4-BE49-F238E27FC236}">
                <a16:creationId xmlns:a16="http://schemas.microsoft.com/office/drawing/2014/main" id="{DFB49AC5-BD59-4F96-8828-706CD7740017}"/>
              </a:ext>
            </a:extLst>
          </p:cNvPr>
          <p:cNvSpPr>
            <a:spLocks xmlns:a="http://schemas.openxmlformats.org/drawingml/2006/main" noGrp="1"/>
          </p:cNvSpPr>
          <p:nvPr/>
        </p:nvSpPr>
        <p:spPr>
          <a:xfrm xmlns:a="http://schemas.openxmlformats.org/drawingml/2006/main">
            <a:off x="9723120" y="17716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18 segments</a:t>
            </a:r>
          </a:p>
        </p:txBody>
      </p:sp>
      <p:sp>
        <p:nvSpPr>
          <p:cNvPr id="23" name="">
            <a:extLst xmlns:a="http://schemas.openxmlformats.org/drawingml/2006/main">
              <a:ext uri="{FF2B5EF4-FFF2-40B4-BE49-F238E27FC236}">
                <a16:creationId xmlns:a16="http://schemas.microsoft.com/office/drawing/2014/main" id="{81C591EC-108E-4298-A7B9-A7032F3D9ADB}"/>
              </a:ext>
            </a:extLst>
          </p:cNvPr>
          <p:cNvSpPr>
            <a:spLocks xmlns:a="http://schemas.openxmlformats.org/drawingml/2006/main" noGrp="1"/>
          </p:cNvSpPr>
          <p:nvPr/>
        </p:nvSpPr>
        <p:spPr>
          <a:xfrm xmlns:a="http://schemas.openxmlformats.org/drawingml/2006/main">
            <a:off x="9723120" y="2133600"/>
            <a:ext cx="178308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[18, 24]</a:t>
            </a:r>
          </a:p>
        </p:txBody>
      </p:sp>
      <p:sp>
        <p:nvSpPr>
          <p:cNvPr id="24" name="">
            <a:extLst xmlns:a="http://schemas.openxmlformats.org/drawingml/2006/main">
              <a:ext uri="{FF2B5EF4-FFF2-40B4-BE49-F238E27FC236}">
                <a16:creationId xmlns:a16="http://schemas.microsoft.com/office/drawing/2014/main" id="{AC5CDD6E-EFE7-4FE0-A1DD-A174A8E93C64}"/>
              </a:ext>
            </a:extLst>
          </p:cNvPr>
          <p:cNvSpPr>
            <a:spLocks xmlns:a="http://schemas.openxmlformats.org/drawingml/2006/main" noGrp="1"/>
          </p:cNvSpPr>
          <p:nvPr/>
        </p:nvSpPr>
        <p:spPr>
          <a:xfrm xmlns:a="http://schemas.openxmlformats.org/drawingml/2006/main">
            <a:off x="3729038" y="394335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5" name="">
            <a:extLst xmlns:a="http://schemas.openxmlformats.org/drawingml/2006/main">
              <a:ext uri="{FF2B5EF4-FFF2-40B4-BE49-F238E27FC236}">
                <a16:creationId xmlns:a16="http://schemas.microsoft.com/office/drawing/2014/main" id="{5998F1EA-2085-4EB3-9C31-E81D388FFD39}"/>
              </a:ext>
            </a:extLst>
          </p:cNvPr>
          <p:cNvSpPr>
            <a:spLocks xmlns:a="http://schemas.openxmlformats.org/drawingml/2006/main" noGrp="1"/>
          </p:cNvSpPr>
          <p:nvPr/>
        </p:nvSpPr>
        <p:spPr>
          <a:xfrm xmlns:a="http://schemas.openxmlformats.org/drawingml/2006/main">
            <a:off x="6019800" y="394335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6" name="">
            <a:extLst xmlns:a="http://schemas.openxmlformats.org/drawingml/2006/main">
              <a:ext uri="{FF2B5EF4-FFF2-40B4-BE49-F238E27FC236}">
                <a16:creationId xmlns:a16="http://schemas.microsoft.com/office/drawing/2014/main" id="{EBFFE51E-CF18-4102-8091-6A91421C616C}"/>
              </a:ext>
            </a:extLst>
          </p:cNvPr>
          <p:cNvSpPr>
            <a:spLocks xmlns:a="http://schemas.openxmlformats.org/drawingml/2006/main" noGrp="1"/>
          </p:cNvSpPr>
          <p:nvPr/>
        </p:nvSpPr>
        <p:spPr>
          <a:xfrm xmlns:a="http://schemas.openxmlformats.org/drawingml/2006/main">
            <a:off x="8310563" y="394335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7" name="">
            <a:extLst xmlns:a="http://schemas.openxmlformats.org/drawingml/2006/main">
              <a:ext uri="{FF2B5EF4-FFF2-40B4-BE49-F238E27FC236}">
                <a16:creationId xmlns:a16="http://schemas.microsoft.com/office/drawing/2014/main" id="{559A6AA9-62AC-4344-A9DD-E1F2CD018AFE}"/>
              </a:ext>
            </a:extLst>
          </p:cNvPr>
          <p:cNvSpPr>
            <a:spLocks xmlns:a="http://schemas.openxmlformats.org/drawingml/2006/main" noGrp="1"/>
          </p:cNvSpPr>
          <p:nvPr/>
        </p:nvSpPr>
        <p:spPr>
          <a:xfrm xmlns:a="http://schemas.openxmlformats.org/drawingml/2006/main">
            <a:off x="1619250" y="3409950"/>
            <a:ext cx="2081213" cy="1066800"/>
          </a:xfrm>
          <a:prstGeom xmlns:a="http://schemas.openxmlformats.org/drawingml/2006/main" prst="roundRect">
            <a:avLst>
              <a:gd name="adj" fmla="val 10714"/>
            </a:avLst>
          </a:prstGeom>
          <a:solidFill xmlns:a="http://schemas.openxmlformats.org/drawingml/2006/main">
            <a:srgbClr val="EAF5FF"/>
          </a:solidFill>
          <a:ln xmlns:a="http://schemas.openxmlformats.org/drawingml/2006/main" w="9525">
            <a:solidFill>
              <a:srgbClr val="EDEDED"/>
            </a:solidFill>
            <a:prstDash val="solid"/>
          </a:ln>
        </p:spPr>
      </p:sp>
      <p:sp>
        <p:nvSpPr>
          <p:cNvPr id="28" name="">
            <a:extLst xmlns:a="http://schemas.openxmlformats.org/drawingml/2006/main">
              <a:ext uri="{FF2B5EF4-FFF2-40B4-BE49-F238E27FC236}">
                <a16:creationId xmlns:a16="http://schemas.microsoft.com/office/drawing/2014/main" id="{7E9CEEAA-AE8E-46F9-9180-D334BA5599B9}"/>
              </a:ext>
            </a:extLst>
          </p:cNvPr>
          <p:cNvSpPr>
            <a:spLocks xmlns:a="http://schemas.openxmlformats.org/drawingml/2006/main" noGrp="1"/>
          </p:cNvSpPr>
          <p:nvPr/>
        </p:nvSpPr>
        <p:spPr>
          <a:xfrm xmlns:a="http://schemas.openxmlformats.org/drawingml/2006/main">
            <a:off x="1752600" y="3562350"/>
            <a:ext cx="18145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Attention center</a:t>
            </a:r>
          </a:p>
        </p:txBody>
      </p:sp>
      <p:sp>
        <p:nvSpPr>
          <p:cNvPr id="29" name="">
            <a:extLst xmlns:a="http://schemas.openxmlformats.org/drawingml/2006/main">
              <a:ext uri="{FF2B5EF4-FFF2-40B4-BE49-F238E27FC236}">
                <a16:creationId xmlns:a16="http://schemas.microsoft.com/office/drawing/2014/main" id="{9C548C84-5D73-4491-A860-108DA52013C9}"/>
              </a:ext>
            </a:extLst>
          </p:cNvPr>
          <p:cNvSpPr>
            <a:spLocks xmlns:a="http://schemas.openxmlformats.org/drawingml/2006/main" noGrp="1"/>
          </p:cNvSpPr>
          <p:nvPr/>
        </p:nvSpPr>
        <p:spPr>
          <a:xfrm xmlns:a="http://schemas.openxmlformats.org/drawingml/2006/main">
            <a:off x="1752600" y="3924300"/>
            <a:ext cx="18145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weighted sum</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[24]</a:t>
            </a:r>
          </a:p>
        </p:txBody>
      </p:sp>
      <p:sp>
        <p:nvSpPr>
          <p:cNvPr id="30" name="">
            <a:extLst xmlns:a="http://schemas.openxmlformats.org/drawingml/2006/main">
              <a:ext uri="{FF2B5EF4-FFF2-40B4-BE49-F238E27FC236}">
                <a16:creationId xmlns:a16="http://schemas.microsoft.com/office/drawing/2014/main" id="{AEB56940-A591-46D7-A1BA-E875389802A3}"/>
              </a:ext>
            </a:extLst>
          </p:cNvPr>
          <p:cNvSpPr>
            <a:spLocks xmlns:a="http://schemas.openxmlformats.org/drawingml/2006/main" noGrp="1"/>
          </p:cNvSpPr>
          <p:nvPr/>
        </p:nvSpPr>
        <p:spPr>
          <a:xfrm xmlns:a="http://schemas.openxmlformats.org/drawingml/2006/main">
            <a:off x="3910013" y="3409950"/>
            <a:ext cx="2081213" cy="1066800"/>
          </a:xfrm>
          <a:prstGeom xmlns:a="http://schemas.openxmlformats.org/drawingml/2006/main" prst="roundRect">
            <a:avLst>
              <a:gd name="adj" fmla="val 10714"/>
            </a:avLst>
          </a:prstGeom>
          <a:solidFill xmlns:a="http://schemas.openxmlformats.org/drawingml/2006/main">
            <a:srgbClr val="EBF6EF"/>
          </a:solidFill>
          <a:ln xmlns:a="http://schemas.openxmlformats.org/drawingml/2006/main" w="9525">
            <a:solidFill>
              <a:srgbClr val="EDEDED"/>
            </a:solidFill>
            <a:prstDash val="solid"/>
          </a:ln>
        </p:spPr>
      </p:sp>
      <p:sp>
        <p:nvSpPr>
          <p:cNvPr id="31" name="">
            <a:extLst xmlns:a="http://schemas.openxmlformats.org/drawingml/2006/main">
              <a:ext uri="{FF2B5EF4-FFF2-40B4-BE49-F238E27FC236}">
                <a16:creationId xmlns:a16="http://schemas.microsoft.com/office/drawing/2014/main" id="{C6D87164-6A3E-4359-ACBB-4C2DE32C50D2}"/>
              </a:ext>
            </a:extLst>
          </p:cNvPr>
          <p:cNvSpPr>
            <a:spLocks xmlns:a="http://schemas.openxmlformats.org/drawingml/2006/main" noGrp="1"/>
          </p:cNvSpPr>
          <p:nvPr/>
        </p:nvSpPr>
        <p:spPr>
          <a:xfrm xmlns:a="http://schemas.openxmlformats.org/drawingml/2006/main">
            <a:off x="4043363" y="3562350"/>
            <a:ext cx="18145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Segment SD</a:t>
            </a:r>
          </a:p>
        </p:txBody>
      </p:sp>
      <p:sp>
        <p:nvSpPr>
          <p:cNvPr id="32" name="">
            <a:extLst xmlns:a="http://schemas.openxmlformats.org/drawingml/2006/main">
              <a:ext uri="{FF2B5EF4-FFF2-40B4-BE49-F238E27FC236}">
                <a16:creationId xmlns:a16="http://schemas.microsoft.com/office/drawing/2014/main" id="{A53D4FD4-6D4D-4B60-8FC4-A28BB9806ECF}"/>
              </a:ext>
            </a:extLst>
          </p:cNvPr>
          <p:cNvSpPr>
            <a:spLocks xmlns:a="http://schemas.openxmlformats.org/drawingml/2006/main" noGrp="1"/>
          </p:cNvSpPr>
          <p:nvPr/>
        </p:nvSpPr>
        <p:spPr>
          <a:xfrm xmlns:a="http://schemas.openxmlformats.org/drawingml/2006/main">
            <a:off x="4043363" y="3924300"/>
            <a:ext cx="18145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dispersion</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[24]</a:t>
            </a:r>
          </a:p>
        </p:txBody>
      </p:sp>
      <p:sp>
        <p:nvSpPr>
          <p:cNvPr id="33" name="">
            <a:extLst xmlns:a="http://schemas.openxmlformats.org/drawingml/2006/main">
              <a:ext uri="{FF2B5EF4-FFF2-40B4-BE49-F238E27FC236}">
                <a16:creationId xmlns:a16="http://schemas.microsoft.com/office/drawing/2014/main" id="{09632E18-6777-48BF-AEBD-859F583B53E9}"/>
              </a:ext>
            </a:extLst>
          </p:cNvPr>
          <p:cNvSpPr>
            <a:spLocks xmlns:a="http://schemas.openxmlformats.org/drawingml/2006/main" noGrp="1"/>
          </p:cNvSpPr>
          <p:nvPr/>
        </p:nvSpPr>
        <p:spPr>
          <a:xfrm xmlns:a="http://schemas.openxmlformats.org/drawingml/2006/main">
            <a:off x="6200775" y="3409950"/>
            <a:ext cx="2081213" cy="1066800"/>
          </a:xfrm>
          <a:prstGeom xmlns:a="http://schemas.openxmlformats.org/drawingml/2006/main" prst="roundRect">
            <a:avLst>
              <a:gd name="adj" fmla="val 10714"/>
            </a:avLst>
          </a:prstGeom>
          <a:solidFill xmlns:a="http://schemas.openxmlformats.org/drawingml/2006/main">
            <a:srgbClr val="FFF2E7"/>
          </a:solidFill>
          <a:ln xmlns:a="http://schemas.openxmlformats.org/drawingml/2006/main" w="9525">
            <a:solidFill>
              <a:srgbClr val="EDEDED"/>
            </a:solidFill>
            <a:prstDash val="solid"/>
          </a:ln>
        </p:spPr>
      </p:sp>
      <p:sp>
        <p:nvSpPr>
          <p:cNvPr id="34" name="">
            <a:extLst xmlns:a="http://schemas.openxmlformats.org/drawingml/2006/main">
              <a:ext uri="{FF2B5EF4-FFF2-40B4-BE49-F238E27FC236}">
                <a16:creationId xmlns:a16="http://schemas.microsoft.com/office/drawing/2014/main" id="{917F92CC-9844-4672-AFFE-5C29210C4102}"/>
              </a:ext>
            </a:extLst>
          </p:cNvPr>
          <p:cNvSpPr>
            <a:spLocks xmlns:a="http://schemas.openxmlformats.org/drawingml/2006/main" noGrp="1"/>
          </p:cNvSpPr>
          <p:nvPr/>
        </p:nvSpPr>
        <p:spPr>
          <a:xfrm xmlns:a="http://schemas.openxmlformats.org/drawingml/2006/main">
            <a:off x="6334125" y="3562350"/>
            <a:ext cx="18145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Segment max</a:t>
            </a:r>
          </a:p>
        </p:txBody>
      </p:sp>
      <p:sp>
        <p:nvSpPr>
          <p:cNvPr id="35" name="">
            <a:extLst xmlns:a="http://schemas.openxmlformats.org/drawingml/2006/main">
              <a:ext uri="{FF2B5EF4-FFF2-40B4-BE49-F238E27FC236}">
                <a16:creationId xmlns:a16="http://schemas.microsoft.com/office/drawing/2014/main" id="{1664EB22-C00D-4A5B-8C64-80AD32588397}"/>
              </a:ext>
            </a:extLst>
          </p:cNvPr>
          <p:cNvSpPr>
            <a:spLocks xmlns:a="http://schemas.openxmlformats.org/drawingml/2006/main" noGrp="1"/>
          </p:cNvSpPr>
          <p:nvPr/>
        </p:nvSpPr>
        <p:spPr>
          <a:xfrm xmlns:a="http://schemas.openxmlformats.org/drawingml/2006/main">
            <a:off x="6334125" y="3924300"/>
            <a:ext cx="18145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extreme response</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[24]</a:t>
            </a:r>
          </a:p>
        </p:txBody>
      </p:sp>
      <p:sp>
        <p:nvSpPr>
          <p:cNvPr id="36" name="">
            <a:extLst xmlns:a="http://schemas.openxmlformats.org/drawingml/2006/main">
              <a:ext uri="{FF2B5EF4-FFF2-40B4-BE49-F238E27FC236}">
                <a16:creationId xmlns:a16="http://schemas.microsoft.com/office/drawing/2014/main" id="{F5BB531A-E34D-4CD0-8038-CA8EA07C984B}"/>
              </a:ext>
            </a:extLst>
          </p:cNvPr>
          <p:cNvSpPr>
            <a:spLocks xmlns:a="http://schemas.openxmlformats.org/drawingml/2006/main" noGrp="1"/>
          </p:cNvSpPr>
          <p:nvPr/>
        </p:nvSpPr>
        <p:spPr>
          <a:xfrm xmlns:a="http://schemas.openxmlformats.org/drawingml/2006/main">
            <a:off x="8491538" y="3409950"/>
            <a:ext cx="2081213" cy="1066800"/>
          </a:xfrm>
          <a:prstGeom xmlns:a="http://schemas.openxmlformats.org/drawingml/2006/main" prst="roundRect">
            <a:avLst>
              <a:gd name="adj" fmla="val 10714"/>
            </a:avLst>
          </a:prstGeom>
          <a:solidFill xmlns:a="http://schemas.openxmlformats.org/drawingml/2006/main">
            <a:srgbClr val="FBECEC"/>
          </a:solidFill>
          <a:ln xmlns:a="http://schemas.openxmlformats.org/drawingml/2006/main" w="9525">
            <a:solidFill>
              <a:srgbClr val="EDEDED"/>
            </a:solidFill>
            <a:prstDash val="solid"/>
          </a:ln>
        </p:spPr>
      </p:sp>
      <p:sp>
        <p:nvSpPr>
          <p:cNvPr id="37" name="">
            <a:extLst xmlns:a="http://schemas.openxmlformats.org/drawingml/2006/main">
              <a:ext uri="{FF2B5EF4-FFF2-40B4-BE49-F238E27FC236}">
                <a16:creationId xmlns:a16="http://schemas.microsoft.com/office/drawing/2014/main" id="{927B1FD2-E8AC-4A4D-8A26-590A26FD7E0A}"/>
              </a:ext>
            </a:extLst>
          </p:cNvPr>
          <p:cNvSpPr>
            <a:spLocks xmlns:a="http://schemas.openxmlformats.org/drawingml/2006/main" noGrp="1"/>
          </p:cNvSpPr>
          <p:nvPr/>
        </p:nvSpPr>
        <p:spPr>
          <a:xfrm xmlns:a="http://schemas.openxmlformats.org/drawingml/2006/main">
            <a:off x="8624888" y="3562350"/>
            <a:ext cx="18145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Curve summary</a:t>
            </a:r>
          </a:p>
        </p:txBody>
      </p:sp>
      <p:sp>
        <p:nvSpPr>
          <p:cNvPr id="38" name="">
            <a:extLst xmlns:a="http://schemas.openxmlformats.org/drawingml/2006/main">
              <a:ext uri="{FF2B5EF4-FFF2-40B4-BE49-F238E27FC236}">
                <a16:creationId xmlns:a16="http://schemas.microsoft.com/office/drawing/2014/main" id="{4C55F7BB-B735-4B53-98AE-3B05CBC11737}"/>
              </a:ext>
            </a:extLst>
          </p:cNvPr>
          <p:cNvSpPr>
            <a:spLocks xmlns:a="http://schemas.openxmlformats.org/drawingml/2006/main" noGrp="1"/>
          </p:cNvSpPr>
          <p:nvPr/>
        </p:nvSpPr>
        <p:spPr>
          <a:xfrm xmlns:a="http://schemas.openxmlformats.org/drawingml/2006/main">
            <a:off x="8624888" y="3924300"/>
            <a:ext cx="1814513"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concatenate</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[72]</a:t>
            </a:r>
          </a:p>
        </p:txBody>
      </p:sp>
      <p:sp>
        <p:nvSpPr>
          <p:cNvPr id="39" name="">
            <a:extLst xmlns:a="http://schemas.openxmlformats.org/drawingml/2006/main">
              <a:ext uri="{FF2B5EF4-FFF2-40B4-BE49-F238E27FC236}">
                <a16:creationId xmlns:a16="http://schemas.microsoft.com/office/drawing/2014/main" id="{5692BAE0-D729-4E39-9F5E-E90FA76BA72B}"/>
              </a:ext>
            </a:extLst>
          </p:cNvPr>
          <p:cNvSpPr>
            <a:spLocks xmlns:a="http://schemas.openxmlformats.org/drawingml/2006/main" noGrp="1"/>
          </p:cNvSpPr>
          <p:nvPr/>
        </p:nvSpPr>
        <p:spPr>
          <a:xfrm xmlns:a="http://schemas.openxmlformats.org/drawingml/2006/main">
            <a:off x="1409700" y="5029200"/>
            <a:ext cx="9372600" cy="781050"/>
          </a:xfrm>
          <a:prstGeom xmlns:a="http://schemas.openxmlformats.org/drawingml/2006/main" prst="roundRect">
            <a:avLst>
              <a:gd name="adj" fmla="val 9756"/>
            </a:avLst>
          </a:prstGeom>
          <a:solidFill xmlns:a="http://schemas.openxmlformats.org/drawingml/2006/main">
            <a:srgbClr val="050505"/>
          </a:solidFill>
          <a:ln xmlns:a="http://schemas.openxmlformats.org/drawingml/2006/main" w="0">
            <a:solidFill>
              <a:srgbClr val="050505"/>
            </a:solidFill>
            <a:prstDash val="solid"/>
          </a:ln>
        </p:spPr>
      </p:sp>
      <p:sp>
        <p:nvSpPr>
          <p:cNvPr id="40" name="">
            <a:extLst xmlns:a="http://schemas.openxmlformats.org/drawingml/2006/main">
              <a:ext uri="{FF2B5EF4-FFF2-40B4-BE49-F238E27FC236}">
                <a16:creationId xmlns:a16="http://schemas.microsoft.com/office/drawing/2014/main" id="{E61EDC9D-FE0E-445E-881C-CC411060E462}"/>
              </a:ext>
            </a:extLst>
          </p:cNvPr>
          <p:cNvSpPr>
            <a:spLocks xmlns:a="http://schemas.openxmlformats.org/drawingml/2006/main" noGrp="1"/>
          </p:cNvSpPr>
          <p:nvPr/>
        </p:nvSpPr>
        <p:spPr>
          <a:xfrm xmlns:a="http://schemas.openxmlformats.org/drawingml/2006/main">
            <a:off x="1581150" y="5181600"/>
            <a:ext cx="902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curve 72 + scalar embedding 32 → shared 104 → 64 → binary risk head</a:t>
            </a:r>
          </a:p>
        </p:txBody>
      </p:sp>
      <p:sp>
        <p:nvSpPr>
          <p:cNvPr id="41" name="">
            <a:extLst xmlns:a="http://schemas.openxmlformats.org/drawingml/2006/main">
              <a:ext uri="{FF2B5EF4-FFF2-40B4-BE49-F238E27FC236}">
                <a16:creationId xmlns:a16="http://schemas.microsoft.com/office/drawing/2014/main" id="{04250F90-EF25-449F-BFCF-98A0BC5EEDDA}"/>
              </a:ext>
            </a:extLst>
          </p:cNvPr>
          <p:cNvSpPr>
            <a:spLocks xmlns:a="http://schemas.openxmlformats.org/drawingml/2006/main" noGrp="1"/>
          </p:cNvSpPr>
          <p:nvPr/>
        </p:nvSpPr>
        <p:spPr>
          <a:xfrm xmlns:a="http://schemas.openxmlformats.org/drawingml/2006/main">
            <a:off x="1543050" y="5543550"/>
            <a:ext cx="9105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Multi-task training; 15% Mid-GLS task retained for reporting</a:t>
            </a:r>
          </a:p>
        </p:txBody>
      </p:sp>
      <p:sp>
        <p:nvSpPr>
          <p:cNvPr id="42" name="">
            <a:extLst xmlns:a="http://schemas.openxmlformats.org/drawingml/2006/main">
              <a:ext uri="{FF2B5EF4-FFF2-40B4-BE49-F238E27FC236}">
                <a16:creationId xmlns:a16="http://schemas.microsoft.com/office/drawing/2014/main" id="{07D6A2A5-EBB2-49CB-A481-4198916CC4F5}"/>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ChannelAttentionNet in cardiotoxicity_cnn_channel_ablation.py</a:t>
            </a:r>
          </a:p>
        </p:txBody>
      </p:sp>
    </p:spTree>
    <p:extLst>
      <p:ext uri="{BB962C8B-B14F-4D97-AF65-F5344CB8AC3E}">
        <p14:creationId xmlns:p14="http://schemas.microsoft.com/office/powerpoint/2010/main" val="18001824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F251BCE-CE99-453D-B08B-1DAE5206AFCA}"/>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ATTENTION CNN</a:t>
            </a:r>
          </a:p>
        </p:txBody>
      </p:sp>
      <p:sp>
        <p:nvSpPr>
          <p:cNvPr id="2" name="">
            <a:extLst xmlns:a="http://schemas.openxmlformats.org/drawingml/2006/main">
              <a:ext uri="{FF2B5EF4-FFF2-40B4-BE49-F238E27FC236}">
                <a16:creationId xmlns:a16="http://schemas.microsoft.com/office/drawing/2014/main" id="{1A6D138F-CFEC-4EDD-B6C6-75B32EB91C9A}"/>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The scalar branch is a learned clinical context vector</a:t>
            </a:r>
          </a:p>
        </p:txBody>
      </p:sp>
      <p:sp>
        <p:nvSpPr>
          <p:cNvPr id="3" name="">
            <a:extLst xmlns:a="http://schemas.openxmlformats.org/drawingml/2006/main">
              <a:ext uri="{FF2B5EF4-FFF2-40B4-BE49-F238E27FC236}">
                <a16:creationId xmlns:a16="http://schemas.microsoft.com/office/drawing/2014/main" id="{792B6AC4-A5C3-4B9F-8F64-B67074632934}"/>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E172C4D-7B86-4B17-B86C-B4A72B30331A}"/>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505CAA12-EFA7-43B8-845A-DEC7E40E88FA}"/>
              </a:ext>
            </a:extLst>
          </p:cNvPr>
          <p:cNvSpPr>
            <a:spLocks xmlns:a="http://schemas.openxmlformats.org/drawingml/2006/main" noGrp="1"/>
          </p:cNvSpPr>
          <p:nvPr/>
        </p:nvSpPr>
        <p:spPr>
          <a:xfrm xmlns:a="http://schemas.openxmlformats.org/drawingml/2006/main">
            <a:off x="3195638" y="22574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6" name="">
            <a:extLst xmlns:a="http://schemas.openxmlformats.org/drawingml/2006/main">
              <a:ext uri="{FF2B5EF4-FFF2-40B4-BE49-F238E27FC236}">
                <a16:creationId xmlns:a16="http://schemas.microsoft.com/office/drawing/2014/main" id="{8AF12B68-0BEB-49A7-AA12-2CF5D8F11B85}"/>
              </a:ext>
            </a:extLst>
          </p:cNvPr>
          <p:cNvSpPr>
            <a:spLocks xmlns:a="http://schemas.openxmlformats.org/drawingml/2006/main" noGrp="1"/>
          </p:cNvSpPr>
          <p:nvPr/>
        </p:nvSpPr>
        <p:spPr>
          <a:xfrm xmlns:a="http://schemas.openxmlformats.org/drawingml/2006/main">
            <a:off x="6019800" y="22574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
            <a:extLst xmlns:a="http://schemas.openxmlformats.org/drawingml/2006/main">
              <a:ext uri="{FF2B5EF4-FFF2-40B4-BE49-F238E27FC236}">
                <a16:creationId xmlns:a16="http://schemas.microsoft.com/office/drawing/2014/main" id="{12691DC3-A182-46C7-9EEE-7AD2834A7633}"/>
              </a:ext>
            </a:extLst>
          </p:cNvPr>
          <p:cNvSpPr>
            <a:spLocks xmlns:a="http://schemas.openxmlformats.org/drawingml/2006/main" noGrp="1"/>
          </p:cNvSpPr>
          <p:nvPr/>
        </p:nvSpPr>
        <p:spPr>
          <a:xfrm xmlns:a="http://schemas.openxmlformats.org/drawingml/2006/main">
            <a:off x="8843963" y="22574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8" name="">
            <a:extLst xmlns:a="http://schemas.openxmlformats.org/drawingml/2006/main">
              <a:ext uri="{FF2B5EF4-FFF2-40B4-BE49-F238E27FC236}">
                <a16:creationId xmlns:a16="http://schemas.microsoft.com/office/drawing/2014/main" id="{3C918F52-D198-4728-85DC-D302D2D6ECB1}"/>
              </a:ext>
            </a:extLst>
          </p:cNvPr>
          <p:cNvSpPr>
            <a:spLocks xmlns:a="http://schemas.openxmlformats.org/drawingml/2006/main" noGrp="1"/>
          </p:cNvSpPr>
          <p:nvPr/>
        </p:nvSpPr>
        <p:spPr>
          <a:xfrm xmlns:a="http://schemas.openxmlformats.org/drawingml/2006/main">
            <a:off x="552450" y="1657350"/>
            <a:ext cx="2614613" cy="1200150"/>
          </a:xfrm>
          <a:prstGeom xmlns:a="http://schemas.openxmlformats.org/drawingml/2006/main" prst="roundRect">
            <a:avLst>
              <a:gd name="adj" fmla="val 9524"/>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28EE919B-11D6-4F3E-8B60-BC56E9DBB7B9}"/>
              </a:ext>
            </a:extLst>
          </p:cNvPr>
          <p:cNvSpPr>
            <a:spLocks xmlns:a="http://schemas.openxmlformats.org/drawingml/2006/main" noGrp="1"/>
          </p:cNvSpPr>
          <p:nvPr/>
        </p:nvSpPr>
        <p:spPr>
          <a:xfrm xmlns:a="http://schemas.openxmlformats.org/drawingml/2006/main">
            <a:off x="685800" y="180975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96 scalars</a:t>
            </a:r>
          </a:p>
        </p:txBody>
      </p:sp>
      <p:sp>
        <p:nvSpPr>
          <p:cNvPr id="10" name="">
            <a:extLst xmlns:a="http://schemas.openxmlformats.org/drawingml/2006/main">
              <a:ext uri="{FF2B5EF4-FFF2-40B4-BE49-F238E27FC236}">
                <a16:creationId xmlns:a16="http://schemas.microsoft.com/office/drawing/2014/main" id="{2DDDABB0-A06C-4DD2-9419-189ABA94A3C3}"/>
              </a:ext>
            </a:extLst>
          </p:cNvPr>
          <p:cNvSpPr>
            <a:spLocks xmlns:a="http://schemas.openxmlformats.org/drawingml/2006/main" noGrp="1"/>
          </p:cNvSpPr>
          <p:nvPr/>
        </p:nvSpPr>
        <p:spPr>
          <a:xfrm xmlns:a="http://schemas.openxmlformats.org/drawingml/2006/main">
            <a:off x="685800" y="217170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24 trajectory + 72 variability</a:t>
            </a:r>
          </a:p>
        </p:txBody>
      </p:sp>
      <p:sp>
        <p:nvSpPr>
          <p:cNvPr id="11" name="">
            <a:extLst xmlns:a="http://schemas.openxmlformats.org/drawingml/2006/main">
              <a:ext uri="{FF2B5EF4-FFF2-40B4-BE49-F238E27FC236}">
                <a16:creationId xmlns:a16="http://schemas.microsoft.com/office/drawing/2014/main" id="{5A964F94-C9EB-4C30-AB08-133D266C5138}"/>
              </a:ext>
            </a:extLst>
          </p:cNvPr>
          <p:cNvSpPr>
            <a:spLocks xmlns:a="http://schemas.openxmlformats.org/drawingml/2006/main" noGrp="1"/>
          </p:cNvSpPr>
          <p:nvPr/>
        </p:nvSpPr>
        <p:spPr>
          <a:xfrm xmlns:a="http://schemas.openxmlformats.org/drawingml/2006/main">
            <a:off x="3376613" y="1657350"/>
            <a:ext cx="2614613" cy="1200150"/>
          </a:xfrm>
          <a:prstGeom xmlns:a="http://schemas.openxmlformats.org/drawingml/2006/main" prst="roundRect">
            <a:avLst>
              <a:gd name="adj" fmla="val 9524"/>
            </a:avLst>
          </a:prstGeom>
          <a:solidFill xmlns:a="http://schemas.openxmlformats.org/drawingml/2006/main">
            <a:srgbClr val="E9FAF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848CD0EF-7690-477A-897E-3B1E21F5FEC1}"/>
              </a:ext>
            </a:extLst>
          </p:cNvPr>
          <p:cNvSpPr>
            <a:spLocks xmlns:a="http://schemas.openxmlformats.org/drawingml/2006/main" noGrp="1"/>
          </p:cNvSpPr>
          <p:nvPr/>
        </p:nvSpPr>
        <p:spPr>
          <a:xfrm xmlns:a="http://schemas.openxmlformats.org/drawingml/2006/main">
            <a:off x="3509963" y="180975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Dense 96→48</a:t>
            </a:r>
          </a:p>
        </p:txBody>
      </p:sp>
      <p:sp>
        <p:nvSpPr>
          <p:cNvPr id="13" name="">
            <a:extLst xmlns:a="http://schemas.openxmlformats.org/drawingml/2006/main">
              <a:ext uri="{FF2B5EF4-FFF2-40B4-BE49-F238E27FC236}">
                <a16:creationId xmlns:a16="http://schemas.microsoft.com/office/drawing/2014/main" id="{1E9A1F78-823A-40E1-AA0D-87733E46532A}"/>
              </a:ext>
            </a:extLst>
          </p:cNvPr>
          <p:cNvSpPr>
            <a:spLocks xmlns:a="http://schemas.openxmlformats.org/drawingml/2006/main" noGrp="1"/>
          </p:cNvSpPr>
          <p:nvPr/>
        </p:nvSpPr>
        <p:spPr>
          <a:xfrm xmlns:a="http://schemas.openxmlformats.org/drawingml/2006/main">
            <a:off x="3509963" y="217170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GELU + regularization</a:t>
            </a:r>
          </a:p>
        </p:txBody>
      </p:sp>
      <p:sp>
        <p:nvSpPr>
          <p:cNvPr id="14" name="">
            <a:extLst xmlns:a="http://schemas.openxmlformats.org/drawingml/2006/main">
              <a:ext uri="{FF2B5EF4-FFF2-40B4-BE49-F238E27FC236}">
                <a16:creationId xmlns:a16="http://schemas.microsoft.com/office/drawing/2014/main" id="{ED8C71F8-7F80-4710-AA62-2824F2BCBDF6}"/>
              </a:ext>
            </a:extLst>
          </p:cNvPr>
          <p:cNvSpPr>
            <a:spLocks xmlns:a="http://schemas.openxmlformats.org/drawingml/2006/main" noGrp="1"/>
          </p:cNvSpPr>
          <p:nvPr/>
        </p:nvSpPr>
        <p:spPr>
          <a:xfrm xmlns:a="http://schemas.openxmlformats.org/drawingml/2006/main">
            <a:off x="6200775" y="1657350"/>
            <a:ext cx="2614613" cy="1200150"/>
          </a:xfrm>
          <a:prstGeom xmlns:a="http://schemas.openxmlformats.org/drawingml/2006/main" prst="roundRect">
            <a:avLst>
              <a:gd name="adj" fmla="val 9524"/>
            </a:avLst>
          </a:prstGeom>
          <a:solidFill xmlns:a="http://schemas.openxmlformats.org/drawingml/2006/main">
            <a:srgbClr val="EBF6EF"/>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4D9D148D-DD32-4DB8-84EE-2EA80F5577D5}"/>
              </a:ext>
            </a:extLst>
          </p:cNvPr>
          <p:cNvSpPr>
            <a:spLocks xmlns:a="http://schemas.openxmlformats.org/drawingml/2006/main" noGrp="1"/>
          </p:cNvSpPr>
          <p:nvPr/>
        </p:nvSpPr>
        <p:spPr>
          <a:xfrm xmlns:a="http://schemas.openxmlformats.org/drawingml/2006/main">
            <a:off x="6334125" y="180975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Dense 48→32</a:t>
            </a:r>
          </a:p>
        </p:txBody>
      </p:sp>
      <p:sp>
        <p:nvSpPr>
          <p:cNvPr id="16" name="">
            <a:extLst xmlns:a="http://schemas.openxmlformats.org/drawingml/2006/main">
              <a:ext uri="{FF2B5EF4-FFF2-40B4-BE49-F238E27FC236}">
                <a16:creationId xmlns:a16="http://schemas.microsoft.com/office/drawing/2014/main" id="{D2ABE4EE-B459-4001-A0EC-76A89262D318}"/>
              </a:ext>
            </a:extLst>
          </p:cNvPr>
          <p:cNvSpPr>
            <a:spLocks xmlns:a="http://schemas.openxmlformats.org/drawingml/2006/main" noGrp="1"/>
          </p:cNvSpPr>
          <p:nvPr/>
        </p:nvSpPr>
        <p:spPr>
          <a:xfrm xmlns:a="http://schemas.openxmlformats.org/drawingml/2006/main">
            <a:off x="6334125" y="217170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compact scalar embedding</a:t>
            </a:r>
          </a:p>
        </p:txBody>
      </p:sp>
      <p:sp>
        <p:nvSpPr>
          <p:cNvPr id="17" name="">
            <a:extLst xmlns:a="http://schemas.openxmlformats.org/drawingml/2006/main">
              <a:ext uri="{FF2B5EF4-FFF2-40B4-BE49-F238E27FC236}">
                <a16:creationId xmlns:a16="http://schemas.microsoft.com/office/drawing/2014/main" id="{FE19C3C2-7349-452C-A867-0504E61A6E5F}"/>
              </a:ext>
            </a:extLst>
          </p:cNvPr>
          <p:cNvSpPr>
            <a:spLocks xmlns:a="http://schemas.openxmlformats.org/drawingml/2006/main" noGrp="1"/>
          </p:cNvSpPr>
          <p:nvPr/>
        </p:nvSpPr>
        <p:spPr>
          <a:xfrm xmlns:a="http://schemas.openxmlformats.org/drawingml/2006/main">
            <a:off x="9024938" y="1657350"/>
            <a:ext cx="2614613" cy="1200150"/>
          </a:xfrm>
          <a:prstGeom xmlns:a="http://schemas.openxmlformats.org/drawingml/2006/main" prst="roundRect">
            <a:avLst>
              <a:gd name="adj" fmla="val 9524"/>
            </a:avLst>
          </a:prstGeom>
          <a:solidFill xmlns:a="http://schemas.openxmlformats.org/drawingml/2006/main">
            <a:srgbClr val="FFF2E7"/>
          </a:solidFill>
          <a:ln xmlns:a="http://schemas.openxmlformats.org/drawingml/2006/main" w="9525">
            <a:solidFill>
              <a:srgbClr val="EDEDED"/>
            </a:solidFill>
            <a:prstDash val="solid"/>
          </a:ln>
        </p:spPr>
      </p:sp>
      <p:sp>
        <p:nvSpPr>
          <p:cNvPr id="18" name="">
            <a:extLst xmlns:a="http://schemas.openxmlformats.org/drawingml/2006/main">
              <a:ext uri="{FF2B5EF4-FFF2-40B4-BE49-F238E27FC236}">
                <a16:creationId xmlns:a16="http://schemas.microsoft.com/office/drawing/2014/main" id="{B58FA98A-574B-4F59-84AF-F9C0D7A9B2B6}"/>
              </a:ext>
            </a:extLst>
          </p:cNvPr>
          <p:cNvSpPr>
            <a:spLocks xmlns:a="http://schemas.openxmlformats.org/drawingml/2006/main" noGrp="1"/>
          </p:cNvSpPr>
          <p:nvPr/>
        </p:nvSpPr>
        <p:spPr>
          <a:xfrm xmlns:a="http://schemas.openxmlformats.org/drawingml/2006/main">
            <a:off x="9158288" y="1809750"/>
            <a:ext cx="234791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Join curves</a:t>
            </a:r>
          </a:p>
        </p:txBody>
      </p:sp>
      <p:sp>
        <p:nvSpPr>
          <p:cNvPr id="19" name="">
            <a:extLst xmlns:a="http://schemas.openxmlformats.org/drawingml/2006/main">
              <a:ext uri="{FF2B5EF4-FFF2-40B4-BE49-F238E27FC236}">
                <a16:creationId xmlns:a16="http://schemas.microsoft.com/office/drawing/2014/main" id="{F17CE0C4-A47C-4011-BF5E-4E30D37BE64B}"/>
              </a:ext>
            </a:extLst>
          </p:cNvPr>
          <p:cNvSpPr>
            <a:spLocks xmlns:a="http://schemas.openxmlformats.org/drawingml/2006/main" noGrp="1"/>
          </p:cNvSpPr>
          <p:nvPr/>
        </p:nvSpPr>
        <p:spPr>
          <a:xfrm xmlns:a="http://schemas.openxmlformats.org/drawingml/2006/main">
            <a:off x="9158288" y="2171700"/>
            <a:ext cx="2347913"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32 + 72 = 104</a:t>
            </a:r>
          </a:p>
        </p:txBody>
      </p:sp>
      <p:sp>
        <p:nvSpPr>
          <p:cNvPr id="20" name="">
            <a:extLst xmlns:a="http://schemas.openxmlformats.org/drawingml/2006/main">
              <a:ext uri="{FF2B5EF4-FFF2-40B4-BE49-F238E27FC236}">
                <a16:creationId xmlns:a16="http://schemas.microsoft.com/office/drawing/2014/main" id="{7BE175B7-3734-49EC-8A03-A85B01E1A665}"/>
              </a:ext>
            </a:extLst>
          </p:cNvPr>
          <p:cNvSpPr>
            <a:spLocks xmlns:a="http://schemas.openxmlformats.org/drawingml/2006/main" noGrp="1"/>
          </p:cNvSpPr>
          <p:nvPr/>
        </p:nvSpPr>
        <p:spPr>
          <a:xfrm xmlns:a="http://schemas.openxmlformats.org/drawingml/2006/main">
            <a:off x="400050" y="3352800"/>
            <a:ext cx="3486150" cy="2209800"/>
          </a:xfrm>
          <a:prstGeom xmlns:a="http://schemas.openxmlformats.org/drawingml/2006/main" prst="roundRect">
            <a:avLst>
              <a:gd name="adj" fmla="val 5172"/>
            </a:avLst>
          </a:prstGeom>
          <a:solidFill xmlns:a="http://schemas.openxmlformats.org/drawingml/2006/main">
            <a:srgbClr val="EDEDED"/>
          </a:solidFill>
          <a:ln xmlns:a="http://schemas.openxmlformats.org/drawingml/2006/main" w="9525">
            <a:solidFill>
              <a:srgbClr val="EDEDED"/>
            </a:solidFill>
            <a:prstDash val="solid"/>
          </a:ln>
        </p:spPr>
      </p:sp>
      <p:sp>
        <p:nvSpPr>
          <p:cNvPr id="21" name="">
            <a:extLst xmlns:a="http://schemas.openxmlformats.org/drawingml/2006/main">
              <a:ext uri="{FF2B5EF4-FFF2-40B4-BE49-F238E27FC236}">
                <a16:creationId xmlns:a16="http://schemas.microsoft.com/office/drawing/2014/main" id="{FCCF1725-8ED7-4D0B-8CD2-77E73AD731A0}"/>
              </a:ext>
            </a:extLst>
          </p:cNvPr>
          <p:cNvSpPr>
            <a:spLocks xmlns:a="http://schemas.openxmlformats.org/drawingml/2006/main" noGrp="1"/>
          </p:cNvSpPr>
          <p:nvPr/>
        </p:nvSpPr>
        <p:spPr>
          <a:xfrm xmlns:a="http://schemas.openxmlformats.org/drawingml/2006/main">
            <a:off x="571500" y="3524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Why include scalars?</a:t>
            </a:r>
          </a:p>
        </p:txBody>
      </p:sp>
      <p:sp>
        <p:nvSpPr>
          <p:cNvPr id="22" name="">
            <a:extLst xmlns:a="http://schemas.openxmlformats.org/drawingml/2006/main">
              <a:ext uri="{FF2B5EF4-FFF2-40B4-BE49-F238E27FC236}">
                <a16:creationId xmlns:a16="http://schemas.microsoft.com/office/drawing/2014/main" id="{F20E8C5C-AB4D-4C22-8FEE-C3A5CDDEACB4}"/>
              </a:ext>
            </a:extLst>
          </p:cNvPr>
          <p:cNvSpPr>
            <a:spLocks xmlns:a="http://schemas.openxmlformats.org/drawingml/2006/main" noGrp="1"/>
          </p:cNvSpPr>
          <p:nvPr/>
        </p:nvSpPr>
        <p:spPr>
          <a:xfrm xmlns:a="http://schemas.openxmlformats.org/drawingml/2006/main">
            <a:off x="571500" y="3943350"/>
            <a:ext cx="3143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same curve shape can have different meaning depending on baseline GLS, elapsed time, prior decline and existing spatial heterogeneity.</a:t>
            </a:r>
          </a:p>
        </p:txBody>
      </p:sp>
      <p:sp>
        <p:nvSpPr>
          <p:cNvPr id="23" name="">
            <a:extLst xmlns:a="http://schemas.openxmlformats.org/drawingml/2006/main">
              <a:ext uri="{FF2B5EF4-FFF2-40B4-BE49-F238E27FC236}">
                <a16:creationId xmlns:a16="http://schemas.microsoft.com/office/drawing/2014/main" id="{66B1AAFA-897A-457A-83DF-64E18CF30DCD}"/>
              </a:ext>
            </a:extLst>
          </p:cNvPr>
          <p:cNvSpPr>
            <a:spLocks xmlns:a="http://schemas.openxmlformats.org/drawingml/2006/main" noGrp="1"/>
          </p:cNvSpPr>
          <p:nvPr/>
        </p:nvSpPr>
        <p:spPr>
          <a:xfrm xmlns:a="http://schemas.openxmlformats.org/drawingml/2006/main">
            <a:off x="4057650" y="3352800"/>
            <a:ext cx="3486150" cy="2209800"/>
          </a:xfrm>
          <a:prstGeom xmlns:a="http://schemas.openxmlformats.org/drawingml/2006/main" prst="roundRect">
            <a:avLst>
              <a:gd name="adj" fmla="val 5172"/>
            </a:avLst>
          </a:prstGeom>
          <a:solidFill xmlns:a="http://schemas.openxmlformats.org/drawingml/2006/main">
            <a:srgbClr val="EDEDED"/>
          </a:solidFill>
          <a:ln xmlns:a="http://schemas.openxmlformats.org/drawingml/2006/main" w="9525">
            <a:solidFill>
              <a:srgbClr val="EDEDED"/>
            </a:solidFill>
            <a:prstDash val="solid"/>
          </a:ln>
        </p:spPr>
      </p:sp>
      <p:sp>
        <p:nvSpPr>
          <p:cNvPr id="24" name="">
            <a:extLst xmlns:a="http://schemas.openxmlformats.org/drawingml/2006/main">
              <a:ext uri="{FF2B5EF4-FFF2-40B4-BE49-F238E27FC236}">
                <a16:creationId xmlns:a16="http://schemas.microsoft.com/office/drawing/2014/main" id="{CA2AB731-4DF7-4248-AF23-3E802472D1BF}"/>
              </a:ext>
            </a:extLst>
          </p:cNvPr>
          <p:cNvSpPr>
            <a:spLocks xmlns:a="http://schemas.openxmlformats.org/drawingml/2006/main" noGrp="1"/>
          </p:cNvSpPr>
          <p:nvPr/>
        </p:nvSpPr>
        <p:spPr>
          <a:xfrm xmlns:a="http://schemas.openxmlformats.org/drawingml/2006/main">
            <a:off x="4229100" y="3524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Why compress to 32?</a:t>
            </a:r>
          </a:p>
        </p:txBody>
      </p:sp>
      <p:sp>
        <p:nvSpPr>
          <p:cNvPr id="25" name="">
            <a:extLst xmlns:a="http://schemas.openxmlformats.org/drawingml/2006/main">
              <a:ext uri="{FF2B5EF4-FFF2-40B4-BE49-F238E27FC236}">
                <a16:creationId xmlns:a16="http://schemas.microsoft.com/office/drawing/2014/main" id="{3B45FB66-6EB5-4A16-A2DA-7072480E74A3}"/>
              </a:ext>
            </a:extLst>
          </p:cNvPr>
          <p:cNvSpPr>
            <a:spLocks xmlns:a="http://schemas.openxmlformats.org/drawingml/2006/main" noGrp="1"/>
          </p:cNvSpPr>
          <p:nvPr/>
        </p:nvSpPr>
        <p:spPr>
          <a:xfrm xmlns:a="http://schemas.openxmlformats.org/drawingml/2006/main">
            <a:off x="4229100" y="3943350"/>
            <a:ext cx="3143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 bottleneck forces correlated measurements into a lower-dimensional context and reduces the number of downstream parameters.</a:t>
            </a:r>
          </a:p>
        </p:txBody>
      </p:sp>
      <p:sp>
        <p:nvSpPr>
          <p:cNvPr id="26" name="">
            <a:extLst xmlns:a="http://schemas.openxmlformats.org/drawingml/2006/main">
              <a:ext uri="{FF2B5EF4-FFF2-40B4-BE49-F238E27FC236}">
                <a16:creationId xmlns:a16="http://schemas.microsoft.com/office/drawing/2014/main" id="{7A457D6F-D46C-4448-A5A2-27D92C21F20C}"/>
              </a:ext>
            </a:extLst>
          </p:cNvPr>
          <p:cNvSpPr>
            <a:spLocks xmlns:a="http://schemas.openxmlformats.org/drawingml/2006/main" noGrp="1"/>
          </p:cNvSpPr>
          <p:nvPr/>
        </p:nvSpPr>
        <p:spPr>
          <a:xfrm xmlns:a="http://schemas.openxmlformats.org/drawingml/2006/main">
            <a:off x="7715250" y="3352800"/>
            <a:ext cx="3810000" cy="2209800"/>
          </a:xfrm>
          <a:prstGeom xmlns:a="http://schemas.openxmlformats.org/drawingml/2006/main" prst="roundRect">
            <a:avLst>
              <a:gd name="adj" fmla="val 5172"/>
            </a:avLst>
          </a:prstGeom>
          <a:solidFill xmlns:a="http://schemas.openxmlformats.org/drawingml/2006/main">
            <a:srgbClr val="FFF2E7"/>
          </a:solidFill>
          <a:ln xmlns:a="http://schemas.openxmlformats.org/drawingml/2006/main" w="9525">
            <a:solidFill>
              <a:srgbClr val="EDEDED"/>
            </a:solidFill>
            <a:prstDash val="solid"/>
          </a:ln>
        </p:spPr>
      </p:sp>
      <p:sp>
        <p:nvSpPr>
          <p:cNvPr id="27" name="">
            <a:extLst xmlns:a="http://schemas.openxmlformats.org/drawingml/2006/main">
              <a:ext uri="{FF2B5EF4-FFF2-40B4-BE49-F238E27FC236}">
                <a16:creationId xmlns:a16="http://schemas.microsoft.com/office/drawing/2014/main" id="{5A486238-C85D-4BB1-A253-CA0B267DBCED}"/>
              </a:ext>
            </a:extLst>
          </p:cNvPr>
          <p:cNvSpPr>
            <a:spLocks xmlns:a="http://schemas.openxmlformats.org/drawingml/2006/main" noGrp="1"/>
          </p:cNvSpPr>
          <p:nvPr/>
        </p:nvSpPr>
        <p:spPr>
          <a:xfrm xmlns:a="http://schemas.openxmlformats.org/drawingml/2006/main">
            <a:off x="7886700" y="3524250"/>
            <a:ext cx="3467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What importance showed</a:t>
            </a:r>
          </a:p>
        </p:txBody>
      </p:sp>
      <p:sp>
        <p:nvSpPr>
          <p:cNvPr id="28" name="">
            <a:extLst xmlns:a="http://schemas.openxmlformats.org/drawingml/2006/main">
              <a:ext uri="{FF2B5EF4-FFF2-40B4-BE49-F238E27FC236}">
                <a16:creationId xmlns:a16="http://schemas.microsoft.com/office/drawing/2014/main" id="{CA71F74F-A4E6-4B32-B150-BBD9F29920D1}"/>
              </a:ext>
            </a:extLst>
          </p:cNvPr>
          <p:cNvSpPr>
            <a:spLocks xmlns:a="http://schemas.openxmlformats.org/drawingml/2006/main" noGrp="1"/>
          </p:cNvSpPr>
          <p:nvPr/>
        </p:nvSpPr>
        <p:spPr>
          <a:xfrm xmlns:a="http://schemas.openxmlformats.org/drawingml/2006/main">
            <a:off x="7886700" y="3943350"/>
            <a:ext cx="34671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Permuting the entire scalar block reduced AUC by 0.128—far more than permuting all curves (0.009). This is a group effect, not proof that curves are useless.</a:t>
            </a:r>
          </a:p>
        </p:txBody>
      </p:sp>
      <p:sp>
        <p:nvSpPr>
          <p:cNvPr id="29" name="">
            <a:extLst xmlns:a="http://schemas.openxmlformats.org/drawingml/2006/main">
              <a:ext uri="{FF2B5EF4-FFF2-40B4-BE49-F238E27FC236}">
                <a16:creationId xmlns:a16="http://schemas.microsoft.com/office/drawing/2014/main" id="{69FF90AB-91AF-4FDF-AA85-0611DA48065B}"/>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CNN group permutation importance; fold-specific preprocessing</a:t>
            </a:r>
          </a:p>
        </p:txBody>
      </p:sp>
    </p:spTree>
    <p:extLst>
      <p:ext uri="{BB962C8B-B14F-4D97-AF65-F5344CB8AC3E}">
        <p14:creationId xmlns:p14="http://schemas.microsoft.com/office/powerpoint/2010/main" val="11136751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B2FB91C-B929-4912-A8C4-BA6B70455AF4}"/>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ATTENTION CNN · TOP INPUTS</a:t>
            </a:r>
          </a:p>
        </p:txBody>
      </p:sp>
      <p:sp>
        <p:nvSpPr>
          <p:cNvPr id="2" name="">
            <a:extLst xmlns:a="http://schemas.openxmlformats.org/drawingml/2006/main">
              <a:ext uri="{FF2B5EF4-FFF2-40B4-BE49-F238E27FC236}">
                <a16:creationId xmlns:a16="http://schemas.microsoft.com/office/drawing/2014/main" id="{F2948E43-A708-4D24-9302-12C1C6D5D979}"/>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CNN: scalar context dominated held-out importance</a:t>
            </a:r>
          </a:p>
        </p:txBody>
      </p:sp>
      <p:sp>
        <p:nvSpPr>
          <p:cNvPr id="3" name="">
            <a:extLst xmlns:a="http://schemas.openxmlformats.org/drawingml/2006/main">
              <a:ext uri="{FF2B5EF4-FFF2-40B4-BE49-F238E27FC236}">
                <a16:creationId xmlns:a16="http://schemas.microsoft.com/office/drawing/2014/main" id="{F809D2F7-03A3-45C3-A59D-B7860F4EDC6C}"/>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B2ED666F-F10B-4D6B-9445-9ABADA2DDDC6}"/>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3109739F-7494-4CC7-B8A9-159274CA4142}"/>
              </a:ext>
            </a:extLst>
          </p:cNvPr>
          <p:cNvSpPr>
            <a:spLocks xmlns:a="http://schemas.openxmlformats.org/drawingml/2006/main" noGrp="1"/>
          </p:cNvSpPr>
          <p:nvPr/>
        </p:nvSpPr>
        <p:spPr>
          <a:xfrm xmlns:a="http://schemas.openxmlformats.org/drawingml/2006/main">
            <a:off x="590550" y="160020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All 96 scalar features</a:t>
            </a:r>
          </a:p>
        </p:txBody>
      </p:sp>
      <p:sp>
        <p:nvSpPr>
          <p:cNvPr id="6" name="">
            <a:extLst xmlns:a="http://schemas.openxmlformats.org/drawingml/2006/main">
              <a:ext uri="{FF2B5EF4-FFF2-40B4-BE49-F238E27FC236}">
                <a16:creationId xmlns:a16="http://schemas.microsoft.com/office/drawing/2014/main" id="{752D368E-1A65-4C59-A44F-93AC1C9A6A1C}"/>
              </a:ext>
            </a:extLst>
          </p:cNvPr>
          <p:cNvSpPr>
            <a:spLocks xmlns:a="http://schemas.openxmlformats.org/drawingml/2006/main" noGrp="1"/>
          </p:cNvSpPr>
          <p:nvPr/>
        </p:nvSpPr>
        <p:spPr>
          <a:xfrm xmlns:a="http://schemas.openxmlformats.org/drawingml/2006/main">
            <a:off x="3775710" y="163830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7" name="">
            <a:extLst xmlns:a="http://schemas.openxmlformats.org/drawingml/2006/main">
              <a:ext uri="{FF2B5EF4-FFF2-40B4-BE49-F238E27FC236}">
                <a16:creationId xmlns:a16="http://schemas.microsoft.com/office/drawing/2014/main" id="{32AFFA21-1629-4884-A25C-A478AD248D9C}"/>
              </a:ext>
            </a:extLst>
          </p:cNvPr>
          <p:cNvSpPr>
            <a:spLocks xmlns:a="http://schemas.openxmlformats.org/drawingml/2006/main" noGrp="1"/>
          </p:cNvSpPr>
          <p:nvPr/>
        </p:nvSpPr>
        <p:spPr>
          <a:xfrm xmlns:a="http://schemas.openxmlformats.org/drawingml/2006/main">
            <a:off x="3775710" y="1638300"/>
            <a:ext cx="2786291"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117A3A5B-5CB8-4539-9C83-AC218217F73B}"/>
              </a:ext>
            </a:extLst>
          </p:cNvPr>
          <p:cNvSpPr>
            <a:spLocks xmlns:a="http://schemas.openxmlformats.org/drawingml/2006/main" noGrp="1"/>
          </p:cNvSpPr>
          <p:nvPr/>
        </p:nvSpPr>
        <p:spPr>
          <a:xfrm xmlns:a="http://schemas.openxmlformats.org/drawingml/2006/main">
            <a:off x="6960870" y="160020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0.128</a:t>
            </a:r>
          </a:p>
        </p:txBody>
      </p:sp>
      <p:sp>
        <p:nvSpPr>
          <p:cNvPr id="9" name="">
            <a:extLst xmlns:a="http://schemas.openxmlformats.org/drawingml/2006/main">
              <a:ext uri="{FF2B5EF4-FFF2-40B4-BE49-F238E27FC236}">
                <a16:creationId xmlns:a16="http://schemas.microsoft.com/office/drawing/2014/main" id="{6D68E0AC-5A5C-4F66-AABB-3476F29A798F}"/>
              </a:ext>
            </a:extLst>
          </p:cNvPr>
          <p:cNvSpPr>
            <a:spLocks xmlns:a="http://schemas.openxmlformats.org/drawingml/2006/main" noGrp="1"/>
          </p:cNvSpPr>
          <p:nvPr/>
        </p:nvSpPr>
        <p:spPr>
          <a:xfrm xmlns:a="http://schemas.openxmlformats.org/drawingml/2006/main">
            <a:off x="3775710" y="184785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0.0118–0.2413</a:t>
            </a:r>
          </a:p>
        </p:txBody>
      </p:sp>
      <p:sp>
        <p:nvSpPr>
          <p:cNvPr id="10" name="">
            <a:extLst xmlns:a="http://schemas.openxmlformats.org/drawingml/2006/main">
              <a:ext uri="{FF2B5EF4-FFF2-40B4-BE49-F238E27FC236}">
                <a16:creationId xmlns:a16="http://schemas.microsoft.com/office/drawing/2014/main" id="{2BEC3656-DF90-4291-A166-8BCFFADB1B44}"/>
              </a:ext>
            </a:extLst>
          </p:cNvPr>
          <p:cNvSpPr>
            <a:spLocks xmlns:a="http://schemas.openxmlformats.org/drawingml/2006/main" noGrp="1"/>
          </p:cNvSpPr>
          <p:nvPr/>
        </p:nvSpPr>
        <p:spPr>
          <a:xfrm xmlns:a="http://schemas.openxmlformats.org/drawingml/2006/main">
            <a:off x="590550" y="236220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All raw curves</a:t>
            </a:r>
          </a:p>
        </p:txBody>
      </p:sp>
      <p:sp>
        <p:nvSpPr>
          <p:cNvPr id="11" name="">
            <a:extLst xmlns:a="http://schemas.openxmlformats.org/drawingml/2006/main">
              <a:ext uri="{FF2B5EF4-FFF2-40B4-BE49-F238E27FC236}">
                <a16:creationId xmlns:a16="http://schemas.microsoft.com/office/drawing/2014/main" id="{E2810D17-D19A-409B-B9C2-527182977FC2}"/>
              </a:ext>
            </a:extLst>
          </p:cNvPr>
          <p:cNvSpPr>
            <a:spLocks xmlns:a="http://schemas.openxmlformats.org/drawingml/2006/main" noGrp="1"/>
          </p:cNvSpPr>
          <p:nvPr/>
        </p:nvSpPr>
        <p:spPr>
          <a:xfrm xmlns:a="http://schemas.openxmlformats.org/drawingml/2006/main">
            <a:off x="3775710" y="240030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2" name="">
            <a:extLst xmlns:a="http://schemas.openxmlformats.org/drawingml/2006/main">
              <a:ext uri="{FF2B5EF4-FFF2-40B4-BE49-F238E27FC236}">
                <a16:creationId xmlns:a16="http://schemas.microsoft.com/office/drawing/2014/main" id="{0B4E77EC-74C9-4BF8-8107-CD2256B5564B}"/>
              </a:ext>
            </a:extLst>
          </p:cNvPr>
          <p:cNvSpPr>
            <a:spLocks xmlns:a="http://schemas.openxmlformats.org/drawingml/2006/main" noGrp="1"/>
          </p:cNvSpPr>
          <p:nvPr/>
        </p:nvSpPr>
        <p:spPr>
          <a:xfrm xmlns:a="http://schemas.openxmlformats.org/drawingml/2006/main">
            <a:off x="3775710" y="2400300"/>
            <a:ext cx="197625"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3" name="">
            <a:extLst xmlns:a="http://schemas.openxmlformats.org/drawingml/2006/main">
              <a:ext uri="{FF2B5EF4-FFF2-40B4-BE49-F238E27FC236}">
                <a16:creationId xmlns:a16="http://schemas.microsoft.com/office/drawing/2014/main" id="{C353E4B8-9AA3-4AE9-9E48-929A4595287B}"/>
              </a:ext>
            </a:extLst>
          </p:cNvPr>
          <p:cNvSpPr>
            <a:spLocks xmlns:a="http://schemas.openxmlformats.org/drawingml/2006/main" noGrp="1"/>
          </p:cNvSpPr>
          <p:nvPr/>
        </p:nvSpPr>
        <p:spPr>
          <a:xfrm xmlns:a="http://schemas.openxmlformats.org/drawingml/2006/main">
            <a:off x="6960870" y="236220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0.009</a:t>
            </a:r>
          </a:p>
        </p:txBody>
      </p:sp>
      <p:sp>
        <p:nvSpPr>
          <p:cNvPr id="14" name="">
            <a:extLst xmlns:a="http://schemas.openxmlformats.org/drawingml/2006/main">
              <a:ext uri="{FF2B5EF4-FFF2-40B4-BE49-F238E27FC236}">
                <a16:creationId xmlns:a16="http://schemas.microsoft.com/office/drawing/2014/main" id="{8365E7A2-40E1-44E2-82AE-8BEBA3F4630E}"/>
              </a:ext>
            </a:extLst>
          </p:cNvPr>
          <p:cNvSpPr>
            <a:spLocks xmlns:a="http://schemas.openxmlformats.org/drawingml/2006/main" noGrp="1"/>
          </p:cNvSpPr>
          <p:nvPr/>
        </p:nvSpPr>
        <p:spPr>
          <a:xfrm xmlns:a="http://schemas.openxmlformats.org/drawingml/2006/main">
            <a:off x="3775710" y="260985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−0.0014–0.0209</a:t>
            </a:r>
          </a:p>
        </p:txBody>
      </p:sp>
      <p:sp>
        <p:nvSpPr>
          <p:cNvPr id="15" name="">
            <a:extLst xmlns:a="http://schemas.openxmlformats.org/drawingml/2006/main">
              <a:ext uri="{FF2B5EF4-FFF2-40B4-BE49-F238E27FC236}">
                <a16:creationId xmlns:a16="http://schemas.microsoft.com/office/drawing/2014/main" id="{982DD518-B8F8-4851-8063-8F445AA2E417}"/>
              </a:ext>
            </a:extLst>
          </p:cNvPr>
          <p:cNvSpPr>
            <a:spLocks xmlns:a="http://schemas.openxmlformats.org/drawingml/2006/main" noGrp="1"/>
          </p:cNvSpPr>
          <p:nvPr/>
        </p:nvSpPr>
        <p:spPr>
          <a:xfrm xmlns:a="http://schemas.openxmlformats.org/drawingml/2006/main">
            <a:off x="590550" y="312420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Endo within-ring peak robust SD</a:t>
            </a:r>
          </a:p>
        </p:txBody>
      </p:sp>
      <p:sp>
        <p:nvSpPr>
          <p:cNvPr id="16" name="">
            <a:extLst xmlns:a="http://schemas.openxmlformats.org/drawingml/2006/main">
              <a:ext uri="{FF2B5EF4-FFF2-40B4-BE49-F238E27FC236}">
                <a16:creationId xmlns:a16="http://schemas.microsoft.com/office/drawing/2014/main" id="{6BD24907-E969-488C-82BF-71444B8441B4}"/>
              </a:ext>
            </a:extLst>
          </p:cNvPr>
          <p:cNvSpPr>
            <a:spLocks xmlns:a="http://schemas.openxmlformats.org/drawingml/2006/main" noGrp="1"/>
          </p:cNvSpPr>
          <p:nvPr/>
        </p:nvSpPr>
        <p:spPr>
          <a:xfrm xmlns:a="http://schemas.openxmlformats.org/drawingml/2006/main">
            <a:off x="3775710" y="316230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7" name="">
            <a:extLst xmlns:a="http://schemas.openxmlformats.org/drawingml/2006/main">
              <a:ext uri="{FF2B5EF4-FFF2-40B4-BE49-F238E27FC236}">
                <a16:creationId xmlns:a16="http://schemas.microsoft.com/office/drawing/2014/main" id="{4A6F33A1-18F1-41AA-ABD5-158C8A66C3C6}"/>
              </a:ext>
            </a:extLst>
          </p:cNvPr>
          <p:cNvSpPr>
            <a:spLocks xmlns:a="http://schemas.openxmlformats.org/drawingml/2006/main" noGrp="1"/>
          </p:cNvSpPr>
          <p:nvPr/>
        </p:nvSpPr>
        <p:spPr>
          <a:xfrm xmlns:a="http://schemas.openxmlformats.org/drawingml/2006/main">
            <a:off x="3775710" y="3162300"/>
            <a:ext cx="149847"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18" name="">
            <a:extLst xmlns:a="http://schemas.openxmlformats.org/drawingml/2006/main">
              <a:ext uri="{FF2B5EF4-FFF2-40B4-BE49-F238E27FC236}">
                <a16:creationId xmlns:a16="http://schemas.microsoft.com/office/drawing/2014/main" id="{73898B18-42A7-427B-90C7-0C466899246E}"/>
              </a:ext>
            </a:extLst>
          </p:cNvPr>
          <p:cNvSpPr>
            <a:spLocks xmlns:a="http://schemas.openxmlformats.org/drawingml/2006/main" noGrp="1"/>
          </p:cNvSpPr>
          <p:nvPr/>
        </p:nvSpPr>
        <p:spPr>
          <a:xfrm xmlns:a="http://schemas.openxmlformats.org/drawingml/2006/main">
            <a:off x="6960870" y="312420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0.007</a:t>
            </a:r>
          </a:p>
        </p:txBody>
      </p:sp>
      <p:sp>
        <p:nvSpPr>
          <p:cNvPr id="19" name="">
            <a:extLst xmlns:a="http://schemas.openxmlformats.org/drawingml/2006/main">
              <a:ext uri="{FF2B5EF4-FFF2-40B4-BE49-F238E27FC236}">
                <a16:creationId xmlns:a16="http://schemas.microsoft.com/office/drawing/2014/main" id="{B613DE51-C417-4309-BAF0-81BF6ED5BF26}"/>
              </a:ext>
            </a:extLst>
          </p:cNvPr>
          <p:cNvSpPr>
            <a:spLocks xmlns:a="http://schemas.openxmlformats.org/drawingml/2006/main" noGrp="1"/>
          </p:cNvSpPr>
          <p:nvPr/>
        </p:nvSpPr>
        <p:spPr>
          <a:xfrm xmlns:a="http://schemas.openxmlformats.org/drawingml/2006/main">
            <a:off x="3775710" y="337185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−0.0003–0.0163</a:t>
            </a:r>
          </a:p>
        </p:txBody>
      </p:sp>
      <p:sp>
        <p:nvSpPr>
          <p:cNvPr id="20" name="">
            <a:extLst xmlns:a="http://schemas.openxmlformats.org/drawingml/2006/main">
              <a:ext uri="{FF2B5EF4-FFF2-40B4-BE49-F238E27FC236}">
                <a16:creationId xmlns:a16="http://schemas.microsoft.com/office/drawing/2014/main" id="{D1AEDB65-46A9-495F-8D7D-705C6DED0395}"/>
              </a:ext>
            </a:extLst>
          </p:cNvPr>
          <p:cNvSpPr>
            <a:spLocks xmlns:a="http://schemas.openxmlformats.org/drawingml/2006/main" noGrp="1"/>
          </p:cNvSpPr>
          <p:nvPr/>
        </p:nvSpPr>
        <p:spPr>
          <a:xfrm xmlns:a="http://schemas.openxmlformats.org/drawingml/2006/main">
            <a:off x="590550" y="388620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Current Mid curve channel</a:t>
            </a:r>
          </a:p>
        </p:txBody>
      </p:sp>
      <p:sp>
        <p:nvSpPr>
          <p:cNvPr id="21" name="">
            <a:extLst xmlns:a="http://schemas.openxmlformats.org/drawingml/2006/main">
              <a:ext uri="{FF2B5EF4-FFF2-40B4-BE49-F238E27FC236}">
                <a16:creationId xmlns:a16="http://schemas.microsoft.com/office/drawing/2014/main" id="{BA468F41-1E73-4A6A-86BC-E098FE307ACB}"/>
              </a:ext>
            </a:extLst>
          </p:cNvPr>
          <p:cNvSpPr>
            <a:spLocks xmlns:a="http://schemas.openxmlformats.org/drawingml/2006/main" noGrp="1"/>
          </p:cNvSpPr>
          <p:nvPr/>
        </p:nvSpPr>
        <p:spPr>
          <a:xfrm xmlns:a="http://schemas.openxmlformats.org/drawingml/2006/main">
            <a:off x="3775710" y="392430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2" name="">
            <a:extLst xmlns:a="http://schemas.openxmlformats.org/drawingml/2006/main">
              <a:ext uri="{FF2B5EF4-FFF2-40B4-BE49-F238E27FC236}">
                <a16:creationId xmlns:a16="http://schemas.microsoft.com/office/drawing/2014/main" id="{95033183-12D4-4EC2-BBCA-B8BBB4800E2C}"/>
              </a:ext>
            </a:extLst>
          </p:cNvPr>
          <p:cNvSpPr>
            <a:spLocks xmlns:a="http://schemas.openxmlformats.org/drawingml/2006/main" noGrp="1"/>
          </p:cNvSpPr>
          <p:nvPr/>
        </p:nvSpPr>
        <p:spPr>
          <a:xfrm xmlns:a="http://schemas.openxmlformats.org/drawingml/2006/main">
            <a:off x="3775710" y="3924300"/>
            <a:ext cx="145504"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23" name="">
            <a:extLst xmlns:a="http://schemas.openxmlformats.org/drawingml/2006/main">
              <a:ext uri="{FF2B5EF4-FFF2-40B4-BE49-F238E27FC236}">
                <a16:creationId xmlns:a16="http://schemas.microsoft.com/office/drawing/2014/main" id="{A516DE4A-413C-4542-B04B-09417F1B8962}"/>
              </a:ext>
            </a:extLst>
          </p:cNvPr>
          <p:cNvSpPr>
            <a:spLocks xmlns:a="http://schemas.openxmlformats.org/drawingml/2006/main" noGrp="1"/>
          </p:cNvSpPr>
          <p:nvPr/>
        </p:nvSpPr>
        <p:spPr>
          <a:xfrm xmlns:a="http://schemas.openxmlformats.org/drawingml/2006/main">
            <a:off x="6960870" y="388620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0.007</a:t>
            </a:r>
          </a:p>
        </p:txBody>
      </p:sp>
      <p:sp>
        <p:nvSpPr>
          <p:cNvPr id="24" name="">
            <a:extLst xmlns:a="http://schemas.openxmlformats.org/drawingml/2006/main">
              <a:ext uri="{FF2B5EF4-FFF2-40B4-BE49-F238E27FC236}">
                <a16:creationId xmlns:a16="http://schemas.microsoft.com/office/drawing/2014/main" id="{589FFDDF-1E9D-4166-BB84-F9CA4EF61280}"/>
              </a:ext>
            </a:extLst>
          </p:cNvPr>
          <p:cNvSpPr>
            <a:spLocks xmlns:a="http://schemas.openxmlformats.org/drawingml/2006/main" noGrp="1"/>
          </p:cNvSpPr>
          <p:nvPr/>
        </p:nvSpPr>
        <p:spPr>
          <a:xfrm xmlns:a="http://schemas.openxmlformats.org/drawingml/2006/main">
            <a:off x="3775710" y="413385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0.0008–0.0140</a:t>
            </a:r>
          </a:p>
        </p:txBody>
      </p:sp>
      <p:sp>
        <p:nvSpPr>
          <p:cNvPr id="25" name="">
            <a:extLst xmlns:a="http://schemas.openxmlformats.org/drawingml/2006/main">
              <a:ext uri="{FF2B5EF4-FFF2-40B4-BE49-F238E27FC236}">
                <a16:creationId xmlns:a16="http://schemas.microsoft.com/office/drawing/2014/main" id="{D9588F78-6171-4A40-BD2A-FC39E96BF2B2}"/>
              </a:ext>
            </a:extLst>
          </p:cNvPr>
          <p:cNvSpPr>
            <a:spLocks xmlns:a="http://schemas.openxmlformats.org/drawingml/2006/main" noGrp="1"/>
          </p:cNvSpPr>
          <p:nvPr/>
        </p:nvSpPr>
        <p:spPr>
          <a:xfrm xmlns:a="http://schemas.openxmlformats.org/drawingml/2006/main">
            <a:off x="590550" y="464820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Mid decline slope / 100 d</a:t>
            </a:r>
          </a:p>
        </p:txBody>
      </p:sp>
      <p:sp>
        <p:nvSpPr>
          <p:cNvPr id="26" name="">
            <a:extLst xmlns:a="http://schemas.openxmlformats.org/drawingml/2006/main">
              <a:ext uri="{FF2B5EF4-FFF2-40B4-BE49-F238E27FC236}">
                <a16:creationId xmlns:a16="http://schemas.microsoft.com/office/drawing/2014/main" id="{C2CFDC1A-ED3B-4256-877A-5586CB1E2017}"/>
              </a:ext>
            </a:extLst>
          </p:cNvPr>
          <p:cNvSpPr>
            <a:spLocks xmlns:a="http://schemas.openxmlformats.org/drawingml/2006/main" noGrp="1"/>
          </p:cNvSpPr>
          <p:nvPr/>
        </p:nvSpPr>
        <p:spPr>
          <a:xfrm xmlns:a="http://schemas.openxmlformats.org/drawingml/2006/main">
            <a:off x="3775710" y="468630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7" name="">
            <a:extLst xmlns:a="http://schemas.openxmlformats.org/drawingml/2006/main">
              <a:ext uri="{FF2B5EF4-FFF2-40B4-BE49-F238E27FC236}">
                <a16:creationId xmlns:a16="http://schemas.microsoft.com/office/drawing/2014/main" id="{B05F37C5-7AAA-4FD4-9586-15C678B7BB0C}"/>
              </a:ext>
            </a:extLst>
          </p:cNvPr>
          <p:cNvSpPr>
            <a:spLocks xmlns:a="http://schemas.openxmlformats.org/drawingml/2006/main" noGrp="1"/>
          </p:cNvSpPr>
          <p:nvPr/>
        </p:nvSpPr>
        <p:spPr>
          <a:xfrm xmlns:a="http://schemas.openxmlformats.org/drawingml/2006/main">
            <a:off x="3775710" y="4686300"/>
            <a:ext cx="143332" cy="171450"/>
          </a:xfrm>
          <a:prstGeom xmlns:a="http://schemas.openxmlformats.org/drawingml/2006/main" prst="roundRect">
            <a:avLst>
              <a:gd name="adj" fmla="val 50000"/>
            </a:avLst>
          </a:prstGeom>
          <a:solidFill xmlns:a="http://schemas.openxmlformats.org/drawingml/2006/main">
            <a:srgbClr val="C94949"/>
          </a:solidFill>
          <a:ln xmlns:a="http://schemas.openxmlformats.org/drawingml/2006/main" w="0">
            <a:solidFill>
              <a:srgbClr val="C94949"/>
            </a:solidFill>
            <a:prstDash val="solid"/>
          </a:ln>
        </p:spPr>
      </p:sp>
      <p:sp>
        <p:nvSpPr>
          <p:cNvPr id="28" name="">
            <a:extLst xmlns:a="http://schemas.openxmlformats.org/drawingml/2006/main">
              <a:ext uri="{FF2B5EF4-FFF2-40B4-BE49-F238E27FC236}">
                <a16:creationId xmlns:a16="http://schemas.microsoft.com/office/drawing/2014/main" id="{A828CB1C-F2A0-4A11-8B8B-C271E10DD8C9}"/>
              </a:ext>
            </a:extLst>
          </p:cNvPr>
          <p:cNvSpPr>
            <a:spLocks xmlns:a="http://schemas.openxmlformats.org/drawingml/2006/main" noGrp="1"/>
          </p:cNvSpPr>
          <p:nvPr/>
        </p:nvSpPr>
        <p:spPr>
          <a:xfrm xmlns:a="http://schemas.openxmlformats.org/drawingml/2006/main">
            <a:off x="6960870" y="464820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0.007</a:t>
            </a:r>
          </a:p>
        </p:txBody>
      </p:sp>
      <p:sp>
        <p:nvSpPr>
          <p:cNvPr id="29" name="">
            <a:extLst xmlns:a="http://schemas.openxmlformats.org/drawingml/2006/main">
              <a:ext uri="{FF2B5EF4-FFF2-40B4-BE49-F238E27FC236}">
                <a16:creationId xmlns:a16="http://schemas.microsoft.com/office/drawing/2014/main" id="{790F9ED0-2E1A-4DD5-8FE1-FB2FE2952E95}"/>
              </a:ext>
            </a:extLst>
          </p:cNvPr>
          <p:cNvSpPr>
            <a:spLocks xmlns:a="http://schemas.openxmlformats.org/drawingml/2006/main" noGrp="1"/>
          </p:cNvSpPr>
          <p:nvPr/>
        </p:nvSpPr>
        <p:spPr>
          <a:xfrm xmlns:a="http://schemas.openxmlformats.org/drawingml/2006/main">
            <a:off x="3775710" y="489585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small, positive rank contribution</a:t>
            </a:r>
          </a:p>
        </p:txBody>
      </p:sp>
      <p:sp>
        <p:nvSpPr>
          <p:cNvPr id="30" name="">
            <a:extLst xmlns:a="http://schemas.openxmlformats.org/drawingml/2006/main">
              <a:ext uri="{FF2B5EF4-FFF2-40B4-BE49-F238E27FC236}">
                <a16:creationId xmlns:a16="http://schemas.microsoft.com/office/drawing/2014/main" id="{5EC0EFC9-FD5B-439C-B214-A1C66B2B3C65}"/>
              </a:ext>
            </a:extLst>
          </p:cNvPr>
          <p:cNvSpPr>
            <a:spLocks xmlns:a="http://schemas.openxmlformats.org/drawingml/2006/main" noGrp="1"/>
          </p:cNvSpPr>
          <p:nvPr/>
        </p:nvSpPr>
        <p:spPr>
          <a:xfrm xmlns:a="http://schemas.openxmlformats.org/drawingml/2006/main">
            <a:off x="8153400" y="1600200"/>
            <a:ext cx="3371850" cy="3048000"/>
          </a:xfrm>
          <a:prstGeom xmlns:a="http://schemas.openxmlformats.org/drawingml/2006/main" prst="roundRect">
            <a:avLst>
              <a:gd name="adj" fmla="val 3750"/>
            </a:avLst>
          </a:prstGeom>
          <a:solidFill xmlns:a="http://schemas.openxmlformats.org/drawingml/2006/main">
            <a:srgbClr val="FFF2E7"/>
          </a:solidFill>
          <a:ln xmlns:a="http://schemas.openxmlformats.org/drawingml/2006/main" w="9525">
            <a:solidFill>
              <a:srgbClr val="EDEDED"/>
            </a:solidFill>
            <a:prstDash val="solid"/>
          </a:ln>
        </p:spPr>
      </p:sp>
      <p:sp>
        <p:nvSpPr>
          <p:cNvPr id="31" name="">
            <a:extLst xmlns:a="http://schemas.openxmlformats.org/drawingml/2006/main">
              <a:ext uri="{FF2B5EF4-FFF2-40B4-BE49-F238E27FC236}">
                <a16:creationId xmlns:a16="http://schemas.microsoft.com/office/drawing/2014/main" id="{F0824887-9F8F-4720-BDDD-1A65766B0AB7}"/>
              </a:ext>
            </a:extLst>
          </p:cNvPr>
          <p:cNvSpPr>
            <a:spLocks xmlns:a="http://schemas.openxmlformats.org/drawingml/2006/main" noGrp="1"/>
          </p:cNvSpPr>
          <p:nvPr/>
        </p:nvSpPr>
        <p:spPr>
          <a:xfrm xmlns:a="http://schemas.openxmlformats.org/drawingml/2006/main">
            <a:off x="8324850" y="1771650"/>
            <a:ext cx="302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Read this carefully</a:t>
            </a:r>
          </a:p>
        </p:txBody>
      </p:sp>
      <p:sp>
        <p:nvSpPr>
          <p:cNvPr id="32" name="">
            <a:extLst xmlns:a="http://schemas.openxmlformats.org/drawingml/2006/main">
              <a:ext uri="{FF2B5EF4-FFF2-40B4-BE49-F238E27FC236}">
                <a16:creationId xmlns:a16="http://schemas.microsoft.com/office/drawing/2014/main" id="{39B1AF6B-6700-4934-AF54-BBAA91639190}"/>
              </a:ext>
            </a:extLst>
          </p:cNvPr>
          <p:cNvSpPr>
            <a:spLocks xmlns:a="http://schemas.openxmlformats.org/drawingml/2006/main" noGrp="1"/>
          </p:cNvSpPr>
          <p:nvPr/>
        </p:nvSpPr>
        <p:spPr>
          <a:xfrm xmlns:a="http://schemas.openxmlformats.org/drawingml/2006/main">
            <a:off x="8324850" y="2190750"/>
            <a:ext cx="30289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Block importance is not comparable to a single feature on equal footing. The 96-feature scalar block contains correlated baseline, trajectory and variability information.</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most defensible result: the CNN used scalar context strongly; individual curve channels added smaller, partly redundant information.</a:t>
            </a:r>
          </a:p>
        </p:txBody>
      </p:sp>
      <p:sp>
        <p:nvSpPr>
          <p:cNvPr id="33" name="">
            <a:extLst xmlns:a="http://schemas.openxmlformats.org/drawingml/2006/main">
              <a:ext uri="{FF2B5EF4-FFF2-40B4-BE49-F238E27FC236}">
                <a16:creationId xmlns:a16="http://schemas.microsoft.com/office/drawing/2014/main" id="{58FD0AFD-EDD3-4374-B356-78DBAD51F5F3}"/>
              </a:ext>
            </a:extLst>
          </p:cNvPr>
          <p:cNvSpPr>
            <a:spLocks xmlns:a="http://schemas.openxmlformats.org/drawingml/2006/main" noGrp="1"/>
          </p:cNvSpPr>
          <p:nvPr/>
        </p:nvSpPr>
        <p:spPr>
          <a:xfrm xmlns:a="http://schemas.openxmlformats.org/drawingml/2006/main">
            <a:off x="8153400" y="4819650"/>
            <a:ext cx="3371850" cy="1104900"/>
          </a:xfrm>
          <a:prstGeom xmlns:a="http://schemas.openxmlformats.org/drawingml/2006/main" prst="roundRect">
            <a:avLst>
              <a:gd name="adj" fmla="val 10345"/>
            </a:avLst>
          </a:prstGeom>
          <a:solidFill xmlns:a="http://schemas.openxmlformats.org/drawingml/2006/main">
            <a:srgbClr val="EAF5FF"/>
          </a:solidFill>
          <a:ln xmlns:a="http://schemas.openxmlformats.org/drawingml/2006/main" w="9525">
            <a:solidFill>
              <a:srgbClr val="EDEDED"/>
            </a:solidFill>
            <a:prstDash val="solid"/>
          </a:ln>
        </p:spPr>
      </p:sp>
      <p:sp>
        <p:nvSpPr>
          <p:cNvPr id="34" name="">
            <a:extLst xmlns:a="http://schemas.openxmlformats.org/drawingml/2006/main">
              <a:ext uri="{FF2B5EF4-FFF2-40B4-BE49-F238E27FC236}">
                <a16:creationId xmlns:a16="http://schemas.microsoft.com/office/drawing/2014/main" id="{4C22AA25-FFE5-462E-A7E2-8F00D7C5EC48}"/>
              </a:ext>
            </a:extLst>
          </p:cNvPr>
          <p:cNvSpPr>
            <a:spLocks xmlns:a="http://schemas.openxmlformats.org/drawingml/2006/main" noGrp="1"/>
          </p:cNvSpPr>
          <p:nvPr/>
        </p:nvSpPr>
        <p:spPr>
          <a:xfrm xmlns:a="http://schemas.openxmlformats.org/drawingml/2006/main">
            <a:off x="8324850" y="4991100"/>
            <a:ext cx="302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50505"/>
                </a:solidFill>
                <a:latin typeface="Arial"/>
                <a:ea typeface="Arial"/>
                <a:cs typeface="Arial"/>
              </a:defRPr>
            </a:pPr>
            <a:r>
              <a:rPr sz="1350" b="1" i="0">
                <a:solidFill>
                  <a:srgbClr val="050505"/>
                </a:solidFill>
                <a:latin typeface="Arial"/>
                <a:ea typeface="Arial"/>
                <a:cs typeface="Arial"/>
              </a:rPr>
              <a:t>AP result</a:t>
            </a:r>
          </a:p>
        </p:txBody>
      </p:sp>
      <p:sp>
        <p:nvSpPr>
          <p:cNvPr id="35" name="">
            <a:extLst xmlns:a="http://schemas.openxmlformats.org/drawingml/2006/main">
              <a:ext uri="{FF2B5EF4-FFF2-40B4-BE49-F238E27FC236}">
                <a16:creationId xmlns:a16="http://schemas.microsoft.com/office/drawing/2014/main" id="{B7B941BA-D0BF-433E-A783-FBF48011378A}"/>
              </a:ext>
            </a:extLst>
          </p:cNvPr>
          <p:cNvSpPr>
            <a:spLocks xmlns:a="http://schemas.openxmlformats.org/drawingml/2006/main" noGrp="1"/>
          </p:cNvSpPr>
          <p:nvPr/>
        </p:nvSpPr>
        <p:spPr>
          <a:xfrm xmlns:a="http://schemas.openxmlformats.org/drawingml/2006/main">
            <a:off x="8324850" y="5410200"/>
            <a:ext cx="302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21"/>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Scalar block ΔAP 0.116; all curves ΔAP 0.013.</a:t>
            </a:r>
          </a:p>
        </p:txBody>
      </p:sp>
      <p:sp>
        <p:nvSpPr>
          <p:cNvPr id="36" name="">
            <a:extLst xmlns:a="http://schemas.openxmlformats.org/drawingml/2006/main">
              <a:ext uri="{FF2B5EF4-FFF2-40B4-BE49-F238E27FC236}">
                <a16:creationId xmlns:a16="http://schemas.microsoft.com/office/drawing/2014/main" id="{6E28F174-0182-44EC-9FED-9DB736F03E8C}"/>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held-out permutation ΔAUC; patient-bootstrap intervals</a:t>
            </a:r>
          </a:p>
        </p:txBody>
      </p:sp>
    </p:spTree>
    <p:extLst>
      <p:ext uri="{BB962C8B-B14F-4D97-AF65-F5344CB8AC3E}">
        <p14:creationId xmlns:p14="http://schemas.microsoft.com/office/powerpoint/2010/main" val="11168155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ADA7636-DC1A-424F-8C96-F836A9390D9E}"/>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ATTENTION CNN · NAMED FEATURE</a:t>
            </a:r>
          </a:p>
        </p:txBody>
      </p:sp>
      <p:sp>
        <p:nvSpPr>
          <p:cNvPr id="2" name="">
            <a:extLst xmlns:a="http://schemas.openxmlformats.org/drawingml/2006/main">
              <a:ext uri="{FF2B5EF4-FFF2-40B4-BE49-F238E27FC236}">
                <a16:creationId xmlns:a16="http://schemas.microsoft.com/office/drawing/2014/main" id="{FBFCBF42-1041-4B95-A669-962A566FAC28}"/>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Deep dive: within-ring peak robust dispersion</a:t>
            </a:r>
          </a:p>
        </p:txBody>
      </p:sp>
      <p:sp>
        <p:nvSpPr>
          <p:cNvPr id="3" name="">
            <a:extLst xmlns:a="http://schemas.openxmlformats.org/drawingml/2006/main">
              <a:ext uri="{FF2B5EF4-FFF2-40B4-BE49-F238E27FC236}">
                <a16:creationId xmlns:a16="http://schemas.microsoft.com/office/drawing/2014/main" id="{4856B12E-C147-441E-9BFF-2AEB16EBE735}"/>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46EB7C70-B617-4AB9-94E2-04AFFEFD2CB3}"/>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40FF3630-1FB7-40F5-90A4-63A2A633A8C8}"/>
              </a:ext>
            </a:extLst>
          </p:cNvPr>
          <p:cNvSpPr>
            <a:spLocks xmlns:a="http://schemas.openxmlformats.org/drawingml/2006/main" noGrp="1"/>
          </p:cNvSpPr>
          <p:nvPr/>
        </p:nvSpPr>
        <p:spPr>
          <a:xfrm xmlns:a="http://schemas.openxmlformats.org/drawingml/2006/main">
            <a:off x="400050" y="1543050"/>
            <a:ext cx="5334000" cy="990600"/>
          </a:xfrm>
          <a:prstGeom xmlns:a="http://schemas.openxmlformats.org/drawingml/2006/main" prst="roundRect">
            <a:avLst>
              <a:gd name="adj" fmla="val 7692"/>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DCDA8CBE-16D2-405D-9F79-18DD680D5326}"/>
              </a:ext>
            </a:extLst>
          </p:cNvPr>
          <p:cNvSpPr>
            <a:spLocks xmlns:a="http://schemas.openxmlformats.org/drawingml/2006/main" noGrp="1"/>
          </p:cNvSpPr>
          <p:nvPr/>
        </p:nvSpPr>
        <p:spPr>
          <a:xfrm xmlns:a="http://schemas.openxmlformats.org/drawingml/2006/main">
            <a:off x="571500" y="1695450"/>
            <a:ext cx="499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robust SD(x₁…xₖ) = 1.4826 × median |xᵢ − median(x)|</a:t>
            </a:r>
          </a:p>
        </p:txBody>
      </p:sp>
      <p:sp>
        <p:nvSpPr>
          <p:cNvPr id="7" name="">
            <a:extLst xmlns:a="http://schemas.openxmlformats.org/drawingml/2006/main">
              <a:ext uri="{FF2B5EF4-FFF2-40B4-BE49-F238E27FC236}">
                <a16:creationId xmlns:a16="http://schemas.microsoft.com/office/drawing/2014/main" id="{DF1F7FA0-F6AD-4F2C-A4A7-FAE25A34CED2}"/>
              </a:ext>
            </a:extLst>
          </p:cNvPr>
          <p:cNvSpPr>
            <a:spLocks xmlns:a="http://schemas.openxmlformats.org/drawingml/2006/main" noGrp="1"/>
          </p:cNvSpPr>
          <p:nvPr/>
        </p:nvSpPr>
        <p:spPr>
          <a:xfrm xmlns:a="http://schemas.openxmlformats.org/drawingml/2006/main">
            <a:off x="533400" y="2266950"/>
            <a:ext cx="506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Calculated separately within anatomical rings, then averaged</a:t>
            </a:r>
          </a:p>
        </p:txBody>
      </p:sp>
      <p:sp>
        <p:nvSpPr>
          <p:cNvPr id="8" name="">
            <a:extLst xmlns:a="http://schemas.openxmlformats.org/drawingml/2006/main">
              <a:ext uri="{FF2B5EF4-FFF2-40B4-BE49-F238E27FC236}">
                <a16:creationId xmlns:a16="http://schemas.microsoft.com/office/drawing/2014/main" id="{BC032E06-0D15-4383-8DE2-11E1C907B237}"/>
              </a:ext>
            </a:extLst>
          </p:cNvPr>
          <p:cNvSpPr>
            <a:spLocks xmlns:a="http://schemas.openxmlformats.org/drawingml/2006/main" noGrp="1"/>
          </p:cNvSpPr>
          <p:nvPr/>
        </p:nvSpPr>
        <p:spPr>
          <a:xfrm xmlns:a="http://schemas.openxmlformats.org/drawingml/2006/main">
            <a:off x="400050" y="2819400"/>
            <a:ext cx="5334000" cy="2724150"/>
          </a:xfrm>
          <a:prstGeom xmlns:a="http://schemas.openxmlformats.org/drawingml/2006/main" prst="roundRect">
            <a:avLst>
              <a:gd name="adj" fmla="val 4196"/>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85BB6A18-4DEE-4E2E-A982-B62A07F5C749}"/>
              </a:ext>
            </a:extLst>
          </p:cNvPr>
          <p:cNvSpPr>
            <a:spLocks xmlns:a="http://schemas.openxmlformats.org/drawingml/2006/main" noGrp="1"/>
          </p:cNvSpPr>
          <p:nvPr/>
        </p:nvSpPr>
        <p:spPr>
          <a:xfrm xmlns:a="http://schemas.openxmlformats.org/drawingml/2006/main">
            <a:off x="571500" y="2990850"/>
            <a:ext cx="499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Exact meaning</a:t>
            </a:r>
          </a:p>
        </p:txBody>
      </p:sp>
      <p:sp>
        <p:nvSpPr>
          <p:cNvPr id="10" name="">
            <a:extLst xmlns:a="http://schemas.openxmlformats.org/drawingml/2006/main">
              <a:ext uri="{FF2B5EF4-FFF2-40B4-BE49-F238E27FC236}">
                <a16:creationId xmlns:a16="http://schemas.microsoft.com/office/drawing/2014/main" id="{EBC14BDC-219E-4796-A030-F3D1798E2B2B}"/>
              </a:ext>
            </a:extLst>
          </p:cNvPr>
          <p:cNvSpPr>
            <a:spLocks xmlns:a="http://schemas.openxmlformats.org/drawingml/2006/main" noGrp="1"/>
          </p:cNvSpPr>
          <p:nvPr/>
        </p:nvSpPr>
        <p:spPr>
          <a:xfrm xmlns:a="http://schemas.openxmlformats.org/drawingml/2006/main">
            <a:off x="571500" y="3409950"/>
            <a:ext cx="49911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For each ring, collect the absolute peak longitudinal strain across the segments belonging to that ring. Compute a median-absolute-deviation scale estimate. Average the ring-level dispersions.</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Higher value = segments at the same ventricular level have less uniform peak contraction.</a:t>
            </a:r>
          </a:p>
        </p:txBody>
      </p:sp>
      <p:sp>
        <p:nvSpPr>
          <p:cNvPr id="11" name="">
            <a:extLst xmlns:a="http://schemas.openxmlformats.org/drawingml/2006/main">
              <a:ext uri="{FF2B5EF4-FFF2-40B4-BE49-F238E27FC236}">
                <a16:creationId xmlns:a16="http://schemas.microsoft.com/office/drawing/2014/main" id="{AEF0EB2C-A7CE-4E96-B558-1ADD2C08C702}"/>
              </a:ext>
            </a:extLst>
          </p:cNvPr>
          <p:cNvSpPr>
            <a:spLocks xmlns:a="http://schemas.openxmlformats.org/drawingml/2006/main" noGrp="1"/>
          </p:cNvSpPr>
          <p:nvPr/>
        </p:nvSpPr>
        <p:spPr>
          <a:xfrm xmlns:a="http://schemas.openxmlformats.org/drawingml/2006/main">
            <a:off x="6000750" y="1543050"/>
            <a:ext cx="5524500" cy="1790700"/>
          </a:xfrm>
          <a:prstGeom xmlns:a="http://schemas.openxmlformats.org/drawingml/2006/main" prst="roundRect">
            <a:avLst>
              <a:gd name="adj" fmla="val 6383"/>
            </a:avLst>
          </a:prstGeom>
          <a:solidFill xmlns:a="http://schemas.openxmlformats.org/drawingml/2006/main">
            <a:srgbClr val="EBF6E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F6258552-D184-4E49-997C-5407EAD65F69}"/>
              </a:ext>
            </a:extLst>
          </p:cNvPr>
          <p:cNvSpPr>
            <a:spLocks xmlns:a="http://schemas.openxmlformats.org/drawingml/2006/main" noGrp="1"/>
          </p:cNvSpPr>
          <p:nvPr/>
        </p:nvSpPr>
        <p:spPr>
          <a:xfrm xmlns:a="http://schemas.openxmlformats.org/drawingml/2006/main">
            <a:off x="6172200" y="1714500"/>
            <a:ext cx="518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Why robust?</a:t>
            </a:r>
          </a:p>
        </p:txBody>
      </p:sp>
      <p:sp>
        <p:nvSpPr>
          <p:cNvPr id="13" name="">
            <a:extLst xmlns:a="http://schemas.openxmlformats.org/drawingml/2006/main">
              <a:ext uri="{FF2B5EF4-FFF2-40B4-BE49-F238E27FC236}">
                <a16:creationId xmlns:a16="http://schemas.microsoft.com/office/drawing/2014/main" id="{3A8232CD-6CC4-432C-B19A-ACAE8E6A134F}"/>
              </a:ext>
            </a:extLst>
          </p:cNvPr>
          <p:cNvSpPr>
            <a:spLocks xmlns:a="http://schemas.openxmlformats.org/drawingml/2006/main" noGrp="1"/>
          </p:cNvSpPr>
          <p:nvPr/>
        </p:nvSpPr>
        <p:spPr>
          <a:xfrm xmlns:a="http://schemas.openxmlformats.org/drawingml/2006/main">
            <a:off x="6172200" y="2133600"/>
            <a:ext cx="51816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One badly tracked segment can inflate ordinary SD. Median/MAD reduces—but does not eliminate—the influence of outliers and vendor measurement noise.</a:t>
            </a:r>
          </a:p>
        </p:txBody>
      </p:sp>
      <p:sp>
        <p:nvSpPr>
          <p:cNvPr id="14" name="">
            <a:extLst xmlns:a="http://schemas.openxmlformats.org/drawingml/2006/main">
              <a:ext uri="{FF2B5EF4-FFF2-40B4-BE49-F238E27FC236}">
                <a16:creationId xmlns:a16="http://schemas.microsoft.com/office/drawing/2014/main" id="{BECBD308-3830-447E-A968-C2797AECDEEF}"/>
              </a:ext>
            </a:extLst>
          </p:cNvPr>
          <p:cNvSpPr>
            <a:spLocks xmlns:a="http://schemas.openxmlformats.org/drawingml/2006/main" noGrp="1"/>
          </p:cNvSpPr>
          <p:nvPr/>
        </p:nvSpPr>
        <p:spPr>
          <a:xfrm xmlns:a="http://schemas.openxmlformats.org/drawingml/2006/main">
            <a:off x="6000750" y="3524250"/>
            <a:ext cx="5524500" cy="2019300"/>
          </a:xfrm>
          <a:prstGeom xmlns:a="http://schemas.openxmlformats.org/drawingml/2006/main" prst="roundRect">
            <a:avLst>
              <a:gd name="adj" fmla="val 5660"/>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AA770704-9A52-4092-8179-C45259ABC434}"/>
              </a:ext>
            </a:extLst>
          </p:cNvPr>
          <p:cNvSpPr>
            <a:spLocks xmlns:a="http://schemas.openxmlformats.org/drawingml/2006/main" noGrp="1"/>
          </p:cNvSpPr>
          <p:nvPr/>
        </p:nvSpPr>
        <p:spPr>
          <a:xfrm xmlns:a="http://schemas.openxmlformats.org/drawingml/2006/main">
            <a:off x="6172200" y="3695700"/>
            <a:ext cx="518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Physiological hypothesis</a:t>
            </a:r>
          </a:p>
        </p:txBody>
      </p:sp>
      <p:sp>
        <p:nvSpPr>
          <p:cNvPr id="16" name="">
            <a:extLst xmlns:a="http://schemas.openxmlformats.org/drawingml/2006/main">
              <a:ext uri="{FF2B5EF4-FFF2-40B4-BE49-F238E27FC236}">
                <a16:creationId xmlns:a16="http://schemas.microsoft.com/office/drawing/2014/main" id="{31AABF31-C620-46F6-9267-86A998006757}"/>
              </a:ext>
            </a:extLst>
          </p:cNvPr>
          <p:cNvSpPr>
            <a:spLocks xmlns:a="http://schemas.openxmlformats.org/drawingml/2006/main" noGrp="1"/>
          </p:cNvSpPr>
          <p:nvPr/>
        </p:nvSpPr>
        <p:spPr>
          <a:xfrm xmlns:a="http://schemas.openxmlformats.org/drawingml/2006/main">
            <a:off x="6172200" y="4114800"/>
            <a:ext cx="51816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 myocardium losing coordinated function may become regionally heterogeneous before the global average crosses the deterioration threshold. Within-ring comparison controls partly for the normal apex-to-base strain gradient.</a:t>
            </a:r>
          </a:p>
        </p:txBody>
      </p:sp>
      <p:sp>
        <p:nvSpPr>
          <p:cNvPr id="17" name="">
            <a:extLst xmlns:a="http://schemas.openxmlformats.org/drawingml/2006/main">
              <a:ext uri="{FF2B5EF4-FFF2-40B4-BE49-F238E27FC236}">
                <a16:creationId xmlns:a16="http://schemas.microsoft.com/office/drawing/2014/main" id="{276AA484-F38D-4C01-BD17-AB7857DC822D}"/>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robust_sd implementation; segmental cardiotoxicity evidence</a:t>
            </a:r>
          </a:p>
        </p:txBody>
      </p:sp>
    </p:spTree>
    <p:extLst>
      <p:ext uri="{BB962C8B-B14F-4D97-AF65-F5344CB8AC3E}">
        <p14:creationId xmlns:p14="http://schemas.microsoft.com/office/powerpoint/2010/main" val="21163535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9EBD3BC-5B05-4170-969D-CE38972C0E1A}"/>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ATTENTION CNN · CURVE CHANNELS</a:t>
            </a:r>
          </a:p>
        </p:txBody>
      </p:sp>
      <p:sp>
        <p:nvSpPr>
          <p:cNvPr id="2" name="">
            <a:extLst xmlns:a="http://schemas.openxmlformats.org/drawingml/2006/main">
              <a:ext uri="{FF2B5EF4-FFF2-40B4-BE49-F238E27FC236}">
                <a16:creationId xmlns:a16="http://schemas.microsoft.com/office/drawing/2014/main" id="{6E24A1CA-9140-4998-A811-A6219B1051D3}"/>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Current Mid and Endo curves add distinct raw evidence</a:t>
            </a:r>
          </a:p>
        </p:txBody>
      </p:sp>
      <p:sp>
        <p:nvSpPr>
          <p:cNvPr id="3" name="">
            <a:extLst xmlns:a="http://schemas.openxmlformats.org/drawingml/2006/main">
              <a:ext uri="{FF2B5EF4-FFF2-40B4-BE49-F238E27FC236}">
                <a16:creationId xmlns:a16="http://schemas.microsoft.com/office/drawing/2014/main" id="{7E2F594E-52DF-4840-97F5-680B0BB8C10B}"/>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2555516-0522-4F3B-9D9E-1166912B006F}"/>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C00884DB-3DBB-4781-8D03-254AD75505F7}"/>
              </a:ext>
            </a:extLst>
          </p:cNvPr>
          <p:cNvSpPr>
            <a:spLocks xmlns:a="http://schemas.openxmlformats.org/drawingml/2006/main" noGrp="1"/>
          </p:cNvSpPr>
          <p:nvPr/>
        </p:nvSpPr>
        <p:spPr>
          <a:xfrm xmlns:a="http://schemas.openxmlformats.org/drawingml/2006/main">
            <a:off x="400050" y="1562100"/>
            <a:ext cx="5314950" cy="3733800"/>
          </a:xfrm>
          <a:prstGeom xmlns:a="http://schemas.openxmlformats.org/drawingml/2006/main" prst="roundRect">
            <a:avLst>
              <a:gd name="adj" fmla="val 3061"/>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38EE7D37-211E-4933-901C-2404CE8DD402}"/>
              </a:ext>
            </a:extLst>
          </p:cNvPr>
          <p:cNvSpPr>
            <a:spLocks xmlns:a="http://schemas.openxmlformats.org/drawingml/2006/main" noGrp="1"/>
          </p:cNvSpPr>
          <p:nvPr/>
        </p:nvSpPr>
        <p:spPr>
          <a:xfrm xmlns:a="http://schemas.openxmlformats.org/drawingml/2006/main">
            <a:off x="571500" y="1733550"/>
            <a:ext cx="4972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Current Mid curve · channel 2</a:t>
            </a:r>
          </a:p>
        </p:txBody>
      </p:sp>
      <p:sp>
        <p:nvSpPr>
          <p:cNvPr id="7" name="">
            <a:extLst xmlns:a="http://schemas.openxmlformats.org/drawingml/2006/main">
              <a:ext uri="{FF2B5EF4-FFF2-40B4-BE49-F238E27FC236}">
                <a16:creationId xmlns:a16="http://schemas.microsoft.com/office/drawing/2014/main" id="{3967A301-0360-4940-B413-58E3B9ADBE44}"/>
              </a:ext>
            </a:extLst>
          </p:cNvPr>
          <p:cNvSpPr>
            <a:spLocks xmlns:a="http://schemas.openxmlformats.org/drawingml/2006/main" noGrp="1"/>
          </p:cNvSpPr>
          <p:nvPr/>
        </p:nvSpPr>
        <p:spPr>
          <a:xfrm xmlns:a="http://schemas.openxmlformats.org/drawingml/2006/main">
            <a:off x="571500" y="2152650"/>
            <a:ext cx="497205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Input: Mₜ(s,τ) for every segment and normalized cycle time.</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CNN can detect local motifs such as shallower peaks, delayed recovery, altered systolic contour or post-systolic shortening without predefining them.</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Held-out ΔAUC: 0.0067; CI excluded zero in this analysis.</a:t>
            </a:r>
          </a:p>
        </p:txBody>
      </p:sp>
      <p:sp>
        <p:nvSpPr>
          <p:cNvPr id="8" name="">
            <a:extLst xmlns:a="http://schemas.openxmlformats.org/drawingml/2006/main">
              <a:ext uri="{FF2B5EF4-FFF2-40B4-BE49-F238E27FC236}">
                <a16:creationId xmlns:a16="http://schemas.microsoft.com/office/drawing/2014/main" id="{7BAD26D8-6EF1-417B-B06E-4DA278C457BE}"/>
              </a:ext>
            </a:extLst>
          </p:cNvPr>
          <p:cNvSpPr>
            <a:spLocks xmlns:a="http://schemas.openxmlformats.org/drawingml/2006/main" noGrp="1"/>
          </p:cNvSpPr>
          <p:nvPr/>
        </p:nvSpPr>
        <p:spPr>
          <a:xfrm xmlns:a="http://schemas.openxmlformats.org/drawingml/2006/main">
            <a:off x="5981700" y="1562100"/>
            <a:ext cx="5543550" cy="3733800"/>
          </a:xfrm>
          <a:prstGeom xmlns:a="http://schemas.openxmlformats.org/drawingml/2006/main" prst="roundRect">
            <a:avLst>
              <a:gd name="adj" fmla="val 3061"/>
            </a:avLst>
          </a:prstGeom>
          <a:solidFill xmlns:a="http://schemas.openxmlformats.org/drawingml/2006/main">
            <a:srgbClr val="E9FA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2B3309E2-33CE-4AC2-869B-61431EE9FD7C}"/>
              </a:ext>
            </a:extLst>
          </p:cNvPr>
          <p:cNvSpPr>
            <a:spLocks xmlns:a="http://schemas.openxmlformats.org/drawingml/2006/main" noGrp="1"/>
          </p:cNvSpPr>
          <p:nvPr/>
        </p:nvSpPr>
        <p:spPr>
          <a:xfrm xmlns:a="http://schemas.openxmlformats.org/drawingml/2006/main">
            <a:off x="6153150" y="1733550"/>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Current Endo curve · channel 1</a:t>
            </a:r>
          </a:p>
        </p:txBody>
      </p:sp>
      <p:sp>
        <p:nvSpPr>
          <p:cNvPr id="10" name="">
            <a:extLst xmlns:a="http://schemas.openxmlformats.org/drawingml/2006/main">
              <a:ext uri="{FF2B5EF4-FFF2-40B4-BE49-F238E27FC236}">
                <a16:creationId xmlns:a16="http://schemas.microsoft.com/office/drawing/2014/main" id="{9E4F3AA3-9199-41AE-8948-D33F74F24B37}"/>
              </a:ext>
            </a:extLst>
          </p:cNvPr>
          <p:cNvSpPr>
            <a:spLocks xmlns:a="http://schemas.openxmlformats.org/drawingml/2006/main" noGrp="1"/>
          </p:cNvSpPr>
          <p:nvPr/>
        </p:nvSpPr>
        <p:spPr>
          <a:xfrm xmlns:a="http://schemas.openxmlformats.org/drawingml/2006/main">
            <a:off x="6153150" y="2152650"/>
            <a:ext cx="520065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Input: Eₜ(s,τ). Healthy hearts normally show a transmural longitudinal-strain gradient, with larger endocardial shortening magnitude than outer layers. Endo may therefore reveal early subendocardial or layer-specific change.</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Held-out ΔAUC: 0.0058; small and partly redundant.</a:t>
            </a:r>
          </a:p>
        </p:txBody>
      </p:sp>
      <p:sp>
        <p:nvSpPr>
          <p:cNvPr id="11" name="">
            <a:extLst xmlns:a="http://schemas.openxmlformats.org/drawingml/2006/main">
              <a:ext uri="{FF2B5EF4-FFF2-40B4-BE49-F238E27FC236}">
                <a16:creationId xmlns:a16="http://schemas.microsoft.com/office/drawing/2014/main" id="{C86D9E9B-4B61-4EE3-9156-B5F32EBE91C9}"/>
              </a:ext>
            </a:extLst>
          </p:cNvPr>
          <p:cNvSpPr>
            <a:spLocks xmlns:a="http://schemas.openxmlformats.org/drawingml/2006/main" noGrp="1"/>
          </p:cNvSpPr>
          <p:nvPr/>
        </p:nvSpPr>
        <p:spPr>
          <a:xfrm xmlns:a="http://schemas.openxmlformats.org/drawingml/2006/main">
            <a:off x="1066800" y="5600700"/>
            <a:ext cx="1005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The kernels are temporal (1D), but their input depth is six channels—so each learned filter can combine Endo, Mid and change information at the same time point.</a:t>
            </a:r>
          </a:p>
        </p:txBody>
      </p:sp>
      <p:sp>
        <p:nvSpPr>
          <p:cNvPr id="12" name="">
            <a:extLst xmlns:a="http://schemas.openxmlformats.org/drawingml/2006/main">
              <a:ext uri="{FF2B5EF4-FFF2-40B4-BE49-F238E27FC236}">
                <a16:creationId xmlns:a16="http://schemas.microsoft.com/office/drawing/2014/main" id="{961CE777-4FBD-401B-94D6-7D19B63CCCDA}"/>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CNN channel permutation; layer-specific strain physiology</a:t>
            </a:r>
          </a:p>
        </p:txBody>
      </p:sp>
    </p:spTree>
    <p:extLst>
      <p:ext uri="{BB962C8B-B14F-4D97-AF65-F5344CB8AC3E}">
        <p14:creationId xmlns:p14="http://schemas.microsoft.com/office/powerpoint/2010/main" val="14337278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99FB03F-F194-4AAE-8BBB-7A89A50F2EA0}"/>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ATTENTION CNN</a:t>
            </a:r>
          </a:p>
        </p:txBody>
      </p:sp>
      <p:sp>
        <p:nvSpPr>
          <p:cNvPr id="2" name="">
            <a:extLst xmlns:a="http://schemas.openxmlformats.org/drawingml/2006/main">
              <a:ext uri="{FF2B5EF4-FFF2-40B4-BE49-F238E27FC236}">
                <a16:creationId xmlns:a16="http://schemas.microsoft.com/office/drawing/2014/main" id="{9F12562C-AF70-4FBD-8EA5-465CE9C18E8B}"/>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76"/>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Segment attention is a learned pooling rule—not a causal map</a:t>
            </a:r>
          </a:p>
        </p:txBody>
      </p:sp>
      <p:sp>
        <p:nvSpPr>
          <p:cNvPr id="3" name="">
            <a:extLst xmlns:a="http://schemas.openxmlformats.org/drawingml/2006/main">
              <a:ext uri="{FF2B5EF4-FFF2-40B4-BE49-F238E27FC236}">
                <a16:creationId xmlns:a16="http://schemas.microsoft.com/office/drawing/2014/main" id="{386F86C6-0FC5-4479-B700-33C18D425C0B}"/>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5A386F5-DFB5-423D-A70D-D862B3DE2D26}"/>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7AB12620-4D2F-49CC-AC3F-F1B0AA2A9DE0}"/>
              </a:ext>
            </a:extLst>
          </p:cNvPr>
          <p:cNvSpPr>
            <a:spLocks xmlns:a="http://schemas.openxmlformats.org/drawingml/2006/main" noGrp="1"/>
          </p:cNvSpPr>
          <p:nvPr/>
        </p:nvSpPr>
        <p:spPr>
          <a:xfrm xmlns:a="http://schemas.openxmlformats.org/drawingml/2006/main">
            <a:off x="400050" y="1504950"/>
            <a:ext cx="6858000" cy="952500"/>
          </a:xfrm>
          <a:prstGeom xmlns:a="http://schemas.openxmlformats.org/drawingml/2006/main" prst="roundRect">
            <a:avLst>
              <a:gd name="adj" fmla="val 8000"/>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B524B169-68F7-475F-82AC-C89904B7E682}"/>
              </a:ext>
            </a:extLst>
          </p:cNvPr>
          <p:cNvSpPr>
            <a:spLocks xmlns:a="http://schemas.openxmlformats.org/drawingml/2006/main" noGrp="1"/>
          </p:cNvSpPr>
          <p:nvPr/>
        </p:nvSpPr>
        <p:spPr>
          <a:xfrm xmlns:a="http://schemas.openxmlformats.org/drawingml/2006/main">
            <a:off x="571500" y="1657350"/>
            <a:ext cx="651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aₛ = softmax(MLP(zₛ + eₛ))   ;   center = Σₛ aₛ zₛ</a:t>
            </a:r>
          </a:p>
        </p:txBody>
      </p:sp>
      <p:sp>
        <p:nvSpPr>
          <p:cNvPr id="7" name="">
            <a:extLst xmlns:a="http://schemas.openxmlformats.org/drawingml/2006/main">
              <a:ext uri="{FF2B5EF4-FFF2-40B4-BE49-F238E27FC236}">
                <a16:creationId xmlns:a16="http://schemas.microsoft.com/office/drawing/2014/main" id="{E0EEF911-BDDE-4EB3-B795-95C40B7A6449}"/>
              </a:ext>
            </a:extLst>
          </p:cNvPr>
          <p:cNvSpPr>
            <a:spLocks xmlns:a="http://schemas.openxmlformats.org/drawingml/2006/main" noGrp="1"/>
          </p:cNvSpPr>
          <p:nvPr/>
        </p:nvSpPr>
        <p:spPr>
          <a:xfrm xmlns:a="http://schemas.openxmlformats.org/drawingml/2006/main">
            <a:off x="533400" y="2190750"/>
            <a:ext cx="659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zₛ: 24-D segment embedding · eₛ: learned segment identity</a:t>
            </a:r>
          </a:p>
        </p:txBody>
      </p:sp>
      <p:sp>
        <p:nvSpPr>
          <p:cNvPr id="8" name="">
            <a:extLst xmlns:a="http://schemas.openxmlformats.org/drawingml/2006/main">
              <a:ext uri="{FF2B5EF4-FFF2-40B4-BE49-F238E27FC236}">
                <a16:creationId xmlns:a16="http://schemas.microsoft.com/office/drawing/2014/main" id="{515DED36-93BA-4154-9257-9DCA818CB810}"/>
              </a:ext>
            </a:extLst>
          </p:cNvPr>
          <p:cNvSpPr>
            <a:spLocks xmlns:a="http://schemas.openxmlformats.org/drawingml/2006/main" noGrp="1"/>
          </p:cNvSpPr>
          <p:nvPr/>
        </p:nvSpPr>
        <p:spPr>
          <a:xfrm xmlns:a="http://schemas.openxmlformats.org/drawingml/2006/main">
            <a:off x="400050" y="2895600"/>
            <a:ext cx="2600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Segment 9</a:t>
            </a:r>
          </a:p>
        </p:txBody>
      </p:sp>
      <p:sp>
        <p:nvSpPr>
          <p:cNvPr id="9" name="">
            <a:extLst xmlns:a="http://schemas.openxmlformats.org/drawingml/2006/main">
              <a:ext uri="{FF2B5EF4-FFF2-40B4-BE49-F238E27FC236}">
                <a16:creationId xmlns:a16="http://schemas.microsoft.com/office/drawing/2014/main" id="{902D5B7F-906E-45AA-9781-DF328315761C}"/>
              </a:ext>
            </a:extLst>
          </p:cNvPr>
          <p:cNvSpPr>
            <a:spLocks xmlns:a="http://schemas.openxmlformats.org/drawingml/2006/main" noGrp="1"/>
          </p:cNvSpPr>
          <p:nvPr/>
        </p:nvSpPr>
        <p:spPr>
          <a:xfrm xmlns:a="http://schemas.openxmlformats.org/drawingml/2006/main">
            <a:off x="3124200" y="2933700"/>
            <a:ext cx="260032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0" name="">
            <a:extLst xmlns:a="http://schemas.openxmlformats.org/drawingml/2006/main">
              <a:ext uri="{FF2B5EF4-FFF2-40B4-BE49-F238E27FC236}">
                <a16:creationId xmlns:a16="http://schemas.microsoft.com/office/drawing/2014/main" id="{8BFC9F11-3F42-4667-9665-071B185B5ED0}"/>
              </a:ext>
            </a:extLst>
          </p:cNvPr>
          <p:cNvSpPr>
            <a:spLocks xmlns:a="http://schemas.openxmlformats.org/drawingml/2006/main" noGrp="1"/>
          </p:cNvSpPr>
          <p:nvPr/>
        </p:nvSpPr>
        <p:spPr>
          <a:xfrm xmlns:a="http://schemas.openxmlformats.org/drawingml/2006/main">
            <a:off x="3124200" y="2933700"/>
            <a:ext cx="2404301"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AF7B1483-77F7-461A-A280-9CBE0DE9C579}"/>
              </a:ext>
            </a:extLst>
          </p:cNvPr>
          <p:cNvSpPr>
            <a:spLocks xmlns:a="http://schemas.openxmlformats.org/drawingml/2006/main" noGrp="1"/>
          </p:cNvSpPr>
          <p:nvPr/>
        </p:nvSpPr>
        <p:spPr>
          <a:xfrm xmlns:a="http://schemas.openxmlformats.org/drawingml/2006/main">
            <a:off x="5848350" y="2895600"/>
            <a:ext cx="742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0.0601</a:t>
            </a:r>
          </a:p>
        </p:txBody>
      </p:sp>
      <p:sp>
        <p:nvSpPr>
          <p:cNvPr id="12" name="">
            <a:extLst xmlns:a="http://schemas.openxmlformats.org/drawingml/2006/main">
              <a:ext uri="{FF2B5EF4-FFF2-40B4-BE49-F238E27FC236}">
                <a16:creationId xmlns:a16="http://schemas.microsoft.com/office/drawing/2014/main" id="{0A4DA183-741C-4E76-85B4-8AA2617090FD}"/>
              </a:ext>
            </a:extLst>
          </p:cNvPr>
          <p:cNvSpPr>
            <a:spLocks xmlns:a="http://schemas.openxmlformats.org/drawingml/2006/main" noGrp="1"/>
          </p:cNvSpPr>
          <p:nvPr/>
        </p:nvSpPr>
        <p:spPr>
          <a:xfrm xmlns:a="http://schemas.openxmlformats.org/drawingml/2006/main">
            <a:off x="400050" y="3448050"/>
            <a:ext cx="2600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Segment 18</a:t>
            </a:r>
          </a:p>
        </p:txBody>
      </p:sp>
      <p:sp>
        <p:nvSpPr>
          <p:cNvPr id="13" name="">
            <a:extLst xmlns:a="http://schemas.openxmlformats.org/drawingml/2006/main">
              <a:ext uri="{FF2B5EF4-FFF2-40B4-BE49-F238E27FC236}">
                <a16:creationId xmlns:a16="http://schemas.microsoft.com/office/drawing/2014/main" id="{2656DAD6-780D-4723-92D1-F1FDDABB1F9D}"/>
              </a:ext>
            </a:extLst>
          </p:cNvPr>
          <p:cNvSpPr>
            <a:spLocks xmlns:a="http://schemas.openxmlformats.org/drawingml/2006/main" noGrp="1"/>
          </p:cNvSpPr>
          <p:nvPr/>
        </p:nvSpPr>
        <p:spPr>
          <a:xfrm xmlns:a="http://schemas.openxmlformats.org/drawingml/2006/main">
            <a:off x="3124200" y="3486150"/>
            <a:ext cx="260032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4" name="">
            <a:extLst xmlns:a="http://schemas.openxmlformats.org/drawingml/2006/main">
              <a:ext uri="{FF2B5EF4-FFF2-40B4-BE49-F238E27FC236}">
                <a16:creationId xmlns:a16="http://schemas.microsoft.com/office/drawing/2014/main" id="{38F98FC6-0EC3-4CD1-AC12-CA839CEE0A60}"/>
              </a:ext>
            </a:extLst>
          </p:cNvPr>
          <p:cNvSpPr>
            <a:spLocks xmlns:a="http://schemas.openxmlformats.org/drawingml/2006/main" noGrp="1"/>
          </p:cNvSpPr>
          <p:nvPr/>
        </p:nvSpPr>
        <p:spPr>
          <a:xfrm xmlns:a="http://schemas.openxmlformats.org/drawingml/2006/main">
            <a:off x="3124200" y="3486150"/>
            <a:ext cx="2400300"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5" name="">
            <a:extLst xmlns:a="http://schemas.openxmlformats.org/drawingml/2006/main">
              <a:ext uri="{FF2B5EF4-FFF2-40B4-BE49-F238E27FC236}">
                <a16:creationId xmlns:a16="http://schemas.microsoft.com/office/drawing/2014/main" id="{2A1C00E2-05A4-4833-949E-1262D54EDD92}"/>
              </a:ext>
            </a:extLst>
          </p:cNvPr>
          <p:cNvSpPr>
            <a:spLocks xmlns:a="http://schemas.openxmlformats.org/drawingml/2006/main" noGrp="1"/>
          </p:cNvSpPr>
          <p:nvPr/>
        </p:nvSpPr>
        <p:spPr>
          <a:xfrm xmlns:a="http://schemas.openxmlformats.org/drawingml/2006/main">
            <a:off x="5848350" y="3448050"/>
            <a:ext cx="742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0.0600</a:t>
            </a:r>
          </a:p>
        </p:txBody>
      </p:sp>
      <p:sp>
        <p:nvSpPr>
          <p:cNvPr id="16" name="">
            <a:extLst xmlns:a="http://schemas.openxmlformats.org/drawingml/2006/main">
              <a:ext uri="{FF2B5EF4-FFF2-40B4-BE49-F238E27FC236}">
                <a16:creationId xmlns:a16="http://schemas.microsoft.com/office/drawing/2014/main" id="{176185CB-E087-45FE-927A-928F1476ED39}"/>
              </a:ext>
            </a:extLst>
          </p:cNvPr>
          <p:cNvSpPr>
            <a:spLocks xmlns:a="http://schemas.openxmlformats.org/drawingml/2006/main" noGrp="1"/>
          </p:cNvSpPr>
          <p:nvPr/>
        </p:nvSpPr>
        <p:spPr>
          <a:xfrm xmlns:a="http://schemas.openxmlformats.org/drawingml/2006/main">
            <a:off x="400050" y="4000500"/>
            <a:ext cx="2600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Segment 16</a:t>
            </a:r>
          </a:p>
        </p:txBody>
      </p:sp>
      <p:sp>
        <p:nvSpPr>
          <p:cNvPr id="17" name="">
            <a:extLst xmlns:a="http://schemas.openxmlformats.org/drawingml/2006/main">
              <a:ext uri="{FF2B5EF4-FFF2-40B4-BE49-F238E27FC236}">
                <a16:creationId xmlns:a16="http://schemas.microsoft.com/office/drawing/2014/main" id="{37F74C50-7053-4941-A577-118FFE59CB5F}"/>
              </a:ext>
            </a:extLst>
          </p:cNvPr>
          <p:cNvSpPr>
            <a:spLocks xmlns:a="http://schemas.openxmlformats.org/drawingml/2006/main" noGrp="1"/>
          </p:cNvSpPr>
          <p:nvPr/>
        </p:nvSpPr>
        <p:spPr>
          <a:xfrm xmlns:a="http://schemas.openxmlformats.org/drawingml/2006/main">
            <a:off x="3124200" y="4038600"/>
            <a:ext cx="260032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8" name="">
            <a:extLst xmlns:a="http://schemas.openxmlformats.org/drawingml/2006/main">
              <a:ext uri="{FF2B5EF4-FFF2-40B4-BE49-F238E27FC236}">
                <a16:creationId xmlns:a16="http://schemas.microsoft.com/office/drawing/2014/main" id="{9F936916-6708-493F-963E-335F033A2DD5}"/>
              </a:ext>
            </a:extLst>
          </p:cNvPr>
          <p:cNvSpPr>
            <a:spLocks xmlns:a="http://schemas.openxmlformats.org/drawingml/2006/main" noGrp="1"/>
          </p:cNvSpPr>
          <p:nvPr/>
        </p:nvSpPr>
        <p:spPr>
          <a:xfrm xmlns:a="http://schemas.openxmlformats.org/drawingml/2006/main">
            <a:off x="3124200" y="4038600"/>
            <a:ext cx="2380298"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19" name="">
            <a:extLst xmlns:a="http://schemas.openxmlformats.org/drawingml/2006/main">
              <a:ext uri="{FF2B5EF4-FFF2-40B4-BE49-F238E27FC236}">
                <a16:creationId xmlns:a16="http://schemas.microsoft.com/office/drawing/2014/main" id="{F2BDEED4-FE7F-431B-8B64-FF876F462494}"/>
              </a:ext>
            </a:extLst>
          </p:cNvPr>
          <p:cNvSpPr>
            <a:spLocks xmlns:a="http://schemas.openxmlformats.org/drawingml/2006/main" noGrp="1"/>
          </p:cNvSpPr>
          <p:nvPr/>
        </p:nvSpPr>
        <p:spPr>
          <a:xfrm xmlns:a="http://schemas.openxmlformats.org/drawingml/2006/main">
            <a:off x="5848350" y="4000500"/>
            <a:ext cx="742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0.0595</a:t>
            </a:r>
          </a:p>
        </p:txBody>
      </p:sp>
      <p:sp>
        <p:nvSpPr>
          <p:cNvPr id="20" name="">
            <a:extLst xmlns:a="http://schemas.openxmlformats.org/drawingml/2006/main">
              <a:ext uri="{FF2B5EF4-FFF2-40B4-BE49-F238E27FC236}">
                <a16:creationId xmlns:a16="http://schemas.microsoft.com/office/drawing/2014/main" id="{339D043E-121F-4D24-AB0D-36DFE7EB6BBA}"/>
              </a:ext>
            </a:extLst>
          </p:cNvPr>
          <p:cNvSpPr>
            <a:spLocks xmlns:a="http://schemas.openxmlformats.org/drawingml/2006/main" noGrp="1"/>
          </p:cNvSpPr>
          <p:nvPr/>
        </p:nvSpPr>
        <p:spPr>
          <a:xfrm xmlns:a="http://schemas.openxmlformats.org/drawingml/2006/main">
            <a:off x="400050" y="4552950"/>
            <a:ext cx="2600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Segment 8</a:t>
            </a:r>
          </a:p>
        </p:txBody>
      </p:sp>
      <p:sp>
        <p:nvSpPr>
          <p:cNvPr id="21" name="">
            <a:extLst xmlns:a="http://schemas.openxmlformats.org/drawingml/2006/main">
              <a:ext uri="{FF2B5EF4-FFF2-40B4-BE49-F238E27FC236}">
                <a16:creationId xmlns:a16="http://schemas.microsoft.com/office/drawing/2014/main" id="{20CFAD27-0E1D-4C46-99B6-07A951245DE1}"/>
              </a:ext>
            </a:extLst>
          </p:cNvPr>
          <p:cNvSpPr>
            <a:spLocks xmlns:a="http://schemas.openxmlformats.org/drawingml/2006/main" noGrp="1"/>
          </p:cNvSpPr>
          <p:nvPr/>
        </p:nvSpPr>
        <p:spPr>
          <a:xfrm xmlns:a="http://schemas.openxmlformats.org/drawingml/2006/main">
            <a:off x="3124200" y="4591050"/>
            <a:ext cx="260032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2" name="">
            <a:extLst xmlns:a="http://schemas.openxmlformats.org/drawingml/2006/main">
              <a:ext uri="{FF2B5EF4-FFF2-40B4-BE49-F238E27FC236}">
                <a16:creationId xmlns:a16="http://schemas.microsoft.com/office/drawing/2014/main" id="{AD856C70-C45B-4C9F-91CD-D7E897EE29DE}"/>
              </a:ext>
            </a:extLst>
          </p:cNvPr>
          <p:cNvSpPr>
            <a:spLocks xmlns:a="http://schemas.openxmlformats.org/drawingml/2006/main" noGrp="1"/>
          </p:cNvSpPr>
          <p:nvPr/>
        </p:nvSpPr>
        <p:spPr>
          <a:xfrm xmlns:a="http://schemas.openxmlformats.org/drawingml/2006/main">
            <a:off x="3124200" y="4591050"/>
            <a:ext cx="2360295"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23" name="">
            <a:extLst xmlns:a="http://schemas.openxmlformats.org/drawingml/2006/main">
              <a:ext uri="{FF2B5EF4-FFF2-40B4-BE49-F238E27FC236}">
                <a16:creationId xmlns:a16="http://schemas.microsoft.com/office/drawing/2014/main" id="{A73CDFE5-ABC8-4137-B387-854C85809E3C}"/>
              </a:ext>
            </a:extLst>
          </p:cNvPr>
          <p:cNvSpPr>
            <a:spLocks xmlns:a="http://schemas.openxmlformats.org/drawingml/2006/main" noGrp="1"/>
          </p:cNvSpPr>
          <p:nvPr/>
        </p:nvSpPr>
        <p:spPr>
          <a:xfrm xmlns:a="http://schemas.openxmlformats.org/drawingml/2006/main">
            <a:off x="5848350" y="4552950"/>
            <a:ext cx="742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0.0590</a:t>
            </a:r>
          </a:p>
        </p:txBody>
      </p:sp>
      <p:sp>
        <p:nvSpPr>
          <p:cNvPr id="24" name="">
            <a:extLst xmlns:a="http://schemas.openxmlformats.org/drawingml/2006/main">
              <a:ext uri="{FF2B5EF4-FFF2-40B4-BE49-F238E27FC236}">
                <a16:creationId xmlns:a16="http://schemas.microsoft.com/office/drawing/2014/main" id="{A4AAC5E2-092F-4F57-91A1-B00937DA9115}"/>
              </a:ext>
            </a:extLst>
          </p:cNvPr>
          <p:cNvSpPr>
            <a:spLocks xmlns:a="http://schemas.openxmlformats.org/drawingml/2006/main" noGrp="1"/>
          </p:cNvSpPr>
          <p:nvPr/>
        </p:nvSpPr>
        <p:spPr>
          <a:xfrm xmlns:a="http://schemas.openxmlformats.org/drawingml/2006/main">
            <a:off x="400050" y="5105400"/>
            <a:ext cx="2600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Segment 13</a:t>
            </a:r>
          </a:p>
        </p:txBody>
      </p:sp>
      <p:sp>
        <p:nvSpPr>
          <p:cNvPr id="25" name="">
            <a:extLst xmlns:a="http://schemas.openxmlformats.org/drawingml/2006/main">
              <a:ext uri="{FF2B5EF4-FFF2-40B4-BE49-F238E27FC236}">
                <a16:creationId xmlns:a16="http://schemas.microsoft.com/office/drawing/2014/main" id="{99E7DA8A-6395-49C5-B28B-0BAEA17FAD06}"/>
              </a:ext>
            </a:extLst>
          </p:cNvPr>
          <p:cNvSpPr>
            <a:spLocks xmlns:a="http://schemas.openxmlformats.org/drawingml/2006/main" noGrp="1"/>
          </p:cNvSpPr>
          <p:nvPr/>
        </p:nvSpPr>
        <p:spPr>
          <a:xfrm xmlns:a="http://schemas.openxmlformats.org/drawingml/2006/main">
            <a:off x="3124200" y="5143500"/>
            <a:ext cx="260032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6" name="">
            <a:extLst xmlns:a="http://schemas.openxmlformats.org/drawingml/2006/main">
              <a:ext uri="{FF2B5EF4-FFF2-40B4-BE49-F238E27FC236}">
                <a16:creationId xmlns:a16="http://schemas.microsoft.com/office/drawing/2014/main" id="{7644E72B-B601-4481-84B1-248B8CA40BAD}"/>
              </a:ext>
            </a:extLst>
          </p:cNvPr>
          <p:cNvSpPr>
            <a:spLocks xmlns:a="http://schemas.openxmlformats.org/drawingml/2006/main" noGrp="1"/>
          </p:cNvSpPr>
          <p:nvPr/>
        </p:nvSpPr>
        <p:spPr>
          <a:xfrm xmlns:a="http://schemas.openxmlformats.org/drawingml/2006/main">
            <a:off x="3124200" y="5143500"/>
            <a:ext cx="2356294" cy="171450"/>
          </a:xfrm>
          <a:prstGeom xmlns:a="http://schemas.openxmlformats.org/drawingml/2006/main" prst="roundRect">
            <a:avLst>
              <a:gd name="adj" fmla="val 50000"/>
            </a:avLst>
          </a:prstGeom>
          <a:solidFill xmlns:a="http://schemas.openxmlformats.org/drawingml/2006/main">
            <a:srgbClr val="C94949"/>
          </a:solidFill>
          <a:ln xmlns:a="http://schemas.openxmlformats.org/drawingml/2006/main" w="0">
            <a:solidFill>
              <a:srgbClr val="C94949"/>
            </a:solidFill>
            <a:prstDash val="solid"/>
          </a:ln>
        </p:spPr>
      </p:sp>
      <p:sp>
        <p:nvSpPr>
          <p:cNvPr id="27" name="">
            <a:extLst xmlns:a="http://schemas.openxmlformats.org/drawingml/2006/main">
              <a:ext uri="{FF2B5EF4-FFF2-40B4-BE49-F238E27FC236}">
                <a16:creationId xmlns:a16="http://schemas.microsoft.com/office/drawing/2014/main" id="{8E4F1B3A-BD32-4928-9F24-83DC358AD7D3}"/>
              </a:ext>
            </a:extLst>
          </p:cNvPr>
          <p:cNvSpPr>
            <a:spLocks xmlns:a="http://schemas.openxmlformats.org/drawingml/2006/main" noGrp="1"/>
          </p:cNvSpPr>
          <p:nvPr/>
        </p:nvSpPr>
        <p:spPr>
          <a:xfrm xmlns:a="http://schemas.openxmlformats.org/drawingml/2006/main">
            <a:off x="5848350" y="5105400"/>
            <a:ext cx="742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0.0589</a:t>
            </a:r>
          </a:p>
        </p:txBody>
      </p:sp>
      <p:sp>
        <p:nvSpPr>
          <p:cNvPr id="28" name="">
            <a:extLst xmlns:a="http://schemas.openxmlformats.org/drawingml/2006/main">
              <a:ext uri="{FF2B5EF4-FFF2-40B4-BE49-F238E27FC236}">
                <a16:creationId xmlns:a16="http://schemas.microsoft.com/office/drawing/2014/main" id="{6A98EDAF-4052-408F-86D6-A68E5C49414A}"/>
              </a:ext>
            </a:extLst>
          </p:cNvPr>
          <p:cNvSpPr>
            <a:spLocks xmlns:a="http://schemas.openxmlformats.org/drawingml/2006/main" noGrp="1"/>
          </p:cNvSpPr>
          <p:nvPr/>
        </p:nvSpPr>
        <p:spPr>
          <a:xfrm xmlns:a="http://schemas.openxmlformats.org/drawingml/2006/main">
            <a:off x="7086600" y="1504950"/>
            <a:ext cx="4438650" cy="3771900"/>
          </a:xfrm>
          <a:prstGeom xmlns:a="http://schemas.openxmlformats.org/drawingml/2006/main" prst="roundRect">
            <a:avLst>
              <a:gd name="adj" fmla="val 3030"/>
            </a:avLst>
          </a:prstGeom>
          <a:solidFill xmlns:a="http://schemas.openxmlformats.org/drawingml/2006/main">
            <a:srgbClr val="FFF2E7"/>
          </a:solidFill>
          <a:ln xmlns:a="http://schemas.openxmlformats.org/drawingml/2006/main" w="9525">
            <a:solidFill>
              <a:srgbClr val="EDEDED"/>
            </a:solidFill>
            <a:prstDash val="solid"/>
          </a:ln>
        </p:spPr>
      </p:sp>
      <p:sp>
        <p:nvSpPr>
          <p:cNvPr id="29" name="">
            <a:extLst xmlns:a="http://schemas.openxmlformats.org/drawingml/2006/main">
              <a:ext uri="{FF2B5EF4-FFF2-40B4-BE49-F238E27FC236}">
                <a16:creationId xmlns:a16="http://schemas.microsoft.com/office/drawing/2014/main" id="{314E1B7C-A61A-431B-86AA-223A274DC76F}"/>
              </a:ext>
            </a:extLst>
          </p:cNvPr>
          <p:cNvSpPr>
            <a:spLocks xmlns:a="http://schemas.openxmlformats.org/drawingml/2006/main" noGrp="1"/>
          </p:cNvSpPr>
          <p:nvPr/>
        </p:nvSpPr>
        <p:spPr>
          <a:xfrm xmlns:a="http://schemas.openxmlformats.org/drawingml/2006/main">
            <a:off x="725805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What the weights say</a:t>
            </a:r>
          </a:p>
        </p:txBody>
      </p:sp>
      <p:sp>
        <p:nvSpPr>
          <p:cNvPr id="30" name="">
            <a:extLst xmlns:a="http://schemas.openxmlformats.org/drawingml/2006/main">
              <a:ext uri="{FF2B5EF4-FFF2-40B4-BE49-F238E27FC236}">
                <a16:creationId xmlns:a16="http://schemas.microsoft.com/office/drawing/2014/main" id="{86E68F88-DB46-40B9-8C88-148333FC881A}"/>
              </a:ext>
            </a:extLst>
          </p:cNvPr>
          <p:cNvSpPr>
            <a:spLocks xmlns:a="http://schemas.openxmlformats.org/drawingml/2006/main" noGrp="1"/>
          </p:cNvSpPr>
          <p:nvPr/>
        </p:nvSpPr>
        <p:spPr>
          <a:xfrm xmlns:a="http://schemas.openxmlformats.org/drawingml/2006/main">
            <a:off x="7258050" y="2095500"/>
            <a:ext cx="409575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Uniform weight over 18 segments is 1/18 = 0.0556. The learned averages are close to uniform, so the model did not collapse onto one anatomical region.</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Weights depend on the segment representation and training fold. They indicate pooling emphasis, not that a segment causes toxicity.</a:t>
            </a:r>
          </a:p>
        </p:txBody>
      </p:sp>
      <p:sp>
        <p:nvSpPr>
          <p:cNvPr id="31" name="">
            <a:extLst xmlns:a="http://schemas.openxmlformats.org/drawingml/2006/main">
              <a:ext uri="{FF2B5EF4-FFF2-40B4-BE49-F238E27FC236}">
                <a16:creationId xmlns:a16="http://schemas.microsoft.com/office/drawing/2014/main" id="{113FB3A4-4038-4F3F-A226-0824E116A4D0}"/>
              </a:ext>
            </a:extLst>
          </p:cNvPr>
          <p:cNvSpPr>
            <a:spLocks xmlns:a="http://schemas.openxmlformats.org/drawingml/2006/main" noGrp="1"/>
          </p:cNvSpPr>
          <p:nvPr/>
        </p:nvSpPr>
        <p:spPr>
          <a:xfrm xmlns:a="http://schemas.openxmlformats.org/drawingml/2006/main">
            <a:off x="7086600" y="54483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73"/>
          </a:bodyPr>
          <a:lstStyle xmlns:a="http://schemas.openxmlformats.org/drawingml/2006/main"/>
          <a:p xmlns:a="http://schemas.openxmlformats.org/drawingml/2006/main">
            <a:pPr algn="l">
              <a:defRPr sz="1275" b="1" i="0">
                <a:solidFill>
                  <a:srgbClr val="050505"/>
                </a:solidFill>
                <a:latin typeface="Arial"/>
                <a:ea typeface="Arial"/>
                <a:cs typeface="Arial"/>
              </a:defRPr>
            </a:pPr>
            <a:r>
              <a:rPr sz="1275" b="1" i="0">
                <a:solidFill>
                  <a:srgbClr val="050505"/>
                </a:solidFill>
                <a:latin typeface="Arial"/>
                <a:ea typeface="Arial"/>
                <a:cs typeface="Arial"/>
              </a:rPr>
              <a:t>The SD and max pooling branches still preserve heterogeneity even when attention stays nearly uniform.</a:t>
            </a:r>
          </a:p>
        </p:txBody>
      </p:sp>
      <p:sp>
        <p:nvSpPr>
          <p:cNvPr id="32" name="">
            <a:extLst xmlns:a="http://schemas.openxmlformats.org/drawingml/2006/main">
              <a:ext uri="{FF2B5EF4-FFF2-40B4-BE49-F238E27FC236}">
                <a16:creationId xmlns:a16="http://schemas.microsoft.com/office/drawing/2014/main" id="{3FB98FCB-BC62-4619-8A9C-820BC8A13282}"/>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average learned attention weights across held-out predictions</a:t>
            </a:r>
          </a:p>
        </p:txBody>
      </p:sp>
    </p:spTree>
    <p:extLst>
      <p:ext uri="{BB962C8B-B14F-4D97-AF65-F5344CB8AC3E}">
        <p14:creationId xmlns:p14="http://schemas.microsoft.com/office/powerpoint/2010/main" val="1640039894"/>
      </p:ext>
    </p:extLst>
  </p:cSld>
</p:sld>
</file>

<file path=ppt/slides/slide1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7DF051-A5CE-4611-A895-67A729778A17}"/>
              </a:ext>
            </a:extLst>
          </p:cNvPr>
          <p:cNvSpPr>
            <a:spLocks xmlns:a="http://schemas.openxmlformats.org/drawingml/2006/main" noGrp="1"/>
          </p:cNvSpPr>
          <p:nvPr/>
        </p:nvSpPr>
        <p:spPr>
          <a:xfrm xmlns:a="http://schemas.openxmlformats.org/drawingml/2006/main">
            <a:off x="552450" y="533400"/>
            <a:ext cx="2286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600" b="1" i="0">
                <a:solidFill>
                  <a:srgbClr val="1F8A8A"/>
                </a:solidFill>
                <a:latin typeface="Arial"/>
                <a:ea typeface="Arial"/>
                <a:cs typeface="Arial"/>
              </a:defRPr>
            </a:pPr>
            <a:r>
              <a:rPr sz="9600" b="1" i="0">
                <a:solidFill>
                  <a:srgbClr val="1F8A8A"/>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90574800-45D7-45A6-AEBD-DE4EABB32326}"/>
              </a:ext>
            </a:extLst>
          </p:cNvPr>
          <p:cNvSpPr>
            <a:spLocks xmlns:a="http://schemas.openxmlformats.org/drawingml/2006/main" noGrp="1"/>
          </p:cNvSpPr>
          <p:nvPr/>
        </p:nvSpPr>
        <p:spPr>
          <a:xfrm xmlns:a="http://schemas.openxmlformats.org/drawingml/2006/main">
            <a:off x="552450" y="272415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i="0">
                <a:solidFill>
                  <a:srgbClr val="FFFFFF"/>
                </a:solidFill>
                <a:latin typeface="Arial"/>
                <a:ea typeface="Arial"/>
                <a:cs typeface="Arial"/>
              </a:defRPr>
            </a:pPr>
            <a:r>
              <a:rPr sz="4200" b="1" i="0">
                <a:solidFill>
                  <a:srgbClr val="FFFFFF"/>
                </a:solidFill>
                <a:latin typeface="Arial"/>
                <a:ea typeface="Arial"/>
                <a:cs typeface="Arial"/>
              </a:rPr>
              <a:t>MOMENT-small</a:t>
            </a:r>
          </a:p>
        </p:txBody>
      </p:sp>
      <p:sp>
        <p:nvSpPr>
          <p:cNvPr id="3" name="">
            <a:extLst xmlns:a="http://schemas.openxmlformats.org/drawingml/2006/main">
              <a:ext uri="{FF2B5EF4-FFF2-40B4-BE49-F238E27FC236}">
                <a16:creationId xmlns:a16="http://schemas.microsoft.com/office/drawing/2014/main" id="{CCB49B87-C2BC-4DB8-98EB-78A48CEFDBBF}"/>
              </a:ext>
            </a:extLst>
          </p:cNvPr>
          <p:cNvSpPr>
            <a:spLocks xmlns:a="http://schemas.openxmlformats.org/drawingml/2006/main" noGrp="1"/>
          </p:cNvSpPr>
          <p:nvPr/>
        </p:nvSpPr>
        <p:spPr>
          <a:xfrm xmlns:a="http://schemas.openxmlformats.org/drawingml/2006/main">
            <a:off x="552450" y="4095750"/>
            <a:ext cx="942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B8BCC4"/>
                </a:solidFill>
                <a:latin typeface="Arial"/>
                <a:ea typeface="Arial"/>
                <a:cs typeface="Arial"/>
              </a:defRPr>
            </a:pPr>
            <a:r>
              <a:rPr sz="1800" b="0" i="0">
                <a:solidFill>
                  <a:srgbClr val="B8BCC4"/>
                </a:solidFill>
                <a:latin typeface="Arial"/>
                <a:ea typeface="Arial"/>
                <a:cs typeface="Arial"/>
              </a:rPr>
              <a:t>A frozen time-series foundation model converts each curve into a 512-dimensional representation learned from a large, heterogeneous pretraining corpus.</a:t>
            </a:r>
          </a:p>
        </p:txBody>
      </p:sp>
      <p:sp>
        <p:nvSpPr>
          <p:cNvPr id="4" name="">
            <a:extLst xmlns:a="http://schemas.openxmlformats.org/drawingml/2006/main">
              <a:ext uri="{FF2B5EF4-FFF2-40B4-BE49-F238E27FC236}">
                <a16:creationId xmlns:a16="http://schemas.microsoft.com/office/drawing/2014/main" id="{209EED05-5589-43CB-B370-8F3AF4E2EBBC}"/>
              </a:ext>
            </a:extLst>
          </p:cNvPr>
          <p:cNvSpPr>
            <a:spLocks xmlns:a="http://schemas.openxmlformats.org/drawingml/2006/main" noGrp="1"/>
          </p:cNvSpPr>
          <p:nvPr/>
        </p:nvSpPr>
        <p:spPr>
          <a:xfrm xmlns:a="http://schemas.openxmlformats.org/drawingml/2006/main">
            <a:off x="552450" y="5562600"/>
            <a:ext cx="11068050" cy="0"/>
          </a:xfrm>
          <a:prstGeom xmlns:a="http://schemas.openxmlformats.org/drawingml/2006/main" prst="line">
            <a:avLst/>
          </a:prstGeom>
          <a:noFill xmlns:a="http://schemas.openxmlformats.org/drawingml/2006/main"/>
          <a:ln xmlns:a="http://schemas.openxmlformats.org/drawingml/2006/main" w="38100">
            <a:solidFill>
              <a:srgbClr val="1F8A8A"/>
            </a:solidFill>
            <a:prstDash val="solid"/>
          </a:ln>
        </p:spPr>
      </p:sp>
      <p:sp>
        <p:nvSpPr>
          <p:cNvPr id="5" name="">
            <a:extLst xmlns:a="http://schemas.openxmlformats.org/drawingml/2006/main">
              <a:ext uri="{FF2B5EF4-FFF2-40B4-BE49-F238E27FC236}">
                <a16:creationId xmlns:a16="http://schemas.microsoft.com/office/drawing/2014/main" id="{04250FE2-C5BC-44CD-94E5-C1612BC3EE09}"/>
              </a:ext>
            </a:extLst>
          </p:cNvPr>
          <p:cNvSpPr>
            <a:spLocks xmlns:a="http://schemas.openxmlformats.org/drawingml/2006/main" noGrp="1"/>
          </p:cNvSpPr>
          <p:nvPr/>
        </p:nvSpPr>
        <p:spPr>
          <a:xfrm xmlns:a="http://schemas.openxmlformats.org/drawingml/2006/main">
            <a:off x="552450" y="590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1F8A8A"/>
                </a:solidFill>
                <a:latin typeface="Arial"/>
                <a:ea typeface="Arial"/>
                <a:cs typeface="Arial"/>
              </a:defRPr>
            </a:pPr>
            <a:r>
              <a:rPr sz="975" b="1" i="0">
                <a:solidFill>
                  <a:srgbClr val="1F8A8A"/>
                </a:solidFill>
                <a:latin typeface="Arial"/>
                <a:ea typeface="Arial"/>
                <a:cs typeface="Arial"/>
              </a:rPr>
              <a:t>MODEL 02</a:t>
            </a:r>
          </a:p>
        </p:txBody>
      </p:sp>
    </p:spTree>
    <p:extLst>
      <p:ext uri="{BB962C8B-B14F-4D97-AF65-F5344CB8AC3E}">
        <p14:creationId xmlns:p14="http://schemas.microsoft.com/office/powerpoint/2010/main" val="16169325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34742DFD-C8B8-4BB7-BB20-514B473A727B}"/>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MOMENT-SMALL</a:t>
            </a:r>
          </a:p>
        </p:txBody>
      </p:sp>
      <p:sp>
        <p:nvSpPr>
          <p:cNvPr id="2" name="">
            <a:extLst xmlns:a="http://schemas.openxmlformats.org/drawingml/2006/main">
              <a:ext uri="{FF2B5EF4-FFF2-40B4-BE49-F238E27FC236}">
                <a16:creationId xmlns:a16="http://schemas.microsoft.com/office/drawing/2014/main" id="{20D757CD-ED0D-428E-87A0-F2C877CD1344}"/>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MOMENT is frozen; only the small classifier is fitted</a:t>
            </a:r>
          </a:p>
        </p:txBody>
      </p:sp>
      <p:sp>
        <p:nvSpPr>
          <p:cNvPr id="3" name="">
            <a:extLst xmlns:a="http://schemas.openxmlformats.org/drawingml/2006/main">
              <a:ext uri="{FF2B5EF4-FFF2-40B4-BE49-F238E27FC236}">
                <a16:creationId xmlns:a16="http://schemas.microsoft.com/office/drawing/2014/main" id="{7291FA4B-F254-4472-8865-97248DF16CF0}"/>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5B6AC73-EA48-46AB-B327-65DE659E867E}"/>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D870B1DF-5C71-4C17-A1C0-9E9E4761E7E4}"/>
              </a:ext>
            </a:extLst>
          </p:cNvPr>
          <p:cNvSpPr>
            <a:spLocks xmlns:a="http://schemas.openxmlformats.org/drawingml/2006/main" noGrp="1"/>
          </p:cNvSpPr>
          <p:nvPr/>
        </p:nvSpPr>
        <p:spPr>
          <a:xfrm xmlns:a="http://schemas.openxmlformats.org/drawingml/2006/main">
            <a:off x="2630805" y="22383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6" name="">
            <a:extLst xmlns:a="http://schemas.openxmlformats.org/drawingml/2006/main">
              <a:ext uri="{FF2B5EF4-FFF2-40B4-BE49-F238E27FC236}">
                <a16:creationId xmlns:a16="http://schemas.microsoft.com/office/drawing/2014/main" id="{154C6A1B-1195-4ACB-AEDC-0091DDD49891}"/>
              </a:ext>
            </a:extLst>
          </p:cNvPr>
          <p:cNvSpPr>
            <a:spLocks xmlns:a="http://schemas.openxmlformats.org/drawingml/2006/main" noGrp="1"/>
          </p:cNvSpPr>
          <p:nvPr/>
        </p:nvSpPr>
        <p:spPr>
          <a:xfrm xmlns:a="http://schemas.openxmlformats.org/drawingml/2006/main">
            <a:off x="4890135" y="22383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
            <a:extLst xmlns:a="http://schemas.openxmlformats.org/drawingml/2006/main">
              <a:ext uri="{FF2B5EF4-FFF2-40B4-BE49-F238E27FC236}">
                <a16:creationId xmlns:a16="http://schemas.microsoft.com/office/drawing/2014/main" id="{2E31BCB4-818C-40B5-8B2C-0E62AB705BAF}"/>
              </a:ext>
            </a:extLst>
          </p:cNvPr>
          <p:cNvSpPr>
            <a:spLocks xmlns:a="http://schemas.openxmlformats.org/drawingml/2006/main" noGrp="1"/>
          </p:cNvSpPr>
          <p:nvPr/>
        </p:nvSpPr>
        <p:spPr>
          <a:xfrm xmlns:a="http://schemas.openxmlformats.org/drawingml/2006/main">
            <a:off x="7149465" y="22383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8" name="">
            <a:extLst xmlns:a="http://schemas.openxmlformats.org/drawingml/2006/main">
              <a:ext uri="{FF2B5EF4-FFF2-40B4-BE49-F238E27FC236}">
                <a16:creationId xmlns:a16="http://schemas.microsoft.com/office/drawing/2014/main" id="{C58B0216-08C0-4B81-83E4-7CDF06F073D6}"/>
              </a:ext>
            </a:extLst>
          </p:cNvPr>
          <p:cNvSpPr>
            <a:spLocks xmlns:a="http://schemas.openxmlformats.org/drawingml/2006/main" noGrp="1"/>
          </p:cNvSpPr>
          <p:nvPr/>
        </p:nvSpPr>
        <p:spPr>
          <a:xfrm xmlns:a="http://schemas.openxmlformats.org/drawingml/2006/main">
            <a:off x="9408795" y="22383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9" name="">
            <a:extLst xmlns:a="http://schemas.openxmlformats.org/drawingml/2006/main">
              <a:ext uri="{FF2B5EF4-FFF2-40B4-BE49-F238E27FC236}">
                <a16:creationId xmlns:a16="http://schemas.microsoft.com/office/drawing/2014/main" id="{1FDA1AE7-0916-4132-BE07-DF0459672074}"/>
              </a:ext>
            </a:extLst>
          </p:cNvPr>
          <p:cNvSpPr>
            <a:spLocks xmlns:a="http://schemas.openxmlformats.org/drawingml/2006/main" noGrp="1"/>
          </p:cNvSpPr>
          <p:nvPr/>
        </p:nvSpPr>
        <p:spPr>
          <a:xfrm xmlns:a="http://schemas.openxmlformats.org/drawingml/2006/main">
            <a:off x="552450" y="1638300"/>
            <a:ext cx="2049780" cy="1200150"/>
          </a:xfrm>
          <a:prstGeom xmlns:a="http://schemas.openxmlformats.org/drawingml/2006/main" prst="roundRect">
            <a:avLst>
              <a:gd name="adj" fmla="val 9524"/>
            </a:avLst>
          </a:prstGeom>
          <a:solidFill xmlns:a="http://schemas.openxmlformats.org/drawingml/2006/main">
            <a:srgbClr val="EAF5FF"/>
          </a:solidFill>
          <a:ln xmlns:a="http://schemas.openxmlformats.org/drawingml/2006/main" w="9525">
            <a:solidFill>
              <a:srgbClr val="EDEDED"/>
            </a:solidFill>
            <a:prstDash val="solid"/>
          </a:ln>
        </p:spPr>
      </p:sp>
      <p:sp>
        <p:nvSpPr>
          <p:cNvPr id="10" name="">
            <a:extLst xmlns:a="http://schemas.openxmlformats.org/drawingml/2006/main">
              <a:ext uri="{FF2B5EF4-FFF2-40B4-BE49-F238E27FC236}">
                <a16:creationId xmlns:a16="http://schemas.microsoft.com/office/drawing/2014/main" id="{83C0E29C-6E87-4591-9863-ED4400464AB7}"/>
              </a:ext>
            </a:extLst>
          </p:cNvPr>
          <p:cNvSpPr>
            <a:spLocks xmlns:a="http://schemas.openxmlformats.org/drawingml/2006/main" noGrp="1"/>
          </p:cNvSpPr>
          <p:nvPr/>
        </p:nvSpPr>
        <p:spPr>
          <a:xfrm xmlns:a="http://schemas.openxmlformats.org/drawingml/2006/main">
            <a:off x="685800" y="179070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96 samples</a:t>
            </a:r>
          </a:p>
        </p:txBody>
      </p:sp>
      <p:sp>
        <p:nvSpPr>
          <p:cNvPr id="11" name="">
            <a:extLst xmlns:a="http://schemas.openxmlformats.org/drawingml/2006/main">
              <a:ext uri="{FF2B5EF4-FFF2-40B4-BE49-F238E27FC236}">
                <a16:creationId xmlns:a16="http://schemas.microsoft.com/office/drawing/2014/main" id="{62F1E055-DE0B-47DE-AAA8-404267B9CEF0}"/>
              </a:ext>
            </a:extLst>
          </p:cNvPr>
          <p:cNvSpPr>
            <a:spLocks xmlns:a="http://schemas.openxmlformats.org/drawingml/2006/main" noGrp="1"/>
          </p:cNvSpPr>
          <p:nvPr/>
        </p:nvSpPr>
        <p:spPr>
          <a:xfrm xmlns:a="http://schemas.openxmlformats.org/drawingml/2006/main">
            <a:off x="685800" y="2152650"/>
            <a:ext cx="178308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each segment × channel curve</a:t>
            </a:r>
          </a:p>
        </p:txBody>
      </p:sp>
      <p:sp>
        <p:nvSpPr>
          <p:cNvPr id="12" name="">
            <a:extLst xmlns:a="http://schemas.openxmlformats.org/drawingml/2006/main">
              <a:ext uri="{FF2B5EF4-FFF2-40B4-BE49-F238E27FC236}">
                <a16:creationId xmlns:a16="http://schemas.microsoft.com/office/drawing/2014/main" id="{16DCC02A-1725-4838-9365-3B0879FBEEC5}"/>
              </a:ext>
            </a:extLst>
          </p:cNvPr>
          <p:cNvSpPr>
            <a:spLocks xmlns:a="http://schemas.openxmlformats.org/drawingml/2006/main" noGrp="1"/>
          </p:cNvSpPr>
          <p:nvPr/>
        </p:nvSpPr>
        <p:spPr>
          <a:xfrm xmlns:a="http://schemas.openxmlformats.org/drawingml/2006/main">
            <a:off x="2811780" y="1638300"/>
            <a:ext cx="2049780" cy="1200150"/>
          </a:xfrm>
          <a:prstGeom xmlns:a="http://schemas.openxmlformats.org/drawingml/2006/main" prst="roundRect">
            <a:avLst>
              <a:gd name="adj" fmla="val 9524"/>
            </a:avLst>
          </a:prstGeom>
          <a:solidFill xmlns:a="http://schemas.openxmlformats.org/drawingml/2006/main">
            <a:srgbClr val="E9FAFF"/>
          </a:solidFill>
          <a:ln xmlns:a="http://schemas.openxmlformats.org/drawingml/2006/main" w="9525">
            <a:solidFill>
              <a:srgbClr val="EDEDED"/>
            </a:solidFill>
            <a:prstDash val="solid"/>
          </a:ln>
        </p:spPr>
      </p:sp>
      <p:sp>
        <p:nvSpPr>
          <p:cNvPr id="13" name="">
            <a:extLst xmlns:a="http://schemas.openxmlformats.org/drawingml/2006/main">
              <a:ext uri="{FF2B5EF4-FFF2-40B4-BE49-F238E27FC236}">
                <a16:creationId xmlns:a16="http://schemas.microsoft.com/office/drawing/2014/main" id="{539DD899-CA59-496F-8091-1AE5D4EED198}"/>
              </a:ext>
            </a:extLst>
          </p:cNvPr>
          <p:cNvSpPr>
            <a:spLocks xmlns:a="http://schemas.openxmlformats.org/drawingml/2006/main" noGrp="1"/>
          </p:cNvSpPr>
          <p:nvPr/>
        </p:nvSpPr>
        <p:spPr>
          <a:xfrm xmlns:a="http://schemas.openxmlformats.org/drawingml/2006/main">
            <a:off x="2945130" y="179070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Resize to 512</a:t>
            </a:r>
          </a:p>
        </p:txBody>
      </p:sp>
      <p:sp>
        <p:nvSpPr>
          <p:cNvPr id="14" name="">
            <a:extLst xmlns:a="http://schemas.openxmlformats.org/drawingml/2006/main">
              <a:ext uri="{FF2B5EF4-FFF2-40B4-BE49-F238E27FC236}">
                <a16:creationId xmlns:a16="http://schemas.microsoft.com/office/drawing/2014/main" id="{C432A5ED-5653-4F21-AA02-55F60CB891B1}"/>
              </a:ext>
            </a:extLst>
          </p:cNvPr>
          <p:cNvSpPr>
            <a:spLocks xmlns:a="http://schemas.openxmlformats.org/drawingml/2006/main" noGrp="1"/>
          </p:cNvSpPr>
          <p:nvPr/>
        </p:nvSpPr>
        <p:spPr>
          <a:xfrm xmlns:a="http://schemas.openxmlformats.org/drawingml/2006/main">
            <a:off x="2945130" y="2152650"/>
            <a:ext cx="178308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only for MOMENT input format</a:t>
            </a:r>
          </a:p>
        </p:txBody>
      </p:sp>
      <p:sp>
        <p:nvSpPr>
          <p:cNvPr id="15" name="">
            <a:extLst xmlns:a="http://schemas.openxmlformats.org/drawingml/2006/main">
              <a:ext uri="{FF2B5EF4-FFF2-40B4-BE49-F238E27FC236}">
                <a16:creationId xmlns:a16="http://schemas.microsoft.com/office/drawing/2014/main" id="{EC77956F-E6AB-4EA9-80DA-F57F00A9C9C6}"/>
              </a:ext>
            </a:extLst>
          </p:cNvPr>
          <p:cNvSpPr>
            <a:spLocks xmlns:a="http://schemas.openxmlformats.org/drawingml/2006/main" noGrp="1"/>
          </p:cNvSpPr>
          <p:nvPr/>
        </p:nvSpPr>
        <p:spPr>
          <a:xfrm xmlns:a="http://schemas.openxmlformats.org/drawingml/2006/main">
            <a:off x="5071110" y="1638300"/>
            <a:ext cx="2049780" cy="1200150"/>
          </a:xfrm>
          <a:prstGeom xmlns:a="http://schemas.openxmlformats.org/drawingml/2006/main" prst="roundRect">
            <a:avLst>
              <a:gd name="adj" fmla="val 9524"/>
            </a:avLst>
          </a:prstGeom>
          <a:solidFill xmlns:a="http://schemas.openxmlformats.org/drawingml/2006/main">
            <a:srgbClr val="EBF6EF"/>
          </a:solidFill>
          <a:ln xmlns:a="http://schemas.openxmlformats.org/drawingml/2006/main" w="9525">
            <a:solidFill>
              <a:srgbClr val="EDEDED"/>
            </a:solidFill>
            <a:prstDash val="solid"/>
          </a:ln>
        </p:spPr>
      </p:sp>
      <p:sp>
        <p:nvSpPr>
          <p:cNvPr id="16" name="">
            <a:extLst xmlns:a="http://schemas.openxmlformats.org/drawingml/2006/main">
              <a:ext uri="{FF2B5EF4-FFF2-40B4-BE49-F238E27FC236}">
                <a16:creationId xmlns:a16="http://schemas.microsoft.com/office/drawing/2014/main" id="{7A0957AF-9522-4CC6-A9F7-C1AD978812D7}"/>
              </a:ext>
            </a:extLst>
          </p:cNvPr>
          <p:cNvSpPr>
            <a:spLocks xmlns:a="http://schemas.openxmlformats.org/drawingml/2006/main" noGrp="1"/>
          </p:cNvSpPr>
          <p:nvPr/>
        </p:nvSpPr>
        <p:spPr>
          <a:xfrm xmlns:a="http://schemas.openxmlformats.org/drawingml/2006/main">
            <a:off x="5204460" y="179070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MOMENT-1-small</a:t>
            </a:r>
          </a:p>
        </p:txBody>
      </p:sp>
      <p:sp>
        <p:nvSpPr>
          <p:cNvPr id="17" name="">
            <a:extLst xmlns:a="http://schemas.openxmlformats.org/drawingml/2006/main">
              <a:ext uri="{FF2B5EF4-FFF2-40B4-BE49-F238E27FC236}">
                <a16:creationId xmlns:a16="http://schemas.microsoft.com/office/drawing/2014/main" id="{8246A949-CD3F-4F05-A224-CE96AFC15443}"/>
              </a:ext>
            </a:extLst>
          </p:cNvPr>
          <p:cNvSpPr>
            <a:spLocks xmlns:a="http://schemas.openxmlformats.org/drawingml/2006/main" noGrp="1"/>
          </p:cNvSpPr>
          <p:nvPr/>
        </p:nvSpPr>
        <p:spPr>
          <a:xfrm xmlns:a="http://schemas.openxmlformats.org/drawingml/2006/main">
            <a:off x="5204460" y="2152650"/>
            <a:ext cx="178308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frozen encoder</a:t>
            </a:r>
          </a:p>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no fine-tuning</a:t>
            </a:r>
          </a:p>
        </p:txBody>
      </p:sp>
      <p:sp>
        <p:nvSpPr>
          <p:cNvPr id="18" name="">
            <a:extLst xmlns:a="http://schemas.openxmlformats.org/drawingml/2006/main">
              <a:ext uri="{FF2B5EF4-FFF2-40B4-BE49-F238E27FC236}">
                <a16:creationId xmlns:a16="http://schemas.microsoft.com/office/drawing/2014/main" id="{0DBEE880-FC0D-419D-A2ED-ED9B312F2DD3}"/>
              </a:ext>
            </a:extLst>
          </p:cNvPr>
          <p:cNvSpPr>
            <a:spLocks xmlns:a="http://schemas.openxmlformats.org/drawingml/2006/main" noGrp="1"/>
          </p:cNvSpPr>
          <p:nvPr/>
        </p:nvSpPr>
        <p:spPr>
          <a:xfrm xmlns:a="http://schemas.openxmlformats.org/drawingml/2006/main">
            <a:off x="7330440" y="1638300"/>
            <a:ext cx="2049780" cy="1200150"/>
          </a:xfrm>
          <a:prstGeom xmlns:a="http://schemas.openxmlformats.org/drawingml/2006/main" prst="roundRect">
            <a:avLst>
              <a:gd name="adj" fmla="val 9524"/>
            </a:avLst>
          </a:prstGeom>
          <a:solidFill xmlns:a="http://schemas.openxmlformats.org/drawingml/2006/main">
            <a:srgbClr val="FFF2E7"/>
          </a:solidFill>
          <a:ln xmlns:a="http://schemas.openxmlformats.org/drawingml/2006/main" w="9525">
            <a:solidFill>
              <a:srgbClr val="EDEDED"/>
            </a:solidFill>
            <a:prstDash val="solid"/>
          </a:ln>
        </p:spPr>
      </p:sp>
      <p:sp>
        <p:nvSpPr>
          <p:cNvPr id="19" name="">
            <a:extLst xmlns:a="http://schemas.openxmlformats.org/drawingml/2006/main">
              <a:ext uri="{FF2B5EF4-FFF2-40B4-BE49-F238E27FC236}">
                <a16:creationId xmlns:a16="http://schemas.microsoft.com/office/drawing/2014/main" id="{C9FC1753-1B4C-4FDA-81C1-12B305B23CCA}"/>
              </a:ext>
            </a:extLst>
          </p:cNvPr>
          <p:cNvSpPr>
            <a:spLocks xmlns:a="http://schemas.openxmlformats.org/drawingml/2006/main" noGrp="1"/>
          </p:cNvSpPr>
          <p:nvPr/>
        </p:nvSpPr>
        <p:spPr>
          <a:xfrm xmlns:a="http://schemas.openxmlformats.org/drawingml/2006/main">
            <a:off x="7463790" y="179070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Patch mean</a:t>
            </a:r>
          </a:p>
        </p:txBody>
      </p:sp>
      <p:sp>
        <p:nvSpPr>
          <p:cNvPr id="20" name="">
            <a:extLst xmlns:a="http://schemas.openxmlformats.org/drawingml/2006/main">
              <a:ext uri="{FF2B5EF4-FFF2-40B4-BE49-F238E27FC236}">
                <a16:creationId xmlns:a16="http://schemas.microsoft.com/office/drawing/2014/main" id="{EC7E4D04-D41A-4104-B649-BBFDF77BD77D}"/>
              </a:ext>
            </a:extLst>
          </p:cNvPr>
          <p:cNvSpPr>
            <a:spLocks xmlns:a="http://schemas.openxmlformats.org/drawingml/2006/main" noGrp="1"/>
          </p:cNvSpPr>
          <p:nvPr/>
        </p:nvSpPr>
        <p:spPr>
          <a:xfrm xmlns:a="http://schemas.openxmlformats.org/drawingml/2006/main">
            <a:off x="7463790" y="2152650"/>
            <a:ext cx="178308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64 patches → 512-D</a:t>
            </a:r>
          </a:p>
        </p:txBody>
      </p:sp>
      <p:sp>
        <p:nvSpPr>
          <p:cNvPr id="21" name="">
            <a:extLst xmlns:a="http://schemas.openxmlformats.org/drawingml/2006/main">
              <a:ext uri="{FF2B5EF4-FFF2-40B4-BE49-F238E27FC236}">
                <a16:creationId xmlns:a16="http://schemas.microsoft.com/office/drawing/2014/main" id="{9BE1A79F-FA99-48E4-891A-3687A22A8455}"/>
              </a:ext>
            </a:extLst>
          </p:cNvPr>
          <p:cNvSpPr>
            <a:spLocks xmlns:a="http://schemas.openxmlformats.org/drawingml/2006/main" noGrp="1"/>
          </p:cNvSpPr>
          <p:nvPr/>
        </p:nvSpPr>
        <p:spPr>
          <a:xfrm xmlns:a="http://schemas.openxmlformats.org/drawingml/2006/main">
            <a:off x="9589770" y="1638300"/>
            <a:ext cx="2049780" cy="1200150"/>
          </a:xfrm>
          <a:prstGeom xmlns:a="http://schemas.openxmlformats.org/drawingml/2006/main" prst="roundRect">
            <a:avLst>
              <a:gd name="adj" fmla="val 9524"/>
            </a:avLst>
          </a:prstGeom>
          <a:solidFill xmlns:a="http://schemas.openxmlformats.org/drawingml/2006/main">
            <a:srgbClr val="FBECEC"/>
          </a:solidFill>
          <a:ln xmlns:a="http://schemas.openxmlformats.org/drawingml/2006/main" w="9525">
            <a:solidFill>
              <a:srgbClr val="EDEDED"/>
            </a:solidFill>
            <a:prstDash val="solid"/>
          </a:ln>
        </p:spPr>
      </p:sp>
      <p:sp>
        <p:nvSpPr>
          <p:cNvPr id="22" name="">
            <a:extLst xmlns:a="http://schemas.openxmlformats.org/drawingml/2006/main">
              <a:ext uri="{FF2B5EF4-FFF2-40B4-BE49-F238E27FC236}">
                <a16:creationId xmlns:a16="http://schemas.microsoft.com/office/drawing/2014/main" id="{F2A5C7E7-6C89-48DE-9FE2-9D2FE2E34EC1}"/>
              </a:ext>
            </a:extLst>
          </p:cNvPr>
          <p:cNvSpPr>
            <a:spLocks xmlns:a="http://schemas.openxmlformats.org/drawingml/2006/main" noGrp="1"/>
          </p:cNvSpPr>
          <p:nvPr/>
        </p:nvSpPr>
        <p:spPr>
          <a:xfrm xmlns:a="http://schemas.openxmlformats.org/drawingml/2006/main">
            <a:off x="9723120" y="179070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[18,6,512]</a:t>
            </a:r>
          </a:p>
        </p:txBody>
      </p:sp>
      <p:sp>
        <p:nvSpPr>
          <p:cNvPr id="23" name="">
            <a:extLst xmlns:a="http://schemas.openxmlformats.org/drawingml/2006/main">
              <a:ext uri="{FF2B5EF4-FFF2-40B4-BE49-F238E27FC236}">
                <a16:creationId xmlns:a16="http://schemas.microsoft.com/office/drawing/2014/main" id="{AB7D32EE-B97A-4DBE-8470-83C1F79B63A5}"/>
              </a:ext>
            </a:extLst>
          </p:cNvPr>
          <p:cNvSpPr>
            <a:spLocks xmlns:a="http://schemas.openxmlformats.org/drawingml/2006/main" noGrp="1"/>
          </p:cNvSpPr>
          <p:nvPr/>
        </p:nvSpPr>
        <p:spPr>
          <a:xfrm xmlns:a="http://schemas.openxmlformats.org/drawingml/2006/main">
            <a:off x="9723120" y="2152650"/>
            <a:ext cx="178308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segment × channel embedding</a:t>
            </a:r>
          </a:p>
        </p:txBody>
      </p:sp>
      <p:sp>
        <p:nvSpPr>
          <p:cNvPr id="24" name="">
            <a:extLst xmlns:a="http://schemas.openxmlformats.org/drawingml/2006/main">
              <a:ext uri="{FF2B5EF4-FFF2-40B4-BE49-F238E27FC236}">
                <a16:creationId xmlns:a16="http://schemas.microsoft.com/office/drawing/2014/main" id="{EEDBFA2E-26A5-4758-905E-4100BA9CE293}"/>
              </a:ext>
            </a:extLst>
          </p:cNvPr>
          <p:cNvSpPr>
            <a:spLocks xmlns:a="http://schemas.openxmlformats.org/drawingml/2006/main" noGrp="1"/>
          </p:cNvSpPr>
          <p:nvPr/>
        </p:nvSpPr>
        <p:spPr>
          <a:xfrm xmlns:a="http://schemas.openxmlformats.org/drawingml/2006/main">
            <a:off x="3633788" y="40386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5" name="">
            <a:extLst xmlns:a="http://schemas.openxmlformats.org/drawingml/2006/main">
              <a:ext uri="{FF2B5EF4-FFF2-40B4-BE49-F238E27FC236}">
                <a16:creationId xmlns:a16="http://schemas.microsoft.com/office/drawing/2014/main" id="{81C7A215-DA01-4E80-8338-D7557083C176}"/>
              </a:ext>
            </a:extLst>
          </p:cNvPr>
          <p:cNvSpPr>
            <a:spLocks xmlns:a="http://schemas.openxmlformats.org/drawingml/2006/main" noGrp="1"/>
          </p:cNvSpPr>
          <p:nvPr/>
        </p:nvSpPr>
        <p:spPr>
          <a:xfrm xmlns:a="http://schemas.openxmlformats.org/drawingml/2006/main">
            <a:off x="6019800" y="40386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6" name="">
            <a:extLst xmlns:a="http://schemas.openxmlformats.org/drawingml/2006/main">
              <a:ext uri="{FF2B5EF4-FFF2-40B4-BE49-F238E27FC236}">
                <a16:creationId xmlns:a16="http://schemas.microsoft.com/office/drawing/2014/main" id="{C47C34E0-8396-4B13-99E9-A41A8D8BC4B9}"/>
              </a:ext>
            </a:extLst>
          </p:cNvPr>
          <p:cNvSpPr>
            <a:spLocks xmlns:a="http://schemas.openxmlformats.org/drawingml/2006/main" noGrp="1"/>
          </p:cNvSpPr>
          <p:nvPr/>
        </p:nvSpPr>
        <p:spPr>
          <a:xfrm xmlns:a="http://schemas.openxmlformats.org/drawingml/2006/main">
            <a:off x="8405813" y="40386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7" name="">
            <a:extLst xmlns:a="http://schemas.openxmlformats.org/drawingml/2006/main">
              <a:ext uri="{FF2B5EF4-FFF2-40B4-BE49-F238E27FC236}">
                <a16:creationId xmlns:a16="http://schemas.microsoft.com/office/drawing/2014/main" id="{502BFC4C-F8F8-41CE-8DFC-750664FAE8BD}"/>
              </a:ext>
            </a:extLst>
          </p:cNvPr>
          <p:cNvSpPr>
            <a:spLocks xmlns:a="http://schemas.openxmlformats.org/drawingml/2006/main" noGrp="1"/>
          </p:cNvSpPr>
          <p:nvPr/>
        </p:nvSpPr>
        <p:spPr>
          <a:xfrm xmlns:a="http://schemas.openxmlformats.org/drawingml/2006/main">
            <a:off x="1428750" y="3524250"/>
            <a:ext cx="2176463" cy="1028700"/>
          </a:xfrm>
          <a:prstGeom xmlns:a="http://schemas.openxmlformats.org/drawingml/2006/main" prst="roundRect">
            <a:avLst>
              <a:gd name="adj" fmla="val 11111"/>
            </a:avLst>
          </a:prstGeom>
          <a:solidFill xmlns:a="http://schemas.openxmlformats.org/drawingml/2006/main">
            <a:srgbClr val="EAF5FF"/>
          </a:solidFill>
          <a:ln xmlns:a="http://schemas.openxmlformats.org/drawingml/2006/main" w="9525">
            <a:solidFill>
              <a:srgbClr val="EDEDED"/>
            </a:solidFill>
            <a:prstDash val="solid"/>
          </a:ln>
        </p:spPr>
      </p:sp>
      <p:sp>
        <p:nvSpPr>
          <p:cNvPr id="28" name="">
            <a:extLst xmlns:a="http://schemas.openxmlformats.org/drawingml/2006/main">
              <a:ext uri="{FF2B5EF4-FFF2-40B4-BE49-F238E27FC236}">
                <a16:creationId xmlns:a16="http://schemas.microsoft.com/office/drawing/2014/main" id="{2316B796-10B8-4869-A8DF-20C0F312F5C1}"/>
              </a:ext>
            </a:extLst>
          </p:cNvPr>
          <p:cNvSpPr>
            <a:spLocks xmlns:a="http://schemas.openxmlformats.org/drawingml/2006/main" noGrp="1"/>
          </p:cNvSpPr>
          <p:nvPr/>
        </p:nvSpPr>
        <p:spPr>
          <a:xfrm xmlns:a="http://schemas.openxmlformats.org/drawingml/2006/main">
            <a:off x="1562100" y="3676650"/>
            <a:ext cx="190976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Mean across segments</a:t>
            </a:r>
          </a:p>
        </p:txBody>
      </p:sp>
      <p:sp>
        <p:nvSpPr>
          <p:cNvPr id="29" name="">
            <a:extLst xmlns:a="http://schemas.openxmlformats.org/drawingml/2006/main">
              <a:ext uri="{FF2B5EF4-FFF2-40B4-BE49-F238E27FC236}">
                <a16:creationId xmlns:a16="http://schemas.microsoft.com/office/drawing/2014/main" id="{2EF4350B-5ABC-47ED-A263-E9B44BE8E0A4}"/>
              </a:ext>
            </a:extLst>
          </p:cNvPr>
          <p:cNvSpPr>
            <a:spLocks xmlns:a="http://schemas.openxmlformats.org/drawingml/2006/main" noGrp="1"/>
          </p:cNvSpPr>
          <p:nvPr/>
        </p:nvSpPr>
        <p:spPr>
          <a:xfrm xmlns:a="http://schemas.openxmlformats.org/drawingml/2006/main">
            <a:off x="1562100" y="4038600"/>
            <a:ext cx="19097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6×512</a:t>
            </a:r>
          </a:p>
        </p:txBody>
      </p:sp>
      <p:sp>
        <p:nvSpPr>
          <p:cNvPr id="30" name="">
            <a:extLst xmlns:a="http://schemas.openxmlformats.org/drawingml/2006/main">
              <a:ext uri="{FF2B5EF4-FFF2-40B4-BE49-F238E27FC236}">
                <a16:creationId xmlns:a16="http://schemas.microsoft.com/office/drawing/2014/main" id="{AECF7F0C-F1BD-449D-9ABC-FE07B8309B7A}"/>
              </a:ext>
            </a:extLst>
          </p:cNvPr>
          <p:cNvSpPr>
            <a:spLocks xmlns:a="http://schemas.openxmlformats.org/drawingml/2006/main" noGrp="1"/>
          </p:cNvSpPr>
          <p:nvPr/>
        </p:nvSpPr>
        <p:spPr>
          <a:xfrm xmlns:a="http://schemas.openxmlformats.org/drawingml/2006/main">
            <a:off x="3814763" y="3524250"/>
            <a:ext cx="2176463" cy="1028700"/>
          </a:xfrm>
          <a:prstGeom xmlns:a="http://schemas.openxmlformats.org/drawingml/2006/main" prst="roundRect">
            <a:avLst>
              <a:gd name="adj" fmla="val 11111"/>
            </a:avLst>
          </a:prstGeom>
          <a:solidFill xmlns:a="http://schemas.openxmlformats.org/drawingml/2006/main">
            <a:srgbClr val="EBF6EF"/>
          </a:solidFill>
          <a:ln xmlns:a="http://schemas.openxmlformats.org/drawingml/2006/main" w="9525">
            <a:solidFill>
              <a:srgbClr val="EDEDED"/>
            </a:solidFill>
            <a:prstDash val="solid"/>
          </a:ln>
        </p:spPr>
      </p:sp>
      <p:sp>
        <p:nvSpPr>
          <p:cNvPr id="31" name="">
            <a:extLst xmlns:a="http://schemas.openxmlformats.org/drawingml/2006/main">
              <a:ext uri="{FF2B5EF4-FFF2-40B4-BE49-F238E27FC236}">
                <a16:creationId xmlns:a16="http://schemas.microsoft.com/office/drawing/2014/main" id="{998F6389-2F0D-4130-9973-307B0308693D}"/>
              </a:ext>
            </a:extLst>
          </p:cNvPr>
          <p:cNvSpPr>
            <a:spLocks xmlns:a="http://schemas.openxmlformats.org/drawingml/2006/main" noGrp="1"/>
          </p:cNvSpPr>
          <p:nvPr/>
        </p:nvSpPr>
        <p:spPr>
          <a:xfrm xmlns:a="http://schemas.openxmlformats.org/drawingml/2006/main">
            <a:off x="3948113" y="3676650"/>
            <a:ext cx="190976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SD across segments</a:t>
            </a:r>
          </a:p>
        </p:txBody>
      </p:sp>
      <p:sp>
        <p:nvSpPr>
          <p:cNvPr id="32" name="">
            <a:extLst xmlns:a="http://schemas.openxmlformats.org/drawingml/2006/main">
              <a:ext uri="{FF2B5EF4-FFF2-40B4-BE49-F238E27FC236}">
                <a16:creationId xmlns:a16="http://schemas.microsoft.com/office/drawing/2014/main" id="{6D5A0968-6542-4055-BB44-BEE88A9F173B}"/>
              </a:ext>
            </a:extLst>
          </p:cNvPr>
          <p:cNvSpPr>
            <a:spLocks xmlns:a="http://schemas.openxmlformats.org/drawingml/2006/main" noGrp="1"/>
          </p:cNvSpPr>
          <p:nvPr/>
        </p:nvSpPr>
        <p:spPr>
          <a:xfrm xmlns:a="http://schemas.openxmlformats.org/drawingml/2006/main">
            <a:off x="3948113" y="4038600"/>
            <a:ext cx="19097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6×512</a:t>
            </a:r>
          </a:p>
        </p:txBody>
      </p:sp>
      <p:sp>
        <p:nvSpPr>
          <p:cNvPr id="33" name="">
            <a:extLst xmlns:a="http://schemas.openxmlformats.org/drawingml/2006/main">
              <a:ext uri="{FF2B5EF4-FFF2-40B4-BE49-F238E27FC236}">
                <a16:creationId xmlns:a16="http://schemas.microsoft.com/office/drawing/2014/main" id="{AE074417-FC11-4C78-96F2-F3A048BEB3E1}"/>
              </a:ext>
            </a:extLst>
          </p:cNvPr>
          <p:cNvSpPr>
            <a:spLocks xmlns:a="http://schemas.openxmlformats.org/drawingml/2006/main" noGrp="1"/>
          </p:cNvSpPr>
          <p:nvPr/>
        </p:nvSpPr>
        <p:spPr>
          <a:xfrm xmlns:a="http://schemas.openxmlformats.org/drawingml/2006/main">
            <a:off x="6200775" y="3524250"/>
            <a:ext cx="2176463" cy="1028700"/>
          </a:xfrm>
          <a:prstGeom xmlns:a="http://schemas.openxmlformats.org/drawingml/2006/main" prst="roundRect">
            <a:avLst>
              <a:gd name="adj" fmla="val 11111"/>
            </a:avLst>
          </a:prstGeom>
          <a:solidFill xmlns:a="http://schemas.openxmlformats.org/drawingml/2006/main">
            <a:srgbClr val="FFF2E7"/>
          </a:solidFill>
          <a:ln xmlns:a="http://schemas.openxmlformats.org/drawingml/2006/main" w="9525">
            <a:solidFill>
              <a:srgbClr val="EDEDED"/>
            </a:solidFill>
            <a:prstDash val="solid"/>
          </a:ln>
        </p:spPr>
      </p:sp>
      <p:sp>
        <p:nvSpPr>
          <p:cNvPr id="34" name="">
            <a:extLst xmlns:a="http://schemas.openxmlformats.org/drawingml/2006/main">
              <a:ext uri="{FF2B5EF4-FFF2-40B4-BE49-F238E27FC236}">
                <a16:creationId xmlns:a16="http://schemas.microsoft.com/office/drawing/2014/main" id="{FEBA5EB6-147D-42DC-8FC3-C89FA9A149EB}"/>
              </a:ext>
            </a:extLst>
          </p:cNvPr>
          <p:cNvSpPr>
            <a:spLocks xmlns:a="http://schemas.openxmlformats.org/drawingml/2006/main" noGrp="1"/>
          </p:cNvSpPr>
          <p:nvPr/>
        </p:nvSpPr>
        <p:spPr>
          <a:xfrm xmlns:a="http://schemas.openxmlformats.org/drawingml/2006/main">
            <a:off x="6334125" y="3676650"/>
            <a:ext cx="190976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Max across segments</a:t>
            </a:r>
          </a:p>
        </p:txBody>
      </p:sp>
      <p:sp>
        <p:nvSpPr>
          <p:cNvPr id="35" name="">
            <a:extLst xmlns:a="http://schemas.openxmlformats.org/drawingml/2006/main">
              <a:ext uri="{FF2B5EF4-FFF2-40B4-BE49-F238E27FC236}">
                <a16:creationId xmlns:a16="http://schemas.microsoft.com/office/drawing/2014/main" id="{05F46179-311B-4C31-BF43-521C95A7E7F2}"/>
              </a:ext>
            </a:extLst>
          </p:cNvPr>
          <p:cNvSpPr>
            <a:spLocks xmlns:a="http://schemas.openxmlformats.org/drawingml/2006/main" noGrp="1"/>
          </p:cNvSpPr>
          <p:nvPr/>
        </p:nvSpPr>
        <p:spPr>
          <a:xfrm xmlns:a="http://schemas.openxmlformats.org/drawingml/2006/main">
            <a:off x="6334125" y="4038600"/>
            <a:ext cx="19097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6×512</a:t>
            </a:r>
          </a:p>
        </p:txBody>
      </p:sp>
      <p:sp>
        <p:nvSpPr>
          <p:cNvPr id="36" name="">
            <a:extLst xmlns:a="http://schemas.openxmlformats.org/drawingml/2006/main">
              <a:ext uri="{FF2B5EF4-FFF2-40B4-BE49-F238E27FC236}">
                <a16:creationId xmlns:a16="http://schemas.microsoft.com/office/drawing/2014/main" id="{D277239A-180F-4233-A2F3-610E31FF6029}"/>
              </a:ext>
            </a:extLst>
          </p:cNvPr>
          <p:cNvSpPr>
            <a:spLocks xmlns:a="http://schemas.openxmlformats.org/drawingml/2006/main" noGrp="1"/>
          </p:cNvSpPr>
          <p:nvPr/>
        </p:nvSpPr>
        <p:spPr>
          <a:xfrm xmlns:a="http://schemas.openxmlformats.org/drawingml/2006/main">
            <a:off x="8586788" y="3524250"/>
            <a:ext cx="2176463" cy="1028700"/>
          </a:xfrm>
          <a:prstGeom xmlns:a="http://schemas.openxmlformats.org/drawingml/2006/main" prst="roundRect">
            <a:avLst>
              <a:gd name="adj" fmla="val 11111"/>
            </a:avLst>
          </a:prstGeom>
          <a:solidFill xmlns:a="http://schemas.openxmlformats.org/drawingml/2006/main">
            <a:srgbClr val="FBECEC"/>
          </a:solidFill>
          <a:ln xmlns:a="http://schemas.openxmlformats.org/drawingml/2006/main" w="9525">
            <a:solidFill>
              <a:srgbClr val="EDEDED"/>
            </a:solidFill>
            <a:prstDash val="solid"/>
          </a:ln>
        </p:spPr>
      </p:sp>
      <p:sp>
        <p:nvSpPr>
          <p:cNvPr id="37" name="">
            <a:extLst xmlns:a="http://schemas.openxmlformats.org/drawingml/2006/main">
              <a:ext uri="{FF2B5EF4-FFF2-40B4-BE49-F238E27FC236}">
                <a16:creationId xmlns:a16="http://schemas.microsoft.com/office/drawing/2014/main" id="{688EB397-A285-4430-BB33-3C655956AA1A}"/>
              </a:ext>
            </a:extLst>
          </p:cNvPr>
          <p:cNvSpPr>
            <a:spLocks xmlns:a="http://schemas.openxmlformats.org/drawingml/2006/main" noGrp="1"/>
          </p:cNvSpPr>
          <p:nvPr/>
        </p:nvSpPr>
        <p:spPr>
          <a:xfrm xmlns:a="http://schemas.openxmlformats.org/drawingml/2006/main">
            <a:off x="8720138" y="3676650"/>
            <a:ext cx="1909763"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Concatenate</a:t>
            </a:r>
          </a:p>
        </p:txBody>
      </p:sp>
      <p:sp>
        <p:nvSpPr>
          <p:cNvPr id="38" name="">
            <a:extLst xmlns:a="http://schemas.openxmlformats.org/drawingml/2006/main">
              <a:ext uri="{FF2B5EF4-FFF2-40B4-BE49-F238E27FC236}">
                <a16:creationId xmlns:a16="http://schemas.microsoft.com/office/drawing/2014/main" id="{12C2D41B-BEE9-4532-AF94-E70C6323574C}"/>
              </a:ext>
            </a:extLst>
          </p:cNvPr>
          <p:cNvSpPr>
            <a:spLocks xmlns:a="http://schemas.openxmlformats.org/drawingml/2006/main" noGrp="1"/>
          </p:cNvSpPr>
          <p:nvPr/>
        </p:nvSpPr>
        <p:spPr>
          <a:xfrm xmlns:a="http://schemas.openxmlformats.org/drawingml/2006/main">
            <a:off x="8720138" y="4038600"/>
            <a:ext cx="19097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9,216 features</a:t>
            </a:r>
          </a:p>
        </p:txBody>
      </p:sp>
      <p:sp>
        <p:nvSpPr>
          <p:cNvPr id="39" name="">
            <a:extLst xmlns:a="http://schemas.openxmlformats.org/drawingml/2006/main">
              <a:ext uri="{FF2B5EF4-FFF2-40B4-BE49-F238E27FC236}">
                <a16:creationId xmlns:a16="http://schemas.microsoft.com/office/drawing/2014/main" id="{354EFBBD-6D47-4954-AE88-83D2B4CE5C52}"/>
              </a:ext>
            </a:extLst>
          </p:cNvPr>
          <p:cNvSpPr>
            <a:spLocks xmlns:a="http://schemas.openxmlformats.org/drawingml/2006/main" noGrp="1"/>
          </p:cNvSpPr>
          <p:nvPr/>
        </p:nvSpPr>
        <p:spPr>
          <a:xfrm xmlns:a="http://schemas.openxmlformats.org/drawingml/2006/main">
            <a:off x="1390650" y="5067300"/>
            <a:ext cx="9410700" cy="800100"/>
          </a:xfrm>
          <a:prstGeom xmlns:a="http://schemas.openxmlformats.org/drawingml/2006/main" prst="roundRect">
            <a:avLst>
              <a:gd name="adj" fmla="val 9524"/>
            </a:avLst>
          </a:prstGeom>
          <a:solidFill xmlns:a="http://schemas.openxmlformats.org/drawingml/2006/main">
            <a:srgbClr val="050505"/>
          </a:solidFill>
          <a:ln xmlns:a="http://schemas.openxmlformats.org/drawingml/2006/main" w="0">
            <a:solidFill>
              <a:srgbClr val="050505"/>
            </a:solidFill>
            <a:prstDash val="solid"/>
          </a:ln>
        </p:spPr>
      </p:sp>
      <p:sp>
        <p:nvSpPr>
          <p:cNvPr id="40" name="">
            <a:extLst xmlns:a="http://schemas.openxmlformats.org/drawingml/2006/main">
              <a:ext uri="{FF2B5EF4-FFF2-40B4-BE49-F238E27FC236}">
                <a16:creationId xmlns:a16="http://schemas.microsoft.com/office/drawing/2014/main" id="{2515B59C-EA50-44C4-BCB7-52C5C00A8CBD}"/>
              </a:ext>
            </a:extLst>
          </p:cNvPr>
          <p:cNvSpPr>
            <a:spLocks xmlns:a="http://schemas.openxmlformats.org/drawingml/2006/main" noGrp="1"/>
          </p:cNvSpPr>
          <p:nvPr/>
        </p:nvSpPr>
        <p:spPr>
          <a:xfrm xmlns:a="http://schemas.openxmlformats.org/drawingml/2006/main">
            <a:off x="1562100" y="5219700"/>
            <a:ext cx="906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PCA → 32 whitened components + 96 scalars → balanced L2 logistic regression</a:t>
            </a:r>
          </a:p>
        </p:txBody>
      </p:sp>
      <p:sp>
        <p:nvSpPr>
          <p:cNvPr id="41" name="">
            <a:extLst xmlns:a="http://schemas.openxmlformats.org/drawingml/2006/main">
              <a:ext uri="{FF2B5EF4-FFF2-40B4-BE49-F238E27FC236}">
                <a16:creationId xmlns:a16="http://schemas.microsoft.com/office/drawing/2014/main" id="{D8412090-5AEB-4E51-B806-9E0AD5D7A95B}"/>
              </a:ext>
            </a:extLst>
          </p:cNvPr>
          <p:cNvSpPr>
            <a:spLocks xmlns:a="http://schemas.openxmlformats.org/drawingml/2006/main" noGrp="1"/>
          </p:cNvSpPr>
          <p:nvPr/>
        </p:nvSpPr>
        <p:spPr>
          <a:xfrm xmlns:a="http://schemas.openxmlformats.org/drawingml/2006/main">
            <a:off x="1524000" y="560070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Fold-specific PCA; C = 0.3</a:t>
            </a:r>
          </a:p>
        </p:txBody>
      </p:sp>
      <p:sp>
        <p:nvSpPr>
          <p:cNvPr id="42" name="">
            <a:extLst xmlns:a="http://schemas.openxmlformats.org/drawingml/2006/main">
              <a:ext uri="{FF2B5EF4-FFF2-40B4-BE49-F238E27FC236}">
                <a16:creationId xmlns:a16="http://schemas.microsoft.com/office/drawing/2014/main" id="{DB9CC18F-F7B2-4613-9F6E-E430BF493D09}"/>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MOMENTPipeline embedding task; model weights frozen</a:t>
            </a:r>
          </a:p>
        </p:txBody>
      </p:sp>
    </p:spTree>
    <p:extLst>
      <p:ext uri="{BB962C8B-B14F-4D97-AF65-F5344CB8AC3E}">
        <p14:creationId xmlns:p14="http://schemas.microsoft.com/office/powerpoint/2010/main" val="12030048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2529661-B3B8-42FB-8292-BA139EA1E44C}"/>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MOMENT-SMALL · REPRESENTATION</a:t>
            </a:r>
          </a:p>
        </p:txBody>
      </p:sp>
      <p:sp>
        <p:nvSpPr>
          <p:cNvPr id="2" name="">
            <a:extLst xmlns:a="http://schemas.openxmlformats.org/drawingml/2006/main">
              <a:ext uri="{FF2B5EF4-FFF2-40B4-BE49-F238E27FC236}">
                <a16:creationId xmlns:a16="http://schemas.microsoft.com/office/drawing/2014/main" id="{1781EB8D-2290-430A-93B9-A618B98F991A}"/>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86"/>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MOMENT aggregation keeps central, variable and extreme patterns</a:t>
            </a:r>
          </a:p>
        </p:txBody>
      </p:sp>
      <p:sp>
        <p:nvSpPr>
          <p:cNvPr id="3" name="">
            <a:extLst xmlns:a="http://schemas.openxmlformats.org/drawingml/2006/main">
              <a:ext uri="{FF2B5EF4-FFF2-40B4-BE49-F238E27FC236}">
                <a16:creationId xmlns:a16="http://schemas.microsoft.com/office/drawing/2014/main" id="{7B332753-426F-4C75-93C7-3EB4C255AAF9}"/>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0F427276-2880-4A64-849C-55F6AC0F0D24}"/>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2C37E299-CA26-4500-92D6-143436303448}"/>
              </a:ext>
            </a:extLst>
          </p:cNvPr>
          <p:cNvSpPr>
            <a:spLocks xmlns:a="http://schemas.openxmlformats.org/drawingml/2006/main" noGrp="1"/>
          </p:cNvSpPr>
          <p:nvPr/>
        </p:nvSpPr>
        <p:spPr>
          <a:xfrm xmlns:a="http://schemas.openxmlformats.org/drawingml/2006/main">
            <a:off x="400050" y="1562100"/>
            <a:ext cx="3448050" cy="3657600"/>
          </a:xfrm>
          <a:prstGeom xmlns:a="http://schemas.openxmlformats.org/drawingml/2006/main" prst="roundRect">
            <a:avLst>
              <a:gd name="adj" fmla="val 3315"/>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A45B99AA-0D2F-46A3-9303-87F4BF0F9F24}"/>
              </a:ext>
            </a:extLst>
          </p:cNvPr>
          <p:cNvSpPr>
            <a:spLocks xmlns:a="http://schemas.openxmlformats.org/drawingml/2006/main" noGrp="1"/>
          </p:cNvSpPr>
          <p:nvPr/>
        </p:nvSpPr>
        <p:spPr>
          <a:xfrm xmlns:a="http://schemas.openxmlformats.org/drawingml/2006/main">
            <a:off x="571500" y="173355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Segment mean</a:t>
            </a:r>
          </a:p>
        </p:txBody>
      </p:sp>
      <p:sp>
        <p:nvSpPr>
          <p:cNvPr id="7" name="">
            <a:extLst xmlns:a="http://schemas.openxmlformats.org/drawingml/2006/main">
              <a:ext uri="{FF2B5EF4-FFF2-40B4-BE49-F238E27FC236}">
                <a16:creationId xmlns:a16="http://schemas.microsoft.com/office/drawing/2014/main" id="{2CAF63BE-DC79-4FA6-BC47-D651C4ED8DF6}"/>
              </a:ext>
            </a:extLst>
          </p:cNvPr>
          <p:cNvSpPr>
            <a:spLocks xmlns:a="http://schemas.openxmlformats.org/drawingml/2006/main" noGrp="1"/>
          </p:cNvSpPr>
          <p:nvPr/>
        </p:nvSpPr>
        <p:spPr>
          <a:xfrm xmlns:a="http://schemas.openxmlformats.org/drawingml/2006/main">
            <a:off x="571500" y="2152650"/>
            <a:ext cx="3105150"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For each channel and embedding coordinate j:</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μ(c,j) = (1/18) Σₛ h(s,c,j)</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Captures the typical whole-heart representation.</a:t>
            </a:r>
          </a:p>
        </p:txBody>
      </p:sp>
      <p:sp>
        <p:nvSpPr>
          <p:cNvPr id="8" name="">
            <a:extLst xmlns:a="http://schemas.openxmlformats.org/drawingml/2006/main">
              <a:ext uri="{FF2B5EF4-FFF2-40B4-BE49-F238E27FC236}">
                <a16:creationId xmlns:a16="http://schemas.microsoft.com/office/drawing/2014/main" id="{DA5102B0-CAF1-4999-BA18-B0D21986CA4B}"/>
              </a:ext>
            </a:extLst>
          </p:cNvPr>
          <p:cNvSpPr>
            <a:spLocks xmlns:a="http://schemas.openxmlformats.org/drawingml/2006/main" noGrp="1"/>
          </p:cNvSpPr>
          <p:nvPr/>
        </p:nvSpPr>
        <p:spPr>
          <a:xfrm xmlns:a="http://schemas.openxmlformats.org/drawingml/2006/main">
            <a:off x="4038600" y="1562100"/>
            <a:ext cx="3448050" cy="3657600"/>
          </a:xfrm>
          <a:prstGeom xmlns:a="http://schemas.openxmlformats.org/drawingml/2006/main" prst="roundRect">
            <a:avLst>
              <a:gd name="adj" fmla="val 3315"/>
            </a:avLst>
          </a:prstGeom>
          <a:solidFill xmlns:a="http://schemas.openxmlformats.org/drawingml/2006/main">
            <a:srgbClr val="EBF6E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65EDBF76-3C8C-4507-AF10-86E5CF33EA27}"/>
              </a:ext>
            </a:extLst>
          </p:cNvPr>
          <p:cNvSpPr>
            <a:spLocks xmlns:a="http://schemas.openxmlformats.org/drawingml/2006/main" noGrp="1"/>
          </p:cNvSpPr>
          <p:nvPr/>
        </p:nvSpPr>
        <p:spPr>
          <a:xfrm xmlns:a="http://schemas.openxmlformats.org/drawingml/2006/main">
            <a:off x="4210050" y="173355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Segment SD</a:t>
            </a:r>
          </a:p>
        </p:txBody>
      </p:sp>
      <p:sp>
        <p:nvSpPr>
          <p:cNvPr id="10" name="">
            <a:extLst xmlns:a="http://schemas.openxmlformats.org/drawingml/2006/main">
              <a:ext uri="{FF2B5EF4-FFF2-40B4-BE49-F238E27FC236}">
                <a16:creationId xmlns:a16="http://schemas.microsoft.com/office/drawing/2014/main" id="{62119866-BFF8-46E3-99CD-79024F4F7FE0}"/>
              </a:ext>
            </a:extLst>
          </p:cNvPr>
          <p:cNvSpPr>
            <a:spLocks xmlns:a="http://schemas.openxmlformats.org/drawingml/2006/main" noGrp="1"/>
          </p:cNvSpPr>
          <p:nvPr/>
        </p:nvSpPr>
        <p:spPr>
          <a:xfrm xmlns:a="http://schemas.openxmlformats.org/drawingml/2006/main">
            <a:off x="4210050" y="2152650"/>
            <a:ext cx="3105150"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σ(c,j) = √meanₛ[h(s,c,j)−μ(c,j)]²</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Captures how heterogeneous the learned representation is across segments.</a:t>
            </a:r>
          </a:p>
        </p:txBody>
      </p:sp>
      <p:sp>
        <p:nvSpPr>
          <p:cNvPr id="11" name="">
            <a:extLst xmlns:a="http://schemas.openxmlformats.org/drawingml/2006/main">
              <a:ext uri="{FF2B5EF4-FFF2-40B4-BE49-F238E27FC236}">
                <a16:creationId xmlns:a16="http://schemas.microsoft.com/office/drawing/2014/main" id="{1C11CB30-00DB-404C-BFF1-BCC3F6909085}"/>
              </a:ext>
            </a:extLst>
          </p:cNvPr>
          <p:cNvSpPr>
            <a:spLocks xmlns:a="http://schemas.openxmlformats.org/drawingml/2006/main" noGrp="1"/>
          </p:cNvSpPr>
          <p:nvPr/>
        </p:nvSpPr>
        <p:spPr>
          <a:xfrm xmlns:a="http://schemas.openxmlformats.org/drawingml/2006/main">
            <a:off x="7677150" y="1562100"/>
            <a:ext cx="3848100" cy="3657600"/>
          </a:xfrm>
          <a:prstGeom xmlns:a="http://schemas.openxmlformats.org/drawingml/2006/main" prst="roundRect">
            <a:avLst>
              <a:gd name="adj" fmla="val 3125"/>
            </a:avLst>
          </a:prstGeom>
          <a:solidFill xmlns:a="http://schemas.openxmlformats.org/drawingml/2006/main">
            <a:srgbClr val="FFF2E7"/>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231CA4F6-D55B-4F91-B447-6F18A72E6C69}"/>
              </a:ext>
            </a:extLst>
          </p:cNvPr>
          <p:cNvSpPr>
            <a:spLocks xmlns:a="http://schemas.openxmlformats.org/drawingml/2006/main" noGrp="1"/>
          </p:cNvSpPr>
          <p:nvPr/>
        </p:nvSpPr>
        <p:spPr>
          <a:xfrm xmlns:a="http://schemas.openxmlformats.org/drawingml/2006/main">
            <a:off x="7848600" y="17335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Segment max</a:t>
            </a:r>
          </a:p>
        </p:txBody>
      </p:sp>
      <p:sp>
        <p:nvSpPr>
          <p:cNvPr id="13" name="">
            <a:extLst xmlns:a="http://schemas.openxmlformats.org/drawingml/2006/main">
              <a:ext uri="{FF2B5EF4-FFF2-40B4-BE49-F238E27FC236}">
                <a16:creationId xmlns:a16="http://schemas.microsoft.com/office/drawing/2014/main" id="{02E96DDE-3C39-499E-B0FD-E6E9AC4D3B7D}"/>
              </a:ext>
            </a:extLst>
          </p:cNvPr>
          <p:cNvSpPr>
            <a:spLocks xmlns:a="http://schemas.openxmlformats.org/drawingml/2006/main" noGrp="1"/>
          </p:cNvSpPr>
          <p:nvPr/>
        </p:nvSpPr>
        <p:spPr>
          <a:xfrm xmlns:a="http://schemas.openxmlformats.org/drawingml/2006/main">
            <a:off x="7848600" y="2152650"/>
            <a:ext cx="3505200"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m(c,j) = maxₛ h(s,c,j)</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Preserves the strongest activation anywhere in the ventricle for each learned embedding coordinate. Different coordinates may select different segments.</a:t>
            </a:r>
          </a:p>
        </p:txBody>
      </p:sp>
      <p:sp>
        <p:nvSpPr>
          <p:cNvPr id="14" name="">
            <a:extLst xmlns:a="http://schemas.openxmlformats.org/drawingml/2006/main">
              <a:ext uri="{FF2B5EF4-FFF2-40B4-BE49-F238E27FC236}">
                <a16:creationId xmlns:a16="http://schemas.microsoft.com/office/drawing/2014/main" id="{D16B2A94-18A4-41BE-A7CC-97367BA0C098}"/>
              </a:ext>
            </a:extLst>
          </p:cNvPr>
          <p:cNvSpPr>
            <a:spLocks xmlns:a="http://schemas.openxmlformats.org/drawingml/2006/main" noGrp="1"/>
          </p:cNvSpPr>
          <p:nvPr/>
        </p:nvSpPr>
        <p:spPr>
          <a:xfrm xmlns:a="http://schemas.openxmlformats.org/drawingml/2006/main">
            <a:off x="1257300" y="5562600"/>
            <a:ext cx="9677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The 9,216 raw embedding values are compressed inside each training fold to 32 whitened principal components before classification.</a:t>
            </a:r>
          </a:p>
        </p:txBody>
      </p:sp>
      <p:sp>
        <p:nvSpPr>
          <p:cNvPr id="15" name="">
            <a:extLst xmlns:a="http://schemas.openxmlformats.org/drawingml/2006/main">
              <a:ext uri="{FF2B5EF4-FFF2-40B4-BE49-F238E27FC236}">
                <a16:creationId xmlns:a16="http://schemas.microsoft.com/office/drawing/2014/main" id="{2BC90064-26AD-4A04-B008-0DE93F07DC3F}"/>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local embedding pooling and fold-specific PCA</a:t>
            </a:r>
          </a:p>
        </p:txBody>
      </p:sp>
    </p:spTree>
    <p:extLst>
      <p:ext uri="{BB962C8B-B14F-4D97-AF65-F5344CB8AC3E}">
        <p14:creationId xmlns:p14="http://schemas.microsoft.com/office/powerpoint/2010/main" val="50681022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BFDFB01-084B-49E0-A478-6D449A83F9D9}"/>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MOMENT-SMALL · TOP INPUTS</a:t>
            </a:r>
          </a:p>
        </p:txBody>
      </p:sp>
      <p:sp>
        <p:nvSpPr>
          <p:cNvPr id="2" name="">
            <a:extLst xmlns:a="http://schemas.openxmlformats.org/drawingml/2006/main">
              <a:ext uri="{FF2B5EF4-FFF2-40B4-BE49-F238E27FC236}">
                <a16:creationId xmlns:a16="http://schemas.microsoft.com/office/drawing/2014/main" id="{75CA49EB-445F-4D5A-8CC3-4D3D62011FAF}"/>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MOMENT: segment max was the strongest feature family</a:t>
            </a:r>
          </a:p>
        </p:txBody>
      </p:sp>
      <p:sp>
        <p:nvSpPr>
          <p:cNvPr id="3" name="">
            <a:extLst xmlns:a="http://schemas.openxmlformats.org/drawingml/2006/main">
              <a:ext uri="{FF2B5EF4-FFF2-40B4-BE49-F238E27FC236}">
                <a16:creationId xmlns:a16="http://schemas.microsoft.com/office/drawing/2014/main" id="{48356AB1-DC2A-49C2-98CC-79A2A52C0AEE}"/>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DA6B91A0-5F0D-47CF-B4B3-4FEBA70750F0}"/>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D2B18C2D-8368-4D30-81B6-D8A6A4E09428}"/>
              </a:ext>
            </a:extLst>
          </p:cNvPr>
          <p:cNvSpPr>
            <a:spLocks xmlns:a="http://schemas.openxmlformats.org/drawingml/2006/main" noGrp="1"/>
          </p:cNvSpPr>
          <p:nvPr/>
        </p:nvSpPr>
        <p:spPr>
          <a:xfrm xmlns:a="http://schemas.openxmlformats.org/drawingml/2006/main">
            <a:off x="590550" y="1600200"/>
            <a:ext cx="308038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Embedding segment max</a:t>
            </a:r>
          </a:p>
        </p:txBody>
      </p:sp>
      <p:sp>
        <p:nvSpPr>
          <p:cNvPr id="6" name="">
            <a:extLst xmlns:a="http://schemas.openxmlformats.org/drawingml/2006/main">
              <a:ext uri="{FF2B5EF4-FFF2-40B4-BE49-F238E27FC236}">
                <a16:creationId xmlns:a16="http://schemas.microsoft.com/office/drawing/2014/main" id="{5032A585-4FA9-4B40-A312-8C476F7DAA9C}"/>
              </a:ext>
            </a:extLst>
          </p:cNvPr>
          <p:cNvSpPr>
            <a:spLocks xmlns:a="http://schemas.openxmlformats.org/drawingml/2006/main" noGrp="1"/>
          </p:cNvSpPr>
          <p:nvPr/>
        </p:nvSpPr>
        <p:spPr>
          <a:xfrm xmlns:a="http://schemas.openxmlformats.org/drawingml/2006/main">
            <a:off x="3817620" y="1638300"/>
            <a:ext cx="308038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7" name="">
            <a:extLst xmlns:a="http://schemas.openxmlformats.org/drawingml/2006/main">
              <a:ext uri="{FF2B5EF4-FFF2-40B4-BE49-F238E27FC236}">
                <a16:creationId xmlns:a16="http://schemas.microsoft.com/office/drawing/2014/main" id="{2FF67F97-707D-435A-A369-4DD37DE7092C}"/>
              </a:ext>
            </a:extLst>
          </p:cNvPr>
          <p:cNvSpPr>
            <a:spLocks xmlns:a="http://schemas.openxmlformats.org/drawingml/2006/main" noGrp="1"/>
          </p:cNvSpPr>
          <p:nvPr/>
        </p:nvSpPr>
        <p:spPr>
          <a:xfrm xmlns:a="http://schemas.openxmlformats.org/drawingml/2006/main">
            <a:off x="3817620" y="1638300"/>
            <a:ext cx="2775427"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8" name="">
            <a:extLst xmlns:a="http://schemas.openxmlformats.org/drawingml/2006/main">
              <a:ext uri="{FF2B5EF4-FFF2-40B4-BE49-F238E27FC236}">
                <a16:creationId xmlns:a16="http://schemas.microsoft.com/office/drawing/2014/main" id="{B3A65FBD-CB93-409D-AFBF-5EA7847AFD09}"/>
              </a:ext>
            </a:extLst>
          </p:cNvPr>
          <p:cNvSpPr>
            <a:spLocks xmlns:a="http://schemas.openxmlformats.org/drawingml/2006/main" noGrp="1"/>
          </p:cNvSpPr>
          <p:nvPr/>
        </p:nvSpPr>
        <p:spPr>
          <a:xfrm xmlns:a="http://schemas.openxmlformats.org/drawingml/2006/main">
            <a:off x="7044690" y="1600200"/>
            <a:ext cx="88011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0.090</a:t>
            </a:r>
          </a:p>
        </p:txBody>
      </p:sp>
      <p:sp>
        <p:nvSpPr>
          <p:cNvPr id="9" name="">
            <a:extLst xmlns:a="http://schemas.openxmlformats.org/drawingml/2006/main">
              <a:ext uri="{FF2B5EF4-FFF2-40B4-BE49-F238E27FC236}">
                <a16:creationId xmlns:a16="http://schemas.microsoft.com/office/drawing/2014/main" id="{C87A3BD1-7A47-4EBA-AE17-103794F4B2AD}"/>
              </a:ext>
            </a:extLst>
          </p:cNvPr>
          <p:cNvSpPr>
            <a:spLocks xmlns:a="http://schemas.openxmlformats.org/drawingml/2006/main" noGrp="1"/>
          </p:cNvSpPr>
          <p:nvPr/>
        </p:nvSpPr>
        <p:spPr>
          <a:xfrm xmlns:a="http://schemas.openxmlformats.org/drawingml/2006/main">
            <a:off x="3817620" y="1847850"/>
            <a:ext cx="396049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0.0108–0.1618</a:t>
            </a:r>
          </a:p>
        </p:txBody>
      </p:sp>
      <p:sp>
        <p:nvSpPr>
          <p:cNvPr id="10" name="">
            <a:extLst xmlns:a="http://schemas.openxmlformats.org/drawingml/2006/main">
              <a:ext uri="{FF2B5EF4-FFF2-40B4-BE49-F238E27FC236}">
                <a16:creationId xmlns:a16="http://schemas.microsoft.com/office/drawing/2014/main" id="{99ABD9E0-8A2C-486B-AEC4-925E50DAFED6}"/>
              </a:ext>
            </a:extLst>
          </p:cNvPr>
          <p:cNvSpPr>
            <a:spLocks xmlns:a="http://schemas.openxmlformats.org/drawingml/2006/main" noGrp="1"/>
          </p:cNvSpPr>
          <p:nvPr/>
        </p:nvSpPr>
        <p:spPr>
          <a:xfrm xmlns:a="http://schemas.openxmlformats.org/drawingml/2006/main">
            <a:off x="590550" y="2362200"/>
            <a:ext cx="308038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All scalar features</a:t>
            </a:r>
          </a:p>
        </p:txBody>
      </p:sp>
      <p:sp>
        <p:nvSpPr>
          <p:cNvPr id="11" name="">
            <a:extLst xmlns:a="http://schemas.openxmlformats.org/drawingml/2006/main">
              <a:ext uri="{FF2B5EF4-FFF2-40B4-BE49-F238E27FC236}">
                <a16:creationId xmlns:a16="http://schemas.microsoft.com/office/drawing/2014/main" id="{2312936E-2B7F-45F8-89C1-8E04C542F270}"/>
              </a:ext>
            </a:extLst>
          </p:cNvPr>
          <p:cNvSpPr>
            <a:spLocks xmlns:a="http://schemas.openxmlformats.org/drawingml/2006/main" noGrp="1"/>
          </p:cNvSpPr>
          <p:nvPr/>
        </p:nvSpPr>
        <p:spPr>
          <a:xfrm xmlns:a="http://schemas.openxmlformats.org/drawingml/2006/main">
            <a:off x="3817620" y="2400300"/>
            <a:ext cx="308038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2" name="">
            <a:extLst xmlns:a="http://schemas.openxmlformats.org/drawingml/2006/main">
              <a:ext uri="{FF2B5EF4-FFF2-40B4-BE49-F238E27FC236}">
                <a16:creationId xmlns:a16="http://schemas.microsoft.com/office/drawing/2014/main" id="{B2759158-D58A-448C-B6D6-D3BBBCEDDDE0}"/>
              </a:ext>
            </a:extLst>
          </p:cNvPr>
          <p:cNvSpPr>
            <a:spLocks xmlns:a="http://schemas.openxmlformats.org/drawingml/2006/main" noGrp="1"/>
          </p:cNvSpPr>
          <p:nvPr/>
        </p:nvSpPr>
        <p:spPr>
          <a:xfrm xmlns:a="http://schemas.openxmlformats.org/drawingml/2006/main">
            <a:off x="3817620" y="2400300"/>
            <a:ext cx="1697292"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553F214A-0D03-4FA3-B758-9CB52EDA5FD0}"/>
              </a:ext>
            </a:extLst>
          </p:cNvPr>
          <p:cNvSpPr>
            <a:spLocks xmlns:a="http://schemas.openxmlformats.org/drawingml/2006/main" noGrp="1"/>
          </p:cNvSpPr>
          <p:nvPr/>
        </p:nvSpPr>
        <p:spPr>
          <a:xfrm xmlns:a="http://schemas.openxmlformats.org/drawingml/2006/main">
            <a:off x="7044690" y="2362200"/>
            <a:ext cx="88011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0.055</a:t>
            </a:r>
          </a:p>
        </p:txBody>
      </p:sp>
      <p:sp>
        <p:nvSpPr>
          <p:cNvPr id="14" name="">
            <a:extLst xmlns:a="http://schemas.openxmlformats.org/drawingml/2006/main">
              <a:ext uri="{FF2B5EF4-FFF2-40B4-BE49-F238E27FC236}">
                <a16:creationId xmlns:a16="http://schemas.microsoft.com/office/drawing/2014/main" id="{C5DF4470-2682-470D-A569-87422D9DCB5F}"/>
              </a:ext>
            </a:extLst>
          </p:cNvPr>
          <p:cNvSpPr>
            <a:spLocks xmlns:a="http://schemas.openxmlformats.org/drawingml/2006/main" noGrp="1"/>
          </p:cNvSpPr>
          <p:nvPr/>
        </p:nvSpPr>
        <p:spPr>
          <a:xfrm xmlns:a="http://schemas.openxmlformats.org/drawingml/2006/main">
            <a:off x="3817620" y="2609850"/>
            <a:ext cx="396049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−0.0063–0.1119</a:t>
            </a:r>
          </a:p>
        </p:txBody>
      </p:sp>
      <p:sp>
        <p:nvSpPr>
          <p:cNvPr id="15" name="">
            <a:extLst xmlns:a="http://schemas.openxmlformats.org/drawingml/2006/main">
              <a:ext uri="{FF2B5EF4-FFF2-40B4-BE49-F238E27FC236}">
                <a16:creationId xmlns:a16="http://schemas.microsoft.com/office/drawing/2014/main" id="{A82930C2-D952-438E-9256-09B362A9A94E}"/>
              </a:ext>
            </a:extLst>
          </p:cNvPr>
          <p:cNvSpPr>
            <a:spLocks xmlns:a="http://schemas.openxmlformats.org/drawingml/2006/main" noGrp="1"/>
          </p:cNvSpPr>
          <p:nvPr/>
        </p:nvSpPr>
        <p:spPr>
          <a:xfrm xmlns:a="http://schemas.openxmlformats.org/drawingml/2006/main">
            <a:off x="590550" y="3124200"/>
            <a:ext cx="308038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All curve embeddings</a:t>
            </a:r>
          </a:p>
        </p:txBody>
      </p:sp>
      <p:sp>
        <p:nvSpPr>
          <p:cNvPr id="16" name="">
            <a:extLst xmlns:a="http://schemas.openxmlformats.org/drawingml/2006/main">
              <a:ext uri="{FF2B5EF4-FFF2-40B4-BE49-F238E27FC236}">
                <a16:creationId xmlns:a16="http://schemas.microsoft.com/office/drawing/2014/main" id="{96E4D9AD-BF20-4989-8532-1345E4071B56}"/>
              </a:ext>
            </a:extLst>
          </p:cNvPr>
          <p:cNvSpPr>
            <a:spLocks xmlns:a="http://schemas.openxmlformats.org/drawingml/2006/main" noGrp="1"/>
          </p:cNvSpPr>
          <p:nvPr/>
        </p:nvSpPr>
        <p:spPr>
          <a:xfrm xmlns:a="http://schemas.openxmlformats.org/drawingml/2006/main">
            <a:off x="3817620" y="3162300"/>
            <a:ext cx="308038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7" name="">
            <a:extLst xmlns:a="http://schemas.openxmlformats.org/drawingml/2006/main">
              <a:ext uri="{FF2B5EF4-FFF2-40B4-BE49-F238E27FC236}">
                <a16:creationId xmlns:a16="http://schemas.microsoft.com/office/drawing/2014/main" id="{205BCC3F-84F6-4356-9499-925518FC80AE}"/>
              </a:ext>
            </a:extLst>
          </p:cNvPr>
          <p:cNvSpPr>
            <a:spLocks xmlns:a="http://schemas.openxmlformats.org/drawingml/2006/main" noGrp="1"/>
          </p:cNvSpPr>
          <p:nvPr/>
        </p:nvSpPr>
        <p:spPr>
          <a:xfrm xmlns:a="http://schemas.openxmlformats.org/drawingml/2006/main">
            <a:off x="3817620" y="3162300"/>
            <a:ext cx="1669569"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8" name="">
            <a:extLst xmlns:a="http://schemas.openxmlformats.org/drawingml/2006/main">
              <a:ext uri="{FF2B5EF4-FFF2-40B4-BE49-F238E27FC236}">
                <a16:creationId xmlns:a16="http://schemas.microsoft.com/office/drawing/2014/main" id="{7FB65D24-0567-4516-8417-EA82FF64CA86}"/>
              </a:ext>
            </a:extLst>
          </p:cNvPr>
          <p:cNvSpPr>
            <a:spLocks xmlns:a="http://schemas.openxmlformats.org/drawingml/2006/main" noGrp="1"/>
          </p:cNvSpPr>
          <p:nvPr/>
        </p:nvSpPr>
        <p:spPr>
          <a:xfrm xmlns:a="http://schemas.openxmlformats.org/drawingml/2006/main">
            <a:off x="7044690" y="3124200"/>
            <a:ext cx="88011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0.054</a:t>
            </a:r>
          </a:p>
        </p:txBody>
      </p:sp>
      <p:sp>
        <p:nvSpPr>
          <p:cNvPr id="19" name="">
            <a:extLst xmlns:a="http://schemas.openxmlformats.org/drawingml/2006/main">
              <a:ext uri="{FF2B5EF4-FFF2-40B4-BE49-F238E27FC236}">
                <a16:creationId xmlns:a16="http://schemas.microsoft.com/office/drawing/2014/main" id="{91A26BFE-7617-4B42-A36A-DE4CA1DBD4AB}"/>
              </a:ext>
            </a:extLst>
          </p:cNvPr>
          <p:cNvSpPr>
            <a:spLocks xmlns:a="http://schemas.openxmlformats.org/drawingml/2006/main" noGrp="1"/>
          </p:cNvSpPr>
          <p:nvPr/>
        </p:nvSpPr>
        <p:spPr>
          <a:xfrm xmlns:a="http://schemas.openxmlformats.org/drawingml/2006/main">
            <a:off x="3817620" y="3371850"/>
            <a:ext cx="396049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−0.0066–0.1174</a:t>
            </a:r>
          </a:p>
        </p:txBody>
      </p:sp>
      <p:sp>
        <p:nvSpPr>
          <p:cNvPr id="20" name="">
            <a:extLst xmlns:a="http://schemas.openxmlformats.org/drawingml/2006/main">
              <a:ext uri="{FF2B5EF4-FFF2-40B4-BE49-F238E27FC236}">
                <a16:creationId xmlns:a16="http://schemas.microsoft.com/office/drawing/2014/main" id="{B04F48FC-4885-401D-B3CA-7EA7D46E7902}"/>
              </a:ext>
            </a:extLst>
          </p:cNvPr>
          <p:cNvSpPr>
            <a:spLocks xmlns:a="http://schemas.openxmlformats.org/drawingml/2006/main" noGrp="1"/>
          </p:cNvSpPr>
          <p:nvPr/>
        </p:nvSpPr>
        <p:spPr>
          <a:xfrm xmlns:a="http://schemas.openxmlformats.org/drawingml/2006/main">
            <a:off x="590550" y="3886200"/>
            <a:ext cx="308038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Change in Endo−Mid channel</a:t>
            </a:r>
          </a:p>
        </p:txBody>
      </p:sp>
      <p:sp>
        <p:nvSpPr>
          <p:cNvPr id="21" name="">
            <a:extLst xmlns:a="http://schemas.openxmlformats.org/drawingml/2006/main">
              <a:ext uri="{FF2B5EF4-FFF2-40B4-BE49-F238E27FC236}">
                <a16:creationId xmlns:a16="http://schemas.microsoft.com/office/drawing/2014/main" id="{D3DD6F33-41E6-47B0-948F-0AB9B3488C23}"/>
              </a:ext>
            </a:extLst>
          </p:cNvPr>
          <p:cNvSpPr>
            <a:spLocks xmlns:a="http://schemas.openxmlformats.org/drawingml/2006/main" noGrp="1"/>
          </p:cNvSpPr>
          <p:nvPr/>
        </p:nvSpPr>
        <p:spPr>
          <a:xfrm xmlns:a="http://schemas.openxmlformats.org/drawingml/2006/main">
            <a:off x="3817620" y="3924300"/>
            <a:ext cx="308038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2" name="">
            <a:extLst xmlns:a="http://schemas.openxmlformats.org/drawingml/2006/main">
              <a:ext uri="{FF2B5EF4-FFF2-40B4-BE49-F238E27FC236}">
                <a16:creationId xmlns:a16="http://schemas.microsoft.com/office/drawing/2014/main" id="{1BB2B208-C467-4193-A6DA-7DE81B66FFE9}"/>
              </a:ext>
            </a:extLst>
          </p:cNvPr>
          <p:cNvSpPr>
            <a:spLocks xmlns:a="http://schemas.openxmlformats.org/drawingml/2006/main" noGrp="1"/>
          </p:cNvSpPr>
          <p:nvPr/>
        </p:nvSpPr>
        <p:spPr>
          <a:xfrm xmlns:a="http://schemas.openxmlformats.org/drawingml/2006/main">
            <a:off x="3817620" y="3924300"/>
            <a:ext cx="1638765" cy="171450"/>
          </a:xfrm>
          <a:prstGeom xmlns:a="http://schemas.openxmlformats.org/drawingml/2006/main" prst="roundRect">
            <a:avLst>
              <a:gd name="adj" fmla="val 50000"/>
            </a:avLst>
          </a:prstGeom>
          <a:solidFill xmlns:a="http://schemas.openxmlformats.org/drawingml/2006/main">
            <a:srgbClr val="C94949"/>
          </a:solidFill>
          <a:ln xmlns:a="http://schemas.openxmlformats.org/drawingml/2006/main" w="0">
            <a:solidFill>
              <a:srgbClr val="C94949"/>
            </a:solidFill>
            <a:prstDash val="solid"/>
          </a:ln>
        </p:spPr>
      </p:sp>
      <p:sp>
        <p:nvSpPr>
          <p:cNvPr id="23" name="">
            <a:extLst xmlns:a="http://schemas.openxmlformats.org/drawingml/2006/main">
              <a:ext uri="{FF2B5EF4-FFF2-40B4-BE49-F238E27FC236}">
                <a16:creationId xmlns:a16="http://schemas.microsoft.com/office/drawing/2014/main" id="{DC6D5ED7-964F-40B3-B3CB-085A51E3DC53}"/>
              </a:ext>
            </a:extLst>
          </p:cNvPr>
          <p:cNvSpPr>
            <a:spLocks xmlns:a="http://schemas.openxmlformats.org/drawingml/2006/main" noGrp="1"/>
          </p:cNvSpPr>
          <p:nvPr/>
        </p:nvSpPr>
        <p:spPr>
          <a:xfrm xmlns:a="http://schemas.openxmlformats.org/drawingml/2006/main">
            <a:off x="7044690" y="3886200"/>
            <a:ext cx="88011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0.053</a:t>
            </a:r>
          </a:p>
        </p:txBody>
      </p:sp>
      <p:sp>
        <p:nvSpPr>
          <p:cNvPr id="24" name="">
            <a:extLst xmlns:a="http://schemas.openxmlformats.org/drawingml/2006/main">
              <a:ext uri="{FF2B5EF4-FFF2-40B4-BE49-F238E27FC236}">
                <a16:creationId xmlns:a16="http://schemas.microsoft.com/office/drawing/2014/main" id="{3C8C1A54-5DDB-4976-8773-94E4C465E82A}"/>
              </a:ext>
            </a:extLst>
          </p:cNvPr>
          <p:cNvSpPr>
            <a:spLocks xmlns:a="http://schemas.openxmlformats.org/drawingml/2006/main" noGrp="1"/>
          </p:cNvSpPr>
          <p:nvPr/>
        </p:nvSpPr>
        <p:spPr>
          <a:xfrm xmlns:a="http://schemas.openxmlformats.org/drawingml/2006/main">
            <a:off x="3817620" y="4133850"/>
            <a:ext cx="396049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−0.0219–0.1317</a:t>
            </a:r>
          </a:p>
        </p:txBody>
      </p:sp>
      <p:sp>
        <p:nvSpPr>
          <p:cNvPr id="25" name="">
            <a:extLst xmlns:a="http://schemas.openxmlformats.org/drawingml/2006/main">
              <a:ext uri="{FF2B5EF4-FFF2-40B4-BE49-F238E27FC236}">
                <a16:creationId xmlns:a16="http://schemas.microsoft.com/office/drawing/2014/main" id="{5D9594E7-DA53-42B9-A46B-C0C2938F97D4}"/>
              </a:ext>
            </a:extLst>
          </p:cNvPr>
          <p:cNvSpPr>
            <a:spLocks xmlns:a="http://schemas.openxmlformats.org/drawingml/2006/main" noGrp="1"/>
          </p:cNvSpPr>
          <p:nvPr/>
        </p:nvSpPr>
        <p:spPr>
          <a:xfrm xmlns:a="http://schemas.openxmlformats.org/drawingml/2006/main">
            <a:off x="590550" y="4648200"/>
            <a:ext cx="308038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Change Endo channel</a:t>
            </a:r>
          </a:p>
        </p:txBody>
      </p:sp>
      <p:sp>
        <p:nvSpPr>
          <p:cNvPr id="26" name="">
            <a:extLst xmlns:a="http://schemas.openxmlformats.org/drawingml/2006/main">
              <a:ext uri="{FF2B5EF4-FFF2-40B4-BE49-F238E27FC236}">
                <a16:creationId xmlns:a16="http://schemas.microsoft.com/office/drawing/2014/main" id="{D5622260-4224-4BC8-B7E1-8C3DA5D1D273}"/>
              </a:ext>
            </a:extLst>
          </p:cNvPr>
          <p:cNvSpPr>
            <a:spLocks xmlns:a="http://schemas.openxmlformats.org/drawingml/2006/main" noGrp="1"/>
          </p:cNvSpPr>
          <p:nvPr/>
        </p:nvSpPr>
        <p:spPr>
          <a:xfrm xmlns:a="http://schemas.openxmlformats.org/drawingml/2006/main">
            <a:off x="3817620" y="4686300"/>
            <a:ext cx="3080385"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7" name="">
            <a:extLst xmlns:a="http://schemas.openxmlformats.org/drawingml/2006/main">
              <a:ext uri="{FF2B5EF4-FFF2-40B4-BE49-F238E27FC236}">
                <a16:creationId xmlns:a16="http://schemas.microsoft.com/office/drawing/2014/main" id="{71A23931-B34D-4526-98A6-CC9DBA5B3FDE}"/>
              </a:ext>
            </a:extLst>
          </p:cNvPr>
          <p:cNvSpPr>
            <a:spLocks xmlns:a="http://schemas.openxmlformats.org/drawingml/2006/main" noGrp="1"/>
          </p:cNvSpPr>
          <p:nvPr/>
        </p:nvSpPr>
        <p:spPr>
          <a:xfrm xmlns:a="http://schemas.openxmlformats.org/drawingml/2006/main">
            <a:off x="3817620" y="4686300"/>
            <a:ext cx="634559"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28" name="">
            <a:extLst xmlns:a="http://schemas.openxmlformats.org/drawingml/2006/main">
              <a:ext uri="{FF2B5EF4-FFF2-40B4-BE49-F238E27FC236}">
                <a16:creationId xmlns:a16="http://schemas.microsoft.com/office/drawing/2014/main" id="{35D17805-8305-49A2-BCD5-2A03F7F8D83C}"/>
              </a:ext>
            </a:extLst>
          </p:cNvPr>
          <p:cNvSpPr>
            <a:spLocks xmlns:a="http://schemas.openxmlformats.org/drawingml/2006/main" noGrp="1"/>
          </p:cNvSpPr>
          <p:nvPr/>
        </p:nvSpPr>
        <p:spPr>
          <a:xfrm xmlns:a="http://schemas.openxmlformats.org/drawingml/2006/main">
            <a:off x="7044690" y="4648200"/>
            <a:ext cx="88011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0.021</a:t>
            </a:r>
          </a:p>
        </p:txBody>
      </p:sp>
      <p:sp>
        <p:nvSpPr>
          <p:cNvPr id="29" name="">
            <a:extLst xmlns:a="http://schemas.openxmlformats.org/drawingml/2006/main">
              <a:ext uri="{FF2B5EF4-FFF2-40B4-BE49-F238E27FC236}">
                <a16:creationId xmlns:a16="http://schemas.microsoft.com/office/drawing/2014/main" id="{DDC0F4CE-E6B7-4A8E-A374-0CAAAF1B5377}"/>
              </a:ext>
            </a:extLst>
          </p:cNvPr>
          <p:cNvSpPr>
            <a:spLocks xmlns:a="http://schemas.openxmlformats.org/drawingml/2006/main" noGrp="1"/>
          </p:cNvSpPr>
          <p:nvPr/>
        </p:nvSpPr>
        <p:spPr>
          <a:xfrm xmlns:a="http://schemas.openxmlformats.org/drawingml/2006/main">
            <a:off x="3817620" y="4895850"/>
            <a:ext cx="396049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smaller unique contribution</a:t>
            </a:r>
          </a:p>
        </p:txBody>
      </p:sp>
      <p:sp>
        <p:nvSpPr>
          <p:cNvPr id="30" name="">
            <a:extLst xmlns:a="http://schemas.openxmlformats.org/drawingml/2006/main">
              <a:ext uri="{FF2B5EF4-FFF2-40B4-BE49-F238E27FC236}">
                <a16:creationId xmlns:a16="http://schemas.microsoft.com/office/drawing/2014/main" id="{897F9BFA-A44F-49D6-9FE8-0D56849DB67C}"/>
              </a:ext>
            </a:extLst>
          </p:cNvPr>
          <p:cNvSpPr>
            <a:spLocks xmlns:a="http://schemas.openxmlformats.org/drawingml/2006/main" noGrp="1"/>
          </p:cNvSpPr>
          <p:nvPr/>
        </p:nvSpPr>
        <p:spPr>
          <a:xfrm xmlns:a="http://schemas.openxmlformats.org/drawingml/2006/main">
            <a:off x="8229600" y="1600200"/>
            <a:ext cx="3295650" cy="3219450"/>
          </a:xfrm>
          <a:prstGeom xmlns:a="http://schemas.openxmlformats.org/drawingml/2006/main" prst="roundRect">
            <a:avLst>
              <a:gd name="adj" fmla="val 3550"/>
            </a:avLst>
          </a:prstGeom>
          <a:solidFill xmlns:a="http://schemas.openxmlformats.org/drawingml/2006/main">
            <a:srgbClr val="FFF2E7"/>
          </a:solidFill>
          <a:ln xmlns:a="http://schemas.openxmlformats.org/drawingml/2006/main" w="9525">
            <a:solidFill>
              <a:srgbClr val="EDEDED"/>
            </a:solidFill>
            <a:prstDash val="solid"/>
          </a:ln>
        </p:spPr>
      </p:sp>
      <p:sp>
        <p:nvSpPr>
          <p:cNvPr id="31" name="">
            <a:extLst xmlns:a="http://schemas.openxmlformats.org/drawingml/2006/main">
              <a:ext uri="{FF2B5EF4-FFF2-40B4-BE49-F238E27FC236}">
                <a16:creationId xmlns:a16="http://schemas.microsoft.com/office/drawing/2014/main" id="{49E717F7-27B7-48C4-9745-1C1E2C4C643A}"/>
              </a:ext>
            </a:extLst>
          </p:cNvPr>
          <p:cNvSpPr>
            <a:spLocks xmlns:a="http://schemas.openxmlformats.org/drawingml/2006/main" noGrp="1"/>
          </p:cNvSpPr>
          <p:nvPr/>
        </p:nvSpPr>
        <p:spPr>
          <a:xfrm xmlns:a="http://schemas.openxmlformats.org/drawingml/2006/main">
            <a:off x="8401050" y="1771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Interpretation</a:t>
            </a:r>
          </a:p>
        </p:txBody>
      </p:sp>
      <p:sp>
        <p:nvSpPr>
          <p:cNvPr id="32" name="">
            <a:extLst xmlns:a="http://schemas.openxmlformats.org/drawingml/2006/main">
              <a:ext uri="{FF2B5EF4-FFF2-40B4-BE49-F238E27FC236}">
                <a16:creationId xmlns:a16="http://schemas.microsoft.com/office/drawing/2014/main" id="{FB120A0F-872C-4562-8E8E-B8C9358D0F33}"/>
              </a:ext>
            </a:extLst>
          </p:cNvPr>
          <p:cNvSpPr>
            <a:spLocks xmlns:a="http://schemas.openxmlformats.org/drawingml/2006/main" noGrp="1"/>
          </p:cNvSpPr>
          <p:nvPr/>
        </p:nvSpPr>
        <p:spPr>
          <a:xfrm xmlns:a="http://schemas.openxmlformats.org/drawingml/2006/main">
            <a:off x="84010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model benefited most from retaining the strongest learned motif across segments. This aligns with a focal or heterogeneous early-abnormality hypothesis.</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changing Endo–Mid gap ranks high but its CI crosses zero, so the evidence is supportive—not conclusive.</a:t>
            </a:r>
          </a:p>
        </p:txBody>
      </p:sp>
      <p:sp>
        <p:nvSpPr>
          <p:cNvPr id="33" name="">
            <a:extLst xmlns:a="http://schemas.openxmlformats.org/drawingml/2006/main">
              <a:ext uri="{FF2B5EF4-FFF2-40B4-BE49-F238E27FC236}">
                <a16:creationId xmlns:a16="http://schemas.microsoft.com/office/drawing/2014/main" id="{4F0D0C68-6E0B-4CA9-80CC-A4C1906FFB38}"/>
              </a:ext>
            </a:extLst>
          </p:cNvPr>
          <p:cNvSpPr>
            <a:spLocks xmlns:a="http://schemas.openxmlformats.org/drawingml/2006/main" noGrp="1"/>
          </p:cNvSpPr>
          <p:nvPr/>
        </p:nvSpPr>
        <p:spPr>
          <a:xfrm xmlns:a="http://schemas.openxmlformats.org/drawingml/2006/main">
            <a:off x="8229600" y="4991100"/>
            <a:ext cx="3295650" cy="933450"/>
          </a:xfrm>
          <a:prstGeom xmlns:a="http://schemas.openxmlformats.org/drawingml/2006/main" prst="roundRect">
            <a:avLst>
              <a:gd name="adj" fmla="val 12245"/>
            </a:avLst>
          </a:prstGeom>
          <a:solidFill xmlns:a="http://schemas.openxmlformats.org/drawingml/2006/main">
            <a:srgbClr val="EAF5FF"/>
          </a:solidFill>
          <a:ln xmlns:a="http://schemas.openxmlformats.org/drawingml/2006/main" w="9525">
            <a:solidFill>
              <a:srgbClr val="EDEDED"/>
            </a:solidFill>
            <a:prstDash val="solid"/>
          </a:ln>
        </p:spPr>
      </p:sp>
      <p:sp>
        <p:nvSpPr>
          <p:cNvPr id="34" name="">
            <a:extLst xmlns:a="http://schemas.openxmlformats.org/drawingml/2006/main">
              <a:ext uri="{FF2B5EF4-FFF2-40B4-BE49-F238E27FC236}">
                <a16:creationId xmlns:a16="http://schemas.microsoft.com/office/drawing/2014/main" id="{748160D4-8CBC-4434-85A3-161C1AADEC50}"/>
              </a:ext>
            </a:extLst>
          </p:cNvPr>
          <p:cNvSpPr>
            <a:spLocks xmlns:a="http://schemas.openxmlformats.org/drawingml/2006/main" noGrp="1"/>
          </p:cNvSpPr>
          <p:nvPr/>
        </p:nvSpPr>
        <p:spPr>
          <a:xfrm xmlns:a="http://schemas.openxmlformats.org/drawingml/2006/main">
            <a:off x="8401050" y="5162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050505"/>
                </a:solidFill>
                <a:latin typeface="Arial"/>
                <a:ea typeface="Arial"/>
                <a:cs typeface="Arial"/>
              </a:defRPr>
            </a:pPr>
            <a:r>
              <a:rPr sz="1275" b="1" i="0">
                <a:solidFill>
                  <a:srgbClr val="050505"/>
                </a:solidFill>
                <a:latin typeface="Arial"/>
                <a:ea typeface="Arial"/>
                <a:cs typeface="Arial"/>
              </a:rPr>
              <a:t>AP</a:t>
            </a:r>
          </a:p>
        </p:txBody>
      </p:sp>
      <p:sp>
        <p:nvSpPr>
          <p:cNvPr id="35" name="">
            <a:extLst xmlns:a="http://schemas.openxmlformats.org/drawingml/2006/main">
              <a:ext uri="{FF2B5EF4-FFF2-40B4-BE49-F238E27FC236}">
                <a16:creationId xmlns:a16="http://schemas.microsoft.com/office/drawing/2014/main" id="{B40F97ED-9793-4681-9E5D-87134784EAC2}"/>
              </a:ext>
            </a:extLst>
          </p:cNvPr>
          <p:cNvSpPr>
            <a:spLocks xmlns:a="http://schemas.openxmlformats.org/drawingml/2006/main" noGrp="1"/>
          </p:cNvSpPr>
          <p:nvPr/>
        </p:nvSpPr>
        <p:spPr>
          <a:xfrm xmlns:a="http://schemas.openxmlformats.org/drawingml/2006/main">
            <a:off x="8401050" y="5581650"/>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133"/>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Segment max ΔAP 0.095; CI 0.034–0.188.</a:t>
            </a:r>
          </a:p>
        </p:txBody>
      </p:sp>
      <p:sp>
        <p:nvSpPr>
          <p:cNvPr id="36" name="">
            <a:extLst xmlns:a="http://schemas.openxmlformats.org/drawingml/2006/main">
              <a:ext uri="{FF2B5EF4-FFF2-40B4-BE49-F238E27FC236}">
                <a16:creationId xmlns:a16="http://schemas.microsoft.com/office/drawing/2014/main" id="{966C7462-CD8C-486E-9B8E-9519211B786F}"/>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held-out permutation before fold-specific PCA</a:t>
            </a:r>
          </a:p>
        </p:txBody>
      </p:sp>
    </p:spTree>
    <p:extLst>
      <p:ext uri="{BB962C8B-B14F-4D97-AF65-F5344CB8AC3E}">
        <p14:creationId xmlns:p14="http://schemas.microsoft.com/office/powerpoint/2010/main" val="17093571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6D53D96-E753-4F8D-AA08-36ABD08C1BA5}"/>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MOMENT-SMALL · STRONGEST FEATURE</a:t>
            </a:r>
          </a:p>
        </p:txBody>
      </p:sp>
      <p:sp>
        <p:nvSpPr>
          <p:cNvPr id="2" name="">
            <a:extLst xmlns:a="http://schemas.openxmlformats.org/drawingml/2006/main">
              <a:ext uri="{FF2B5EF4-FFF2-40B4-BE49-F238E27FC236}">
                <a16:creationId xmlns:a16="http://schemas.microsoft.com/office/drawing/2014/main" id="{87859DA0-EDD0-4F7D-A15D-5E5C5BEEA46F}"/>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Deep dive: MOMENT segment-max embedding</a:t>
            </a:r>
          </a:p>
        </p:txBody>
      </p:sp>
      <p:sp>
        <p:nvSpPr>
          <p:cNvPr id="3" name="">
            <a:extLst xmlns:a="http://schemas.openxmlformats.org/drawingml/2006/main">
              <a:ext uri="{FF2B5EF4-FFF2-40B4-BE49-F238E27FC236}">
                <a16:creationId xmlns:a16="http://schemas.microsoft.com/office/drawing/2014/main" id="{7515CC90-C63E-4070-A459-8F0583DFBB1A}"/>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5338EA35-C767-48FE-884B-37F2B2F647D3}"/>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B08E80C5-4C95-4A5D-B95E-6DB73CCF478B}"/>
              </a:ext>
            </a:extLst>
          </p:cNvPr>
          <p:cNvSpPr>
            <a:spLocks xmlns:a="http://schemas.openxmlformats.org/drawingml/2006/main" noGrp="1"/>
          </p:cNvSpPr>
          <p:nvPr/>
        </p:nvSpPr>
        <p:spPr>
          <a:xfrm xmlns:a="http://schemas.openxmlformats.org/drawingml/2006/main">
            <a:off x="400050" y="1543050"/>
            <a:ext cx="5334000" cy="952500"/>
          </a:xfrm>
          <a:prstGeom xmlns:a="http://schemas.openxmlformats.org/drawingml/2006/main" prst="roundRect">
            <a:avLst>
              <a:gd name="adj" fmla="val 8000"/>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67284256-5BC1-4427-96A5-526E45FEE230}"/>
              </a:ext>
            </a:extLst>
          </p:cNvPr>
          <p:cNvSpPr>
            <a:spLocks xmlns:a="http://schemas.openxmlformats.org/drawingml/2006/main" noGrp="1"/>
          </p:cNvSpPr>
          <p:nvPr/>
        </p:nvSpPr>
        <p:spPr>
          <a:xfrm xmlns:a="http://schemas.openxmlformats.org/drawingml/2006/main">
            <a:off x="571500" y="1695450"/>
            <a:ext cx="499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m(c,j) = max over segments s of h(s,c,j)</a:t>
            </a:r>
          </a:p>
        </p:txBody>
      </p:sp>
      <p:sp>
        <p:nvSpPr>
          <p:cNvPr id="7" name="">
            <a:extLst xmlns:a="http://schemas.openxmlformats.org/drawingml/2006/main">
              <a:ext uri="{FF2B5EF4-FFF2-40B4-BE49-F238E27FC236}">
                <a16:creationId xmlns:a16="http://schemas.microsoft.com/office/drawing/2014/main" id="{4E01624D-066D-412F-B33A-B371406E48DE}"/>
              </a:ext>
            </a:extLst>
          </p:cNvPr>
          <p:cNvSpPr>
            <a:spLocks xmlns:a="http://schemas.openxmlformats.org/drawingml/2006/main" noGrp="1"/>
          </p:cNvSpPr>
          <p:nvPr/>
        </p:nvSpPr>
        <p:spPr>
          <a:xfrm xmlns:a="http://schemas.openxmlformats.org/drawingml/2006/main">
            <a:off x="533400" y="2228850"/>
            <a:ext cx="506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6 channels × 512 embedding coordinates = 3,072 values</a:t>
            </a:r>
          </a:p>
        </p:txBody>
      </p:sp>
      <p:sp>
        <p:nvSpPr>
          <p:cNvPr id="8" name="">
            <a:extLst xmlns:a="http://schemas.openxmlformats.org/drawingml/2006/main">
              <a:ext uri="{FF2B5EF4-FFF2-40B4-BE49-F238E27FC236}">
                <a16:creationId xmlns:a16="http://schemas.microsoft.com/office/drawing/2014/main" id="{DC8B225F-4131-4907-8C97-6718BDE3A23D}"/>
              </a:ext>
            </a:extLst>
          </p:cNvPr>
          <p:cNvSpPr>
            <a:spLocks xmlns:a="http://schemas.openxmlformats.org/drawingml/2006/main" noGrp="1"/>
          </p:cNvSpPr>
          <p:nvPr/>
        </p:nvSpPr>
        <p:spPr>
          <a:xfrm xmlns:a="http://schemas.openxmlformats.org/drawingml/2006/main">
            <a:off x="400050" y="2800350"/>
            <a:ext cx="5334000" cy="2724150"/>
          </a:xfrm>
          <a:prstGeom xmlns:a="http://schemas.openxmlformats.org/drawingml/2006/main" prst="roundRect">
            <a:avLst>
              <a:gd name="adj" fmla="val 4196"/>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61338C6E-1B14-43B9-BD40-5DD62065E10A}"/>
              </a:ext>
            </a:extLst>
          </p:cNvPr>
          <p:cNvSpPr>
            <a:spLocks xmlns:a="http://schemas.openxmlformats.org/drawingml/2006/main" noGrp="1"/>
          </p:cNvSpPr>
          <p:nvPr/>
        </p:nvSpPr>
        <p:spPr>
          <a:xfrm xmlns:a="http://schemas.openxmlformats.org/drawingml/2006/main">
            <a:off x="571500" y="2971800"/>
            <a:ext cx="499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How it is calculated</a:t>
            </a:r>
          </a:p>
        </p:txBody>
      </p:sp>
      <p:sp>
        <p:nvSpPr>
          <p:cNvPr id="10" name="">
            <a:extLst xmlns:a="http://schemas.openxmlformats.org/drawingml/2006/main">
              <a:ext uri="{FF2B5EF4-FFF2-40B4-BE49-F238E27FC236}">
                <a16:creationId xmlns:a16="http://schemas.microsoft.com/office/drawing/2014/main" id="{5B6C5051-AC49-4B3B-B29D-03FB9CF6DF99}"/>
              </a:ext>
            </a:extLst>
          </p:cNvPr>
          <p:cNvSpPr>
            <a:spLocks xmlns:a="http://schemas.openxmlformats.org/drawingml/2006/main" noGrp="1"/>
          </p:cNvSpPr>
          <p:nvPr/>
        </p:nvSpPr>
        <p:spPr>
          <a:xfrm xmlns:a="http://schemas.openxmlformats.org/drawingml/2006/main">
            <a:off x="571500" y="3390900"/>
            <a:ext cx="49911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1. Encode every segment/channel curve with frozen MOMENT.</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2. Average its temporal patch embeddings.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3. For each channel c and embedding coordinate j, keep the largest value among 18 segments.</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4. Concatenate with mean and SD pools; PCA compresses the result.</a:t>
            </a:r>
          </a:p>
        </p:txBody>
      </p:sp>
      <p:sp>
        <p:nvSpPr>
          <p:cNvPr id="11" name="">
            <a:extLst xmlns:a="http://schemas.openxmlformats.org/drawingml/2006/main">
              <a:ext uri="{FF2B5EF4-FFF2-40B4-BE49-F238E27FC236}">
                <a16:creationId xmlns:a16="http://schemas.microsoft.com/office/drawing/2014/main" id="{7AD47EAF-BD32-497D-9CAD-497E6C632800}"/>
              </a:ext>
            </a:extLst>
          </p:cNvPr>
          <p:cNvSpPr>
            <a:spLocks xmlns:a="http://schemas.openxmlformats.org/drawingml/2006/main" noGrp="1"/>
          </p:cNvSpPr>
          <p:nvPr/>
        </p:nvSpPr>
        <p:spPr>
          <a:xfrm xmlns:a="http://schemas.openxmlformats.org/drawingml/2006/main">
            <a:off x="6000750" y="1543050"/>
            <a:ext cx="5524500" cy="1657350"/>
          </a:xfrm>
          <a:prstGeom xmlns:a="http://schemas.openxmlformats.org/drawingml/2006/main" prst="roundRect">
            <a:avLst>
              <a:gd name="adj" fmla="val 6897"/>
            </a:avLst>
          </a:prstGeom>
          <a:solidFill xmlns:a="http://schemas.openxmlformats.org/drawingml/2006/main">
            <a:srgbClr val="FBECEC"/>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94226856-8D01-4771-8733-C6E9DFD73228}"/>
              </a:ext>
            </a:extLst>
          </p:cNvPr>
          <p:cNvSpPr>
            <a:spLocks xmlns:a="http://schemas.openxmlformats.org/drawingml/2006/main" noGrp="1"/>
          </p:cNvSpPr>
          <p:nvPr/>
        </p:nvSpPr>
        <p:spPr>
          <a:xfrm xmlns:a="http://schemas.openxmlformats.org/drawingml/2006/main">
            <a:off x="6172200" y="1714500"/>
            <a:ext cx="518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What it is not</a:t>
            </a:r>
          </a:p>
        </p:txBody>
      </p:sp>
      <p:sp>
        <p:nvSpPr>
          <p:cNvPr id="13" name="">
            <a:extLst xmlns:a="http://schemas.openxmlformats.org/drawingml/2006/main">
              <a:ext uri="{FF2B5EF4-FFF2-40B4-BE49-F238E27FC236}">
                <a16:creationId xmlns:a16="http://schemas.microsoft.com/office/drawing/2014/main" id="{3C2B9E7A-ACC1-4C0B-84FA-C6321EDF8A05}"/>
              </a:ext>
            </a:extLst>
          </p:cNvPr>
          <p:cNvSpPr>
            <a:spLocks xmlns:a="http://schemas.openxmlformats.org/drawingml/2006/main" noGrp="1"/>
          </p:cNvSpPr>
          <p:nvPr/>
        </p:nvSpPr>
        <p:spPr>
          <a:xfrm xmlns:a="http://schemas.openxmlformats.org/drawingml/2006/main">
            <a:off x="6172200" y="2133600"/>
            <a:ext cx="5181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Not peak strain. Not one ‘most important segment.’ Coordinate 17 may be maximized by segment 4 while coordinate 301 is maximized by segment 12.</a:t>
            </a:r>
          </a:p>
        </p:txBody>
      </p:sp>
      <p:sp>
        <p:nvSpPr>
          <p:cNvPr id="14" name="">
            <a:extLst xmlns:a="http://schemas.openxmlformats.org/drawingml/2006/main">
              <a:ext uri="{FF2B5EF4-FFF2-40B4-BE49-F238E27FC236}">
                <a16:creationId xmlns:a16="http://schemas.microsoft.com/office/drawing/2014/main" id="{5393B3EE-7DFA-467F-B727-3A724ED7C543}"/>
              </a:ext>
            </a:extLst>
          </p:cNvPr>
          <p:cNvSpPr>
            <a:spLocks xmlns:a="http://schemas.openxmlformats.org/drawingml/2006/main" noGrp="1"/>
          </p:cNvSpPr>
          <p:nvPr/>
        </p:nvSpPr>
        <p:spPr>
          <a:xfrm xmlns:a="http://schemas.openxmlformats.org/drawingml/2006/main">
            <a:off x="6000750" y="3390900"/>
            <a:ext cx="5524500" cy="2133600"/>
          </a:xfrm>
          <a:prstGeom xmlns:a="http://schemas.openxmlformats.org/drawingml/2006/main" prst="roundRect">
            <a:avLst>
              <a:gd name="adj" fmla="val 5357"/>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506B89E3-58A7-40EC-8913-CF7FA2634582}"/>
              </a:ext>
            </a:extLst>
          </p:cNvPr>
          <p:cNvSpPr>
            <a:spLocks xmlns:a="http://schemas.openxmlformats.org/drawingml/2006/main" noGrp="1"/>
          </p:cNvSpPr>
          <p:nvPr/>
        </p:nvSpPr>
        <p:spPr>
          <a:xfrm xmlns:a="http://schemas.openxmlformats.org/drawingml/2006/main">
            <a:off x="6172200" y="3562350"/>
            <a:ext cx="518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Physiological interpretation</a:t>
            </a:r>
          </a:p>
        </p:txBody>
      </p:sp>
      <p:sp>
        <p:nvSpPr>
          <p:cNvPr id="16" name="">
            <a:extLst xmlns:a="http://schemas.openxmlformats.org/drawingml/2006/main">
              <a:ext uri="{FF2B5EF4-FFF2-40B4-BE49-F238E27FC236}">
                <a16:creationId xmlns:a16="http://schemas.microsoft.com/office/drawing/2014/main" id="{2375FFB9-949F-486F-96FF-873DE9477269}"/>
              </a:ext>
            </a:extLst>
          </p:cNvPr>
          <p:cNvSpPr>
            <a:spLocks xmlns:a="http://schemas.openxmlformats.org/drawingml/2006/main" noGrp="1"/>
          </p:cNvSpPr>
          <p:nvPr/>
        </p:nvSpPr>
        <p:spPr>
          <a:xfrm xmlns:a="http://schemas.openxmlformats.org/drawingml/2006/main">
            <a:off x="6172200" y="3981450"/>
            <a:ext cx="51816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If injury is initially regional, averaging can dilute it. Max pooling can preserve a strong learned contour abnormality from a small number of segments—consistent with reported non-uniform segmental strain worsening after doxorubicin.</a:t>
            </a:r>
          </a:p>
        </p:txBody>
      </p:sp>
      <p:sp>
        <p:nvSpPr>
          <p:cNvPr id="17" name="">
            <a:extLst xmlns:a="http://schemas.openxmlformats.org/drawingml/2006/main">
              <a:ext uri="{FF2B5EF4-FFF2-40B4-BE49-F238E27FC236}">
                <a16:creationId xmlns:a16="http://schemas.microsoft.com/office/drawing/2014/main" id="{6B1FD4C1-DD8C-4EAA-9B30-1837768573F1}"/>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MOMENT pooling code; segmental strain cardiotoxicity cohort</a:t>
            </a:r>
          </a:p>
        </p:txBody>
      </p:sp>
    </p:spTree>
    <p:extLst>
      <p:ext uri="{BB962C8B-B14F-4D97-AF65-F5344CB8AC3E}">
        <p14:creationId xmlns:p14="http://schemas.microsoft.com/office/powerpoint/2010/main" val="11632748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9C7EF74-8DCF-423F-B35A-BEFD8DD82518}"/>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MOMENT-SMALL · HYPOTHESIS FEATURE</a:t>
            </a:r>
          </a:p>
        </p:txBody>
      </p:sp>
      <p:sp>
        <p:nvSpPr>
          <p:cNvPr id="2" name="">
            <a:extLst xmlns:a="http://schemas.openxmlformats.org/drawingml/2006/main">
              <a:ext uri="{FF2B5EF4-FFF2-40B4-BE49-F238E27FC236}">
                <a16:creationId xmlns:a16="http://schemas.microsoft.com/office/drawing/2014/main" id="{96C6ED50-2E0D-4349-9C3C-C8CACABFDCA2}"/>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Deep dive: change in the Endo–Mid difference</a:t>
            </a:r>
          </a:p>
        </p:txBody>
      </p:sp>
      <p:sp>
        <p:nvSpPr>
          <p:cNvPr id="3" name="">
            <a:extLst xmlns:a="http://schemas.openxmlformats.org/drawingml/2006/main">
              <a:ext uri="{FF2B5EF4-FFF2-40B4-BE49-F238E27FC236}">
                <a16:creationId xmlns:a16="http://schemas.microsoft.com/office/drawing/2014/main" id="{68F74F6E-C756-4B03-B0F5-7689817EEE44}"/>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B2AEEFF-BC5C-4896-9A47-03AA5825A398}"/>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04C36720-032E-4BB0-A615-48FC92A78879}"/>
              </a:ext>
            </a:extLst>
          </p:cNvPr>
          <p:cNvSpPr>
            <a:spLocks xmlns:a="http://schemas.openxmlformats.org/drawingml/2006/main" noGrp="1"/>
          </p:cNvSpPr>
          <p:nvPr/>
        </p:nvSpPr>
        <p:spPr>
          <a:xfrm xmlns:a="http://schemas.openxmlformats.org/drawingml/2006/main">
            <a:off x="400050" y="1524000"/>
            <a:ext cx="11125200" cy="1009650"/>
          </a:xfrm>
          <a:prstGeom xmlns:a="http://schemas.openxmlformats.org/drawingml/2006/main" prst="roundRect">
            <a:avLst>
              <a:gd name="adj" fmla="val 7547"/>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CEB895CF-78F9-4396-B8E4-4A1987D71B7D}"/>
              </a:ext>
            </a:extLst>
          </p:cNvPr>
          <p:cNvSpPr>
            <a:spLocks xmlns:a="http://schemas.openxmlformats.org/drawingml/2006/main" noGrp="1"/>
          </p:cNvSpPr>
          <p:nvPr/>
        </p:nvSpPr>
        <p:spPr>
          <a:xfrm xmlns:a="http://schemas.openxmlformats.org/drawingml/2006/main">
            <a:off x="571500" y="1676400"/>
            <a:ext cx="1078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Δgap(s,τ) = [Eₜ(s,τ) − Mₜ(s,τ)] − [Eₜ₋₁(s,τ) − Mₜ₋₁(s,τ)]</a:t>
            </a:r>
          </a:p>
        </p:txBody>
      </p:sp>
      <p:sp>
        <p:nvSpPr>
          <p:cNvPr id="7" name="">
            <a:extLst xmlns:a="http://schemas.openxmlformats.org/drawingml/2006/main">
              <a:ext uri="{FF2B5EF4-FFF2-40B4-BE49-F238E27FC236}">
                <a16:creationId xmlns:a16="http://schemas.microsoft.com/office/drawing/2014/main" id="{88EE43B8-57B3-4843-8A05-FD79F16494EA}"/>
              </a:ext>
            </a:extLst>
          </p:cNvPr>
          <p:cNvSpPr>
            <a:spLocks xmlns:a="http://schemas.openxmlformats.org/drawingml/2006/main" noGrp="1"/>
          </p:cNvSpPr>
          <p:nvPr/>
        </p:nvSpPr>
        <p:spPr>
          <a:xfrm xmlns:a="http://schemas.openxmlformats.org/drawingml/2006/main">
            <a:off x="533400" y="2266950"/>
            <a:ext cx="1085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Channel 6 · calculated point-by-point for all segments and normalized times</a:t>
            </a:r>
          </a:p>
        </p:txBody>
      </p:sp>
      <p:sp>
        <p:nvSpPr>
          <p:cNvPr id="8" name="">
            <a:extLst xmlns:a="http://schemas.openxmlformats.org/drawingml/2006/main">
              <a:ext uri="{FF2B5EF4-FFF2-40B4-BE49-F238E27FC236}">
                <a16:creationId xmlns:a16="http://schemas.microsoft.com/office/drawing/2014/main" id="{44998673-F2C1-47A1-83D6-1E652F6EDE18}"/>
              </a:ext>
            </a:extLst>
          </p:cNvPr>
          <p:cNvSpPr>
            <a:spLocks xmlns:a="http://schemas.openxmlformats.org/drawingml/2006/main" noGrp="1"/>
          </p:cNvSpPr>
          <p:nvPr/>
        </p:nvSpPr>
        <p:spPr>
          <a:xfrm xmlns:a="http://schemas.openxmlformats.org/drawingml/2006/main">
            <a:off x="400050" y="2876550"/>
            <a:ext cx="3448050" cy="2476500"/>
          </a:xfrm>
          <a:prstGeom xmlns:a="http://schemas.openxmlformats.org/drawingml/2006/main" prst="roundRect">
            <a:avLst>
              <a:gd name="adj" fmla="val 4615"/>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073BB529-EEB4-4D16-90F8-A2E356291041}"/>
              </a:ext>
            </a:extLst>
          </p:cNvPr>
          <p:cNvSpPr>
            <a:spLocks xmlns:a="http://schemas.openxmlformats.org/drawingml/2006/main" noGrp="1"/>
          </p:cNvSpPr>
          <p:nvPr/>
        </p:nvSpPr>
        <p:spPr>
          <a:xfrm xmlns:a="http://schemas.openxmlformats.org/drawingml/2006/main">
            <a:off x="571500" y="304800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Meaning</a:t>
            </a:r>
          </a:p>
        </p:txBody>
      </p:sp>
      <p:sp>
        <p:nvSpPr>
          <p:cNvPr id="10" name="">
            <a:extLst xmlns:a="http://schemas.openxmlformats.org/drawingml/2006/main">
              <a:ext uri="{FF2B5EF4-FFF2-40B4-BE49-F238E27FC236}">
                <a16:creationId xmlns:a16="http://schemas.microsoft.com/office/drawing/2014/main" id="{9B0A93C0-E990-4F3A-BE2F-7B4E405C99CF}"/>
              </a:ext>
            </a:extLst>
          </p:cNvPr>
          <p:cNvSpPr>
            <a:spLocks xmlns:a="http://schemas.openxmlformats.org/drawingml/2006/main" noGrp="1"/>
          </p:cNvSpPr>
          <p:nvPr/>
        </p:nvSpPr>
        <p:spPr>
          <a:xfrm xmlns:a="http://schemas.openxmlformats.org/drawingml/2006/main">
            <a:off x="571500" y="3467100"/>
            <a:ext cx="31051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Measures whether the relationship between endocardial and mid-wall deformation has changed since the prior visit—even if both layers changed in the same direction.</a:t>
            </a:r>
          </a:p>
        </p:txBody>
      </p:sp>
      <p:sp>
        <p:nvSpPr>
          <p:cNvPr id="11" name="">
            <a:extLst xmlns:a="http://schemas.openxmlformats.org/drawingml/2006/main">
              <a:ext uri="{FF2B5EF4-FFF2-40B4-BE49-F238E27FC236}">
                <a16:creationId xmlns:a16="http://schemas.microsoft.com/office/drawing/2014/main" id="{BC9B95D4-E667-463D-B830-3F3EFDBC885E}"/>
              </a:ext>
            </a:extLst>
          </p:cNvPr>
          <p:cNvSpPr>
            <a:spLocks xmlns:a="http://schemas.openxmlformats.org/drawingml/2006/main" noGrp="1"/>
          </p:cNvSpPr>
          <p:nvPr/>
        </p:nvSpPr>
        <p:spPr>
          <a:xfrm xmlns:a="http://schemas.openxmlformats.org/drawingml/2006/main">
            <a:off x="4038600" y="2876550"/>
            <a:ext cx="3448050" cy="2476500"/>
          </a:xfrm>
          <a:prstGeom xmlns:a="http://schemas.openxmlformats.org/drawingml/2006/main" prst="roundRect">
            <a:avLst>
              <a:gd name="adj" fmla="val 4615"/>
            </a:avLst>
          </a:prstGeom>
          <a:solidFill xmlns:a="http://schemas.openxmlformats.org/drawingml/2006/main">
            <a:srgbClr val="EBF6E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AE3C6FD5-DE63-49A2-8A11-B42C7A960D0F}"/>
              </a:ext>
            </a:extLst>
          </p:cNvPr>
          <p:cNvSpPr>
            <a:spLocks xmlns:a="http://schemas.openxmlformats.org/drawingml/2006/main" noGrp="1"/>
          </p:cNvSpPr>
          <p:nvPr/>
        </p:nvSpPr>
        <p:spPr>
          <a:xfrm xmlns:a="http://schemas.openxmlformats.org/drawingml/2006/main">
            <a:off x="4210050" y="304800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Why it may matter</a:t>
            </a:r>
          </a:p>
        </p:txBody>
      </p:sp>
      <p:sp>
        <p:nvSpPr>
          <p:cNvPr id="13" name="">
            <a:extLst xmlns:a="http://schemas.openxmlformats.org/drawingml/2006/main">
              <a:ext uri="{FF2B5EF4-FFF2-40B4-BE49-F238E27FC236}">
                <a16:creationId xmlns:a16="http://schemas.microsoft.com/office/drawing/2014/main" id="{07FF9358-5FD7-48AA-9292-9B2D1040FBB0}"/>
              </a:ext>
            </a:extLst>
          </p:cNvPr>
          <p:cNvSpPr>
            <a:spLocks xmlns:a="http://schemas.openxmlformats.org/drawingml/2006/main" noGrp="1"/>
          </p:cNvSpPr>
          <p:nvPr/>
        </p:nvSpPr>
        <p:spPr>
          <a:xfrm xmlns:a="http://schemas.openxmlformats.org/drawingml/2006/main">
            <a:off x="4210050" y="3467100"/>
            <a:ext cx="31051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Healthy myocardium has a layer-dependent strain gradient. Selective vulnerability, altered transmural mechanics or tracking changes could change this gradient before global Mid-GLS deteriorates.</a:t>
            </a:r>
          </a:p>
        </p:txBody>
      </p:sp>
      <p:sp>
        <p:nvSpPr>
          <p:cNvPr id="14" name="">
            <a:extLst xmlns:a="http://schemas.openxmlformats.org/drawingml/2006/main">
              <a:ext uri="{FF2B5EF4-FFF2-40B4-BE49-F238E27FC236}">
                <a16:creationId xmlns:a16="http://schemas.microsoft.com/office/drawing/2014/main" id="{D97BD5C1-7B1D-4510-B3A9-CD91193D20B4}"/>
              </a:ext>
            </a:extLst>
          </p:cNvPr>
          <p:cNvSpPr>
            <a:spLocks xmlns:a="http://schemas.openxmlformats.org/drawingml/2006/main" noGrp="1"/>
          </p:cNvSpPr>
          <p:nvPr/>
        </p:nvSpPr>
        <p:spPr>
          <a:xfrm xmlns:a="http://schemas.openxmlformats.org/drawingml/2006/main">
            <a:off x="7677150" y="2876550"/>
            <a:ext cx="3848100" cy="2476500"/>
          </a:xfrm>
          <a:prstGeom xmlns:a="http://schemas.openxmlformats.org/drawingml/2006/main" prst="roundRect">
            <a:avLst>
              <a:gd name="adj" fmla="val 4615"/>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195D7B83-DBD0-4A79-920C-16F993E3E6D8}"/>
              </a:ext>
            </a:extLst>
          </p:cNvPr>
          <p:cNvSpPr>
            <a:spLocks xmlns:a="http://schemas.openxmlformats.org/drawingml/2006/main" noGrp="1"/>
          </p:cNvSpPr>
          <p:nvPr/>
        </p:nvSpPr>
        <p:spPr>
          <a:xfrm xmlns:a="http://schemas.openxmlformats.org/drawingml/2006/main">
            <a:off x="7848600" y="304800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Evidence strength</a:t>
            </a:r>
          </a:p>
        </p:txBody>
      </p:sp>
      <p:sp>
        <p:nvSpPr>
          <p:cNvPr id="16" name="">
            <a:extLst xmlns:a="http://schemas.openxmlformats.org/drawingml/2006/main">
              <a:ext uri="{FF2B5EF4-FFF2-40B4-BE49-F238E27FC236}">
                <a16:creationId xmlns:a16="http://schemas.microsoft.com/office/drawing/2014/main" id="{88BC386B-A10D-4DDA-A031-6CF12BC759A6}"/>
              </a:ext>
            </a:extLst>
          </p:cNvPr>
          <p:cNvSpPr>
            <a:spLocks xmlns:a="http://schemas.openxmlformats.org/drawingml/2006/main" noGrp="1"/>
          </p:cNvSpPr>
          <p:nvPr/>
        </p:nvSpPr>
        <p:spPr>
          <a:xfrm xmlns:a="http://schemas.openxmlformats.org/drawingml/2006/main">
            <a:off x="7848600" y="3467100"/>
            <a:ext cx="35052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MOMENT-only ΔAUC 0.053; ensemble ΔAUC 0.020–0.022. Confidence intervals cross zero. This is promising mechanistic evidence, not confirmation of layer-selective cardiotoxicity.</a:t>
            </a:r>
          </a:p>
        </p:txBody>
      </p:sp>
      <p:sp>
        <p:nvSpPr>
          <p:cNvPr id="17" name="">
            <a:extLst xmlns:a="http://schemas.openxmlformats.org/drawingml/2006/main">
              <a:ext uri="{FF2B5EF4-FFF2-40B4-BE49-F238E27FC236}">
                <a16:creationId xmlns:a16="http://schemas.microsoft.com/office/drawing/2014/main" id="{ADFAD165-98BF-45C4-BA38-C25C80698538}"/>
              </a:ext>
            </a:extLst>
          </p:cNvPr>
          <p:cNvSpPr>
            <a:spLocks xmlns:a="http://schemas.openxmlformats.org/drawingml/2006/main" noGrp="1"/>
          </p:cNvSpPr>
          <p:nvPr/>
        </p:nvSpPr>
        <p:spPr>
          <a:xfrm xmlns:a="http://schemas.openxmlformats.org/drawingml/2006/main">
            <a:off x="1066800" y="5676900"/>
            <a:ext cx="10058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682"/>
          </a:bodyPr>
          <a:lstStyle xmlns:a="http://schemas.openxmlformats.org/drawingml/2006/main"/>
          <a:p xmlns:a="http://schemas.openxmlformats.org/drawingml/2006/main">
            <a:pPr algn="ctr">
              <a:defRPr sz="1313" b="1" i="0">
                <a:solidFill>
                  <a:srgbClr val="050505"/>
                </a:solidFill>
                <a:latin typeface="Arial"/>
                <a:ea typeface="Arial"/>
                <a:cs typeface="Arial"/>
              </a:defRPr>
            </a:pPr>
            <a:r>
              <a:rPr sz="1313" b="1" i="0">
                <a:solidFill>
                  <a:srgbClr val="050505"/>
                </a:solidFill>
                <a:latin typeface="Arial"/>
                <a:ea typeface="Arial"/>
                <a:cs typeface="Arial"/>
              </a:rPr>
              <a:t>A shared decrease in Endo and Mid can cancel in this channel; therefore it complements—not replaces—the original layer curves and their changes.</a:t>
            </a:r>
          </a:p>
        </p:txBody>
      </p:sp>
      <p:sp>
        <p:nvSpPr>
          <p:cNvPr id="18" name="">
            <a:extLst xmlns:a="http://schemas.openxmlformats.org/drawingml/2006/main">
              <a:ext uri="{FF2B5EF4-FFF2-40B4-BE49-F238E27FC236}">
                <a16:creationId xmlns:a16="http://schemas.microsoft.com/office/drawing/2014/main" id="{613992ED-874A-4AAD-9E89-79D7A37FFAAE}"/>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channel 6 definition; layer-specific strain normal ranges</a:t>
            </a:r>
          </a:p>
        </p:txBody>
      </p:sp>
    </p:spTree>
    <p:extLst>
      <p:ext uri="{BB962C8B-B14F-4D97-AF65-F5344CB8AC3E}">
        <p14:creationId xmlns:p14="http://schemas.microsoft.com/office/powerpoint/2010/main" val="408128113"/>
      </p:ext>
    </p:extLst>
  </p:cSld>
</p:sld>
</file>

<file path=ppt/slides/slide2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820038-9664-48F9-AD9A-0758E8344DCB}"/>
              </a:ext>
            </a:extLst>
          </p:cNvPr>
          <p:cNvSpPr>
            <a:spLocks xmlns:a="http://schemas.openxmlformats.org/drawingml/2006/main" noGrp="1"/>
          </p:cNvSpPr>
          <p:nvPr/>
        </p:nvSpPr>
        <p:spPr>
          <a:xfrm xmlns:a="http://schemas.openxmlformats.org/drawingml/2006/main">
            <a:off x="552450" y="533400"/>
            <a:ext cx="2286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600" b="1" i="0">
                <a:solidFill>
                  <a:srgbClr val="2E8B57"/>
                </a:solidFill>
                <a:latin typeface="Arial"/>
                <a:ea typeface="Arial"/>
                <a:cs typeface="Arial"/>
              </a:defRPr>
            </a:pPr>
            <a:r>
              <a:rPr sz="9600" b="1" i="0">
                <a:solidFill>
                  <a:srgbClr val="2E8B57"/>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9F876AD7-A73A-400F-8634-165CB75898A3}"/>
              </a:ext>
            </a:extLst>
          </p:cNvPr>
          <p:cNvSpPr>
            <a:spLocks xmlns:a="http://schemas.openxmlformats.org/drawingml/2006/main" noGrp="1"/>
          </p:cNvSpPr>
          <p:nvPr/>
        </p:nvSpPr>
        <p:spPr>
          <a:xfrm xmlns:a="http://schemas.openxmlformats.org/drawingml/2006/main">
            <a:off x="552450" y="272415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i="0">
                <a:solidFill>
                  <a:srgbClr val="FFFFFF"/>
                </a:solidFill>
                <a:latin typeface="Arial"/>
                <a:ea typeface="Arial"/>
                <a:cs typeface="Arial"/>
              </a:defRPr>
            </a:pPr>
            <a:r>
              <a:rPr sz="4200" b="1" i="0">
                <a:solidFill>
                  <a:srgbClr val="FFFFFF"/>
                </a:solidFill>
                <a:latin typeface="Arial"/>
                <a:ea typeface="Arial"/>
                <a:cs typeface="Arial"/>
              </a:rPr>
              <a:t>RDST shapelets</a:t>
            </a:r>
          </a:p>
        </p:txBody>
      </p:sp>
      <p:sp>
        <p:nvSpPr>
          <p:cNvPr id="3" name="">
            <a:extLst xmlns:a="http://schemas.openxmlformats.org/drawingml/2006/main">
              <a:ext uri="{FF2B5EF4-FFF2-40B4-BE49-F238E27FC236}">
                <a16:creationId xmlns:a16="http://schemas.microsoft.com/office/drawing/2014/main" id="{214F478F-1F2E-4780-A1F7-ADC0C0A0AFEA}"/>
              </a:ext>
            </a:extLst>
          </p:cNvPr>
          <p:cNvSpPr>
            <a:spLocks xmlns:a="http://schemas.openxmlformats.org/drawingml/2006/main" noGrp="1"/>
          </p:cNvSpPr>
          <p:nvPr/>
        </p:nvSpPr>
        <p:spPr>
          <a:xfrm xmlns:a="http://schemas.openxmlformats.org/drawingml/2006/main">
            <a:off x="552450" y="4095750"/>
            <a:ext cx="942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B8BCC4"/>
                </a:solidFill>
                <a:latin typeface="Arial"/>
                <a:ea typeface="Arial"/>
                <a:cs typeface="Arial"/>
              </a:defRPr>
            </a:pPr>
            <a:r>
              <a:rPr sz="1800" b="0" i="0">
                <a:solidFill>
                  <a:srgbClr val="B8BCC4"/>
                </a:solidFill>
                <a:latin typeface="Arial"/>
                <a:ea typeface="Arial"/>
                <a:cs typeface="Arial"/>
              </a:rPr>
              <a:t>A randomized dictionary of short, dilated multivariate curve patterns turns the entire 108-signal heart representation into distance, timing and occurrence features.</a:t>
            </a:r>
          </a:p>
        </p:txBody>
      </p:sp>
      <p:sp>
        <p:nvSpPr>
          <p:cNvPr id="4" name="">
            <a:extLst xmlns:a="http://schemas.openxmlformats.org/drawingml/2006/main">
              <a:ext uri="{FF2B5EF4-FFF2-40B4-BE49-F238E27FC236}">
                <a16:creationId xmlns:a16="http://schemas.microsoft.com/office/drawing/2014/main" id="{FB7B26DC-04CB-4803-8609-DFA3FF24A599}"/>
              </a:ext>
            </a:extLst>
          </p:cNvPr>
          <p:cNvSpPr>
            <a:spLocks xmlns:a="http://schemas.openxmlformats.org/drawingml/2006/main" noGrp="1"/>
          </p:cNvSpPr>
          <p:nvPr/>
        </p:nvSpPr>
        <p:spPr>
          <a:xfrm xmlns:a="http://schemas.openxmlformats.org/drawingml/2006/main">
            <a:off x="552450" y="5562600"/>
            <a:ext cx="11068050" cy="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5" name="">
            <a:extLst xmlns:a="http://schemas.openxmlformats.org/drawingml/2006/main">
              <a:ext uri="{FF2B5EF4-FFF2-40B4-BE49-F238E27FC236}">
                <a16:creationId xmlns:a16="http://schemas.microsoft.com/office/drawing/2014/main" id="{8CCF74D6-E891-4D17-AD53-9453A0ADE57F}"/>
              </a:ext>
            </a:extLst>
          </p:cNvPr>
          <p:cNvSpPr>
            <a:spLocks xmlns:a="http://schemas.openxmlformats.org/drawingml/2006/main" noGrp="1"/>
          </p:cNvSpPr>
          <p:nvPr/>
        </p:nvSpPr>
        <p:spPr>
          <a:xfrm xmlns:a="http://schemas.openxmlformats.org/drawingml/2006/main">
            <a:off x="552450" y="590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E8B57"/>
                </a:solidFill>
                <a:latin typeface="Arial"/>
                <a:ea typeface="Arial"/>
                <a:cs typeface="Arial"/>
              </a:defRPr>
            </a:pPr>
            <a:r>
              <a:rPr sz="975" b="1" i="0">
                <a:solidFill>
                  <a:srgbClr val="2E8B57"/>
                </a:solidFill>
                <a:latin typeface="Arial"/>
                <a:ea typeface="Arial"/>
                <a:cs typeface="Arial"/>
              </a:rPr>
              <a:t>MODEL 03</a:t>
            </a:r>
          </a:p>
        </p:txBody>
      </p:sp>
    </p:spTree>
    <p:extLst>
      <p:ext uri="{BB962C8B-B14F-4D97-AF65-F5344CB8AC3E}">
        <p14:creationId xmlns:p14="http://schemas.microsoft.com/office/powerpoint/2010/main" val="16123385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96DB606-CA62-4AEC-8806-14F89057CB08}"/>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RDST SHAPELETS</a:t>
            </a:r>
          </a:p>
        </p:txBody>
      </p:sp>
      <p:sp>
        <p:nvSpPr>
          <p:cNvPr id="2" name="">
            <a:extLst xmlns:a="http://schemas.openxmlformats.org/drawingml/2006/main">
              <a:ext uri="{FF2B5EF4-FFF2-40B4-BE49-F238E27FC236}">
                <a16:creationId xmlns:a16="http://schemas.microsoft.com/office/drawing/2014/main" id="{35460D8E-E327-4FE0-9B56-29C0772F9C44}"/>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RDST converts curve motifs into linear-model inputs</a:t>
            </a:r>
          </a:p>
        </p:txBody>
      </p:sp>
      <p:sp>
        <p:nvSpPr>
          <p:cNvPr id="3" name="">
            <a:extLst xmlns:a="http://schemas.openxmlformats.org/drawingml/2006/main">
              <a:ext uri="{FF2B5EF4-FFF2-40B4-BE49-F238E27FC236}">
                <a16:creationId xmlns:a16="http://schemas.microsoft.com/office/drawing/2014/main" id="{822B3BC6-9CAB-452B-93AA-77FCC482F1DA}"/>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1373DA7-53A9-4577-93B9-743ECFE1BEE2}"/>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33A01747-580D-4C9C-B30B-CD28B44D10DE}"/>
              </a:ext>
            </a:extLst>
          </p:cNvPr>
          <p:cNvSpPr>
            <a:spLocks xmlns:a="http://schemas.openxmlformats.org/drawingml/2006/main" noGrp="1"/>
          </p:cNvSpPr>
          <p:nvPr/>
        </p:nvSpPr>
        <p:spPr>
          <a:xfrm xmlns:a="http://schemas.openxmlformats.org/drawingml/2006/main">
            <a:off x="2630805" y="23241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6" name="">
            <a:extLst xmlns:a="http://schemas.openxmlformats.org/drawingml/2006/main">
              <a:ext uri="{FF2B5EF4-FFF2-40B4-BE49-F238E27FC236}">
                <a16:creationId xmlns:a16="http://schemas.microsoft.com/office/drawing/2014/main" id="{A9754122-F76F-400B-82AA-416DE32E6F9A}"/>
              </a:ext>
            </a:extLst>
          </p:cNvPr>
          <p:cNvSpPr>
            <a:spLocks xmlns:a="http://schemas.openxmlformats.org/drawingml/2006/main" noGrp="1"/>
          </p:cNvSpPr>
          <p:nvPr/>
        </p:nvSpPr>
        <p:spPr>
          <a:xfrm xmlns:a="http://schemas.openxmlformats.org/drawingml/2006/main">
            <a:off x="4890135" y="23241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
            <a:extLst xmlns:a="http://schemas.openxmlformats.org/drawingml/2006/main">
              <a:ext uri="{FF2B5EF4-FFF2-40B4-BE49-F238E27FC236}">
                <a16:creationId xmlns:a16="http://schemas.microsoft.com/office/drawing/2014/main" id="{78CEB7BB-8A90-49B7-9F50-6F5EF458FC1A}"/>
              </a:ext>
            </a:extLst>
          </p:cNvPr>
          <p:cNvSpPr>
            <a:spLocks xmlns:a="http://schemas.openxmlformats.org/drawingml/2006/main" noGrp="1"/>
          </p:cNvSpPr>
          <p:nvPr/>
        </p:nvSpPr>
        <p:spPr>
          <a:xfrm xmlns:a="http://schemas.openxmlformats.org/drawingml/2006/main">
            <a:off x="7149465" y="23241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8" name="">
            <a:extLst xmlns:a="http://schemas.openxmlformats.org/drawingml/2006/main">
              <a:ext uri="{FF2B5EF4-FFF2-40B4-BE49-F238E27FC236}">
                <a16:creationId xmlns:a16="http://schemas.microsoft.com/office/drawing/2014/main" id="{36613347-3FD2-463E-8174-674E606BF664}"/>
              </a:ext>
            </a:extLst>
          </p:cNvPr>
          <p:cNvSpPr>
            <a:spLocks xmlns:a="http://schemas.openxmlformats.org/drawingml/2006/main" noGrp="1"/>
          </p:cNvSpPr>
          <p:nvPr/>
        </p:nvSpPr>
        <p:spPr>
          <a:xfrm xmlns:a="http://schemas.openxmlformats.org/drawingml/2006/main">
            <a:off x="9408795" y="2324100"/>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9" name="">
            <a:extLst xmlns:a="http://schemas.openxmlformats.org/drawingml/2006/main">
              <a:ext uri="{FF2B5EF4-FFF2-40B4-BE49-F238E27FC236}">
                <a16:creationId xmlns:a16="http://schemas.microsoft.com/office/drawing/2014/main" id="{C487CD5F-F351-48E4-82FA-FA1A463A0A24}"/>
              </a:ext>
            </a:extLst>
          </p:cNvPr>
          <p:cNvSpPr>
            <a:spLocks xmlns:a="http://schemas.openxmlformats.org/drawingml/2006/main" noGrp="1"/>
          </p:cNvSpPr>
          <p:nvPr/>
        </p:nvSpPr>
        <p:spPr>
          <a:xfrm xmlns:a="http://schemas.openxmlformats.org/drawingml/2006/main">
            <a:off x="552450" y="1695450"/>
            <a:ext cx="2049780" cy="1257300"/>
          </a:xfrm>
          <a:prstGeom xmlns:a="http://schemas.openxmlformats.org/drawingml/2006/main" prst="roundRect">
            <a:avLst>
              <a:gd name="adj" fmla="val 9091"/>
            </a:avLst>
          </a:prstGeom>
          <a:solidFill xmlns:a="http://schemas.openxmlformats.org/drawingml/2006/main">
            <a:srgbClr val="EAF5FF"/>
          </a:solidFill>
          <a:ln xmlns:a="http://schemas.openxmlformats.org/drawingml/2006/main" w="9525">
            <a:solidFill>
              <a:srgbClr val="EDEDED"/>
            </a:solidFill>
            <a:prstDash val="solid"/>
          </a:ln>
        </p:spPr>
      </p:sp>
      <p:sp>
        <p:nvSpPr>
          <p:cNvPr id="10" name="">
            <a:extLst xmlns:a="http://schemas.openxmlformats.org/drawingml/2006/main">
              <a:ext uri="{FF2B5EF4-FFF2-40B4-BE49-F238E27FC236}">
                <a16:creationId xmlns:a16="http://schemas.microsoft.com/office/drawing/2014/main" id="{3450534C-C5A5-49DD-9435-83E961D874BB}"/>
              </a:ext>
            </a:extLst>
          </p:cNvPr>
          <p:cNvSpPr>
            <a:spLocks xmlns:a="http://schemas.openxmlformats.org/drawingml/2006/main" noGrp="1"/>
          </p:cNvSpPr>
          <p:nvPr/>
        </p:nvSpPr>
        <p:spPr>
          <a:xfrm xmlns:a="http://schemas.openxmlformats.org/drawingml/2006/main">
            <a:off x="685800" y="18478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[18,6,96]</a:t>
            </a:r>
          </a:p>
        </p:txBody>
      </p:sp>
      <p:sp>
        <p:nvSpPr>
          <p:cNvPr id="11" name="">
            <a:extLst xmlns:a="http://schemas.openxmlformats.org/drawingml/2006/main">
              <a:ext uri="{FF2B5EF4-FFF2-40B4-BE49-F238E27FC236}">
                <a16:creationId xmlns:a16="http://schemas.microsoft.com/office/drawing/2014/main" id="{4127F242-BEBC-457D-9FF9-FA7DFEF16A9E}"/>
              </a:ext>
            </a:extLst>
          </p:cNvPr>
          <p:cNvSpPr>
            <a:spLocks xmlns:a="http://schemas.openxmlformats.org/drawingml/2006/main" noGrp="1"/>
          </p:cNvSpPr>
          <p:nvPr/>
        </p:nvSpPr>
        <p:spPr>
          <a:xfrm xmlns:a="http://schemas.openxmlformats.org/drawingml/2006/main">
            <a:off x="685800" y="2209800"/>
            <a:ext cx="178308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flatten segment×channel → [108,96]</a:t>
            </a:r>
          </a:p>
        </p:txBody>
      </p:sp>
      <p:sp>
        <p:nvSpPr>
          <p:cNvPr id="12" name="">
            <a:extLst xmlns:a="http://schemas.openxmlformats.org/drawingml/2006/main">
              <a:ext uri="{FF2B5EF4-FFF2-40B4-BE49-F238E27FC236}">
                <a16:creationId xmlns:a16="http://schemas.microsoft.com/office/drawing/2014/main" id="{824A18F4-E92B-419B-9F63-DA0945EAE357}"/>
              </a:ext>
            </a:extLst>
          </p:cNvPr>
          <p:cNvSpPr>
            <a:spLocks xmlns:a="http://schemas.openxmlformats.org/drawingml/2006/main" noGrp="1"/>
          </p:cNvSpPr>
          <p:nvPr/>
        </p:nvSpPr>
        <p:spPr>
          <a:xfrm xmlns:a="http://schemas.openxmlformats.org/drawingml/2006/main">
            <a:off x="2811780" y="1695450"/>
            <a:ext cx="2049780" cy="1257300"/>
          </a:xfrm>
          <a:prstGeom xmlns:a="http://schemas.openxmlformats.org/drawingml/2006/main" prst="roundRect">
            <a:avLst>
              <a:gd name="adj" fmla="val 9091"/>
            </a:avLst>
          </a:prstGeom>
          <a:solidFill xmlns:a="http://schemas.openxmlformats.org/drawingml/2006/main">
            <a:srgbClr val="E9FAFF"/>
          </a:solidFill>
          <a:ln xmlns:a="http://schemas.openxmlformats.org/drawingml/2006/main" w="9525">
            <a:solidFill>
              <a:srgbClr val="EDEDED"/>
            </a:solidFill>
            <a:prstDash val="solid"/>
          </a:ln>
        </p:spPr>
      </p:sp>
      <p:sp>
        <p:nvSpPr>
          <p:cNvPr id="13" name="">
            <a:extLst xmlns:a="http://schemas.openxmlformats.org/drawingml/2006/main">
              <a:ext uri="{FF2B5EF4-FFF2-40B4-BE49-F238E27FC236}">
                <a16:creationId xmlns:a16="http://schemas.microsoft.com/office/drawing/2014/main" id="{207D9403-0A87-4467-BA92-CCDF708D5C9E}"/>
              </a:ext>
            </a:extLst>
          </p:cNvPr>
          <p:cNvSpPr>
            <a:spLocks xmlns:a="http://schemas.openxmlformats.org/drawingml/2006/main" noGrp="1"/>
          </p:cNvSpPr>
          <p:nvPr/>
        </p:nvSpPr>
        <p:spPr>
          <a:xfrm xmlns:a="http://schemas.openxmlformats.org/drawingml/2006/main">
            <a:off x="2945130" y="18478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RDST</a:t>
            </a:r>
          </a:p>
        </p:txBody>
      </p:sp>
      <p:sp>
        <p:nvSpPr>
          <p:cNvPr id="14" name="">
            <a:extLst xmlns:a="http://schemas.openxmlformats.org/drawingml/2006/main">
              <a:ext uri="{FF2B5EF4-FFF2-40B4-BE49-F238E27FC236}">
                <a16:creationId xmlns:a16="http://schemas.microsoft.com/office/drawing/2014/main" id="{D2A1FD65-933C-45F7-ACD2-9F43D51FB5D5}"/>
              </a:ext>
            </a:extLst>
          </p:cNvPr>
          <p:cNvSpPr>
            <a:spLocks xmlns:a="http://schemas.openxmlformats.org/drawingml/2006/main" noGrp="1"/>
          </p:cNvSpPr>
          <p:nvPr/>
        </p:nvSpPr>
        <p:spPr>
          <a:xfrm xmlns:a="http://schemas.openxmlformats.org/drawingml/2006/main">
            <a:off x="2945130" y="2209800"/>
            <a:ext cx="178308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1,200 random dilated multivariate shapelets</a:t>
            </a:r>
          </a:p>
        </p:txBody>
      </p:sp>
      <p:sp>
        <p:nvSpPr>
          <p:cNvPr id="15" name="">
            <a:extLst xmlns:a="http://schemas.openxmlformats.org/drawingml/2006/main">
              <a:ext uri="{FF2B5EF4-FFF2-40B4-BE49-F238E27FC236}">
                <a16:creationId xmlns:a16="http://schemas.microsoft.com/office/drawing/2014/main" id="{01C46F64-A01F-4CC9-A6BD-190872C3EF09}"/>
              </a:ext>
            </a:extLst>
          </p:cNvPr>
          <p:cNvSpPr>
            <a:spLocks xmlns:a="http://schemas.openxmlformats.org/drawingml/2006/main" noGrp="1"/>
          </p:cNvSpPr>
          <p:nvPr/>
        </p:nvSpPr>
        <p:spPr>
          <a:xfrm xmlns:a="http://schemas.openxmlformats.org/drawingml/2006/main">
            <a:off x="5071110" y="1695450"/>
            <a:ext cx="2049780" cy="1257300"/>
          </a:xfrm>
          <a:prstGeom xmlns:a="http://schemas.openxmlformats.org/drawingml/2006/main" prst="roundRect">
            <a:avLst>
              <a:gd name="adj" fmla="val 9091"/>
            </a:avLst>
          </a:prstGeom>
          <a:solidFill xmlns:a="http://schemas.openxmlformats.org/drawingml/2006/main">
            <a:srgbClr val="EBF6EF"/>
          </a:solidFill>
          <a:ln xmlns:a="http://schemas.openxmlformats.org/drawingml/2006/main" w="9525">
            <a:solidFill>
              <a:srgbClr val="EDEDED"/>
            </a:solidFill>
            <a:prstDash val="solid"/>
          </a:ln>
        </p:spPr>
      </p:sp>
      <p:sp>
        <p:nvSpPr>
          <p:cNvPr id="16" name="">
            <a:extLst xmlns:a="http://schemas.openxmlformats.org/drawingml/2006/main">
              <a:ext uri="{FF2B5EF4-FFF2-40B4-BE49-F238E27FC236}">
                <a16:creationId xmlns:a16="http://schemas.microsoft.com/office/drawing/2014/main" id="{E5CBC533-D523-4B2C-BE23-D6B8798DA5E8}"/>
              </a:ext>
            </a:extLst>
          </p:cNvPr>
          <p:cNvSpPr>
            <a:spLocks xmlns:a="http://schemas.openxmlformats.org/drawingml/2006/main" noGrp="1"/>
          </p:cNvSpPr>
          <p:nvPr/>
        </p:nvSpPr>
        <p:spPr>
          <a:xfrm xmlns:a="http://schemas.openxmlformats.org/drawingml/2006/main">
            <a:off x="5204460" y="18478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3 outputs each</a:t>
            </a:r>
          </a:p>
        </p:txBody>
      </p:sp>
      <p:sp>
        <p:nvSpPr>
          <p:cNvPr id="17" name="">
            <a:extLst xmlns:a="http://schemas.openxmlformats.org/drawingml/2006/main">
              <a:ext uri="{FF2B5EF4-FFF2-40B4-BE49-F238E27FC236}">
                <a16:creationId xmlns:a16="http://schemas.microsoft.com/office/drawing/2014/main" id="{C1A7B2A0-2674-483F-AD1B-9B2625071832}"/>
              </a:ext>
            </a:extLst>
          </p:cNvPr>
          <p:cNvSpPr>
            <a:spLocks xmlns:a="http://schemas.openxmlformats.org/drawingml/2006/main" noGrp="1"/>
          </p:cNvSpPr>
          <p:nvPr/>
        </p:nvSpPr>
        <p:spPr>
          <a:xfrm xmlns:a="http://schemas.openxmlformats.org/drawingml/2006/main">
            <a:off x="5204460" y="2209800"/>
            <a:ext cx="178308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distance · location · count</a:t>
            </a:r>
          </a:p>
        </p:txBody>
      </p:sp>
      <p:sp>
        <p:nvSpPr>
          <p:cNvPr id="18" name="">
            <a:extLst xmlns:a="http://schemas.openxmlformats.org/drawingml/2006/main">
              <a:ext uri="{FF2B5EF4-FFF2-40B4-BE49-F238E27FC236}">
                <a16:creationId xmlns:a16="http://schemas.microsoft.com/office/drawing/2014/main" id="{90754B82-C62D-40AE-8676-2C8C7CE6E0A8}"/>
              </a:ext>
            </a:extLst>
          </p:cNvPr>
          <p:cNvSpPr>
            <a:spLocks xmlns:a="http://schemas.openxmlformats.org/drawingml/2006/main" noGrp="1"/>
          </p:cNvSpPr>
          <p:nvPr/>
        </p:nvSpPr>
        <p:spPr>
          <a:xfrm xmlns:a="http://schemas.openxmlformats.org/drawingml/2006/main">
            <a:off x="7330440" y="1695450"/>
            <a:ext cx="2049780" cy="1257300"/>
          </a:xfrm>
          <a:prstGeom xmlns:a="http://schemas.openxmlformats.org/drawingml/2006/main" prst="roundRect">
            <a:avLst>
              <a:gd name="adj" fmla="val 9091"/>
            </a:avLst>
          </a:prstGeom>
          <a:solidFill xmlns:a="http://schemas.openxmlformats.org/drawingml/2006/main">
            <a:srgbClr val="FFF2E7"/>
          </a:solidFill>
          <a:ln xmlns:a="http://schemas.openxmlformats.org/drawingml/2006/main" w="9525">
            <a:solidFill>
              <a:srgbClr val="EDEDED"/>
            </a:solidFill>
            <a:prstDash val="solid"/>
          </a:ln>
        </p:spPr>
      </p:sp>
      <p:sp>
        <p:nvSpPr>
          <p:cNvPr id="19" name="">
            <a:extLst xmlns:a="http://schemas.openxmlformats.org/drawingml/2006/main">
              <a:ext uri="{FF2B5EF4-FFF2-40B4-BE49-F238E27FC236}">
                <a16:creationId xmlns:a16="http://schemas.microsoft.com/office/drawing/2014/main" id="{8F7A3CF5-FAD1-4899-9CDB-D132082FA77A}"/>
              </a:ext>
            </a:extLst>
          </p:cNvPr>
          <p:cNvSpPr>
            <a:spLocks xmlns:a="http://schemas.openxmlformats.org/drawingml/2006/main" noGrp="1"/>
          </p:cNvSpPr>
          <p:nvPr/>
        </p:nvSpPr>
        <p:spPr>
          <a:xfrm xmlns:a="http://schemas.openxmlformats.org/drawingml/2006/main">
            <a:off x="7463790" y="18478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+ 96 scalars</a:t>
            </a:r>
          </a:p>
        </p:txBody>
      </p:sp>
      <p:sp>
        <p:nvSpPr>
          <p:cNvPr id="20" name="">
            <a:extLst xmlns:a="http://schemas.openxmlformats.org/drawingml/2006/main">
              <a:ext uri="{FF2B5EF4-FFF2-40B4-BE49-F238E27FC236}">
                <a16:creationId xmlns:a16="http://schemas.microsoft.com/office/drawing/2014/main" id="{AE03817F-983A-4732-AB46-759F73B02DA2}"/>
              </a:ext>
            </a:extLst>
          </p:cNvPr>
          <p:cNvSpPr>
            <a:spLocks xmlns:a="http://schemas.openxmlformats.org/drawingml/2006/main" noGrp="1"/>
          </p:cNvSpPr>
          <p:nvPr/>
        </p:nvSpPr>
        <p:spPr>
          <a:xfrm xmlns:a="http://schemas.openxmlformats.org/drawingml/2006/main">
            <a:off x="7463790" y="2209800"/>
            <a:ext cx="178308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direct concatenation</a:t>
            </a:r>
          </a:p>
        </p:txBody>
      </p:sp>
      <p:sp>
        <p:nvSpPr>
          <p:cNvPr id="21" name="">
            <a:extLst xmlns:a="http://schemas.openxmlformats.org/drawingml/2006/main">
              <a:ext uri="{FF2B5EF4-FFF2-40B4-BE49-F238E27FC236}">
                <a16:creationId xmlns:a16="http://schemas.microsoft.com/office/drawing/2014/main" id="{8888AA5E-077D-47B9-A130-882A396AC871}"/>
              </a:ext>
            </a:extLst>
          </p:cNvPr>
          <p:cNvSpPr>
            <a:spLocks xmlns:a="http://schemas.openxmlformats.org/drawingml/2006/main" noGrp="1"/>
          </p:cNvSpPr>
          <p:nvPr/>
        </p:nvSpPr>
        <p:spPr>
          <a:xfrm xmlns:a="http://schemas.openxmlformats.org/drawingml/2006/main">
            <a:off x="9589770" y="1695450"/>
            <a:ext cx="2049780" cy="1257300"/>
          </a:xfrm>
          <a:prstGeom xmlns:a="http://schemas.openxmlformats.org/drawingml/2006/main" prst="roundRect">
            <a:avLst>
              <a:gd name="adj" fmla="val 9091"/>
            </a:avLst>
          </a:prstGeom>
          <a:solidFill xmlns:a="http://schemas.openxmlformats.org/drawingml/2006/main">
            <a:srgbClr val="FBECEC"/>
          </a:solidFill>
          <a:ln xmlns:a="http://schemas.openxmlformats.org/drawingml/2006/main" w="9525">
            <a:solidFill>
              <a:srgbClr val="EDEDED"/>
            </a:solidFill>
            <a:prstDash val="solid"/>
          </a:ln>
        </p:spPr>
      </p:sp>
      <p:sp>
        <p:nvSpPr>
          <p:cNvPr id="22" name="">
            <a:extLst xmlns:a="http://schemas.openxmlformats.org/drawingml/2006/main">
              <a:ext uri="{FF2B5EF4-FFF2-40B4-BE49-F238E27FC236}">
                <a16:creationId xmlns:a16="http://schemas.microsoft.com/office/drawing/2014/main" id="{2C52F2C1-4C83-4000-86DB-CA2B7CCBC91E}"/>
              </a:ext>
            </a:extLst>
          </p:cNvPr>
          <p:cNvSpPr>
            <a:spLocks xmlns:a="http://schemas.openxmlformats.org/drawingml/2006/main" noGrp="1"/>
          </p:cNvSpPr>
          <p:nvPr/>
        </p:nvSpPr>
        <p:spPr>
          <a:xfrm xmlns:a="http://schemas.openxmlformats.org/drawingml/2006/main">
            <a:off x="9723120" y="18478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Logistic regression</a:t>
            </a:r>
          </a:p>
        </p:txBody>
      </p:sp>
      <p:sp>
        <p:nvSpPr>
          <p:cNvPr id="23" name="">
            <a:extLst xmlns:a="http://schemas.openxmlformats.org/drawingml/2006/main">
              <a:ext uri="{FF2B5EF4-FFF2-40B4-BE49-F238E27FC236}">
                <a16:creationId xmlns:a16="http://schemas.microsoft.com/office/drawing/2014/main" id="{CA691A55-8BD0-44D2-8A6F-0DDA5EF84FEC}"/>
              </a:ext>
            </a:extLst>
          </p:cNvPr>
          <p:cNvSpPr>
            <a:spLocks xmlns:a="http://schemas.openxmlformats.org/drawingml/2006/main" noGrp="1"/>
          </p:cNvSpPr>
          <p:nvPr/>
        </p:nvSpPr>
        <p:spPr>
          <a:xfrm xmlns:a="http://schemas.openxmlformats.org/drawingml/2006/main">
            <a:off x="9723120" y="2209800"/>
            <a:ext cx="178308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balanced · L2/liblinear · C=0.1</a:t>
            </a:r>
          </a:p>
        </p:txBody>
      </p:sp>
      <p:sp>
        <p:nvSpPr>
          <p:cNvPr id="24" name="">
            <a:extLst xmlns:a="http://schemas.openxmlformats.org/drawingml/2006/main">
              <a:ext uri="{FF2B5EF4-FFF2-40B4-BE49-F238E27FC236}">
                <a16:creationId xmlns:a16="http://schemas.microsoft.com/office/drawing/2014/main" id="{EEB43E27-D787-45FD-AE7C-D87D4438709A}"/>
              </a:ext>
            </a:extLst>
          </p:cNvPr>
          <p:cNvSpPr>
            <a:spLocks xmlns:a="http://schemas.openxmlformats.org/drawingml/2006/main" noGrp="1"/>
          </p:cNvSpPr>
          <p:nvPr/>
        </p:nvSpPr>
        <p:spPr>
          <a:xfrm xmlns:a="http://schemas.openxmlformats.org/drawingml/2006/main">
            <a:off x="400050" y="3505200"/>
            <a:ext cx="5257800" cy="2000250"/>
          </a:xfrm>
          <a:prstGeom xmlns:a="http://schemas.openxmlformats.org/drawingml/2006/main" prst="roundRect">
            <a:avLst>
              <a:gd name="adj" fmla="val 5714"/>
            </a:avLst>
          </a:prstGeom>
          <a:solidFill xmlns:a="http://schemas.openxmlformats.org/drawingml/2006/main">
            <a:srgbClr val="EAF5FF"/>
          </a:solidFill>
          <a:ln xmlns:a="http://schemas.openxmlformats.org/drawingml/2006/main" w="9525">
            <a:solidFill>
              <a:srgbClr val="EDEDED"/>
            </a:solidFill>
            <a:prstDash val="solid"/>
          </a:ln>
        </p:spPr>
      </p:sp>
      <p:sp>
        <p:nvSpPr>
          <p:cNvPr id="25" name="">
            <a:extLst xmlns:a="http://schemas.openxmlformats.org/drawingml/2006/main">
              <a:ext uri="{FF2B5EF4-FFF2-40B4-BE49-F238E27FC236}">
                <a16:creationId xmlns:a16="http://schemas.microsoft.com/office/drawing/2014/main" id="{0DFB7C25-0F78-444E-8E60-6BB6F17ADD53}"/>
              </a:ext>
            </a:extLst>
          </p:cNvPr>
          <p:cNvSpPr>
            <a:spLocks xmlns:a="http://schemas.openxmlformats.org/drawingml/2006/main" noGrp="1"/>
          </p:cNvSpPr>
          <p:nvPr/>
        </p:nvSpPr>
        <p:spPr>
          <a:xfrm xmlns:a="http://schemas.openxmlformats.org/drawingml/2006/main">
            <a:off x="571500" y="3676650"/>
            <a:ext cx="491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Why dilation?</a:t>
            </a:r>
          </a:p>
        </p:txBody>
      </p:sp>
      <p:sp>
        <p:nvSpPr>
          <p:cNvPr id="26" name="">
            <a:extLst xmlns:a="http://schemas.openxmlformats.org/drawingml/2006/main">
              <a:ext uri="{FF2B5EF4-FFF2-40B4-BE49-F238E27FC236}">
                <a16:creationId xmlns:a16="http://schemas.microsoft.com/office/drawing/2014/main" id="{B460CC18-026C-46CA-B57C-943DC8D67D3A}"/>
              </a:ext>
            </a:extLst>
          </p:cNvPr>
          <p:cNvSpPr>
            <a:spLocks xmlns:a="http://schemas.openxmlformats.org/drawingml/2006/main" noGrp="1"/>
          </p:cNvSpPr>
          <p:nvPr/>
        </p:nvSpPr>
        <p:spPr>
          <a:xfrm xmlns:a="http://schemas.openxmlformats.org/drawingml/2006/main">
            <a:off x="571500" y="4095750"/>
            <a:ext cx="49149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 dilated shapelet samples a motif with gaps. It can represent patterns at different temporal scales without requiring a long contiguous template.</a:t>
            </a:r>
          </a:p>
        </p:txBody>
      </p:sp>
      <p:sp>
        <p:nvSpPr>
          <p:cNvPr id="27" name="">
            <a:extLst xmlns:a="http://schemas.openxmlformats.org/drawingml/2006/main">
              <a:ext uri="{FF2B5EF4-FFF2-40B4-BE49-F238E27FC236}">
                <a16:creationId xmlns:a16="http://schemas.microsoft.com/office/drawing/2014/main" id="{31B5A664-03F2-4878-963B-6E4DC55E5052}"/>
              </a:ext>
            </a:extLst>
          </p:cNvPr>
          <p:cNvSpPr>
            <a:spLocks xmlns:a="http://schemas.openxmlformats.org/drawingml/2006/main" noGrp="1"/>
          </p:cNvSpPr>
          <p:nvPr/>
        </p:nvSpPr>
        <p:spPr>
          <a:xfrm xmlns:a="http://schemas.openxmlformats.org/drawingml/2006/main">
            <a:off x="5886450" y="3505200"/>
            <a:ext cx="5638800" cy="2000250"/>
          </a:xfrm>
          <a:prstGeom xmlns:a="http://schemas.openxmlformats.org/drawingml/2006/main" prst="roundRect">
            <a:avLst>
              <a:gd name="adj" fmla="val 5714"/>
            </a:avLst>
          </a:prstGeom>
          <a:solidFill xmlns:a="http://schemas.openxmlformats.org/drawingml/2006/main">
            <a:srgbClr val="FFF2E7"/>
          </a:solidFill>
          <a:ln xmlns:a="http://schemas.openxmlformats.org/drawingml/2006/main" w="9525">
            <a:solidFill>
              <a:srgbClr val="EDEDED"/>
            </a:solidFill>
            <a:prstDash val="solid"/>
          </a:ln>
        </p:spPr>
      </p:sp>
      <p:sp>
        <p:nvSpPr>
          <p:cNvPr id="28" name="">
            <a:extLst xmlns:a="http://schemas.openxmlformats.org/drawingml/2006/main">
              <a:ext uri="{FF2B5EF4-FFF2-40B4-BE49-F238E27FC236}">
                <a16:creationId xmlns:a16="http://schemas.microsoft.com/office/drawing/2014/main" id="{D269EAE8-9D21-41E7-A6C8-277E1BF52AED}"/>
              </a:ext>
            </a:extLst>
          </p:cNvPr>
          <p:cNvSpPr>
            <a:spLocks xmlns:a="http://schemas.openxmlformats.org/drawingml/2006/main" noGrp="1"/>
          </p:cNvSpPr>
          <p:nvPr/>
        </p:nvSpPr>
        <p:spPr>
          <a:xfrm xmlns:a="http://schemas.openxmlformats.org/drawingml/2006/main">
            <a:off x="6057900" y="3676650"/>
            <a:ext cx="529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Implementation detail</a:t>
            </a:r>
          </a:p>
        </p:txBody>
      </p:sp>
      <p:sp>
        <p:nvSpPr>
          <p:cNvPr id="29" name="">
            <a:extLst xmlns:a="http://schemas.openxmlformats.org/drawingml/2006/main">
              <a:ext uri="{FF2B5EF4-FFF2-40B4-BE49-F238E27FC236}">
                <a16:creationId xmlns:a16="http://schemas.microsoft.com/office/drawing/2014/main" id="{0AC6644D-BA2E-47BB-A4E8-7B986730C24F}"/>
              </a:ext>
            </a:extLst>
          </p:cNvPr>
          <p:cNvSpPr>
            <a:spLocks xmlns:a="http://schemas.openxmlformats.org/drawingml/2006/main" noGrp="1"/>
          </p:cNvSpPr>
          <p:nvPr/>
        </p:nvSpPr>
        <p:spPr>
          <a:xfrm xmlns:a="http://schemas.openxmlformats.org/drawingml/2006/main">
            <a:off x="6057900" y="4095750"/>
            <a:ext cx="52959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Curves were multiplied by 100 and received the same tiny label-independent broadband perturbation (SD 0.001) to satisfy Aeon numeric constraints. This is not task augmentation and does not use labels.</a:t>
            </a:r>
          </a:p>
        </p:txBody>
      </p:sp>
      <p:sp>
        <p:nvSpPr>
          <p:cNvPr id="30" name="">
            <a:extLst xmlns:a="http://schemas.openxmlformats.org/drawingml/2006/main">
              <a:ext uri="{FF2B5EF4-FFF2-40B4-BE49-F238E27FC236}">
                <a16:creationId xmlns:a16="http://schemas.microsoft.com/office/drawing/2014/main" id="{54642AFF-A844-4149-B6EE-3E9818F8309E}"/>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RandomDilatedShapeletTransform; 1,200 shapelets</a:t>
            </a:r>
          </a:p>
        </p:txBody>
      </p:sp>
    </p:spTree>
    <p:extLst>
      <p:ext uri="{BB962C8B-B14F-4D97-AF65-F5344CB8AC3E}">
        <p14:creationId xmlns:p14="http://schemas.microsoft.com/office/powerpoint/2010/main" val="8411933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6881CD2A-2F98-4311-9B7A-762DB943C952}"/>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RDST SHAPELETS · INTUITION</a:t>
            </a:r>
          </a:p>
        </p:txBody>
      </p:sp>
      <p:sp>
        <p:nvSpPr>
          <p:cNvPr id="2" name="">
            <a:extLst xmlns:a="http://schemas.openxmlformats.org/drawingml/2006/main">
              <a:ext uri="{FF2B5EF4-FFF2-40B4-BE49-F238E27FC236}">
                <a16:creationId xmlns:a16="http://schemas.microsoft.com/office/drawing/2014/main" id="{FF84D4FD-8B4F-47FB-9C1D-B6556FA1F5C9}"/>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 shapelet asks: ‘where does this motif occur?’</a:t>
            </a:r>
          </a:p>
        </p:txBody>
      </p:sp>
      <p:sp>
        <p:nvSpPr>
          <p:cNvPr id="3" name="">
            <a:extLst xmlns:a="http://schemas.openxmlformats.org/drawingml/2006/main">
              <a:ext uri="{FF2B5EF4-FFF2-40B4-BE49-F238E27FC236}">
                <a16:creationId xmlns:a16="http://schemas.microsoft.com/office/drawing/2014/main" id="{800C307D-C620-4111-BECB-7F0A50A5BAC0}"/>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F6E8C53-9AC5-4E5F-A728-3CFD70F5B061}"/>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5710B4F1-7978-43BE-88EC-2CD98F12433E}"/>
              </a:ext>
            </a:extLst>
          </p:cNvPr>
          <p:cNvSpPr>
            <a:spLocks xmlns:a="http://schemas.openxmlformats.org/drawingml/2006/main" noGrp="1"/>
          </p:cNvSpPr>
          <p:nvPr/>
        </p:nvSpPr>
        <p:spPr>
          <a:xfrm xmlns:a="http://schemas.openxmlformats.org/drawingml/2006/main">
            <a:off x="400050" y="14668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50505"/>
                </a:solidFill>
                <a:latin typeface="Arial"/>
                <a:ea typeface="Arial"/>
                <a:cs typeface="Arial"/>
              </a:defRPr>
            </a:pPr>
            <a:r>
              <a:rPr sz="1500" b="1" i="0">
                <a:solidFill>
                  <a:srgbClr val="050505"/>
                </a:solidFill>
                <a:latin typeface="Arial"/>
                <a:ea typeface="Arial"/>
                <a:cs typeface="Arial"/>
              </a:rPr>
              <a:t>Learned shapelet q</a:t>
            </a:r>
          </a:p>
        </p:txBody>
      </p:sp>
      <p:sp>
        <p:nvSpPr>
          <p:cNvPr id="6" name="">
            <a:extLst xmlns:a="http://schemas.openxmlformats.org/drawingml/2006/main">
              <a:ext uri="{FF2B5EF4-FFF2-40B4-BE49-F238E27FC236}">
                <a16:creationId xmlns:a16="http://schemas.microsoft.com/office/drawing/2014/main" id="{27BBC961-2771-4827-BE52-1890FC34A86B}"/>
              </a:ext>
            </a:extLst>
          </p:cNvPr>
          <p:cNvSpPr>
            <a:spLocks xmlns:a="http://schemas.openxmlformats.org/drawingml/2006/main" noGrp="1"/>
          </p:cNvSpPr>
          <p:nvPr/>
        </p:nvSpPr>
        <p:spPr>
          <a:xfrm xmlns:a="http://schemas.openxmlformats.org/drawingml/2006/main">
            <a:off x="400050" y="1847850"/>
            <a:ext cx="3676650" cy="1657350"/>
          </a:xfrm>
          <a:prstGeom xmlns:a="http://schemas.openxmlformats.org/drawingml/2006/main" prst="roundRect">
            <a:avLst>
              <a:gd name="adj" fmla="val 6897"/>
            </a:avLst>
          </a:prstGeom>
          <a:solidFill xmlns:a="http://schemas.openxmlformats.org/drawingml/2006/main">
            <a:srgbClr val="EDEDED"/>
          </a:solidFill>
          <a:ln xmlns:a="http://schemas.openxmlformats.org/drawingml/2006/main" w="0">
            <a:solidFill>
              <a:srgbClr val="EDEDED"/>
            </a:solidFill>
            <a:prstDash val="solid"/>
          </a:ln>
        </p:spPr>
      </p:sp>
      <p:sp>
        <p:nvSpPr>
          <p:cNvPr id="7" name="">
            <a:extLst xmlns:a="http://schemas.openxmlformats.org/drawingml/2006/main">
              <a:ext uri="{FF2B5EF4-FFF2-40B4-BE49-F238E27FC236}">
                <a16:creationId xmlns:a16="http://schemas.microsoft.com/office/drawing/2014/main" id="{83C9F5F1-8F2F-4EB3-9004-1A64F8A82978}"/>
              </a:ext>
            </a:extLst>
          </p:cNvPr>
          <p:cNvSpPr>
            <a:spLocks xmlns:a="http://schemas.openxmlformats.org/drawingml/2006/main" noGrp="1"/>
          </p:cNvSpPr>
          <p:nvPr/>
        </p:nvSpPr>
        <p:spPr>
          <a:xfrm xmlns:a="http://schemas.openxmlformats.org/drawingml/2006/main">
            <a:off x="647700" y="2628900"/>
            <a:ext cx="342900" cy="11430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8" name="">
            <a:extLst xmlns:a="http://schemas.openxmlformats.org/drawingml/2006/main">
              <a:ext uri="{FF2B5EF4-FFF2-40B4-BE49-F238E27FC236}">
                <a16:creationId xmlns:a16="http://schemas.microsoft.com/office/drawing/2014/main" id="{3FF39936-82D7-4958-BCDA-1C202DEE83D0}"/>
              </a:ext>
            </a:extLst>
          </p:cNvPr>
          <p:cNvSpPr>
            <a:spLocks xmlns:a="http://schemas.openxmlformats.org/drawingml/2006/main" noGrp="1"/>
          </p:cNvSpPr>
          <p:nvPr/>
        </p:nvSpPr>
        <p:spPr>
          <a:xfrm xmlns:a="http://schemas.openxmlformats.org/drawingml/2006/main">
            <a:off x="990600" y="2266950"/>
            <a:ext cx="342900" cy="36195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9" name="">
            <a:extLst xmlns:a="http://schemas.openxmlformats.org/drawingml/2006/main">
              <a:ext uri="{FF2B5EF4-FFF2-40B4-BE49-F238E27FC236}">
                <a16:creationId xmlns:a16="http://schemas.microsoft.com/office/drawing/2014/main" id="{BB8037DB-A245-470B-BFD8-3EF862413E9D}"/>
              </a:ext>
            </a:extLst>
          </p:cNvPr>
          <p:cNvSpPr>
            <a:spLocks xmlns:a="http://schemas.openxmlformats.org/drawingml/2006/main" noGrp="1"/>
          </p:cNvSpPr>
          <p:nvPr/>
        </p:nvSpPr>
        <p:spPr>
          <a:xfrm xmlns:a="http://schemas.openxmlformats.org/drawingml/2006/main">
            <a:off x="1333500" y="2114550"/>
            <a:ext cx="342900" cy="15240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10" name="">
            <a:extLst xmlns:a="http://schemas.openxmlformats.org/drawingml/2006/main">
              <a:ext uri="{FF2B5EF4-FFF2-40B4-BE49-F238E27FC236}">
                <a16:creationId xmlns:a16="http://schemas.microsoft.com/office/drawing/2014/main" id="{F03210B6-5E5E-42A7-AC2A-720C1C445F8A}"/>
              </a:ext>
            </a:extLst>
          </p:cNvPr>
          <p:cNvSpPr>
            <a:spLocks xmlns:a="http://schemas.openxmlformats.org/drawingml/2006/main" noGrp="1"/>
          </p:cNvSpPr>
          <p:nvPr/>
        </p:nvSpPr>
        <p:spPr>
          <a:xfrm xmlns:a="http://schemas.openxmlformats.org/drawingml/2006/main">
            <a:off x="1676400" y="2114550"/>
            <a:ext cx="342900" cy="22860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11" name="">
            <a:extLst xmlns:a="http://schemas.openxmlformats.org/drawingml/2006/main">
              <a:ext uri="{FF2B5EF4-FFF2-40B4-BE49-F238E27FC236}">
                <a16:creationId xmlns:a16="http://schemas.microsoft.com/office/drawing/2014/main" id="{C63F0F59-505B-4165-9BBD-F873259C948F}"/>
              </a:ext>
            </a:extLst>
          </p:cNvPr>
          <p:cNvSpPr>
            <a:spLocks xmlns:a="http://schemas.openxmlformats.org/drawingml/2006/main" noGrp="1"/>
          </p:cNvSpPr>
          <p:nvPr/>
        </p:nvSpPr>
        <p:spPr>
          <a:xfrm xmlns:a="http://schemas.openxmlformats.org/drawingml/2006/main">
            <a:off x="2019300" y="2343150"/>
            <a:ext cx="342900" cy="55245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12" name="">
            <a:extLst xmlns:a="http://schemas.openxmlformats.org/drawingml/2006/main">
              <a:ext uri="{FF2B5EF4-FFF2-40B4-BE49-F238E27FC236}">
                <a16:creationId xmlns:a16="http://schemas.microsoft.com/office/drawing/2014/main" id="{232CB294-22D3-4259-A576-38A522E3C493}"/>
              </a:ext>
            </a:extLst>
          </p:cNvPr>
          <p:cNvSpPr>
            <a:spLocks xmlns:a="http://schemas.openxmlformats.org/drawingml/2006/main" noGrp="1"/>
          </p:cNvSpPr>
          <p:nvPr/>
        </p:nvSpPr>
        <p:spPr>
          <a:xfrm xmlns:a="http://schemas.openxmlformats.org/drawingml/2006/main">
            <a:off x="2362200" y="2895600"/>
            <a:ext cx="342900" cy="19050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13" name="">
            <a:extLst xmlns:a="http://schemas.openxmlformats.org/drawingml/2006/main">
              <a:ext uri="{FF2B5EF4-FFF2-40B4-BE49-F238E27FC236}">
                <a16:creationId xmlns:a16="http://schemas.microsoft.com/office/drawing/2014/main" id="{46A62D11-8A79-4DC5-9CC2-EE961A99B3D0}"/>
              </a:ext>
            </a:extLst>
          </p:cNvPr>
          <p:cNvSpPr>
            <a:spLocks xmlns:a="http://schemas.openxmlformats.org/drawingml/2006/main" noGrp="1"/>
          </p:cNvSpPr>
          <p:nvPr/>
        </p:nvSpPr>
        <p:spPr>
          <a:xfrm xmlns:a="http://schemas.openxmlformats.org/drawingml/2006/main">
            <a:off x="2705100" y="2724150"/>
            <a:ext cx="342900" cy="36195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14" name="">
            <a:extLst xmlns:a="http://schemas.openxmlformats.org/drawingml/2006/main">
              <a:ext uri="{FF2B5EF4-FFF2-40B4-BE49-F238E27FC236}">
                <a16:creationId xmlns:a16="http://schemas.microsoft.com/office/drawing/2014/main" id="{19508AA7-347B-4A77-9626-995FA678C0EB}"/>
              </a:ext>
            </a:extLst>
          </p:cNvPr>
          <p:cNvSpPr>
            <a:spLocks xmlns:a="http://schemas.openxmlformats.org/drawingml/2006/main" noGrp="1"/>
          </p:cNvSpPr>
          <p:nvPr/>
        </p:nvSpPr>
        <p:spPr>
          <a:xfrm xmlns:a="http://schemas.openxmlformats.org/drawingml/2006/main">
            <a:off x="3048000" y="2400300"/>
            <a:ext cx="342900" cy="32385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15" name="">
            <a:extLst xmlns:a="http://schemas.openxmlformats.org/drawingml/2006/main">
              <a:ext uri="{FF2B5EF4-FFF2-40B4-BE49-F238E27FC236}">
                <a16:creationId xmlns:a16="http://schemas.microsoft.com/office/drawing/2014/main" id="{A91D53B3-5F1E-4ED0-94BF-1D8F898C9971}"/>
              </a:ext>
            </a:extLst>
          </p:cNvPr>
          <p:cNvSpPr>
            <a:spLocks xmlns:a="http://schemas.openxmlformats.org/drawingml/2006/main" noGrp="1"/>
          </p:cNvSpPr>
          <p:nvPr/>
        </p:nvSpPr>
        <p:spPr>
          <a:xfrm xmlns:a="http://schemas.openxmlformats.org/drawingml/2006/main">
            <a:off x="3390900" y="2400300"/>
            <a:ext cx="381000" cy="114300"/>
          </a:xfrm>
          <a:prstGeom xmlns:a="http://schemas.openxmlformats.org/drawingml/2006/main" prst="line">
            <a:avLst/>
          </a:prstGeom>
          <a:noFill xmlns:a="http://schemas.openxmlformats.org/drawingml/2006/main"/>
          <a:ln xmlns:a="http://schemas.openxmlformats.org/drawingml/2006/main" w="38100">
            <a:solidFill>
              <a:srgbClr val="2E8B57"/>
            </a:solidFill>
            <a:prstDash val="solid"/>
          </a:ln>
        </p:spPr>
      </p:sp>
      <p:sp>
        <p:nvSpPr>
          <p:cNvPr id="16" name="">
            <a:extLst xmlns:a="http://schemas.openxmlformats.org/drawingml/2006/main">
              <a:ext uri="{FF2B5EF4-FFF2-40B4-BE49-F238E27FC236}">
                <a16:creationId xmlns:a16="http://schemas.microsoft.com/office/drawing/2014/main" id="{FC91716C-4233-4C6E-9656-5AF9FCCE02A2}"/>
              </a:ext>
            </a:extLst>
          </p:cNvPr>
          <p:cNvSpPr>
            <a:spLocks xmlns:a="http://schemas.openxmlformats.org/drawingml/2006/main" noGrp="1"/>
          </p:cNvSpPr>
          <p:nvPr/>
        </p:nvSpPr>
        <p:spPr>
          <a:xfrm xmlns:a="http://schemas.openxmlformats.org/drawingml/2006/main">
            <a:off x="685800" y="3105150"/>
            <a:ext cx="3105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i="0">
                <a:solidFill>
                  <a:srgbClr val="5B616B"/>
                </a:solidFill>
                <a:latin typeface="Arial"/>
                <a:ea typeface="Arial"/>
                <a:cs typeface="Arial"/>
              </a:defRPr>
            </a:pPr>
            <a:r>
              <a:rPr sz="975" b="0" i="0">
                <a:solidFill>
                  <a:srgbClr val="5B616B"/>
                </a:solidFill>
                <a:latin typeface="Arial"/>
                <a:ea typeface="Arial"/>
                <a:cs typeface="Arial"/>
              </a:rPr>
              <a:t>dilation skips intermediate time points</a:t>
            </a:r>
          </a:p>
        </p:txBody>
      </p:sp>
      <p:sp>
        <p:nvSpPr>
          <p:cNvPr id="17" name="">
            <a:extLst xmlns:a="http://schemas.openxmlformats.org/drawingml/2006/main">
              <a:ext uri="{FF2B5EF4-FFF2-40B4-BE49-F238E27FC236}">
                <a16:creationId xmlns:a16="http://schemas.microsoft.com/office/drawing/2014/main" id="{35500320-2296-43D5-B61A-6E26511B65CF}"/>
              </a:ext>
            </a:extLst>
          </p:cNvPr>
          <p:cNvSpPr>
            <a:spLocks xmlns:a="http://schemas.openxmlformats.org/drawingml/2006/main" noGrp="1"/>
          </p:cNvSpPr>
          <p:nvPr/>
        </p:nvSpPr>
        <p:spPr>
          <a:xfrm xmlns:a="http://schemas.openxmlformats.org/drawingml/2006/main">
            <a:off x="4648200" y="14668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50505"/>
                </a:solidFill>
                <a:latin typeface="Arial"/>
                <a:ea typeface="Arial"/>
                <a:cs typeface="Arial"/>
              </a:defRPr>
            </a:pPr>
            <a:r>
              <a:rPr sz="1500" b="1" i="0">
                <a:solidFill>
                  <a:srgbClr val="050505"/>
                </a:solidFill>
                <a:latin typeface="Arial"/>
                <a:ea typeface="Arial"/>
                <a:cs typeface="Arial"/>
              </a:rPr>
              <a:t>Patient curve x</a:t>
            </a:r>
          </a:p>
        </p:txBody>
      </p:sp>
      <p:sp>
        <p:nvSpPr>
          <p:cNvPr id="18" name="">
            <a:extLst xmlns:a="http://schemas.openxmlformats.org/drawingml/2006/main">
              <a:ext uri="{FF2B5EF4-FFF2-40B4-BE49-F238E27FC236}">
                <a16:creationId xmlns:a16="http://schemas.microsoft.com/office/drawing/2014/main" id="{3B69BF81-B962-4239-914D-EF1641B4D1BB}"/>
              </a:ext>
            </a:extLst>
          </p:cNvPr>
          <p:cNvSpPr>
            <a:spLocks xmlns:a="http://schemas.openxmlformats.org/drawingml/2006/main" noGrp="1"/>
          </p:cNvSpPr>
          <p:nvPr/>
        </p:nvSpPr>
        <p:spPr>
          <a:xfrm xmlns:a="http://schemas.openxmlformats.org/drawingml/2006/main">
            <a:off x="4648200" y="1847850"/>
            <a:ext cx="6877050" cy="1657350"/>
          </a:xfrm>
          <a:prstGeom xmlns:a="http://schemas.openxmlformats.org/drawingml/2006/main" prst="roundRect">
            <a:avLst>
              <a:gd name="adj" fmla="val 6897"/>
            </a:avLst>
          </a:prstGeom>
          <a:solidFill xmlns:a="http://schemas.openxmlformats.org/drawingml/2006/main">
            <a:srgbClr val="EAF5FF"/>
          </a:solidFill>
          <a:ln xmlns:a="http://schemas.openxmlformats.org/drawingml/2006/main" w="0">
            <a:solidFill>
              <a:srgbClr val="EAF5FF"/>
            </a:solidFill>
            <a:prstDash val="solid"/>
          </a:ln>
        </p:spPr>
      </p:sp>
      <p:sp>
        <p:nvSpPr>
          <p:cNvPr id="19" name="">
            <a:extLst xmlns:a="http://schemas.openxmlformats.org/drawingml/2006/main">
              <a:ext uri="{FF2B5EF4-FFF2-40B4-BE49-F238E27FC236}">
                <a16:creationId xmlns:a16="http://schemas.microsoft.com/office/drawing/2014/main" id="{EEE47866-FB04-4BBE-9CCB-A3A48BB444DC}"/>
              </a:ext>
            </a:extLst>
          </p:cNvPr>
          <p:cNvSpPr>
            <a:spLocks xmlns:a="http://schemas.openxmlformats.org/drawingml/2006/main" noGrp="1"/>
          </p:cNvSpPr>
          <p:nvPr/>
        </p:nvSpPr>
        <p:spPr>
          <a:xfrm xmlns:a="http://schemas.openxmlformats.org/drawingml/2006/main">
            <a:off x="4895850" y="2571750"/>
            <a:ext cx="381000" cy="762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0" name="">
            <a:extLst xmlns:a="http://schemas.openxmlformats.org/drawingml/2006/main">
              <a:ext uri="{FF2B5EF4-FFF2-40B4-BE49-F238E27FC236}">
                <a16:creationId xmlns:a16="http://schemas.microsoft.com/office/drawing/2014/main" id="{6BA13343-DF37-4B51-B74B-845B76185E5B}"/>
              </a:ext>
            </a:extLst>
          </p:cNvPr>
          <p:cNvSpPr>
            <a:spLocks xmlns:a="http://schemas.openxmlformats.org/drawingml/2006/main" noGrp="1"/>
          </p:cNvSpPr>
          <p:nvPr/>
        </p:nvSpPr>
        <p:spPr>
          <a:xfrm xmlns:a="http://schemas.openxmlformats.org/drawingml/2006/main">
            <a:off x="5276850" y="2495550"/>
            <a:ext cx="381000" cy="762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1" name="">
            <a:extLst xmlns:a="http://schemas.openxmlformats.org/drawingml/2006/main">
              <a:ext uri="{FF2B5EF4-FFF2-40B4-BE49-F238E27FC236}">
                <a16:creationId xmlns:a16="http://schemas.microsoft.com/office/drawing/2014/main" id="{EC16A998-7705-4EDC-B72E-86EDB2336BD9}"/>
              </a:ext>
            </a:extLst>
          </p:cNvPr>
          <p:cNvSpPr>
            <a:spLocks xmlns:a="http://schemas.openxmlformats.org/drawingml/2006/main" noGrp="1"/>
          </p:cNvSpPr>
          <p:nvPr/>
        </p:nvSpPr>
        <p:spPr>
          <a:xfrm xmlns:a="http://schemas.openxmlformats.org/drawingml/2006/main">
            <a:off x="5657850" y="2343150"/>
            <a:ext cx="381000" cy="1524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2" name="">
            <a:extLst xmlns:a="http://schemas.openxmlformats.org/drawingml/2006/main">
              <a:ext uri="{FF2B5EF4-FFF2-40B4-BE49-F238E27FC236}">
                <a16:creationId xmlns:a16="http://schemas.microsoft.com/office/drawing/2014/main" id="{09B9B3FE-56B3-45D9-B281-92A15F1BF55B}"/>
              </a:ext>
            </a:extLst>
          </p:cNvPr>
          <p:cNvSpPr>
            <a:spLocks xmlns:a="http://schemas.openxmlformats.org/drawingml/2006/main" noGrp="1"/>
          </p:cNvSpPr>
          <p:nvPr/>
        </p:nvSpPr>
        <p:spPr>
          <a:xfrm xmlns:a="http://schemas.openxmlformats.org/drawingml/2006/main">
            <a:off x="6038850" y="2171700"/>
            <a:ext cx="381000" cy="17145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3" name="">
            <a:extLst xmlns:a="http://schemas.openxmlformats.org/drawingml/2006/main">
              <a:ext uri="{FF2B5EF4-FFF2-40B4-BE49-F238E27FC236}">
                <a16:creationId xmlns:a16="http://schemas.microsoft.com/office/drawing/2014/main" id="{A085D988-EADE-427F-A01F-9010861BB2EE}"/>
              </a:ext>
            </a:extLst>
          </p:cNvPr>
          <p:cNvSpPr>
            <a:spLocks xmlns:a="http://schemas.openxmlformats.org/drawingml/2006/main" noGrp="1"/>
          </p:cNvSpPr>
          <p:nvPr/>
        </p:nvSpPr>
        <p:spPr>
          <a:xfrm xmlns:a="http://schemas.openxmlformats.org/drawingml/2006/main">
            <a:off x="6419850" y="2171700"/>
            <a:ext cx="381000" cy="1524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4" name="">
            <a:extLst xmlns:a="http://schemas.openxmlformats.org/drawingml/2006/main">
              <a:ext uri="{FF2B5EF4-FFF2-40B4-BE49-F238E27FC236}">
                <a16:creationId xmlns:a16="http://schemas.microsoft.com/office/drawing/2014/main" id="{7EF85F09-E0AB-4356-B728-AEEC60E55F1B}"/>
              </a:ext>
            </a:extLst>
          </p:cNvPr>
          <p:cNvSpPr>
            <a:spLocks xmlns:a="http://schemas.openxmlformats.org/drawingml/2006/main" noGrp="1"/>
          </p:cNvSpPr>
          <p:nvPr/>
        </p:nvSpPr>
        <p:spPr>
          <a:xfrm xmlns:a="http://schemas.openxmlformats.org/drawingml/2006/main">
            <a:off x="6800850" y="2324100"/>
            <a:ext cx="381000" cy="55245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5" name="">
            <a:extLst xmlns:a="http://schemas.openxmlformats.org/drawingml/2006/main">
              <a:ext uri="{FF2B5EF4-FFF2-40B4-BE49-F238E27FC236}">
                <a16:creationId xmlns:a16="http://schemas.microsoft.com/office/drawing/2014/main" id="{11669739-D7D0-46ED-AB3D-377BEC373525}"/>
              </a:ext>
            </a:extLst>
          </p:cNvPr>
          <p:cNvSpPr>
            <a:spLocks xmlns:a="http://schemas.openxmlformats.org/drawingml/2006/main" noGrp="1"/>
          </p:cNvSpPr>
          <p:nvPr/>
        </p:nvSpPr>
        <p:spPr>
          <a:xfrm xmlns:a="http://schemas.openxmlformats.org/drawingml/2006/main">
            <a:off x="7181850" y="2876550"/>
            <a:ext cx="381000" cy="2286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6" name="">
            <a:extLst xmlns:a="http://schemas.openxmlformats.org/drawingml/2006/main">
              <a:ext uri="{FF2B5EF4-FFF2-40B4-BE49-F238E27FC236}">
                <a16:creationId xmlns:a16="http://schemas.microsoft.com/office/drawing/2014/main" id="{D6670E53-0D36-469A-AD1A-DD036DF43DCB}"/>
              </a:ext>
            </a:extLst>
          </p:cNvPr>
          <p:cNvSpPr>
            <a:spLocks xmlns:a="http://schemas.openxmlformats.org/drawingml/2006/main" noGrp="1"/>
          </p:cNvSpPr>
          <p:nvPr/>
        </p:nvSpPr>
        <p:spPr>
          <a:xfrm xmlns:a="http://schemas.openxmlformats.org/drawingml/2006/main">
            <a:off x="7562850" y="2724150"/>
            <a:ext cx="381000" cy="3810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7" name="">
            <a:extLst xmlns:a="http://schemas.openxmlformats.org/drawingml/2006/main">
              <a:ext uri="{FF2B5EF4-FFF2-40B4-BE49-F238E27FC236}">
                <a16:creationId xmlns:a16="http://schemas.microsoft.com/office/drawing/2014/main" id="{9BA2299B-C8C7-495B-978D-C123216033FD}"/>
              </a:ext>
            </a:extLst>
          </p:cNvPr>
          <p:cNvSpPr>
            <a:spLocks xmlns:a="http://schemas.openxmlformats.org/drawingml/2006/main" noGrp="1"/>
          </p:cNvSpPr>
          <p:nvPr/>
        </p:nvSpPr>
        <p:spPr>
          <a:xfrm xmlns:a="http://schemas.openxmlformats.org/drawingml/2006/main">
            <a:off x="7943850" y="2381250"/>
            <a:ext cx="381000" cy="3429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8" name="">
            <a:extLst xmlns:a="http://schemas.openxmlformats.org/drawingml/2006/main">
              <a:ext uri="{FF2B5EF4-FFF2-40B4-BE49-F238E27FC236}">
                <a16:creationId xmlns:a16="http://schemas.microsoft.com/office/drawing/2014/main" id="{1F961892-13DB-4896-B01F-3CBF50DCCBF8}"/>
              </a:ext>
            </a:extLst>
          </p:cNvPr>
          <p:cNvSpPr>
            <a:spLocks xmlns:a="http://schemas.openxmlformats.org/drawingml/2006/main" noGrp="1"/>
          </p:cNvSpPr>
          <p:nvPr/>
        </p:nvSpPr>
        <p:spPr>
          <a:xfrm xmlns:a="http://schemas.openxmlformats.org/drawingml/2006/main">
            <a:off x="8324850" y="2381250"/>
            <a:ext cx="381000" cy="13335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9" name="">
            <a:extLst xmlns:a="http://schemas.openxmlformats.org/drawingml/2006/main">
              <a:ext uri="{FF2B5EF4-FFF2-40B4-BE49-F238E27FC236}">
                <a16:creationId xmlns:a16="http://schemas.microsoft.com/office/drawing/2014/main" id="{904A60D5-34DD-4696-9DAA-20A9D664216E}"/>
              </a:ext>
            </a:extLst>
          </p:cNvPr>
          <p:cNvSpPr>
            <a:spLocks xmlns:a="http://schemas.openxmlformats.org/drawingml/2006/main" noGrp="1"/>
          </p:cNvSpPr>
          <p:nvPr/>
        </p:nvSpPr>
        <p:spPr>
          <a:xfrm xmlns:a="http://schemas.openxmlformats.org/drawingml/2006/main">
            <a:off x="8705850" y="2514600"/>
            <a:ext cx="381000" cy="1905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0" name="">
            <a:extLst xmlns:a="http://schemas.openxmlformats.org/drawingml/2006/main">
              <a:ext uri="{FF2B5EF4-FFF2-40B4-BE49-F238E27FC236}">
                <a16:creationId xmlns:a16="http://schemas.microsoft.com/office/drawing/2014/main" id="{F257F418-0EA4-44A8-9E5F-1172BC1FCF52}"/>
              </a:ext>
            </a:extLst>
          </p:cNvPr>
          <p:cNvSpPr>
            <a:spLocks xmlns:a="http://schemas.openxmlformats.org/drawingml/2006/main" noGrp="1"/>
          </p:cNvSpPr>
          <p:nvPr/>
        </p:nvSpPr>
        <p:spPr>
          <a:xfrm xmlns:a="http://schemas.openxmlformats.org/drawingml/2006/main">
            <a:off x="9086850" y="2628900"/>
            <a:ext cx="381000" cy="762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1" name="">
            <a:extLst xmlns:a="http://schemas.openxmlformats.org/drawingml/2006/main">
              <a:ext uri="{FF2B5EF4-FFF2-40B4-BE49-F238E27FC236}">
                <a16:creationId xmlns:a16="http://schemas.microsoft.com/office/drawing/2014/main" id="{3900E3FE-415D-42B2-A2FA-620910EBFD24}"/>
              </a:ext>
            </a:extLst>
          </p:cNvPr>
          <p:cNvSpPr>
            <a:spLocks xmlns:a="http://schemas.openxmlformats.org/drawingml/2006/main" noGrp="1"/>
          </p:cNvSpPr>
          <p:nvPr/>
        </p:nvSpPr>
        <p:spPr>
          <a:xfrm xmlns:a="http://schemas.openxmlformats.org/drawingml/2006/main">
            <a:off x="9467850" y="2476500"/>
            <a:ext cx="381000" cy="1524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2" name="">
            <a:extLst xmlns:a="http://schemas.openxmlformats.org/drawingml/2006/main">
              <a:ext uri="{FF2B5EF4-FFF2-40B4-BE49-F238E27FC236}">
                <a16:creationId xmlns:a16="http://schemas.microsoft.com/office/drawing/2014/main" id="{A8AF748E-637C-4782-A9E4-4BE4D24A9DB7}"/>
              </a:ext>
            </a:extLst>
          </p:cNvPr>
          <p:cNvSpPr>
            <a:spLocks xmlns:a="http://schemas.openxmlformats.org/drawingml/2006/main" noGrp="1"/>
          </p:cNvSpPr>
          <p:nvPr/>
        </p:nvSpPr>
        <p:spPr>
          <a:xfrm xmlns:a="http://schemas.openxmlformats.org/drawingml/2006/main">
            <a:off x="9848850" y="2362200"/>
            <a:ext cx="381000" cy="1143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3" name="">
            <a:extLst xmlns:a="http://schemas.openxmlformats.org/drawingml/2006/main">
              <a:ext uri="{FF2B5EF4-FFF2-40B4-BE49-F238E27FC236}">
                <a16:creationId xmlns:a16="http://schemas.microsoft.com/office/drawing/2014/main" id="{A04113EB-DFBE-49D6-BBA4-41FC9B950C39}"/>
              </a:ext>
            </a:extLst>
          </p:cNvPr>
          <p:cNvSpPr>
            <a:spLocks xmlns:a="http://schemas.openxmlformats.org/drawingml/2006/main" noGrp="1"/>
          </p:cNvSpPr>
          <p:nvPr/>
        </p:nvSpPr>
        <p:spPr>
          <a:xfrm xmlns:a="http://schemas.openxmlformats.org/drawingml/2006/main">
            <a:off x="10229850" y="2362200"/>
            <a:ext cx="381000" cy="1524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4" name="">
            <a:extLst xmlns:a="http://schemas.openxmlformats.org/drawingml/2006/main">
              <a:ext uri="{FF2B5EF4-FFF2-40B4-BE49-F238E27FC236}">
                <a16:creationId xmlns:a16="http://schemas.microsoft.com/office/drawing/2014/main" id="{F1E463B7-EFB8-424A-BDFF-DF02D7D70EE6}"/>
              </a:ext>
            </a:extLst>
          </p:cNvPr>
          <p:cNvSpPr>
            <a:spLocks xmlns:a="http://schemas.openxmlformats.org/drawingml/2006/main" noGrp="1"/>
          </p:cNvSpPr>
          <p:nvPr/>
        </p:nvSpPr>
        <p:spPr>
          <a:xfrm xmlns:a="http://schemas.openxmlformats.org/drawingml/2006/main">
            <a:off x="10610850" y="2514600"/>
            <a:ext cx="628650" cy="15240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5" name="">
            <a:extLst xmlns:a="http://schemas.openxmlformats.org/drawingml/2006/main">
              <a:ext uri="{FF2B5EF4-FFF2-40B4-BE49-F238E27FC236}">
                <a16:creationId xmlns:a16="http://schemas.microsoft.com/office/drawing/2014/main" id="{F70CB1BD-A75F-403F-8777-30C57AA1186E}"/>
              </a:ext>
            </a:extLst>
          </p:cNvPr>
          <p:cNvSpPr>
            <a:spLocks xmlns:a="http://schemas.openxmlformats.org/drawingml/2006/main" noGrp="1"/>
          </p:cNvSpPr>
          <p:nvPr/>
        </p:nvSpPr>
        <p:spPr>
          <a:xfrm xmlns:a="http://schemas.openxmlformats.org/drawingml/2006/main">
            <a:off x="6210300" y="2000250"/>
            <a:ext cx="2228850" cy="1314450"/>
          </a:xfrm>
          <a:prstGeom xmlns:a="http://schemas.openxmlformats.org/drawingml/2006/main" prst="roundRect">
            <a:avLst>
              <a:gd name="adj" fmla="val 5797"/>
            </a:avLst>
          </a:prstGeom>
          <a:noFill xmlns:a="http://schemas.openxmlformats.org/drawingml/2006/main"/>
          <a:ln xmlns:a="http://schemas.openxmlformats.org/drawingml/2006/main" w="38100">
            <a:solidFill>
              <a:srgbClr val="E8893A"/>
            </a:solidFill>
            <a:prstDash val="solid"/>
          </a:ln>
        </p:spPr>
      </p:sp>
      <p:sp>
        <p:nvSpPr>
          <p:cNvPr id="36" name="">
            <a:extLst xmlns:a="http://schemas.openxmlformats.org/drawingml/2006/main">
              <a:ext uri="{FF2B5EF4-FFF2-40B4-BE49-F238E27FC236}">
                <a16:creationId xmlns:a16="http://schemas.microsoft.com/office/drawing/2014/main" id="{D9FFFDE3-D02B-4DED-9826-A9FC189B4950}"/>
              </a:ext>
            </a:extLst>
          </p:cNvPr>
          <p:cNvSpPr>
            <a:spLocks xmlns:a="http://schemas.openxmlformats.org/drawingml/2006/main" noGrp="1"/>
          </p:cNvSpPr>
          <p:nvPr/>
        </p:nvSpPr>
        <p:spPr>
          <a:xfrm xmlns:a="http://schemas.openxmlformats.org/drawingml/2006/main">
            <a:off x="6667500" y="30480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E8893A"/>
                </a:solidFill>
                <a:latin typeface="Arial"/>
                <a:ea typeface="Arial"/>
                <a:cs typeface="Arial"/>
              </a:defRPr>
            </a:pPr>
            <a:r>
              <a:rPr sz="975" b="1" i="0">
                <a:solidFill>
                  <a:srgbClr val="E8893A"/>
                </a:solidFill>
                <a:latin typeface="Arial"/>
                <a:ea typeface="Arial"/>
                <a:cs typeface="Arial"/>
              </a:rPr>
              <a:t>best match</a:t>
            </a:r>
          </a:p>
        </p:txBody>
      </p:sp>
      <p:sp>
        <p:nvSpPr>
          <p:cNvPr id="37" name="">
            <a:extLst xmlns:a="http://schemas.openxmlformats.org/drawingml/2006/main">
              <a:ext uri="{FF2B5EF4-FFF2-40B4-BE49-F238E27FC236}">
                <a16:creationId xmlns:a16="http://schemas.microsoft.com/office/drawing/2014/main" id="{0A8F73DA-DF4C-488F-9BFB-404E064589B2}"/>
              </a:ext>
            </a:extLst>
          </p:cNvPr>
          <p:cNvSpPr>
            <a:spLocks xmlns:a="http://schemas.openxmlformats.org/drawingml/2006/main" noGrp="1"/>
          </p:cNvSpPr>
          <p:nvPr/>
        </p:nvSpPr>
        <p:spPr>
          <a:xfrm xmlns:a="http://schemas.openxmlformats.org/drawingml/2006/main">
            <a:off x="4429125" y="46577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8" name="">
            <a:extLst xmlns:a="http://schemas.openxmlformats.org/drawingml/2006/main">
              <a:ext uri="{FF2B5EF4-FFF2-40B4-BE49-F238E27FC236}">
                <a16:creationId xmlns:a16="http://schemas.microsoft.com/office/drawing/2014/main" id="{2E25B3AA-6F73-47E4-A308-C07561C797F3}"/>
              </a:ext>
            </a:extLst>
          </p:cNvPr>
          <p:cNvSpPr>
            <a:spLocks xmlns:a="http://schemas.openxmlformats.org/drawingml/2006/main" noGrp="1"/>
          </p:cNvSpPr>
          <p:nvPr/>
        </p:nvSpPr>
        <p:spPr>
          <a:xfrm xmlns:a="http://schemas.openxmlformats.org/drawingml/2006/main">
            <a:off x="7610475" y="465772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9" name="">
            <a:extLst xmlns:a="http://schemas.openxmlformats.org/drawingml/2006/main">
              <a:ext uri="{FF2B5EF4-FFF2-40B4-BE49-F238E27FC236}">
                <a16:creationId xmlns:a16="http://schemas.microsoft.com/office/drawing/2014/main" id="{48B76176-F789-4A65-A9AA-0EB9FBF61167}"/>
              </a:ext>
            </a:extLst>
          </p:cNvPr>
          <p:cNvSpPr>
            <a:spLocks xmlns:a="http://schemas.openxmlformats.org/drawingml/2006/main" noGrp="1"/>
          </p:cNvSpPr>
          <p:nvPr/>
        </p:nvSpPr>
        <p:spPr>
          <a:xfrm xmlns:a="http://schemas.openxmlformats.org/drawingml/2006/main">
            <a:off x="1428750" y="4095750"/>
            <a:ext cx="2971800" cy="1123950"/>
          </a:xfrm>
          <a:prstGeom xmlns:a="http://schemas.openxmlformats.org/drawingml/2006/main" prst="roundRect">
            <a:avLst>
              <a:gd name="adj" fmla="val 10169"/>
            </a:avLst>
          </a:prstGeom>
          <a:solidFill xmlns:a="http://schemas.openxmlformats.org/drawingml/2006/main">
            <a:srgbClr val="EAF5FF"/>
          </a:solidFill>
          <a:ln xmlns:a="http://schemas.openxmlformats.org/drawingml/2006/main" w="9525">
            <a:solidFill>
              <a:srgbClr val="EDEDED"/>
            </a:solidFill>
            <a:prstDash val="solid"/>
          </a:ln>
        </p:spPr>
      </p:sp>
      <p:sp>
        <p:nvSpPr>
          <p:cNvPr id="40" name="">
            <a:extLst xmlns:a="http://schemas.openxmlformats.org/drawingml/2006/main">
              <a:ext uri="{FF2B5EF4-FFF2-40B4-BE49-F238E27FC236}">
                <a16:creationId xmlns:a16="http://schemas.microsoft.com/office/drawing/2014/main" id="{1182B516-3472-4584-A604-CEEBB8065A81}"/>
              </a:ext>
            </a:extLst>
          </p:cNvPr>
          <p:cNvSpPr>
            <a:spLocks xmlns:a="http://schemas.openxmlformats.org/drawingml/2006/main" noGrp="1"/>
          </p:cNvSpPr>
          <p:nvPr/>
        </p:nvSpPr>
        <p:spPr>
          <a:xfrm xmlns:a="http://schemas.openxmlformats.org/drawingml/2006/main">
            <a:off x="1562100" y="424815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1 · Slide</a:t>
            </a:r>
          </a:p>
        </p:txBody>
      </p:sp>
      <p:sp>
        <p:nvSpPr>
          <p:cNvPr id="41" name="">
            <a:extLst xmlns:a="http://schemas.openxmlformats.org/drawingml/2006/main">
              <a:ext uri="{FF2B5EF4-FFF2-40B4-BE49-F238E27FC236}">
                <a16:creationId xmlns:a16="http://schemas.microsoft.com/office/drawing/2014/main" id="{885FCD5A-201F-4326-B3CD-0437D1A9A55B}"/>
              </a:ext>
            </a:extLst>
          </p:cNvPr>
          <p:cNvSpPr>
            <a:spLocks xmlns:a="http://schemas.openxmlformats.org/drawingml/2006/main" noGrp="1"/>
          </p:cNvSpPr>
          <p:nvPr/>
        </p:nvSpPr>
        <p:spPr>
          <a:xfrm xmlns:a="http://schemas.openxmlformats.org/drawingml/2006/main">
            <a:off x="1562100" y="46101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compare q at candidate positions</a:t>
            </a:r>
          </a:p>
        </p:txBody>
      </p:sp>
      <p:sp>
        <p:nvSpPr>
          <p:cNvPr id="42" name="">
            <a:extLst xmlns:a="http://schemas.openxmlformats.org/drawingml/2006/main">
              <a:ext uri="{FF2B5EF4-FFF2-40B4-BE49-F238E27FC236}">
                <a16:creationId xmlns:a16="http://schemas.microsoft.com/office/drawing/2014/main" id="{57049525-D06C-4D27-8743-9CB85859DF8C}"/>
              </a:ext>
            </a:extLst>
          </p:cNvPr>
          <p:cNvSpPr>
            <a:spLocks xmlns:a="http://schemas.openxmlformats.org/drawingml/2006/main" noGrp="1"/>
          </p:cNvSpPr>
          <p:nvPr/>
        </p:nvSpPr>
        <p:spPr>
          <a:xfrm xmlns:a="http://schemas.openxmlformats.org/drawingml/2006/main">
            <a:off x="4610100" y="4095750"/>
            <a:ext cx="2971800" cy="1123950"/>
          </a:xfrm>
          <a:prstGeom xmlns:a="http://schemas.openxmlformats.org/drawingml/2006/main" prst="roundRect">
            <a:avLst>
              <a:gd name="adj" fmla="val 10169"/>
            </a:avLst>
          </a:prstGeom>
          <a:solidFill xmlns:a="http://schemas.openxmlformats.org/drawingml/2006/main">
            <a:srgbClr val="EBF6EF"/>
          </a:solidFill>
          <a:ln xmlns:a="http://schemas.openxmlformats.org/drawingml/2006/main" w="9525">
            <a:solidFill>
              <a:srgbClr val="EDEDED"/>
            </a:solidFill>
            <a:prstDash val="solid"/>
          </a:ln>
        </p:spPr>
      </p:sp>
      <p:sp>
        <p:nvSpPr>
          <p:cNvPr id="43" name="">
            <a:extLst xmlns:a="http://schemas.openxmlformats.org/drawingml/2006/main">
              <a:ext uri="{FF2B5EF4-FFF2-40B4-BE49-F238E27FC236}">
                <a16:creationId xmlns:a16="http://schemas.microsoft.com/office/drawing/2014/main" id="{9163B749-767D-4B5B-B927-D065FB496DA9}"/>
              </a:ext>
            </a:extLst>
          </p:cNvPr>
          <p:cNvSpPr>
            <a:spLocks xmlns:a="http://schemas.openxmlformats.org/drawingml/2006/main" noGrp="1"/>
          </p:cNvSpPr>
          <p:nvPr/>
        </p:nvSpPr>
        <p:spPr>
          <a:xfrm xmlns:a="http://schemas.openxmlformats.org/drawingml/2006/main">
            <a:off x="4743450" y="424815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2 · Score</a:t>
            </a:r>
          </a:p>
        </p:txBody>
      </p:sp>
      <p:sp>
        <p:nvSpPr>
          <p:cNvPr id="44" name="">
            <a:extLst xmlns:a="http://schemas.openxmlformats.org/drawingml/2006/main">
              <a:ext uri="{FF2B5EF4-FFF2-40B4-BE49-F238E27FC236}">
                <a16:creationId xmlns:a16="http://schemas.microsoft.com/office/drawing/2014/main" id="{D698CF6B-5BF5-4AAD-89E0-73DBBBD3E153}"/>
              </a:ext>
            </a:extLst>
          </p:cNvPr>
          <p:cNvSpPr>
            <a:spLocks xmlns:a="http://schemas.openxmlformats.org/drawingml/2006/main" noGrp="1"/>
          </p:cNvSpPr>
          <p:nvPr/>
        </p:nvSpPr>
        <p:spPr>
          <a:xfrm xmlns:a="http://schemas.openxmlformats.org/drawingml/2006/main">
            <a:off x="4743450" y="46101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L1 distance at each position</a:t>
            </a:r>
          </a:p>
        </p:txBody>
      </p:sp>
      <p:sp>
        <p:nvSpPr>
          <p:cNvPr id="45" name="">
            <a:extLst xmlns:a="http://schemas.openxmlformats.org/drawingml/2006/main">
              <a:ext uri="{FF2B5EF4-FFF2-40B4-BE49-F238E27FC236}">
                <a16:creationId xmlns:a16="http://schemas.microsoft.com/office/drawing/2014/main" id="{7EC54667-74CC-4484-B3BB-072F78DDB5C6}"/>
              </a:ext>
            </a:extLst>
          </p:cNvPr>
          <p:cNvSpPr>
            <a:spLocks xmlns:a="http://schemas.openxmlformats.org/drawingml/2006/main" noGrp="1"/>
          </p:cNvSpPr>
          <p:nvPr/>
        </p:nvSpPr>
        <p:spPr>
          <a:xfrm xmlns:a="http://schemas.openxmlformats.org/drawingml/2006/main">
            <a:off x="7791450" y="4095750"/>
            <a:ext cx="2971800" cy="1123950"/>
          </a:xfrm>
          <a:prstGeom xmlns:a="http://schemas.openxmlformats.org/drawingml/2006/main" prst="roundRect">
            <a:avLst>
              <a:gd name="adj" fmla="val 10169"/>
            </a:avLst>
          </a:prstGeom>
          <a:solidFill xmlns:a="http://schemas.openxmlformats.org/drawingml/2006/main">
            <a:srgbClr val="FFF2E7"/>
          </a:solidFill>
          <a:ln xmlns:a="http://schemas.openxmlformats.org/drawingml/2006/main" w="9525">
            <a:solidFill>
              <a:srgbClr val="EDEDED"/>
            </a:solidFill>
            <a:prstDash val="solid"/>
          </a:ln>
        </p:spPr>
      </p:sp>
      <p:sp>
        <p:nvSpPr>
          <p:cNvPr id="46" name="">
            <a:extLst xmlns:a="http://schemas.openxmlformats.org/drawingml/2006/main">
              <a:ext uri="{FF2B5EF4-FFF2-40B4-BE49-F238E27FC236}">
                <a16:creationId xmlns:a16="http://schemas.microsoft.com/office/drawing/2014/main" id="{426627CC-F169-43E8-BE75-3DE40EA47A28}"/>
              </a:ext>
            </a:extLst>
          </p:cNvPr>
          <p:cNvSpPr>
            <a:spLocks xmlns:a="http://schemas.openxmlformats.org/drawingml/2006/main" noGrp="1"/>
          </p:cNvSpPr>
          <p:nvPr/>
        </p:nvSpPr>
        <p:spPr>
          <a:xfrm xmlns:a="http://schemas.openxmlformats.org/drawingml/2006/main">
            <a:off x="7924800" y="424815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3 · Summarize</a:t>
            </a:r>
          </a:p>
        </p:txBody>
      </p:sp>
      <p:sp>
        <p:nvSpPr>
          <p:cNvPr id="47" name="">
            <a:extLst xmlns:a="http://schemas.openxmlformats.org/drawingml/2006/main">
              <a:ext uri="{FF2B5EF4-FFF2-40B4-BE49-F238E27FC236}">
                <a16:creationId xmlns:a16="http://schemas.microsoft.com/office/drawing/2014/main" id="{7B12251A-6E38-453C-8AC4-4B6B5144FA7A}"/>
              </a:ext>
            </a:extLst>
          </p:cNvPr>
          <p:cNvSpPr>
            <a:spLocks xmlns:a="http://schemas.openxmlformats.org/drawingml/2006/main" noGrp="1"/>
          </p:cNvSpPr>
          <p:nvPr/>
        </p:nvSpPr>
        <p:spPr>
          <a:xfrm xmlns:a="http://schemas.openxmlformats.org/drawingml/2006/main">
            <a:off x="7924800" y="46101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minimum, argmin, occurrence count</a:t>
            </a:r>
          </a:p>
        </p:txBody>
      </p:sp>
      <p:sp>
        <p:nvSpPr>
          <p:cNvPr id="48" name="">
            <a:extLst xmlns:a="http://schemas.openxmlformats.org/drawingml/2006/main">
              <a:ext uri="{FF2B5EF4-FFF2-40B4-BE49-F238E27FC236}">
                <a16:creationId xmlns:a16="http://schemas.microsoft.com/office/drawing/2014/main" id="{75597B30-5AE2-4D76-84E7-29B75CC9CE0C}"/>
              </a:ext>
            </a:extLst>
          </p:cNvPr>
          <p:cNvSpPr>
            <a:spLocks xmlns:a="http://schemas.openxmlformats.org/drawingml/2006/main" noGrp="1"/>
          </p:cNvSpPr>
          <p:nvPr/>
        </p:nvSpPr>
        <p:spPr>
          <a:xfrm xmlns:a="http://schemas.openxmlformats.org/drawingml/2006/main">
            <a:off x="2724150" y="5619750"/>
            <a:ext cx="674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16B"/>
                </a:solidFill>
                <a:latin typeface="Arial"/>
                <a:ea typeface="Arial"/>
                <a:cs typeface="Arial"/>
              </a:defRPr>
            </a:pPr>
            <a:r>
              <a:rPr sz="1200" b="0" i="0">
                <a:solidFill>
                  <a:srgbClr val="5B616B"/>
                </a:solidFill>
                <a:latin typeface="Arial"/>
                <a:ea typeface="Arial"/>
                <a:cs typeface="Arial"/>
              </a:rPr>
              <a:t>Diagram is conceptual; actual RDST shapelets are multivariate across 108 signals.</a:t>
            </a:r>
          </a:p>
        </p:txBody>
      </p:sp>
      <p:sp>
        <p:nvSpPr>
          <p:cNvPr id="49" name="">
            <a:extLst xmlns:a="http://schemas.openxmlformats.org/drawingml/2006/main">
              <a:ext uri="{FF2B5EF4-FFF2-40B4-BE49-F238E27FC236}">
                <a16:creationId xmlns:a16="http://schemas.microsoft.com/office/drawing/2014/main" id="{C719D6EC-FEC8-455D-961E-26427B73B8E6}"/>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Guillaume et al. Random Dilated Shapelet Transform</a:t>
            </a:r>
          </a:p>
        </p:txBody>
      </p:sp>
    </p:spTree>
    <p:extLst>
      <p:ext uri="{BB962C8B-B14F-4D97-AF65-F5344CB8AC3E}">
        <p14:creationId xmlns:p14="http://schemas.microsoft.com/office/powerpoint/2010/main" val="7727211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BC9EE8D-F7C5-4B79-89D5-70D466921A2D}"/>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RDST SHAPELETS · FEATURES</a:t>
            </a:r>
          </a:p>
        </p:txBody>
      </p:sp>
      <p:sp>
        <p:nvSpPr>
          <p:cNvPr id="2" name="">
            <a:extLst xmlns:a="http://schemas.openxmlformats.org/drawingml/2006/main">
              <a:ext uri="{FF2B5EF4-FFF2-40B4-BE49-F238E27FC236}">
                <a16:creationId xmlns:a16="http://schemas.microsoft.com/office/drawing/2014/main" id="{3C29B8E7-2298-43CA-B5D0-3508D10BE963}"/>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Every RDST shapelet yields three interpretable statistics</a:t>
            </a:r>
          </a:p>
        </p:txBody>
      </p:sp>
      <p:sp>
        <p:nvSpPr>
          <p:cNvPr id="3" name="">
            <a:extLst xmlns:a="http://schemas.openxmlformats.org/drawingml/2006/main">
              <a:ext uri="{FF2B5EF4-FFF2-40B4-BE49-F238E27FC236}">
                <a16:creationId xmlns:a16="http://schemas.microsoft.com/office/drawing/2014/main" id="{451FF45E-08D7-4E32-A149-03065AC437DA}"/>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F8C3969-63C1-496F-9453-0240A6063BB8}"/>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271CBE6E-972B-4001-858D-A7FD789DB3BD}"/>
              </a:ext>
            </a:extLst>
          </p:cNvPr>
          <p:cNvSpPr>
            <a:spLocks xmlns:a="http://schemas.openxmlformats.org/drawingml/2006/main" noGrp="1"/>
          </p:cNvSpPr>
          <p:nvPr/>
        </p:nvSpPr>
        <p:spPr>
          <a:xfrm xmlns:a="http://schemas.openxmlformats.org/drawingml/2006/main">
            <a:off x="400050" y="1562100"/>
            <a:ext cx="3448050" cy="3695700"/>
          </a:xfrm>
          <a:prstGeom xmlns:a="http://schemas.openxmlformats.org/drawingml/2006/main" prst="roundRect">
            <a:avLst>
              <a:gd name="adj" fmla="val 3315"/>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25AB46C3-2C17-4CAA-B2FA-BF8CDA759461}"/>
              </a:ext>
            </a:extLst>
          </p:cNvPr>
          <p:cNvSpPr>
            <a:spLocks xmlns:a="http://schemas.openxmlformats.org/drawingml/2006/main" noGrp="1"/>
          </p:cNvSpPr>
          <p:nvPr/>
        </p:nvSpPr>
        <p:spPr>
          <a:xfrm xmlns:a="http://schemas.openxmlformats.org/drawingml/2006/main">
            <a:off x="571500" y="1714500"/>
            <a:ext cx="419100" cy="2667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52D9A7F9-95CC-45C3-B14F-941BD7DD13CF}"/>
              </a:ext>
            </a:extLst>
          </p:cNvPr>
          <p:cNvSpPr>
            <a:spLocks xmlns:a="http://schemas.openxmlformats.org/drawingml/2006/main" noGrp="1"/>
          </p:cNvSpPr>
          <p:nvPr/>
        </p:nvSpPr>
        <p:spPr>
          <a:xfrm xmlns:a="http://schemas.openxmlformats.org/drawingml/2006/main">
            <a:off x="657225" y="17621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3F3DFF7B-294D-459F-A1D2-83FC1105D93C}"/>
              </a:ext>
            </a:extLst>
          </p:cNvPr>
          <p:cNvSpPr>
            <a:spLocks xmlns:a="http://schemas.openxmlformats.org/drawingml/2006/main" noGrp="1"/>
          </p:cNvSpPr>
          <p:nvPr/>
        </p:nvSpPr>
        <p:spPr>
          <a:xfrm xmlns:a="http://schemas.openxmlformats.org/drawingml/2006/main">
            <a:off x="571500" y="209550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Minimum L1 distance</a:t>
            </a:r>
          </a:p>
        </p:txBody>
      </p:sp>
      <p:sp>
        <p:nvSpPr>
          <p:cNvPr id="9" name="">
            <a:extLst xmlns:a="http://schemas.openxmlformats.org/drawingml/2006/main">
              <a:ext uri="{FF2B5EF4-FFF2-40B4-BE49-F238E27FC236}">
                <a16:creationId xmlns:a16="http://schemas.microsoft.com/office/drawing/2014/main" id="{144413BE-526D-48F6-B9D3-80B17D76D7DD}"/>
              </a:ext>
            </a:extLst>
          </p:cNvPr>
          <p:cNvSpPr>
            <a:spLocks xmlns:a="http://schemas.openxmlformats.org/drawingml/2006/main" noGrp="1"/>
          </p:cNvSpPr>
          <p:nvPr/>
        </p:nvSpPr>
        <p:spPr>
          <a:xfrm xmlns:a="http://schemas.openxmlformats.org/drawingml/2006/main">
            <a:off x="571500" y="2476500"/>
            <a:ext cx="310515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d(q,x) = minₚ Σ|q − xₚ|</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How closely the learned motif appears anywhere in the cycle. Smaller distance means a better match.</a:t>
            </a:r>
          </a:p>
        </p:txBody>
      </p:sp>
      <p:sp>
        <p:nvSpPr>
          <p:cNvPr id="10" name="">
            <a:extLst xmlns:a="http://schemas.openxmlformats.org/drawingml/2006/main">
              <a:ext uri="{FF2B5EF4-FFF2-40B4-BE49-F238E27FC236}">
                <a16:creationId xmlns:a16="http://schemas.microsoft.com/office/drawing/2014/main" id="{30F9725A-76BB-4AF7-BB71-2F1A42395CD7}"/>
              </a:ext>
            </a:extLst>
          </p:cNvPr>
          <p:cNvSpPr>
            <a:spLocks xmlns:a="http://schemas.openxmlformats.org/drawingml/2006/main" noGrp="1"/>
          </p:cNvSpPr>
          <p:nvPr/>
        </p:nvSpPr>
        <p:spPr>
          <a:xfrm xmlns:a="http://schemas.openxmlformats.org/drawingml/2006/main">
            <a:off x="4038600" y="1562100"/>
            <a:ext cx="3448050" cy="3695700"/>
          </a:xfrm>
          <a:prstGeom xmlns:a="http://schemas.openxmlformats.org/drawingml/2006/main" prst="roundRect">
            <a:avLst>
              <a:gd name="adj" fmla="val 3315"/>
            </a:avLst>
          </a:prstGeom>
          <a:solidFill xmlns:a="http://schemas.openxmlformats.org/drawingml/2006/main">
            <a:srgbClr val="EBF6EF"/>
          </a:solidFill>
          <a:ln xmlns:a="http://schemas.openxmlformats.org/drawingml/2006/main" w="9525">
            <a:solidFill>
              <a:srgbClr val="EDEDED"/>
            </a:solidFill>
            <a:prstDash val="solid"/>
          </a:ln>
        </p:spPr>
      </p:sp>
      <p:sp>
        <p:nvSpPr>
          <p:cNvPr id="11" name="">
            <a:extLst xmlns:a="http://schemas.openxmlformats.org/drawingml/2006/main">
              <a:ext uri="{FF2B5EF4-FFF2-40B4-BE49-F238E27FC236}">
                <a16:creationId xmlns:a16="http://schemas.microsoft.com/office/drawing/2014/main" id="{588C18B3-81B5-47B6-A895-16649DF6F195}"/>
              </a:ext>
            </a:extLst>
          </p:cNvPr>
          <p:cNvSpPr>
            <a:spLocks xmlns:a="http://schemas.openxmlformats.org/drawingml/2006/main" noGrp="1"/>
          </p:cNvSpPr>
          <p:nvPr/>
        </p:nvSpPr>
        <p:spPr>
          <a:xfrm xmlns:a="http://schemas.openxmlformats.org/drawingml/2006/main">
            <a:off x="4210050" y="1714500"/>
            <a:ext cx="419100" cy="26670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12" name="">
            <a:extLst xmlns:a="http://schemas.openxmlformats.org/drawingml/2006/main">
              <a:ext uri="{FF2B5EF4-FFF2-40B4-BE49-F238E27FC236}">
                <a16:creationId xmlns:a16="http://schemas.microsoft.com/office/drawing/2014/main" id="{510B3CA7-E935-4CC1-9225-F2E80BEA5EF0}"/>
              </a:ext>
            </a:extLst>
          </p:cNvPr>
          <p:cNvSpPr>
            <a:spLocks xmlns:a="http://schemas.openxmlformats.org/drawingml/2006/main" noGrp="1"/>
          </p:cNvSpPr>
          <p:nvPr/>
        </p:nvSpPr>
        <p:spPr>
          <a:xfrm xmlns:a="http://schemas.openxmlformats.org/drawingml/2006/main">
            <a:off x="4295775" y="17621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F2D72BE1-4D84-433A-B1EF-4692BCD410B8}"/>
              </a:ext>
            </a:extLst>
          </p:cNvPr>
          <p:cNvSpPr>
            <a:spLocks xmlns:a="http://schemas.openxmlformats.org/drawingml/2006/main" noGrp="1"/>
          </p:cNvSpPr>
          <p:nvPr/>
        </p:nvSpPr>
        <p:spPr>
          <a:xfrm xmlns:a="http://schemas.openxmlformats.org/drawingml/2006/main">
            <a:off x="4210050" y="209550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Best-match location</a:t>
            </a:r>
          </a:p>
        </p:txBody>
      </p:sp>
      <p:sp>
        <p:nvSpPr>
          <p:cNvPr id="14" name="">
            <a:extLst xmlns:a="http://schemas.openxmlformats.org/drawingml/2006/main">
              <a:ext uri="{FF2B5EF4-FFF2-40B4-BE49-F238E27FC236}">
                <a16:creationId xmlns:a16="http://schemas.microsoft.com/office/drawing/2014/main" id="{5954B300-4689-4E39-BF2D-22950A703CDD}"/>
              </a:ext>
            </a:extLst>
          </p:cNvPr>
          <p:cNvSpPr>
            <a:spLocks xmlns:a="http://schemas.openxmlformats.org/drawingml/2006/main" noGrp="1"/>
          </p:cNvSpPr>
          <p:nvPr/>
        </p:nvSpPr>
        <p:spPr>
          <a:xfrm xmlns:a="http://schemas.openxmlformats.org/drawingml/2006/main">
            <a:off x="4210050" y="2476500"/>
            <a:ext cx="310515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p* = argminₚ distance(q,xₚ)</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Where in normalized cardiac-cycle time the motif matches best. This is the strongest RDST family in our data.</a:t>
            </a:r>
          </a:p>
        </p:txBody>
      </p:sp>
      <p:sp>
        <p:nvSpPr>
          <p:cNvPr id="15" name="">
            <a:extLst xmlns:a="http://schemas.openxmlformats.org/drawingml/2006/main">
              <a:ext uri="{FF2B5EF4-FFF2-40B4-BE49-F238E27FC236}">
                <a16:creationId xmlns:a16="http://schemas.microsoft.com/office/drawing/2014/main" id="{1473A8C1-74BD-4CE4-BC7F-8B527FFFFBC7}"/>
              </a:ext>
            </a:extLst>
          </p:cNvPr>
          <p:cNvSpPr>
            <a:spLocks xmlns:a="http://schemas.openxmlformats.org/drawingml/2006/main" noGrp="1"/>
          </p:cNvSpPr>
          <p:nvPr/>
        </p:nvSpPr>
        <p:spPr>
          <a:xfrm xmlns:a="http://schemas.openxmlformats.org/drawingml/2006/main">
            <a:off x="7677150" y="1562100"/>
            <a:ext cx="3848100" cy="3695700"/>
          </a:xfrm>
          <a:prstGeom xmlns:a="http://schemas.openxmlformats.org/drawingml/2006/main" prst="roundRect">
            <a:avLst>
              <a:gd name="adj" fmla="val 3093"/>
            </a:avLst>
          </a:prstGeom>
          <a:solidFill xmlns:a="http://schemas.openxmlformats.org/drawingml/2006/main">
            <a:srgbClr val="FFF2E7"/>
          </a:solidFill>
          <a:ln xmlns:a="http://schemas.openxmlformats.org/drawingml/2006/main" w="9525">
            <a:solidFill>
              <a:srgbClr val="EDEDED"/>
            </a:solidFill>
            <a:prstDash val="solid"/>
          </a:ln>
        </p:spPr>
      </p:sp>
      <p:sp>
        <p:nvSpPr>
          <p:cNvPr id="16" name="">
            <a:extLst xmlns:a="http://schemas.openxmlformats.org/drawingml/2006/main">
              <a:ext uri="{FF2B5EF4-FFF2-40B4-BE49-F238E27FC236}">
                <a16:creationId xmlns:a16="http://schemas.microsoft.com/office/drawing/2014/main" id="{8CC3184E-26C3-4A50-ABA4-505DBFB86EA2}"/>
              </a:ext>
            </a:extLst>
          </p:cNvPr>
          <p:cNvSpPr>
            <a:spLocks xmlns:a="http://schemas.openxmlformats.org/drawingml/2006/main" noGrp="1"/>
          </p:cNvSpPr>
          <p:nvPr/>
        </p:nvSpPr>
        <p:spPr>
          <a:xfrm xmlns:a="http://schemas.openxmlformats.org/drawingml/2006/main">
            <a:off x="7848600" y="1714500"/>
            <a:ext cx="419100" cy="26670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17" name="">
            <a:extLst xmlns:a="http://schemas.openxmlformats.org/drawingml/2006/main">
              <a:ext uri="{FF2B5EF4-FFF2-40B4-BE49-F238E27FC236}">
                <a16:creationId xmlns:a16="http://schemas.microsoft.com/office/drawing/2014/main" id="{07F109DD-E921-4C9D-9726-16CDA2BDF267}"/>
              </a:ext>
            </a:extLst>
          </p:cNvPr>
          <p:cNvSpPr>
            <a:spLocks xmlns:a="http://schemas.openxmlformats.org/drawingml/2006/main" noGrp="1"/>
          </p:cNvSpPr>
          <p:nvPr/>
        </p:nvSpPr>
        <p:spPr>
          <a:xfrm xmlns:a="http://schemas.openxmlformats.org/drawingml/2006/main">
            <a:off x="7934325" y="176212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96E30AF-4B7C-4F41-8D13-13FD80158665}"/>
              </a:ext>
            </a:extLst>
          </p:cNvPr>
          <p:cNvSpPr>
            <a:spLocks xmlns:a="http://schemas.openxmlformats.org/drawingml/2006/main" noGrp="1"/>
          </p:cNvSpPr>
          <p:nvPr/>
        </p:nvSpPr>
        <p:spPr>
          <a:xfrm xmlns:a="http://schemas.openxmlformats.org/drawingml/2006/main">
            <a:off x="7848600" y="209550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Occurrence count</a:t>
            </a:r>
          </a:p>
        </p:txBody>
      </p:sp>
      <p:sp>
        <p:nvSpPr>
          <p:cNvPr id="19" name="">
            <a:extLst xmlns:a="http://schemas.openxmlformats.org/drawingml/2006/main">
              <a:ext uri="{FF2B5EF4-FFF2-40B4-BE49-F238E27FC236}">
                <a16:creationId xmlns:a16="http://schemas.microsoft.com/office/drawing/2014/main" id="{2841430C-DCDF-4646-91A1-9D00BAA12321}"/>
              </a:ext>
            </a:extLst>
          </p:cNvPr>
          <p:cNvSpPr>
            <a:spLocks xmlns:a="http://schemas.openxmlformats.org/drawingml/2006/main" noGrp="1"/>
          </p:cNvSpPr>
          <p:nvPr/>
        </p:nvSpPr>
        <p:spPr>
          <a:xfrm xmlns:a="http://schemas.openxmlformats.org/drawingml/2006/main">
            <a:off x="7848600" y="2476500"/>
            <a:ext cx="350520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countₚ[distance(q,xₚ) &lt; threshold]</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How often a sufficiently similar motif appears. The threshold is learned for each shapelet.</a:t>
            </a:r>
          </a:p>
        </p:txBody>
      </p:sp>
      <p:sp>
        <p:nvSpPr>
          <p:cNvPr id="20" name="">
            <a:extLst xmlns:a="http://schemas.openxmlformats.org/drawingml/2006/main">
              <a:ext uri="{FF2B5EF4-FFF2-40B4-BE49-F238E27FC236}">
                <a16:creationId xmlns:a16="http://schemas.microsoft.com/office/drawing/2014/main" id="{9AB44B02-6FFB-4728-8655-5F28CAE1833B}"/>
              </a:ext>
            </a:extLst>
          </p:cNvPr>
          <p:cNvSpPr>
            <a:spLocks xmlns:a="http://schemas.openxmlformats.org/drawingml/2006/main" noGrp="1"/>
          </p:cNvSpPr>
          <p:nvPr/>
        </p:nvSpPr>
        <p:spPr>
          <a:xfrm xmlns:a="http://schemas.openxmlformats.org/drawingml/2006/main">
            <a:off x="1752600" y="5600700"/>
            <a:ext cx="868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The linear classifier learns a positive or negative coefficient for each statistic after standardization.</a:t>
            </a:r>
          </a:p>
        </p:txBody>
      </p:sp>
      <p:sp>
        <p:nvSpPr>
          <p:cNvPr id="21" name="">
            <a:extLst xmlns:a="http://schemas.openxmlformats.org/drawingml/2006/main">
              <a:ext uri="{FF2B5EF4-FFF2-40B4-BE49-F238E27FC236}">
                <a16:creationId xmlns:a16="http://schemas.microsoft.com/office/drawing/2014/main" id="{FE02DB44-69ED-4231-8E4F-A6615BFDC8C6}"/>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RDST paper and Aeon transform semantics</a:t>
            </a:r>
          </a:p>
        </p:txBody>
      </p:sp>
    </p:spTree>
    <p:extLst>
      <p:ext uri="{BB962C8B-B14F-4D97-AF65-F5344CB8AC3E}">
        <p14:creationId xmlns:p14="http://schemas.microsoft.com/office/powerpoint/2010/main" val="154054747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0EC9CC9-E2A5-4CA5-8F83-91BE5BB69E4D}"/>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RDST SHAPELETS · TOP INPUTS</a:t>
            </a:r>
          </a:p>
        </p:txBody>
      </p:sp>
      <p:sp>
        <p:nvSpPr>
          <p:cNvPr id="2" name="">
            <a:extLst xmlns:a="http://schemas.openxmlformats.org/drawingml/2006/main">
              <a:ext uri="{FF2B5EF4-FFF2-40B4-BE49-F238E27FC236}">
                <a16:creationId xmlns:a16="http://schemas.microsoft.com/office/drawing/2014/main" id="{E7FC083E-55C3-47F3-86DA-BAB8B431FA48}"/>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RDST: motif timing was more valuable than motif identity</a:t>
            </a:r>
          </a:p>
        </p:txBody>
      </p:sp>
      <p:sp>
        <p:nvSpPr>
          <p:cNvPr id="3" name="">
            <a:extLst xmlns:a="http://schemas.openxmlformats.org/drawingml/2006/main">
              <a:ext uri="{FF2B5EF4-FFF2-40B4-BE49-F238E27FC236}">
                <a16:creationId xmlns:a16="http://schemas.microsoft.com/office/drawing/2014/main" id="{7EA9051D-1765-47F9-8AC5-00136B799E71}"/>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2D11360-8BD0-4E19-9F65-EB67B91C0DFC}"/>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AE6480B6-61DE-4051-B22B-B2195F57F586}"/>
              </a:ext>
            </a:extLst>
          </p:cNvPr>
          <p:cNvSpPr>
            <a:spLocks xmlns:a="http://schemas.openxmlformats.org/drawingml/2006/main" noGrp="1"/>
          </p:cNvSpPr>
          <p:nvPr/>
        </p:nvSpPr>
        <p:spPr>
          <a:xfrm xmlns:a="http://schemas.openxmlformats.org/drawingml/2006/main">
            <a:off x="590550" y="1600200"/>
            <a:ext cx="312039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Best-match location family</a:t>
            </a:r>
          </a:p>
        </p:txBody>
      </p:sp>
      <p:sp>
        <p:nvSpPr>
          <p:cNvPr id="6" name="">
            <a:extLst xmlns:a="http://schemas.openxmlformats.org/drawingml/2006/main">
              <a:ext uri="{FF2B5EF4-FFF2-40B4-BE49-F238E27FC236}">
                <a16:creationId xmlns:a16="http://schemas.microsoft.com/office/drawing/2014/main" id="{DF9A4833-7771-4346-AAC3-11095CECABBB}"/>
              </a:ext>
            </a:extLst>
          </p:cNvPr>
          <p:cNvSpPr>
            <a:spLocks xmlns:a="http://schemas.openxmlformats.org/drawingml/2006/main" noGrp="1"/>
          </p:cNvSpPr>
          <p:nvPr/>
        </p:nvSpPr>
        <p:spPr>
          <a:xfrm xmlns:a="http://schemas.openxmlformats.org/drawingml/2006/main">
            <a:off x="3859530" y="1638300"/>
            <a:ext cx="312039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7" name="">
            <a:extLst xmlns:a="http://schemas.openxmlformats.org/drawingml/2006/main">
              <a:ext uri="{FF2B5EF4-FFF2-40B4-BE49-F238E27FC236}">
                <a16:creationId xmlns:a16="http://schemas.microsoft.com/office/drawing/2014/main" id="{F45CEA35-82D5-47A2-B87A-C1CB668E86D4}"/>
              </a:ext>
            </a:extLst>
          </p:cNvPr>
          <p:cNvSpPr>
            <a:spLocks xmlns:a="http://schemas.openxmlformats.org/drawingml/2006/main" noGrp="1"/>
          </p:cNvSpPr>
          <p:nvPr/>
        </p:nvSpPr>
        <p:spPr>
          <a:xfrm xmlns:a="http://schemas.openxmlformats.org/drawingml/2006/main">
            <a:off x="3859530" y="1638300"/>
            <a:ext cx="2730341"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8" name="">
            <a:extLst xmlns:a="http://schemas.openxmlformats.org/drawingml/2006/main">
              <a:ext uri="{FF2B5EF4-FFF2-40B4-BE49-F238E27FC236}">
                <a16:creationId xmlns:a16="http://schemas.microsoft.com/office/drawing/2014/main" id="{1C269764-8F56-4C20-849B-37C41E7DCBE3}"/>
              </a:ext>
            </a:extLst>
          </p:cNvPr>
          <p:cNvSpPr>
            <a:spLocks xmlns:a="http://schemas.openxmlformats.org/drawingml/2006/main" noGrp="1"/>
          </p:cNvSpPr>
          <p:nvPr/>
        </p:nvSpPr>
        <p:spPr>
          <a:xfrm xmlns:a="http://schemas.openxmlformats.org/drawingml/2006/main">
            <a:off x="7128510" y="1600200"/>
            <a:ext cx="8915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0.070</a:t>
            </a:r>
          </a:p>
        </p:txBody>
      </p:sp>
      <p:sp>
        <p:nvSpPr>
          <p:cNvPr id="9" name="">
            <a:extLst xmlns:a="http://schemas.openxmlformats.org/drawingml/2006/main">
              <a:ext uri="{FF2B5EF4-FFF2-40B4-BE49-F238E27FC236}">
                <a16:creationId xmlns:a16="http://schemas.microsoft.com/office/drawing/2014/main" id="{D5001050-AD33-4E02-8A14-9D0AE471A2AD}"/>
              </a:ext>
            </a:extLst>
          </p:cNvPr>
          <p:cNvSpPr>
            <a:spLocks xmlns:a="http://schemas.openxmlformats.org/drawingml/2006/main" noGrp="1"/>
          </p:cNvSpPr>
          <p:nvPr/>
        </p:nvSpPr>
        <p:spPr>
          <a:xfrm xmlns:a="http://schemas.openxmlformats.org/drawingml/2006/main">
            <a:off x="3859530" y="1847850"/>
            <a:ext cx="401193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0.0078–0.1258</a:t>
            </a:r>
          </a:p>
        </p:txBody>
      </p:sp>
      <p:sp>
        <p:nvSpPr>
          <p:cNvPr id="10" name="">
            <a:extLst xmlns:a="http://schemas.openxmlformats.org/drawingml/2006/main">
              <a:ext uri="{FF2B5EF4-FFF2-40B4-BE49-F238E27FC236}">
                <a16:creationId xmlns:a16="http://schemas.microsoft.com/office/drawing/2014/main" id="{3D2273FF-4740-47D8-BE22-A6869EFF1B84}"/>
              </a:ext>
            </a:extLst>
          </p:cNvPr>
          <p:cNvSpPr>
            <a:spLocks xmlns:a="http://schemas.openxmlformats.org/drawingml/2006/main" noGrp="1"/>
          </p:cNvSpPr>
          <p:nvPr/>
        </p:nvSpPr>
        <p:spPr>
          <a:xfrm xmlns:a="http://schemas.openxmlformats.org/drawingml/2006/main">
            <a:off x="590550" y="2362200"/>
            <a:ext cx="312039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All shapelet features</a:t>
            </a:r>
          </a:p>
        </p:txBody>
      </p:sp>
      <p:sp>
        <p:nvSpPr>
          <p:cNvPr id="11" name="">
            <a:extLst xmlns:a="http://schemas.openxmlformats.org/drawingml/2006/main">
              <a:ext uri="{FF2B5EF4-FFF2-40B4-BE49-F238E27FC236}">
                <a16:creationId xmlns:a16="http://schemas.microsoft.com/office/drawing/2014/main" id="{96DDB5AF-A6BC-4613-B384-3A5B425A4B1A}"/>
              </a:ext>
            </a:extLst>
          </p:cNvPr>
          <p:cNvSpPr>
            <a:spLocks xmlns:a="http://schemas.openxmlformats.org/drawingml/2006/main" noGrp="1"/>
          </p:cNvSpPr>
          <p:nvPr/>
        </p:nvSpPr>
        <p:spPr>
          <a:xfrm xmlns:a="http://schemas.openxmlformats.org/drawingml/2006/main">
            <a:off x="3859530" y="2400300"/>
            <a:ext cx="312039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2" name="">
            <a:extLst xmlns:a="http://schemas.openxmlformats.org/drawingml/2006/main">
              <a:ext uri="{FF2B5EF4-FFF2-40B4-BE49-F238E27FC236}">
                <a16:creationId xmlns:a16="http://schemas.microsoft.com/office/drawing/2014/main" id="{1BF6BEBF-D573-4037-895E-8A5752B037DC}"/>
              </a:ext>
            </a:extLst>
          </p:cNvPr>
          <p:cNvSpPr>
            <a:spLocks xmlns:a="http://schemas.openxmlformats.org/drawingml/2006/main" noGrp="1"/>
          </p:cNvSpPr>
          <p:nvPr/>
        </p:nvSpPr>
        <p:spPr>
          <a:xfrm xmlns:a="http://schemas.openxmlformats.org/drawingml/2006/main">
            <a:off x="3859530" y="2400300"/>
            <a:ext cx="2449506"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3" name="">
            <a:extLst xmlns:a="http://schemas.openxmlformats.org/drawingml/2006/main">
              <a:ext uri="{FF2B5EF4-FFF2-40B4-BE49-F238E27FC236}">
                <a16:creationId xmlns:a16="http://schemas.microsoft.com/office/drawing/2014/main" id="{9FB751BF-7DB4-49C9-BE0D-81B559EF97C0}"/>
              </a:ext>
            </a:extLst>
          </p:cNvPr>
          <p:cNvSpPr>
            <a:spLocks xmlns:a="http://schemas.openxmlformats.org/drawingml/2006/main" noGrp="1"/>
          </p:cNvSpPr>
          <p:nvPr/>
        </p:nvSpPr>
        <p:spPr>
          <a:xfrm xmlns:a="http://schemas.openxmlformats.org/drawingml/2006/main">
            <a:off x="7128510" y="2362200"/>
            <a:ext cx="8915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0.063</a:t>
            </a:r>
          </a:p>
        </p:txBody>
      </p:sp>
      <p:sp>
        <p:nvSpPr>
          <p:cNvPr id="14" name="">
            <a:extLst xmlns:a="http://schemas.openxmlformats.org/drawingml/2006/main">
              <a:ext uri="{FF2B5EF4-FFF2-40B4-BE49-F238E27FC236}">
                <a16:creationId xmlns:a16="http://schemas.microsoft.com/office/drawing/2014/main" id="{87D0ED7D-CAAD-40BF-8AD8-E9837472254D}"/>
              </a:ext>
            </a:extLst>
          </p:cNvPr>
          <p:cNvSpPr>
            <a:spLocks xmlns:a="http://schemas.openxmlformats.org/drawingml/2006/main" noGrp="1"/>
          </p:cNvSpPr>
          <p:nvPr/>
        </p:nvSpPr>
        <p:spPr>
          <a:xfrm xmlns:a="http://schemas.openxmlformats.org/drawingml/2006/main">
            <a:off x="3859530" y="2609850"/>
            <a:ext cx="401193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−0.0211–0.1516</a:t>
            </a:r>
          </a:p>
        </p:txBody>
      </p:sp>
      <p:sp>
        <p:nvSpPr>
          <p:cNvPr id="15" name="">
            <a:extLst xmlns:a="http://schemas.openxmlformats.org/drawingml/2006/main">
              <a:ext uri="{FF2B5EF4-FFF2-40B4-BE49-F238E27FC236}">
                <a16:creationId xmlns:a16="http://schemas.microsoft.com/office/drawing/2014/main" id="{F5F499AE-BC98-4103-B1B8-9B20C9DE8F82}"/>
              </a:ext>
            </a:extLst>
          </p:cNvPr>
          <p:cNvSpPr>
            <a:spLocks xmlns:a="http://schemas.openxmlformats.org/drawingml/2006/main" noGrp="1"/>
          </p:cNvSpPr>
          <p:nvPr/>
        </p:nvSpPr>
        <p:spPr>
          <a:xfrm xmlns:a="http://schemas.openxmlformats.org/drawingml/2006/main">
            <a:off x="590550" y="3124200"/>
            <a:ext cx="312039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All 96 scalar features</a:t>
            </a:r>
          </a:p>
        </p:txBody>
      </p:sp>
      <p:sp>
        <p:nvSpPr>
          <p:cNvPr id="16" name="">
            <a:extLst xmlns:a="http://schemas.openxmlformats.org/drawingml/2006/main">
              <a:ext uri="{FF2B5EF4-FFF2-40B4-BE49-F238E27FC236}">
                <a16:creationId xmlns:a16="http://schemas.microsoft.com/office/drawing/2014/main" id="{B826A406-7F19-4BEA-B668-26D2FD73FC04}"/>
              </a:ext>
            </a:extLst>
          </p:cNvPr>
          <p:cNvSpPr>
            <a:spLocks xmlns:a="http://schemas.openxmlformats.org/drawingml/2006/main" noGrp="1"/>
          </p:cNvSpPr>
          <p:nvPr/>
        </p:nvSpPr>
        <p:spPr>
          <a:xfrm xmlns:a="http://schemas.openxmlformats.org/drawingml/2006/main">
            <a:off x="3859530" y="3162300"/>
            <a:ext cx="312039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7" name="">
            <a:extLst xmlns:a="http://schemas.openxmlformats.org/drawingml/2006/main">
              <a:ext uri="{FF2B5EF4-FFF2-40B4-BE49-F238E27FC236}">
                <a16:creationId xmlns:a16="http://schemas.microsoft.com/office/drawing/2014/main" id="{2372C966-ACD3-4CDA-92BB-9FB38FC282AD}"/>
              </a:ext>
            </a:extLst>
          </p:cNvPr>
          <p:cNvSpPr>
            <a:spLocks xmlns:a="http://schemas.openxmlformats.org/drawingml/2006/main" noGrp="1"/>
          </p:cNvSpPr>
          <p:nvPr/>
        </p:nvSpPr>
        <p:spPr>
          <a:xfrm xmlns:a="http://schemas.openxmlformats.org/drawingml/2006/main">
            <a:off x="3859530" y="3162300"/>
            <a:ext cx="1907338"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18" name="">
            <a:extLst xmlns:a="http://schemas.openxmlformats.org/drawingml/2006/main">
              <a:ext uri="{FF2B5EF4-FFF2-40B4-BE49-F238E27FC236}">
                <a16:creationId xmlns:a16="http://schemas.microsoft.com/office/drawing/2014/main" id="{9EBC7795-6D95-4C75-9581-4AD339956734}"/>
              </a:ext>
            </a:extLst>
          </p:cNvPr>
          <p:cNvSpPr>
            <a:spLocks xmlns:a="http://schemas.openxmlformats.org/drawingml/2006/main" noGrp="1"/>
          </p:cNvSpPr>
          <p:nvPr/>
        </p:nvSpPr>
        <p:spPr>
          <a:xfrm xmlns:a="http://schemas.openxmlformats.org/drawingml/2006/main">
            <a:off x="7128510" y="3124200"/>
            <a:ext cx="8915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0.049</a:t>
            </a:r>
          </a:p>
        </p:txBody>
      </p:sp>
      <p:sp>
        <p:nvSpPr>
          <p:cNvPr id="19" name="">
            <a:extLst xmlns:a="http://schemas.openxmlformats.org/drawingml/2006/main">
              <a:ext uri="{FF2B5EF4-FFF2-40B4-BE49-F238E27FC236}">
                <a16:creationId xmlns:a16="http://schemas.microsoft.com/office/drawing/2014/main" id="{ACE2D1B1-535D-4EE5-B60E-53FA0A05367F}"/>
              </a:ext>
            </a:extLst>
          </p:cNvPr>
          <p:cNvSpPr>
            <a:spLocks xmlns:a="http://schemas.openxmlformats.org/drawingml/2006/main" noGrp="1"/>
          </p:cNvSpPr>
          <p:nvPr/>
        </p:nvSpPr>
        <p:spPr>
          <a:xfrm xmlns:a="http://schemas.openxmlformats.org/drawingml/2006/main">
            <a:off x="3859530" y="3371850"/>
            <a:ext cx="401193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0.0195–0.0824</a:t>
            </a:r>
          </a:p>
        </p:txBody>
      </p:sp>
      <p:sp>
        <p:nvSpPr>
          <p:cNvPr id="20" name="">
            <a:extLst xmlns:a="http://schemas.openxmlformats.org/drawingml/2006/main">
              <a:ext uri="{FF2B5EF4-FFF2-40B4-BE49-F238E27FC236}">
                <a16:creationId xmlns:a16="http://schemas.microsoft.com/office/drawing/2014/main" id="{6F2FF730-C42C-43BA-A029-16D500690F65}"/>
              </a:ext>
            </a:extLst>
          </p:cNvPr>
          <p:cNvSpPr>
            <a:spLocks xmlns:a="http://schemas.openxmlformats.org/drawingml/2006/main" noGrp="1"/>
          </p:cNvSpPr>
          <p:nvPr/>
        </p:nvSpPr>
        <p:spPr>
          <a:xfrm xmlns:a="http://schemas.openxmlformats.org/drawingml/2006/main">
            <a:off x="590550" y="3886200"/>
            <a:ext cx="312039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Endo vendor peak robust SD</a:t>
            </a:r>
          </a:p>
        </p:txBody>
      </p:sp>
      <p:sp>
        <p:nvSpPr>
          <p:cNvPr id="21" name="">
            <a:extLst xmlns:a="http://schemas.openxmlformats.org/drawingml/2006/main">
              <a:ext uri="{FF2B5EF4-FFF2-40B4-BE49-F238E27FC236}">
                <a16:creationId xmlns:a16="http://schemas.microsoft.com/office/drawing/2014/main" id="{43D13BEA-94CD-41F2-80D5-CD62FC84CD03}"/>
              </a:ext>
            </a:extLst>
          </p:cNvPr>
          <p:cNvSpPr>
            <a:spLocks xmlns:a="http://schemas.openxmlformats.org/drawingml/2006/main" noGrp="1"/>
          </p:cNvSpPr>
          <p:nvPr/>
        </p:nvSpPr>
        <p:spPr>
          <a:xfrm xmlns:a="http://schemas.openxmlformats.org/drawingml/2006/main">
            <a:off x="3859530" y="3924300"/>
            <a:ext cx="312039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2" name="">
            <a:extLst xmlns:a="http://schemas.openxmlformats.org/drawingml/2006/main">
              <a:ext uri="{FF2B5EF4-FFF2-40B4-BE49-F238E27FC236}">
                <a16:creationId xmlns:a16="http://schemas.microsoft.com/office/drawing/2014/main" id="{6F2D5743-66AE-40DF-AEF4-67495811E4ED}"/>
              </a:ext>
            </a:extLst>
          </p:cNvPr>
          <p:cNvSpPr>
            <a:spLocks xmlns:a="http://schemas.openxmlformats.org/drawingml/2006/main" noGrp="1"/>
          </p:cNvSpPr>
          <p:nvPr/>
        </p:nvSpPr>
        <p:spPr>
          <a:xfrm xmlns:a="http://schemas.openxmlformats.org/drawingml/2006/main">
            <a:off x="3859530" y="3924300"/>
            <a:ext cx="253532"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23" name="">
            <a:extLst xmlns:a="http://schemas.openxmlformats.org/drawingml/2006/main">
              <a:ext uri="{FF2B5EF4-FFF2-40B4-BE49-F238E27FC236}">
                <a16:creationId xmlns:a16="http://schemas.microsoft.com/office/drawing/2014/main" id="{07EA4FEA-C67B-4D76-94AB-A89FA8BBACDA}"/>
              </a:ext>
            </a:extLst>
          </p:cNvPr>
          <p:cNvSpPr>
            <a:spLocks xmlns:a="http://schemas.openxmlformats.org/drawingml/2006/main" noGrp="1"/>
          </p:cNvSpPr>
          <p:nvPr/>
        </p:nvSpPr>
        <p:spPr>
          <a:xfrm xmlns:a="http://schemas.openxmlformats.org/drawingml/2006/main">
            <a:off x="7128510" y="3886200"/>
            <a:ext cx="8915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0.006</a:t>
            </a:r>
          </a:p>
        </p:txBody>
      </p:sp>
      <p:sp>
        <p:nvSpPr>
          <p:cNvPr id="24" name="">
            <a:extLst xmlns:a="http://schemas.openxmlformats.org/drawingml/2006/main">
              <a:ext uri="{FF2B5EF4-FFF2-40B4-BE49-F238E27FC236}">
                <a16:creationId xmlns:a16="http://schemas.microsoft.com/office/drawing/2014/main" id="{C617955D-F1BF-4B21-B949-15580F001D97}"/>
              </a:ext>
            </a:extLst>
          </p:cNvPr>
          <p:cNvSpPr>
            <a:spLocks xmlns:a="http://schemas.openxmlformats.org/drawingml/2006/main" noGrp="1"/>
          </p:cNvSpPr>
          <p:nvPr/>
        </p:nvSpPr>
        <p:spPr>
          <a:xfrm xmlns:a="http://schemas.openxmlformats.org/drawingml/2006/main">
            <a:off x="3859530" y="4133850"/>
            <a:ext cx="401193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0.0006–0.0136</a:t>
            </a:r>
          </a:p>
        </p:txBody>
      </p:sp>
      <p:sp>
        <p:nvSpPr>
          <p:cNvPr id="25" name="">
            <a:extLst xmlns:a="http://schemas.openxmlformats.org/drawingml/2006/main">
              <a:ext uri="{FF2B5EF4-FFF2-40B4-BE49-F238E27FC236}">
                <a16:creationId xmlns:a16="http://schemas.microsoft.com/office/drawing/2014/main" id="{015C6E67-233B-4EDA-941B-B31ACE2FEB38}"/>
              </a:ext>
            </a:extLst>
          </p:cNvPr>
          <p:cNvSpPr>
            <a:spLocks xmlns:a="http://schemas.openxmlformats.org/drawingml/2006/main" noGrp="1"/>
          </p:cNvSpPr>
          <p:nvPr/>
        </p:nvSpPr>
        <p:spPr>
          <a:xfrm xmlns:a="http://schemas.openxmlformats.org/drawingml/2006/main">
            <a:off x="590550" y="4648200"/>
            <a:ext cx="312039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Mid peak robust SD</a:t>
            </a:r>
          </a:p>
        </p:txBody>
      </p:sp>
      <p:sp>
        <p:nvSpPr>
          <p:cNvPr id="26" name="">
            <a:extLst xmlns:a="http://schemas.openxmlformats.org/drawingml/2006/main">
              <a:ext uri="{FF2B5EF4-FFF2-40B4-BE49-F238E27FC236}">
                <a16:creationId xmlns:a16="http://schemas.microsoft.com/office/drawing/2014/main" id="{A7EB0CCB-914C-49A4-8574-B96063DD7408}"/>
              </a:ext>
            </a:extLst>
          </p:cNvPr>
          <p:cNvSpPr>
            <a:spLocks xmlns:a="http://schemas.openxmlformats.org/drawingml/2006/main" noGrp="1"/>
          </p:cNvSpPr>
          <p:nvPr/>
        </p:nvSpPr>
        <p:spPr>
          <a:xfrm xmlns:a="http://schemas.openxmlformats.org/drawingml/2006/main">
            <a:off x="3859530" y="4686300"/>
            <a:ext cx="312039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7" name="">
            <a:extLst xmlns:a="http://schemas.openxmlformats.org/drawingml/2006/main">
              <a:ext uri="{FF2B5EF4-FFF2-40B4-BE49-F238E27FC236}">
                <a16:creationId xmlns:a16="http://schemas.microsoft.com/office/drawing/2014/main" id="{A4A5ACDC-5356-42E8-9264-D3E3A07F0870}"/>
              </a:ext>
            </a:extLst>
          </p:cNvPr>
          <p:cNvSpPr>
            <a:spLocks xmlns:a="http://schemas.openxmlformats.org/drawingml/2006/main" noGrp="1"/>
          </p:cNvSpPr>
          <p:nvPr/>
        </p:nvSpPr>
        <p:spPr>
          <a:xfrm xmlns:a="http://schemas.openxmlformats.org/drawingml/2006/main">
            <a:off x="3859530" y="4686300"/>
            <a:ext cx="179422" cy="171450"/>
          </a:xfrm>
          <a:prstGeom xmlns:a="http://schemas.openxmlformats.org/drawingml/2006/main" prst="roundRect">
            <a:avLst>
              <a:gd name="adj" fmla="val 50000"/>
            </a:avLst>
          </a:prstGeom>
          <a:solidFill xmlns:a="http://schemas.openxmlformats.org/drawingml/2006/main">
            <a:srgbClr val="C94949"/>
          </a:solidFill>
          <a:ln xmlns:a="http://schemas.openxmlformats.org/drawingml/2006/main" w="0">
            <a:solidFill>
              <a:srgbClr val="C94949"/>
            </a:solidFill>
            <a:prstDash val="solid"/>
          </a:ln>
        </p:spPr>
      </p:sp>
      <p:sp>
        <p:nvSpPr>
          <p:cNvPr id="28" name="">
            <a:extLst xmlns:a="http://schemas.openxmlformats.org/drawingml/2006/main">
              <a:ext uri="{FF2B5EF4-FFF2-40B4-BE49-F238E27FC236}">
                <a16:creationId xmlns:a16="http://schemas.microsoft.com/office/drawing/2014/main" id="{269C9390-37F4-4A96-9D35-ED0F52C35C1B}"/>
              </a:ext>
            </a:extLst>
          </p:cNvPr>
          <p:cNvSpPr>
            <a:spLocks xmlns:a="http://schemas.openxmlformats.org/drawingml/2006/main" noGrp="1"/>
          </p:cNvSpPr>
          <p:nvPr/>
        </p:nvSpPr>
        <p:spPr>
          <a:xfrm xmlns:a="http://schemas.openxmlformats.org/drawingml/2006/main">
            <a:off x="7128510" y="4648200"/>
            <a:ext cx="8915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0.005</a:t>
            </a:r>
          </a:p>
        </p:txBody>
      </p:sp>
      <p:sp>
        <p:nvSpPr>
          <p:cNvPr id="29" name="">
            <a:extLst xmlns:a="http://schemas.openxmlformats.org/drawingml/2006/main">
              <a:ext uri="{FF2B5EF4-FFF2-40B4-BE49-F238E27FC236}">
                <a16:creationId xmlns:a16="http://schemas.microsoft.com/office/drawing/2014/main" id="{56FAF33B-B8F8-4565-97EC-17FBFD09516C}"/>
              </a:ext>
            </a:extLst>
          </p:cNvPr>
          <p:cNvSpPr>
            <a:spLocks xmlns:a="http://schemas.openxmlformats.org/drawingml/2006/main" noGrp="1"/>
          </p:cNvSpPr>
          <p:nvPr/>
        </p:nvSpPr>
        <p:spPr>
          <a:xfrm xmlns:a="http://schemas.openxmlformats.org/drawingml/2006/main">
            <a:off x="3859530" y="4895850"/>
            <a:ext cx="401193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0.0002–0.0088</a:t>
            </a:r>
          </a:p>
        </p:txBody>
      </p:sp>
      <p:sp>
        <p:nvSpPr>
          <p:cNvPr id="30" name="">
            <a:extLst xmlns:a="http://schemas.openxmlformats.org/drawingml/2006/main">
              <a:ext uri="{FF2B5EF4-FFF2-40B4-BE49-F238E27FC236}">
                <a16:creationId xmlns:a16="http://schemas.microsoft.com/office/drawing/2014/main" id="{605807CF-BBDA-4704-9949-3E2934440E56}"/>
              </a:ext>
            </a:extLst>
          </p:cNvPr>
          <p:cNvSpPr>
            <a:spLocks xmlns:a="http://schemas.openxmlformats.org/drawingml/2006/main" noGrp="1"/>
          </p:cNvSpPr>
          <p:nvPr/>
        </p:nvSpPr>
        <p:spPr>
          <a:xfrm xmlns:a="http://schemas.openxmlformats.org/drawingml/2006/main">
            <a:off x="8286750" y="1600200"/>
            <a:ext cx="3238500" cy="3257550"/>
          </a:xfrm>
          <a:prstGeom xmlns:a="http://schemas.openxmlformats.org/drawingml/2006/main" prst="roundRect">
            <a:avLst>
              <a:gd name="adj" fmla="val 3529"/>
            </a:avLst>
          </a:prstGeom>
          <a:solidFill xmlns:a="http://schemas.openxmlformats.org/drawingml/2006/main">
            <a:srgbClr val="FFF2E7"/>
          </a:solidFill>
          <a:ln xmlns:a="http://schemas.openxmlformats.org/drawingml/2006/main" w="9525">
            <a:solidFill>
              <a:srgbClr val="EDEDED"/>
            </a:solidFill>
            <a:prstDash val="solid"/>
          </a:ln>
        </p:spPr>
      </p:sp>
      <p:sp>
        <p:nvSpPr>
          <p:cNvPr id="31" name="">
            <a:extLst xmlns:a="http://schemas.openxmlformats.org/drawingml/2006/main">
              <a:ext uri="{FF2B5EF4-FFF2-40B4-BE49-F238E27FC236}">
                <a16:creationId xmlns:a16="http://schemas.microsoft.com/office/drawing/2014/main" id="{F649D86C-57CD-4914-A5EA-1064D5B504A5}"/>
              </a:ext>
            </a:extLst>
          </p:cNvPr>
          <p:cNvSpPr>
            <a:spLocks xmlns:a="http://schemas.openxmlformats.org/drawingml/2006/main" noGrp="1"/>
          </p:cNvSpPr>
          <p:nvPr/>
        </p:nvSpPr>
        <p:spPr>
          <a:xfrm xmlns:a="http://schemas.openxmlformats.org/drawingml/2006/main">
            <a:off x="8458200" y="17716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Interpretation</a:t>
            </a:r>
          </a:p>
        </p:txBody>
      </p:sp>
      <p:sp>
        <p:nvSpPr>
          <p:cNvPr id="32" name="">
            <a:extLst xmlns:a="http://schemas.openxmlformats.org/drawingml/2006/main">
              <a:ext uri="{FF2B5EF4-FFF2-40B4-BE49-F238E27FC236}">
                <a16:creationId xmlns:a16="http://schemas.microsoft.com/office/drawing/2014/main" id="{C57053D4-DFEF-49F9-9BF5-5D309A05FC34}"/>
              </a:ext>
            </a:extLst>
          </p:cNvPr>
          <p:cNvSpPr>
            <a:spLocks xmlns:a="http://schemas.openxmlformats.org/drawingml/2006/main" noGrp="1"/>
          </p:cNvSpPr>
          <p:nvPr/>
        </p:nvSpPr>
        <p:spPr>
          <a:xfrm xmlns:a="http://schemas.openxmlformats.org/drawingml/2006/main">
            <a:off x="8458200" y="2190750"/>
            <a:ext cx="28956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predictive motif was often defined by when it occurred rather than only whether it occurred. This supports the inter-segment/mechanical-timing hypothesis.</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Both named scalar features quantify between-segment amplitude dispersion, reinforcing a heterogeneity signal.</a:t>
            </a:r>
          </a:p>
        </p:txBody>
      </p:sp>
      <p:sp>
        <p:nvSpPr>
          <p:cNvPr id="33" name="">
            <a:extLst xmlns:a="http://schemas.openxmlformats.org/drawingml/2006/main">
              <a:ext uri="{FF2B5EF4-FFF2-40B4-BE49-F238E27FC236}">
                <a16:creationId xmlns:a16="http://schemas.microsoft.com/office/drawing/2014/main" id="{366AB811-33DC-42C1-838E-2E04D5BCDBAC}"/>
              </a:ext>
            </a:extLst>
          </p:cNvPr>
          <p:cNvSpPr>
            <a:spLocks xmlns:a="http://schemas.openxmlformats.org/drawingml/2006/main" noGrp="1"/>
          </p:cNvSpPr>
          <p:nvPr/>
        </p:nvSpPr>
        <p:spPr>
          <a:xfrm xmlns:a="http://schemas.openxmlformats.org/drawingml/2006/main">
            <a:off x="8286750" y="5029200"/>
            <a:ext cx="3238500" cy="895350"/>
          </a:xfrm>
          <a:prstGeom xmlns:a="http://schemas.openxmlformats.org/drawingml/2006/main" prst="roundRect">
            <a:avLst>
              <a:gd name="adj" fmla="val 12766"/>
            </a:avLst>
          </a:prstGeom>
          <a:solidFill xmlns:a="http://schemas.openxmlformats.org/drawingml/2006/main">
            <a:srgbClr val="EBF6EF"/>
          </a:solidFill>
          <a:ln xmlns:a="http://schemas.openxmlformats.org/drawingml/2006/main" w="9525">
            <a:solidFill>
              <a:srgbClr val="EDEDED"/>
            </a:solidFill>
            <a:prstDash val="solid"/>
          </a:ln>
        </p:spPr>
      </p:sp>
      <p:sp>
        <p:nvSpPr>
          <p:cNvPr id="34" name="">
            <a:extLst xmlns:a="http://schemas.openxmlformats.org/drawingml/2006/main">
              <a:ext uri="{FF2B5EF4-FFF2-40B4-BE49-F238E27FC236}">
                <a16:creationId xmlns:a16="http://schemas.microsoft.com/office/drawing/2014/main" id="{B555AB02-3E42-4A58-8AE3-FC984CEE3DB3}"/>
              </a:ext>
            </a:extLst>
          </p:cNvPr>
          <p:cNvSpPr>
            <a:spLocks xmlns:a="http://schemas.openxmlformats.org/drawingml/2006/main" noGrp="1"/>
          </p:cNvSpPr>
          <p:nvPr/>
        </p:nvSpPr>
        <p:spPr>
          <a:xfrm xmlns:a="http://schemas.openxmlformats.org/drawingml/2006/main">
            <a:off x="8458200" y="52006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050505"/>
                </a:solidFill>
                <a:latin typeface="Arial"/>
                <a:ea typeface="Arial"/>
                <a:cs typeface="Arial"/>
              </a:defRPr>
            </a:pPr>
            <a:r>
              <a:rPr sz="1275" b="1" i="0">
                <a:solidFill>
                  <a:srgbClr val="050505"/>
                </a:solidFill>
                <a:latin typeface="Arial"/>
                <a:ea typeface="Arial"/>
                <a:cs typeface="Arial"/>
              </a:rPr>
              <a:t>AP</a:t>
            </a:r>
          </a:p>
        </p:txBody>
      </p:sp>
      <p:sp>
        <p:nvSpPr>
          <p:cNvPr id="35" name="">
            <a:extLst xmlns:a="http://schemas.openxmlformats.org/drawingml/2006/main">
              <a:ext uri="{FF2B5EF4-FFF2-40B4-BE49-F238E27FC236}">
                <a16:creationId xmlns:a16="http://schemas.microsoft.com/office/drawing/2014/main" id="{347B7D93-BFBB-46FE-BF06-4B454DC621E3}"/>
              </a:ext>
            </a:extLst>
          </p:cNvPr>
          <p:cNvSpPr>
            <a:spLocks xmlns:a="http://schemas.openxmlformats.org/drawingml/2006/main" noGrp="1"/>
          </p:cNvSpPr>
          <p:nvPr/>
        </p:nvSpPr>
        <p:spPr>
          <a:xfrm xmlns:a="http://schemas.openxmlformats.org/drawingml/2006/main">
            <a:off x="8458200" y="5619750"/>
            <a:ext cx="2895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775"/>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Best-match location ΔAP 0.069.</a:t>
            </a:r>
          </a:p>
        </p:txBody>
      </p:sp>
      <p:sp>
        <p:nvSpPr>
          <p:cNvPr id="36" name="">
            <a:extLst xmlns:a="http://schemas.openxmlformats.org/drawingml/2006/main">
              <a:ext uri="{FF2B5EF4-FFF2-40B4-BE49-F238E27FC236}">
                <a16:creationId xmlns:a16="http://schemas.microsoft.com/office/drawing/2014/main" id="{1C55EBC8-1F9C-4F42-88FF-7B9655B81A6D}"/>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held-out RDST feature-family permutation</a:t>
            </a:r>
          </a:p>
        </p:txBody>
      </p:sp>
    </p:spTree>
    <p:extLst>
      <p:ext uri="{BB962C8B-B14F-4D97-AF65-F5344CB8AC3E}">
        <p14:creationId xmlns:p14="http://schemas.microsoft.com/office/powerpoint/2010/main" val="45965282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1349C8A-CE40-4CDD-A03A-2CE23D5394FC}"/>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RDST SHAPELETS · STRONGEST FEATURE</a:t>
            </a:r>
          </a:p>
        </p:txBody>
      </p:sp>
      <p:sp>
        <p:nvSpPr>
          <p:cNvPr id="2" name="">
            <a:extLst xmlns:a="http://schemas.openxmlformats.org/drawingml/2006/main">
              <a:ext uri="{FF2B5EF4-FFF2-40B4-BE49-F238E27FC236}">
                <a16:creationId xmlns:a16="http://schemas.microsoft.com/office/drawing/2014/main" id="{AFA94D44-5702-4609-A281-5CC88721B9D6}"/>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Deep dive: RDST best-match location</a:t>
            </a:r>
          </a:p>
        </p:txBody>
      </p:sp>
      <p:sp>
        <p:nvSpPr>
          <p:cNvPr id="3" name="">
            <a:extLst xmlns:a="http://schemas.openxmlformats.org/drawingml/2006/main">
              <a:ext uri="{FF2B5EF4-FFF2-40B4-BE49-F238E27FC236}">
                <a16:creationId xmlns:a16="http://schemas.microsoft.com/office/drawing/2014/main" id="{CF95D571-D3B9-4F65-8930-AE2D6931E07A}"/>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C9E1BAA-5D2F-4ECB-8F7F-69A71A169043}"/>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AEB048D5-65C4-42F5-8454-146DA3876209}"/>
              </a:ext>
            </a:extLst>
          </p:cNvPr>
          <p:cNvSpPr>
            <a:spLocks xmlns:a="http://schemas.openxmlformats.org/drawingml/2006/main" noGrp="1"/>
          </p:cNvSpPr>
          <p:nvPr/>
        </p:nvSpPr>
        <p:spPr>
          <a:xfrm xmlns:a="http://schemas.openxmlformats.org/drawingml/2006/main">
            <a:off x="400050" y="1543050"/>
            <a:ext cx="6305550" cy="952500"/>
          </a:xfrm>
          <a:prstGeom xmlns:a="http://schemas.openxmlformats.org/drawingml/2006/main" prst="roundRect">
            <a:avLst>
              <a:gd name="adj" fmla="val 8000"/>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4E9B2FA0-15C3-4B0B-BCB4-DD780824A7D6}"/>
              </a:ext>
            </a:extLst>
          </p:cNvPr>
          <p:cNvSpPr>
            <a:spLocks xmlns:a="http://schemas.openxmlformats.org/drawingml/2006/main" noGrp="1"/>
          </p:cNvSpPr>
          <p:nvPr/>
        </p:nvSpPr>
        <p:spPr>
          <a:xfrm xmlns:a="http://schemas.openxmlformats.org/drawingml/2006/main">
            <a:off x="571500" y="1695450"/>
            <a:ext cx="5962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location(q,x) = argmin over p of Σ |q − window(x,p)|</a:t>
            </a:r>
          </a:p>
        </p:txBody>
      </p:sp>
      <p:sp>
        <p:nvSpPr>
          <p:cNvPr id="7" name="">
            <a:extLst xmlns:a="http://schemas.openxmlformats.org/drawingml/2006/main">
              <a:ext uri="{FF2B5EF4-FFF2-40B4-BE49-F238E27FC236}">
                <a16:creationId xmlns:a16="http://schemas.microsoft.com/office/drawing/2014/main" id="{DDE2C47B-8FAD-4BFE-8C41-40D0565A2DC0}"/>
              </a:ext>
            </a:extLst>
          </p:cNvPr>
          <p:cNvSpPr>
            <a:spLocks xmlns:a="http://schemas.openxmlformats.org/drawingml/2006/main" noGrp="1"/>
          </p:cNvSpPr>
          <p:nvPr/>
        </p:nvSpPr>
        <p:spPr>
          <a:xfrm xmlns:a="http://schemas.openxmlformats.org/drawingml/2006/main">
            <a:off x="533400" y="2228850"/>
            <a:ext cx="6038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Position p is normalized within the 96-sample cardiac cycle</a:t>
            </a:r>
          </a:p>
        </p:txBody>
      </p:sp>
      <p:sp>
        <p:nvSpPr>
          <p:cNvPr id="8" name="">
            <a:extLst xmlns:a="http://schemas.openxmlformats.org/drawingml/2006/main">
              <a:ext uri="{FF2B5EF4-FFF2-40B4-BE49-F238E27FC236}">
                <a16:creationId xmlns:a16="http://schemas.microsoft.com/office/drawing/2014/main" id="{8F2F2033-DE8A-4A8D-8345-1E1418648534}"/>
              </a:ext>
            </a:extLst>
          </p:cNvPr>
          <p:cNvSpPr>
            <a:spLocks xmlns:a="http://schemas.openxmlformats.org/drawingml/2006/main" noGrp="1"/>
          </p:cNvSpPr>
          <p:nvPr/>
        </p:nvSpPr>
        <p:spPr>
          <a:xfrm xmlns:a="http://schemas.openxmlformats.org/drawingml/2006/main">
            <a:off x="400050" y="2800350"/>
            <a:ext cx="6305550" cy="2686050"/>
          </a:xfrm>
          <a:prstGeom xmlns:a="http://schemas.openxmlformats.org/drawingml/2006/main" prst="roundRect">
            <a:avLst>
              <a:gd name="adj" fmla="val 4255"/>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EAF4947F-5DBF-4A6A-820F-2836DA54FF01}"/>
              </a:ext>
            </a:extLst>
          </p:cNvPr>
          <p:cNvSpPr>
            <a:spLocks xmlns:a="http://schemas.openxmlformats.org/drawingml/2006/main" noGrp="1"/>
          </p:cNvSpPr>
          <p:nvPr/>
        </p:nvSpPr>
        <p:spPr>
          <a:xfrm xmlns:a="http://schemas.openxmlformats.org/drawingml/2006/main">
            <a:off x="571500" y="2971800"/>
            <a:ext cx="596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How to interpret it</a:t>
            </a:r>
          </a:p>
        </p:txBody>
      </p:sp>
      <p:sp>
        <p:nvSpPr>
          <p:cNvPr id="10" name="">
            <a:extLst xmlns:a="http://schemas.openxmlformats.org/drawingml/2006/main">
              <a:ext uri="{FF2B5EF4-FFF2-40B4-BE49-F238E27FC236}">
                <a16:creationId xmlns:a16="http://schemas.microsoft.com/office/drawing/2014/main" id="{DE4B9391-D369-407A-B721-DC29AFCFAF1A}"/>
              </a:ext>
            </a:extLst>
          </p:cNvPr>
          <p:cNvSpPr>
            <a:spLocks xmlns:a="http://schemas.openxmlformats.org/drawingml/2006/main" noGrp="1"/>
          </p:cNvSpPr>
          <p:nvPr/>
        </p:nvSpPr>
        <p:spPr>
          <a:xfrm xmlns:a="http://schemas.openxmlformats.org/drawingml/2006/main">
            <a:off x="571500" y="3390900"/>
            <a:ext cx="59626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 learned multivariate contour may match near peak systole in one visit but later in another. The model can use that displacement as a feature even if the motif’s amplitude remains similar.</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This captures timing at a richer level than one hand-engineered time-to-peak per segment.</a:t>
            </a:r>
          </a:p>
        </p:txBody>
      </p:sp>
      <p:sp>
        <p:nvSpPr>
          <p:cNvPr id="11" name="">
            <a:extLst xmlns:a="http://schemas.openxmlformats.org/drawingml/2006/main">
              <a:ext uri="{FF2B5EF4-FFF2-40B4-BE49-F238E27FC236}">
                <a16:creationId xmlns:a16="http://schemas.microsoft.com/office/drawing/2014/main" id="{1BE5F4EE-8FE4-44D1-94D5-1C2965CFBA36}"/>
              </a:ext>
            </a:extLst>
          </p:cNvPr>
          <p:cNvSpPr>
            <a:spLocks xmlns:a="http://schemas.openxmlformats.org/drawingml/2006/main" noGrp="1"/>
          </p:cNvSpPr>
          <p:nvPr/>
        </p:nvSpPr>
        <p:spPr>
          <a:xfrm xmlns:a="http://schemas.openxmlformats.org/drawingml/2006/main">
            <a:off x="6972300" y="1543050"/>
            <a:ext cx="4552950" cy="1752600"/>
          </a:xfrm>
          <a:prstGeom xmlns:a="http://schemas.openxmlformats.org/drawingml/2006/main" prst="roundRect">
            <a:avLst>
              <a:gd name="adj" fmla="val 6522"/>
            </a:avLst>
          </a:prstGeom>
          <a:solidFill xmlns:a="http://schemas.openxmlformats.org/drawingml/2006/main">
            <a:srgbClr val="EBF6E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0640C81B-2969-4F88-A0C2-DAA0D244DC7E}"/>
              </a:ext>
            </a:extLst>
          </p:cNvPr>
          <p:cNvSpPr>
            <a:spLocks xmlns:a="http://schemas.openxmlformats.org/drawingml/2006/main" noGrp="1"/>
          </p:cNvSpPr>
          <p:nvPr/>
        </p:nvSpPr>
        <p:spPr>
          <a:xfrm xmlns:a="http://schemas.openxmlformats.org/drawingml/2006/main">
            <a:off x="7143750" y="1714500"/>
            <a:ext cx="421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Physiological link</a:t>
            </a:r>
          </a:p>
        </p:txBody>
      </p:sp>
      <p:sp>
        <p:nvSpPr>
          <p:cNvPr id="13" name="">
            <a:extLst xmlns:a="http://schemas.openxmlformats.org/drawingml/2006/main">
              <a:ext uri="{FF2B5EF4-FFF2-40B4-BE49-F238E27FC236}">
                <a16:creationId xmlns:a16="http://schemas.microsoft.com/office/drawing/2014/main" id="{8DB3CC8F-2ED1-4041-BE36-FA54F12AE05F}"/>
              </a:ext>
            </a:extLst>
          </p:cNvPr>
          <p:cNvSpPr>
            <a:spLocks xmlns:a="http://schemas.openxmlformats.org/drawingml/2006/main" noGrp="1"/>
          </p:cNvSpPr>
          <p:nvPr/>
        </p:nvSpPr>
        <p:spPr>
          <a:xfrm xmlns:a="http://schemas.openxmlformats.org/drawingml/2006/main">
            <a:off x="7143750" y="2133600"/>
            <a:ext cx="4210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Delayed or dispersed contraction can reflect mechanical dyssynchrony, post-systolic shortening or regional contractile impairment.</a:t>
            </a:r>
          </a:p>
        </p:txBody>
      </p:sp>
      <p:sp>
        <p:nvSpPr>
          <p:cNvPr id="14" name="">
            <a:extLst xmlns:a="http://schemas.openxmlformats.org/drawingml/2006/main">
              <a:ext uri="{FF2B5EF4-FFF2-40B4-BE49-F238E27FC236}">
                <a16:creationId xmlns:a16="http://schemas.microsoft.com/office/drawing/2014/main" id="{6E99CCEF-6253-4E2E-9ADD-59E012DB62DA}"/>
              </a:ext>
            </a:extLst>
          </p:cNvPr>
          <p:cNvSpPr>
            <a:spLocks xmlns:a="http://schemas.openxmlformats.org/drawingml/2006/main" noGrp="1"/>
          </p:cNvSpPr>
          <p:nvPr/>
        </p:nvSpPr>
        <p:spPr>
          <a:xfrm xmlns:a="http://schemas.openxmlformats.org/drawingml/2006/main">
            <a:off x="6972300" y="3467100"/>
            <a:ext cx="4552950" cy="2019300"/>
          </a:xfrm>
          <a:prstGeom xmlns:a="http://schemas.openxmlformats.org/drawingml/2006/main" prst="roundRect">
            <a:avLst>
              <a:gd name="adj" fmla="val 5660"/>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DFF60AFE-818C-45A9-9506-B0BD1FF7433F}"/>
              </a:ext>
            </a:extLst>
          </p:cNvPr>
          <p:cNvSpPr>
            <a:spLocks xmlns:a="http://schemas.openxmlformats.org/drawingml/2006/main" noGrp="1"/>
          </p:cNvSpPr>
          <p:nvPr/>
        </p:nvSpPr>
        <p:spPr>
          <a:xfrm xmlns:a="http://schemas.openxmlformats.org/drawingml/2006/main">
            <a:off x="7143750" y="3638550"/>
            <a:ext cx="421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Critical caveat</a:t>
            </a:r>
          </a:p>
        </p:txBody>
      </p:sp>
      <p:sp>
        <p:nvSpPr>
          <p:cNvPr id="16" name="">
            <a:extLst xmlns:a="http://schemas.openxmlformats.org/drawingml/2006/main">
              <a:ext uri="{FF2B5EF4-FFF2-40B4-BE49-F238E27FC236}">
                <a16:creationId xmlns:a16="http://schemas.microsoft.com/office/drawing/2014/main" id="{22DE1A15-31BD-4A5C-8A84-32E0E508D4EE}"/>
              </a:ext>
            </a:extLst>
          </p:cNvPr>
          <p:cNvSpPr>
            <a:spLocks xmlns:a="http://schemas.openxmlformats.org/drawingml/2006/main" noGrp="1"/>
          </p:cNvSpPr>
          <p:nvPr/>
        </p:nvSpPr>
        <p:spPr>
          <a:xfrm xmlns:a="http://schemas.openxmlformats.org/drawingml/2006/main">
            <a:off x="7143750" y="4057650"/>
            <a:ext cx="42100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Because the shapelet spans 108 signals, location is a whole-pattern timing feature—not a direct segment time-to-peak. Inspecting individual top shapelets would be needed for anatomical localization.</a:t>
            </a:r>
          </a:p>
        </p:txBody>
      </p:sp>
      <p:sp>
        <p:nvSpPr>
          <p:cNvPr id="17" name="">
            <a:extLst xmlns:a="http://schemas.openxmlformats.org/drawingml/2006/main">
              <a:ext uri="{FF2B5EF4-FFF2-40B4-BE49-F238E27FC236}">
                <a16:creationId xmlns:a16="http://schemas.microsoft.com/office/drawing/2014/main" id="{40B35AEF-12C7-4184-B500-66FD31C7EC08}"/>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RDST feature definition; timing interpretation is hypothesis-level</a:t>
            </a:r>
          </a:p>
        </p:txBody>
      </p:sp>
    </p:spTree>
    <p:extLst>
      <p:ext uri="{BB962C8B-B14F-4D97-AF65-F5344CB8AC3E}">
        <p14:creationId xmlns:p14="http://schemas.microsoft.com/office/powerpoint/2010/main" val="3091366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6A5F28-4FBE-4920-B659-4737EFA75F73}"/>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RDST SHAPELETS · SCALAR SUPPORT</a:t>
            </a:r>
          </a:p>
        </p:txBody>
      </p:sp>
      <p:sp>
        <p:nvSpPr>
          <p:cNvPr id="2" name="">
            <a:extLst xmlns:a="http://schemas.openxmlformats.org/drawingml/2006/main">
              <a:ext uri="{FF2B5EF4-FFF2-40B4-BE49-F238E27FC236}">
                <a16:creationId xmlns:a16="http://schemas.microsoft.com/office/drawing/2014/main" id="{36739660-6EAB-46FF-89B7-E8A3F8A108BB}"/>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69"/>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RDST’s named scalar features quantify amplitude heterogeneity</a:t>
            </a:r>
          </a:p>
        </p:txBody>
      </p:sp>
      <p:sp>
        <p:nvSpPr>
          <p:cNvPr id="3" name="">
            <a:extLst xmlns:a="http://schemas.openxmlformats.org/drawingml/2006/main">
              <a:ext uri="{FF2B5EF4-FFF2-40B4-BE49-F238E27FC236}">
                <a16:creationId xmlns:a16="http://schemas.microsoft.com/office/drawing/2014/main" id="{5892498E-E5ED-4F07-B2C3-9819B9BB9E44}"/>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7505E6A-80F1-46C4-A771-9B33BF2B6170}"/>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831ED88A-8273-4FCA-81CA-01F91C530E9B}"/>
              </a:ext>
            </a:extLst>
          </p:cNvPr>
          <p:cNvSpPr>
            <a:spLocks xmlns:a="http://schemas.openxmlformats.org/drawingml/2006/main" noGrp="1"/>
          </p:cNvSpPr>
          <p:nvPr/>
        </p:nvSpPr>
        <p:spPr>
          <a:xfrm xmlns:a="http://schemas.openxmlformats.org/drawingml/2006/main">
            <a:off x="400050" y="1562100"/>
            <a:ext cx="5314950" cy="3829050"/>
          </a:xfrm>
          <a:prstGeom xmlns:a="http://schemas.openxmlformats.org/drawingml/2006/main" prst="roundRect">
            <a:avLst>
              <a:gd name="adj" fmla="val 2985"/>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1A3E66F4-578E-4FC9-A3F8-F266739972B8}"/>
              </a:ext>
            </a:extLst>
          </p:cNvPr>
          <p:cNvSpPr>
            <a:spLocks xmlns:a="http://schemas.openxmlformats.org/drawingml/2006/main" noGrp="1"/>
          </p:cNvSpPr>
          <p:nvPr/>
        </p:nvSpPr>
        <p:spPr>
          <a:xfrm xmlns:a="http://schemas.openxmlformats.org/drawingml/2006/main">
            <a:off x="571500" y="1733550"/>
            <a:ext cx="4972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Endo vendor peak-systolic robust SD</a:t>
            </a:r>
          </a:p>
        </p:txBody>
      </p:sp>
      <p:sp>
        <p:nvSpPr>
          <p:cNvPr id="7" name="">
            <a:extLst xmlns:a="http://schemas.openxmlformats.org/drawingml/2006/main">
              <a:ext uri="{FF2B5EF4-FFF2-40B4-BE49-F238E27FC236}">
                <a16:creationId xmlns:a16="http://schemas.microsoft.com/office/drawing/2014/main" id="{EEB5D6A2-41BA-4A0E-802E-C17FDE54DC1E}"/>
              </a:ext>
            </a:extLst>
          </p:cNvPr>
          <p:cNvSpPr>
            <a:spLocks xmlns:a="http://schemas.openxmlformats.org/drawingml/2006/main" noGrp="1"/>
          </p:cNvSpPr>
          <p:nvPr/>
        </p:nvSpPr>
        <p:spPr>
          <a:xfrm xmlns:a="http://schemas.openxmlformats.org/drawingml/2006/main">
            <a:off x="571500" y="2152650"/>
            <a:ext cx="4972050" cy="308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Collect the vendor-reported absolute peak-systolic Endo strain across segments.</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robust SD = 1.4826 × MAD</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High values mean segmental endocardial peak-systolic contraction is uneven. Vendor peak-systolic timing may differ from the absolute minimum of the resampled curve.</a:t>
            </a:r>
          </a:p>
        </p:txBody>
      </p:sp>
      <p:sp>
        <p:nvSpPr>
          <p:cNvPr id="8" name="">
            <a:extLst xmlns:a="http://schemas.openxmlformats.org/drawingml/2006/main">
              <a:ext uri="{FF2B5EF4-FFF2-40B4-BE49-F238E27FC236}">
                <a16:creationId xmlns:a16="http://schemas.microsoft.com/office/drawing/2014/main" id="{270A511D-A6A6-4096-958F-74C5F362CD0A}"/>
              </a:ext>
            </a:extLst>
          </p:cNvPr>
          <p:cNvSpPr>
            <a:spLocks xmlns:a="http://schemas.openxmlformats.org/drawingml/2006/main" noGrp="1"/>
          </p:cNvSpPr>
          <p:nvPr/>
        </p:nvSpPr>
        <p:spPr>
          <a:xfrm xmlns:a="http://schemas.openxmlformats.org/drawingml/2006/main">
            <a:off x="5981700" y="1562100"/>
            <a:ext cx="5543550" cy="3829050"/>
          </a:xfrm>
          <a:prstGeom xmlns:a="http://schemas.openxmlformats.org/drawingml/2006/main" prst="roundRect">
            <a:avLst>
              <a:gd name="adj" fmla="val 2985"/>
            </a:avLst>
          </a:prstGeom>
          <a:solidFill xmlns:a="http://schemas.openxmlformats.org/drawingml/2006/main">
            <a:srgbClr val="EBF6E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E4A0351B-7BED-4F1C-9D8A-493A36843B44}"/>
              </a:ext>
            </a:extLst>
          </p:cNvPr>
          <p:cNvSpPr>
            <a:spLocks xmlns:a="http://schemas.openxmlformats.org/drawingml/2006/main" noGrp="1"/>
          </p:cNvSpPr>
          <p:nvPr/>
        </p:nvSpPr>
        <p:spPr>
          <a:xfrm xmlns:a="http://schemas.openxmlformats.org/drawingml/2006/main">
            <a:off x="6153150" y="1733550"/>
            <a:ext cx="520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Mid peak absolute robust SD</a:t>
            </a:r>
          </a:p>
        </p:txBody>
      </p:sp>
      <p:sp>
        <p:nvSpPr>
          <p:cNvPr id="10" name="">
            <a:extLst xmlns:a="http://schemas.openxmlformats.org/drawingml/2006/main">
              <a:ext uri="{FF2B5EF4-FFF2-40B4-BE49-F238E27FC236}">
                <a16:creationId xmlns:a16="http://schemas.microsoft.com/office/drawing/2014/main" id="{8CE4A8FF-2B6B-49B2-8636-964191FDCD86}"/>
              </a:ext>
            </a:extLst>
          </p:cNvPr>
          <p:cNvSpPr>
            <a:spLocks xmlns:a="http://schemas.openxmlformats.org/drawingml/2006/main" noGrp="1"/>
          </p:cNvSpPr>
          <p:nvPr/>
        </p:nvSpPr>
        <p:spPr>
          <a:xfrm xmlns:a="http://schemas.openxmlformats.org/drawingml/2006/main">
            <a:off x="6153150" y="2152650"/>
            <a:ext cx="5200650" cy="308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Collect |peak Mid strain| from each segment and calculate robust SD.</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High values mean some segments shorten much more than others. In early regional injury, dispersion may rise before the global Mid-GLS mean drops by 15%.</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It can also rise from tracking inconsistency, so it is not purely biological.</a:t>
            </a:r>
          </a:p>
        </p:txBody>
      </p:sp>
      <p:sp>
        <p:nvSpPr>
          <p:cNvPr id="11" name="">
            <a:extLst xmlns:a="http://schemas.openxmlformats.org/drawingml/2006/main">
              <a:ext uri="{FF2B5EF4-FFF2-40B4-BE49-F238E27FC236}">
                <a16:creationId xmlns:a16="http://schemas.microsoft.com/office/drawing/2014/main" id="{8BC23611-E194-4F44-B0B3-A22C73CDF2A6}"/>
              </a:ext>
            </a:extLst>
          </p:cNvPr>
          <p:cNvSpPr>
            <a:spLocks xmlns:a="http://schemas.openxmlformats.org/drawingml/2006/main" noGrp="1"/>
          </p:cNvSpPr>
          <p:nvPr/>
        </p:nvSpPr>
        <p:spPr>
          <a:xfrm xmlns:a="http://schemas.openxmlformats.org/drawingml/2006/main">
            <a:off x="1619250" y="567690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13" b="1" i="0">
                <a:solidFill>
                  <a:srgbClr val="050505"/>
                </a:solidFill>
                <a:latin typeface="Arial"/>
                <a:ea typeface="Arial"/>
                <a:cs typeface="Arial"/>
              </a:defRPr>
            </a:pPr>
            <a:r>
              <a:rPr sz="1313" b="1" i="0">
                <a:solidFill>
                  <a:srgbClr val="050505"/>
                </a:solidFill>
                <a:latin typeface="Arial"/>
                <a:ea typeface="Arial"/>
                <a:cs typeface="Arial"/>
              </a:rPr>
              <a:t>Both features had small but positive held-out ΔAUC confidence intervals; magnitudes were ~0.005–0.007.</a:t>
            </a:r>
          </a:p>
        </p:txBody>
      </p:sp>
      <p:sp>
        <p:nvSpPr>
          <p:cNvPr id="12" name="">
            <a:extLst xmlns:a="http://schemas.openxmlformats.org/drawingml/2006/main">
              <a:ext uri="{FF2B5EF4-FFF2-40B4-BE49-F238E27FC236}">
                <a16:creationId xmlns:a16="http://schemas.microsoft.com/office/drawing/2014/main" id="{F5937CEB-6B37-4F7B-96DE-3FF7D94A5F07}"/>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robust amplitude-dispersion features; current visit only</a:t>
            </a:r>
          </a:p>
        </p:txBody>
      </p:sp>
    </p:spTree>
    <p:extLst>
      <p:ext uri="{BB962C8B-B14F-4D97-AF65-F5344CB8AC3E}">
        <p14:creationId xmlns:p14="http://schemas.microsoft.com/office/powerpoint/2010/main" val="1727141879"/>
      </p:ext>
    </p:extLst>
  </p:cSld>
</p:sld>
</file>

<file path=ppt/slides/slide3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2DC6C4-A2E2-4F58-BB4C-33BCF321589F}"/>
              </a:ext>
            </a:extLst>
          </p:cNvPr>
          <p:cNvSpPr>
            <a:spLocks xmlns:a="http://schemas.openxmlformats.org/drawingml/2006/main" noGrp="1"/>
          </p:cNvSpPr>
          <p:nvPr/>
        </p:nvSpPr>
        <p:spPr>
          <a:xfrm xmlns:a="http://schemas.openxmlformats.org/drawingml/2006/main">
            <a:off x="552450" y="533400"/>
            <a:ext cx="2286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600" b="1" i="0">
                <a:solidFill>
                  <a:srgbClr val="E8893A"/>
                </a:solidFill>
                <a:latin typeface="Arial"/>
                <a:ea typeface="Arial"/>
                <a:cs typeface="Arial"/>
              </a:defRPr>
            </a:pPr>
            <a:r>
              <a:rPr sz="9600" b="1" i="0">
                <a:solidFill>
                  <a:srgbClr val="E8893A"/>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611B318A-D771-42FC-B37F-961FB9CAF42E}"/>
              </a:ext>
            </a:extLst>
          </p:cNvPr>
          <p:cNvSpPr>
            <a:spLocks xmlns:a="http://schemas.openxmlformats.org/drawingml/2006/main" noGrp="1"/>
          </p:cNvSpPr>
          <p:nvPr/>
        </p:nvSpPr>
        <p:spPr>
          <a:xfrm xmlns:a="http://schemas.openxmlformats.org/drawingml/2006/main">
            <a:off x="552450" y="272415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i="0">
                <a:solidFill>
                  <a:srgbClr val="FFFFFF"/>
                </a:solidFill>
                <a:latin typeface="Arial"/>
                <a:ea typeface="Arial"/>
                <a:cs typeface="Arial"/>
              </a:defRPr>
            </a:pPr>
            <a:r>
              <a:rPr sz="4200" b="1" i="0">
                <a:solidFill>
                  <a:srgbClr val="FFFFFF"/>
                </a:solidFill>
                <a:latin typeface="Arial"/>
                <a:ea typeface="Arial"/>
                <a:cs typeface="Arial"/>
              </a:rPr>
              <a:t>Catch22 + XGBoost</a:t>
            </a:r>
          </a:p>
        </p:txBody>
      </p:sp>
      <p:sp>
        <p:nvSpPr>
          <p:cNvPr id="3" name="">
            <a:extLst xmlns:a="http://schemas.openxmlformats.org/drawingml/2006/main">
              <a:ext uri="{FF2B5EF4-FFF2-40B4-BE49-F238E27FC236}">
                <a16:creationId xmlns:a16="http://schemas.microsoft.com/office/drawing/2014/main" id="{EFF150D2-3144-492C-AE97-5EBBF3CBA12D}"/>
              </a:ext>
            </a:extLst>
          </p:cNvPr>
          <p:cNvSpPr>
            <a:spLocks xmlns:a="http://schemas.openxmlformats.org/drawingml/2006/main" noGrp="1"/>
          </p:cNvSpPr>
          <p:nvPr/>
        </p:nvSpPr>
        <p:spPr>
          <a:xfrm xmlns:a="http://schemas.openxmlformats.org/drawingml/2006/main">
            <a:off x="552450" y="4095750"/>
            <a:ext cx="942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B8BCC4"/>
                </a:solidFill>
                <a:latin typeface="Arial"/>
                <a:ea typeface="Arial"/>
                <a:cs typeface="Arial"/>
              </a:defRPr>
            </a:pPr>
            <a:r>
              <a:rPr sz="1800" b="0" i="0">
                <a:solidFill>
                  <a:srgbClr val="B8BCC4"/>
                </a:solidFill>
                <a:latin typeface="Arial"/>
                <a:ea typeface="Arial"/>
                <a:cs typeface="Arial"/>
              </a:rPr>
              <a:t>Twenty-two canonical descriptors summarize each curve; segment aggregation preserves central tendency, dispersion and extremes before gradient-boosted trees learn nonlinear interactions.</a:t>
            </a:r>
          </a:p>
        </p:txBody>
      </p:sp>
      <p:sp>
        <p:nvSpPr>
          <p:cNvPr id="4" name="">
            <a:extLst xmlns:a="http://schemas.openxmlformats.org/drawingml/2006/main">
              <a:ext uri="{FF2B5EF4-FFF2-40B4-BE49-F238E27FC236}">
                <a16:creationId xmlns:a16="http://schemas.microsoft.com/office/drawing/2014/main" id="{E098E7DE-ABED-4232-81A0-3224EAB07191}"/>
              </a:ext>
            </a:extLst>
          </p:cNvPr>
          <p:cNvSpPr>
            <a:spLocks xmlns:a="http://schemas.openxmlformats.org/drawingml/2006/main" noGrp="1"/>
          </p:cNvSpPr>
          <p:nvPr/>
        </p:nvSpPr>
        <p:spPr>
          <a:xfrm xmlns:a="http://schemas.openxmlformats.org/drawingml/2006/main">
            <a:off x="552450" y="5562600"/>
            <a:ext cx="11068050" cy="0"/>
          </a:xfrm>
          <a:prstGeom xmlns:a="http://schemas.openxmlformats.org/drawingml/2006/main" prst="line">
            <a:avLst/>
          </a:prstGeom>
          <a:noFill xmlns:a="http://schemas.openxmlformats.org/drawingml/2006/main"/>
          <a:ln xmlns:a="http://schemas.openxmlformats.org/drawingml/2006/main" w="38100">
            <a:solidFill>
              <a:srgbClr val="E8893A"/>
            </a:solidFill>
            <a:prstDash val="solid"/>
          </a:ln>
        </p:spPr>
      </p:sp>
      <p:sp>
        <p:nvSpPr>
          <p:cNvPr id="5" name="">
            <a:extLst xmlns:a="http://schemas.openxmlformats.org/drawingml/2006/main">
              <a:ext uri="{FF2B5EF4-FFF2-40B4-BE49-F238E27FC236}">
                <a16:creationId xmlns:a16="http://schemas.microsoft.com/office/drawing/2014/main" id="{45BA0B8E-FD16-4FEA-B8E5-E8A46C93688D}"/>
              </a:ext>
            </a:extLst>
          </p:cNvPr>
          <p:cNvSpPr>
            <a:spLocks xmlns:a="http://schemas.openxmlformats.org/drawingml/2006/main" noGrp="1"/>
          </p:cNvSpPr>
          <p:nvPr/>
        </p:nvSpPr>
        <p:spPr>
          <a:xfrm xmlns:a="http://schemas.openxmlformats.org/drawingml/2006/main">
            <a:off x="552450" y="590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E8893A"/>
                </a:solidFill>
                <a:latin typeface="Arial"/>
                <a:ea typeface="Arial"/>
                <a:cs typeface="Arial"/>
              </a:defRPr>
            </a:pPr>
            <a:r>
              <a:rPr sz="975" b="1" i="0">
                <a:solidFill>
                  <a:srgbClr val="E8893A"/>
                </a:solidFill>
                <a:latin typeface="Arial"/>
                <a:ea typeface="Arial"/>
                <a:cs typeface="Arial"/>
              </a:rPr>
              <a:t>MODEL 04</a:t>
            </a:r>
          </a:p>
        </p:txBody>
      </p:sp>
    </p:spTree>
    <p:extLst>
      <p:ext uri="{BB962C8B-B14F-4D97-AF65-F5344CB8AC3E}">
        <p14:creationId xmlns:p14="http://schemas.microsoft.com/office/powerpoint/2010/main" val="213344030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E2D8709-FEED-417C-9952-7CA22D675D37}"/>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CATCH22 + XGBOOST</a:t>
            </a:r>
          </a:p>
        </p:txBody>
      </p:sp>
      <p:sp>
        <p:nvSpPr>
          <p:cNvPr id="2" name="">
            <a:extLst xmlns:a="http://schemas.openxmlformats.org/drawingml/2006/main">
              <a:ext uri="{FF2B5EF4-FFF2-40B4-BE49-F238E27FC236}">
                <a16:creationId xmlns:a16="http://schemas.microsoft.com/office/drawing/2014/main" id="{A6A0AC43-528C-44AA-A9BE-E6F59C2E383D}"/>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Catch22 turns every curve into an interpretable fingerprint</a:t>
            </a:r>
          </a:p>
        </p:txBody>
      </p:sp>
      <p:sp>
        <p:nvSpPr>
          <p:cNvPr id="3" name="">
            <a:extLst xmlns:a="http://schemas.openxmlformats.org/drawingml/2006/main">
              <a:ext uri="{FF2B5EF4-FFF2-40B4-BE49-F238E27FC236}">
                <a16:creationId xmlns:a16="http://schemas.microsoft.com/office/drawing/2014/main" id="{98E1330F-8FD5-497C-978B-37EB2ADD21A9}"/>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9DD820FA-4C91-45C1-AF2F-3AF37BDB841D}"/>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32</a:t>
            </a:r>
          </a:p>
        </p:txBody>
      </p:sp>
      <p:sp>
        <p:nvSpPr>
          <p:cNvPr id="5" name="">
            <a:extLst xmlns:a="http://schemas.openxmlformats.org/drawingml/2006/main">
              <a:ext uri="{FF2B5EF4-FFF2-40B4-BE49-F238E27FC236}">
                <a16:creationId xmlns:a16="http://schemas.microsoft.com/office/drawing/2014/main" id="{AF88ADCA-DE39-40F7-9421-675369B15365}"/>
              </a:ext>
            </a:extLst>
          </p:cNvPr>
          <p:cNvSpPr>
            <a:spLocks xmlns:a="http://schemas.openxmlformats.org/drawingml/2006/main" noGrp="1"/>
          </p:cNvSpPr>
          <p:nvPr/>
        </p:nvSpPr>
        <p:spPr>
          <a:xfrm xmlns:a="http://schemas.openxmlformats.org/drawingml/2006/main">
            <a:off x="2630805" y="22764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6" name="">
            <a:extLst xmlns:a="http://schemas.openxmlformats.org/drawingml/2006/main">
              <a:ext uri="{FF2B5EF4-FFF2-40B4-BE49-F238E27FC236}">
                <a16:creationId xmlns:a16="http://schemas.microsoft.com/office/drawing/2014/main" id="{2CD0F602-0EE2-42AD-9A42-61DBF4CE4B45}"/>
              </a:ext>
            </a:extLst>
          </p:cNvPr>
          <p:cNvSpPr>
            <a:spLocks xmlns:a="http://schemas.openxmlformats.org/drawingml/2006/main" noGrp="1"/>
          </p:cNvSpPr>
          <p:nvPr/>
        </p:nvSpPr>
        <p:spPr>
          <a:xfrm xmlns:a="http://schemas.openxmlformats.org/drawingml/2006/main">
            <a:off x="4890135" y="22764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7" name="">
            <a:extLst xmlns:a="http://schemas.openxmlformats.org/drawingml/2006/main">
              <a:ext uri="{FF2B5EF4-FFF2-40B4-BE49-F238E27FC236}">
                <a16:creationId xmlns:a16="http://schemas.microsoft.com/office/drawing/2014/main" id="{8C0F933B-1D11-453F-8205-AA1C0B962111}"/>
              </a:ext>
            </a:extLst>
          </p:cNvPr>
          <p:cNvSpPr>
            <a:spLocks xmlns:a="http://schemas.openxmlformats.org/drawingml/2006/main" noGrp="1"/>
          </p:cNvSpPr>
          <p:nvPr/>
        </p:nvSpPr>
        <p:spPr>
          <a:xfrm xmlns:a="http://schemas.openxmlformats.org/drawingml/2006/main">
            <a:off x="7149465" y="22764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8" name="">
            <a:extLst xmlns:a="http://schemas.openxmlformats.org/drawingml/2006/main">
              <a:ext uri="{FF2B5EF4-FFF2-40B4-BE49-F238E27FC236}">
                <a16:creationId xmlns:a16="http://schemas.microsoft.com/office/drawing/2014/main" id="{4C336BE4-DCA7-48E6-82D7-DD36A0BF4B13}"/>
              </a:ext>
            </a:extLst>
          </p:cNvPr>
          <p:cNvSpPr>
            <a:spLocks xmlns:a="http://schemas.openxmlformats.org/drawingml/2006/main" noGrp="1"/>
          </p:cNvSpPr>
          <p:nvPr/>
        </p:nvSpPr>
        <p:spPr>
          <a:xfrm xmlns:a="http://schemas.openxmlformats.org/drawingml/2006/main">
            <a:off x="9408795" y="2276475"/>
            <a:ext cx="1524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9" name="">
            <a:extLst xmlns:a="http://schemas.openxmlformats.org/drawingml/2006/main">
              <a:ext uri="{FF2B5EF4-FFF2-40B4-BE49-F238E27FC236}">
                <a16:creationId xmlns:a16="http://schemas.microsoft.com/office/drawing/2014/main" id="{8F8A4716-AED9-45DD-93BA-1E236DFBB9A3}"/>
              </a:ext>
            </a:extLst>
          </p:cNvPr>
          <p:cNvSpPr>
            <a:spLocks xmlns:a="http://schemas.openxmlformats.org/drawingml/2006/main" noGrp="1"/>
          </p:cNvSpPr>
          <p:nvPr/>
        </p:nvSpPr>
        <p:spPr>
          <a:xfrm xmlns:a="http://schemas.openxmlformats.org/drawingml/2006/main">
            <a:off x="552450" y="1657350"/>
            <a:ext cx="2049780" cy="1238250"/>
          </a:xfrm>
          <a:prstGeom xmlns:a="http://schemas.openxmlformats.org/drawingml/2006/main" prst="roundRect">
            <a:avLst>
              <a:gd name="adj" fmla="val 9231"/>
            </a:avLst>
          </a:prstGeom>
          <a:solidFill xmlns:a="http://schemas.openxmlformats.org/drawingml/2006/main">
            <a:srgbClr val="EAF5FF"/>
          </a:solidFill>
          <a:ln xmlns:a="http://schemas.openxmlformats.org/drawingml/2006/main" w="9525">
            <a:solidFill>
              <a:srgbClr val="EDEDED"/>
            </a:solidFill>
            <a:prstDash val="solid"/>
          </a:ln>
        </p:spPr>
      </p:sp>
      <p:sp>
        <p:nvSpPr>
          <p:cNvPr id="10" name="">
            <a:extLst xmlns:a="http://schemas.openxmlformats.org/drawingml/2006/main">
              <a:ext uri="{FF2B5EF4-FFF2-40B4-BE49-F238E27FC236}">
                <a16:creationId xmlns:a16="http://schemas.microsoft.com/office/drawing/2014/main" id="{08615C7D-F976-4930-A19B-20F27F00FBFC}"/>
              </a:ext>
            </a:extLst>
          </p:cNvPr>
          <p:cNvSpPr>
            <a:spLocks xmlns:a="http://schemas.openxmlformats.org/drawingml/2006/main" noGrp="1"/>
          </p:cNvSpPr>
          <p:nvPr/>
        </p:nvSpPr>
        <p:spPr>
          <a:xfrm xmlns:a="http://schemas.openxmlformats.org/drawingml/2006/main">
            <a:off x="685800" y="18097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18×6 curves</a:t>
            </a:r>
          </a:p>
        </p:txBody>
      </p:sp>
      <p:sp>
        <p:nvSpPr>
          <p:cNvPr id="11" name="">
            <a:extLst xmlns:a="http://schemas.openxmlformats.org/drawingml/2006/main">
              <a:ext uri="{FF2B5EF4-FFF2-40B4-BE49-F238E27FC236}">
                <a16:creationId xmlns:a16="http://schemas.microsoft.com/office/drawing/2014/main" id="{F15FA433-2209-4648-B4CD-16003EDE5381}"/>
              </a:ext>
            </a:extLst>
          </p:cNvPr>
          <p:cNvSpPr>
            <a:spLocks xmlns:a="http://schemas.openxmlformats.org/drawingml/2006/main" noGrp="1"/>
          </p:cNvSpPr>
          <p:nvPr/>
        </p:nvSpPr>
        <p:spPr>
          <a:xfrm xmlns:a="http://schemas.openxmlformats.org/drawingml/2006/main">
            <a:off x="685800" y="2171700"/>
            <a:ext cx="178308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each length 96</a:t>
            </a:r>
          </a:p>
        </p:txBody>
      </p:sp>
      <p:sp>
        <p:nvSpPr>
          <p:cNvPr id="12" name="">
            <a:extLst xmlns:a="http://schemas.openxmlformats.org/drawingml/2006/main">
              <a:ext uri="{FF2B5EF4-FFF2-40B4-BE49-F238E27FC236}">
                <a16:creationId xmlns:a16="http://schemas.microsoft.com/office/drawing/2014/main" id="{F9CC82E9-4762-41E5-8846-5810D7101563}"/>
              </a:ext>
            </a:extLst>
          </p:cNvPr>
          <p:cNvSpPr>
            <a:spLocks xmlns:a="http://schemas.openxmlformats.org/drawingml/2006/main" noGrp="1"/>
          </p:cNvSpPr>
          <p:nvPr/>
        </p:nvSpPr>
        <p:spPr>
          <a:xfrm xmlns:a="http://schemas.openxmlformats.org/drawingml/2006/main">
            <a:off x="2811780" y="1657350"/>
            <a:ext cx="2049780" cy="1238250"/>
          </a:xfrm>
          <a:prstGeom xmlns:a="http://schemas.openxmlformats.org/drawingml/2006/main" prst="roundRect">
            <a:avLst>
              <a:gd name="adj" fmla="val 9231"/>
            </a:avLst>
          </a:prstGeom>
          <a:solidFill xmlns:a="http://schemas.openxmlformats.org/drawingml/2006/main">
            <a:srgbClr val="E9FAFF"/>
          </a:solidFill>
          <a:ln xmlns:a="http://schemas.openxmlformats.org/drawingml/2006/main" w="9525">
            <a:solidFill>
              <a:srgbClr val="EDEDED"/>
            </a:solidFill>
            <a:prstDash val="solid"/>
          </a:ln>
        </p:spPr>
      </p:sp>
      <p:sp>
        <p:nvSpPr>
          <p:cNvPr id="13" name="">
            <a:extLst xmlns:a="http://schemas.openxmlformats.org/drawingml/2006/main">
              <a:ext uri="{FF2B5EF4-FFF2-40B4-BE49-F238E27FC236}">
                <a16:creationId xmlns:a16="http://schemas.microsoft.com/office/drawing/2014/main" id="{94E69B92-EE7B-4EE1-BE57-7477B461CCCD}"/>
              </a:ext>
            </a:extLst>
          </p:cNvPr>
          <p:cNvSpPr>
            <a:spLocks xmlns:a="http://schemas.openxmlformats.org/drawingml/2006/main" noGrp="1"/>
          </p:cNvSpPr>
          <p:nvPr/>
        </p:nvSpPr>
        <p:spPr>
          <a:xfrm xmlns:a="http://schemas.openxmlformats.org/drawingml/2006/main">
            <a:off x="2945130" y="18097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22 descriptors</a:t>
            </a:r>
          </a:p>
        </p:txBody>
      </p:sp>
      <p:sp>
        <p:nvSpPr>
          <p:cNvPr id="14" name="">
            <a:extLst xmlns:a="http://schemas.openxmlformats.org/drawingml/2006/main">
              <a:ext uri="{FF2B5EF4-FFF2-40B4-BE49-F238E27FC236}">
                <a16:creationId xmlns:a16="http://schemas.microsoft.com/office/drawing/2014/main" id="{AA5DD0CB-4295-4FB4-AB0E-1B906FB1632F}"/>
              </a:ext>
            </a:extLst>
          </p:cNvPr>
          <p:cNvSpPr>
            <a:spLocks xmlns:a="http://schemas.openxmlformats.org/drawingml/2006/main" noGrp="1"/>
          </p:cNvSpPr>
          <p:nvPr/>
        </p:nvSpPr>
        <p:spPr>
          <a:xfrm xmlns:a="http://schemas.openxmlformats.org/drawingml/2006/main">
            <a:off x="2945130" y="2171700"/>
            <a:ext cx="178308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per segment × channel</a:t>
            </a:r>
          </a:p>
        </p:txBody>
      </p:sp>
      <p:sp>
        <p:nvSpPr>
          <p:cNvPr id="15" name="">
            <a:extLst xmlns:a="http://schemas.openxmlformats.org/drawingml/2006/main">
              <a:ext uri="{FF2B5EF4-FFF2-40B4-BE49-F238E27FC236}">
                <a16:creationId xmlns:a16="http://schemas.microsoft.com/office/drawing/2014/main" id="{F90C7E20-F8CA-4F77-911B-949B6E6633CC}"/>
              </a:ext>
            </a:extLst>
          </p:cNvPr>
          <p:cNvSpPr>
            <a:spLocks xmlns:a="http://schemas.openxmlformats.org/drawingml/2006/main" noGrp="1"/>
          </p:cNvSpPr>
          <p:nvPr/>
        </p:nvSpPr>
        <p:spPr>
          <a:xfrm xmlns:a="http://schemas.openxmlformats.org/drawingml/2006/main">
            <a:off x="5071110" y="1657350"/>
            <a:ext cx="2049780" cy="1238250"/>
          </a:xfrm>
          <a:prstGeom xmlns:a="http://schemas.openxmlformats.org/drawingml/2006/main" prst="roundRect">
            <a:avLst>
              <a:gd name="adj" fmla="val 9231"/>
            </a:avLst>
          </a:prstGeom>
          <a:solidFill xmlns:a="http://schemas.openxmlformats.org/drawingml/2006/main">
            <a:srgbClr val="EBF6EF"/>
          </a:solidFill>
          <a:ln xmlns:a="http://schemas.openxmlformats.org/drawingml/2006/main" w="9525">
            <a:solidFill>
              <a:srgbClr val="EDEDED"/>
            </a:solidFill>
            <a:prstDash val="solid"/>
          </a:ln>
        </p:spPr>
      </p:sp>
      <p:sp>
        <p:nvSpPr>
          <p:cNvPr id="16" name="">
            <a:extLst xmlns:a="http://schemas.openxmlformats.org/drawingml/2006/main">
              <a:ext uri="{FF2B5EF4-FFF2-40B4-BE49-F238E27FC236}">
                <a16:creationId xmlns:a16="http://schemas.microsoft.com/office/drawing/2014/main" id="{DC9C77E5-D1BE-4916-9A5A-0D7AFDCE9DA0}"/>
              </a:ext>
            </a:extLst>
          </p:cNvPr>
          <p:cNvSpPr>
            <a:spLocks xmlns:a="http://schemas.openxmlformats.org/drawingml/2006/main" noGrp="1"/>
          </p:cNvSpPr>
          <p:nvPr/>
        </p:nvSpPr>
        <p:spPr>
          <a:xfrm xmlns:a="http://schemas.openxmlformats.org/drawingml/2006/main">
            <a:off x="5204460" y="18097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5 segment pools</a:t>
            </a:r>
          </a:p>
        </p:txBody>
      </p:sp>
      <p:sp>
        <p:nvSpPr>
          <p:cNvPr id="17" name="">
            <a:extLst xmlns:a="http://schemas.openxmlformats.org/drawingml/2006/main">
              <a:ext uri="{FF2B5EF4-FFF2-40B4-BE49-F238E27FC236}">
                <a16:creationId xmlns:a16="http://schemas.microsoft.com/office/drawing/2014/main" id="{3038D38B-5514-4DED-BFEA-E572D3D0D8F7}"/>
              </a:ext>
            </a:extLst>
          </p:cNvPr>
          <p:cNvSpPr>
            <a:spLocks xmlns:a="http://schemas.openxmlformats.org/drawingml/2006/main" noGrp="1"/>
          </p:cNvSpPr>
          <p:nvPr/>
        </p:nvSpPr>
        <p:spPr>
          <a:xfrm xmlns:a="http://schemas.openxmlformats.org/drawingml/2006/main">
            <a:off x="5204460" y="2171700"/>
            <a:ext cx="178308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mean · SD · min · max · median</a:t>
            </a:r>
          </a:p>
        </p:txBody>
      </p:sp>
      <p:sp>
        <p:nvSpPr>
          <p:cNvPr id="18" name="">
            <a:extLst xmlns:a="http://schemas.openxmlformats.org/drawingml/2006/main">
              <a:ext uri="{FF2B5EF4-FFF2-40B4-BE49-F238E27FC236}">
                <a16:creationId xmlns:a16="http://schemas.microsoft.com/office/drawing/2014/main" id="{23B87466-08AA-46FF-AFE4-E520CBE55BB6}"/>
              </a:ext>
            </a:extLst>
          </p:cNvPr>
          <p:cNvSpPr>
            <a:spLocks xmlns:a="http://schemas.openxmlformats.org/drawingml/2006/main" noGrp="1"/>
          </p:cNvSpPr>
          <p:nvPr/>
        </p:nvSpPr>
        <p:spPr>
          <a:xfrm xmlns:a="http://schemas.openxmlformats.org/drawingml/2006/main">
            <a:off x="7330440" y="1657350"/>
            <a:ext cx="2049780" cy="1238250"/>
          </a:xfrm>
          <a:prstGeom xmlns:a="http://schemas.openxmlformats.org/drawingml/2006/main" prst="roundRect">
            <a:avLst>
              <a:gd name="adj" fmla="val 9231"/>
            </a:avLst>
          </a:prstGeom>
          <a:solidFill xmlns:a="http://schemas.openxmlformats.org/drawingml/2006/main">
            <a:srgbClr val="FFF2E7"/>
          </a:solidFill>
          <a:ln xmlns:a="http://schemas.openxmlformats.org/drawingml/2006/main" w="9525">
            <a:solidFill>
              <a:srgbClr val="EDEDED"/>
            </a:solidFill>
            <a:prstDash val="solid"/>
          </a:ln>
        </p:spPr>
      </p:sp>
      <p:sp>
        <p:nvSpPr>
          <p:cNvPr id="19" name="">
            <a:extLst xmlns:a="http://schemas.openxmlformats.org/drawingml/2006/main">
              <a:ext uri="{FF2B5EF4-FFF2-40B4-BE49-F238E27FC236}">
                <a16:creationId xmlns:a16="http://schemas.microsoft.com/office/drawing/2014/main" id="{32A7F97C-00E7-4A4B-9ED8-7A00B6A1821B}"/>
              </a:ext>
            </a:extLst>
          </p:cNvPr>
          <p:cNvSpPr>
            <a:spLocks xmlns:a="http://schemas.openxmlformats.org/drawingml/2006/main" noGrp="1"/>
          </p:cNvSpPr>
          <p:nvPr/>
        </p:nvSpPr>
        <p:spPr>
          <a:xfrm xmlns:a="http://schemas.openxmlformats.org/drawingml/2006/main">
            <a:off x="7463790" y="18097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660 curve features</a:t>
            </a:r>
          </a:p>
        </p:txBody>
      </p:sp>
      <p:sp>
        <p:nvSpPr>
          <p:cNvPr id="20" name="">
            <a:extLst xmlns:a="http://schemas.openxmlformats.org/drawingml/2006/main">
              <a:ext uri="{FF2B5EF4-FFF2-40B4-BE49-F238E27FC236}">
                <a16:creationId xmlns:a16="http://schemas.microsoft.com/office/drawing/2014/main" id="{78914901-88A6-4B8D-913E-994EDD583D5D}"/>
              </a:ext>
            </a:extLst>
          </p:cNvPr>
          <p:cNvSpPr>
            <a:spLocks xmlns:a="http://schemas.openxmlformats.org/drawingml/2006/main" noGrp="1"/>
          </p:cNvSpPr>
          <p:nvPr/>
        </p:nvSpPr>
        <p:spPr>
          <a:xfrm xmlns:a="http://schemas.openxmlformats.org/drawingml/2006/main">
            <a:off x="7463790" y="2171700"/>
            <a:ext cx="178308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6 × 22 × 5</a:t>
            </a:r>
          </a:p>
        </p:txBody>
      </p:sp>
      <p:sp>
        <p:nvSpPr>
          <p:cNvPr id="21" name="">
            <a:extLst xmlns:a="http://schemas.openxmlformats.org/drawingml/2006/main">
              <a:ext uri="{FF2B5EF4-FFF2-40B4-BE49-F238E27FC236}">
                <a16:creationId xmlns:a16="http://schemas.microsoft.com/office/drawing/2014/main" id="{4043B2C8-DFD6-4E37-BD63-C498B08229DE}"/>
              </a:ext>
            </a:extLst>
          </p:cNvPr>
          <p:cNvSpPr>
            <a:spLocks xmlns:a="http://schemas.openxmlformats.org/drawingml/2006/main" noGrp="1"/>
          </p:cNvSpPr>
          <p:nvPr/>
        </p:nvSpPr>
        <p:spPr>
          <a:xfrm xmlns:a="http://schemas.openxmlformats.org/drawingml/2006/main">
            <a:off x="9589770" y="1657350"/>
            <a:ext cx="2049780" cy="1238250"/>
          </a:xfrm>
          <a:prstGeom xmlns:a="http://schemas.openxmlformats.org/drawingml/2006/main" prst="roundRect">
            <a:avLst>
              <a:gd name="adj" fmla="val 9231"/>
            </a:avLst>
          </a:prstGeom>
          <a:solidFill xmlns:a="http://schemas.openxmlformats.org/drawingml/2006/main">
            <a:srgbClr val="FBECEC"/>
          </a:solidFill>
          <a:ln xmlns:a="http://schemas.openxmlformats.org/drawingml/2006/main" w="9525">
            <a:solidFill>
              <a:srgbClr val="EDEDED"/>
            </a:solidFill>
            <a:prstDash val="solid"/>
          </a:ln>
        </p:spPr>
      </p:sp>
      <p:sp>
        <p:nvSpPr>
          <p:cNvPr id="22" name="">
            <a:extLst xmlns:a="http://schemas.openxmlformats.org/drawingml/2006/main">
              <a:ext uri="{FF2B5EF4-FFF2-40B4-BE49-F238E27FC236}">
                <a16:creationId xmlns:a16="http://schemas.microsoft.com/office/drawing/2014/main" id="{92C77D7E-4E48-4E52-A89B-DA513740E0C3}"/>
              </a:ext>
            </a:extLst>
          </p:cNvPr>
          <p:cNvSpPr>
            <a:spLocks xmlns:a="http://schemas.openxmlformats.org/drawingml/2006/main" noGrp="1"/>
          </p:cNvSpPr>
          <p:nvPr/>
        </p:nvSpPr>
        <p:spPr>
          <a:xfrm xmlns:a="http://schemas.openxmlformats.org/drawingml/2006/main">
            <a:off x="9723120" y="1809750"/>
            <a:ext cx="178308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+96 scalars</a:t>
            </a:r>
          </a:p>
        </p:txBody>
      </p:sp>
      <p:sp>
        <p:nvSpPr>
          <p:cNvPr id="23" name="">
            <a:extLst xmlns:a="http://schemas.openxmlformats.org/drawingml/2006/main">
              <a:ext uri="{FF2B5EF4-FFF2-40B4-BE49-F238E27FC236}">
                <a16:creationId xmlns:a16="http://schemas.microsoft.com/office/drawing/2014/main" id="{EFB85E8C-8083-4F89-B70E-30C9CD22DCD9}"/>
              </a:ext>
            </a:extLst>
          </p:cNvPr>
          <p:cNvSpPr>
            <a:spLocks xmlns:a="http://schemas.openxmlformats.org/drawingml/2006/main" noGrp="1"/>
          </p:cNvSpPr>
          <p:nvPr/>
        </p:nvSpPr>
        <p:spPr>
          <a:xfrm xmlns:a="http://schemas.openxmlformats.org/drawingml/2006/main">
            <a:off x="9723120" y="2171700"/>
            <a:ext cx="178308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88" b="0" i="0">
                <a:solidFill>
                  <a:srgbClr val="5B616B"/>
                </a:solidFill>
                <a:latin typeface="Arial"/>
                <a:ea typeface="Arial"/>
                <a:cs typeface="Arial"/>
              </a:defRPr>
            </a:pPr>
            <a:r>
              <a:rPr sz="1088" b="0" i="0">
                <a:solidFill>
                  <a:srgbClr val="5B616B"/>
                </a:solidFill>
                <a:latin typeface="Arial"/>
                <a:ea typeface="Arial"/>
                <a:cs typeface="Arial"/>
              </a:rPr>
              <a:t>XGBoost classifier</a:t>
            </a:r>
          </a:p>
        </p:txBody>
      </p:sp>
      <p:sp>
        <p:nvSpPr>
          <p:cNvPr id="24" name="">
            <a:extLst xmlns:a="http://schemas.openxmlformats.org/drawingml/2006/main">
              <a:ext uri="{FF2B5EF4-FFF2-40B4-BE49-F238E27FC236}">
                <a16:creationId xmlns:a16="http://schemas.microsoft.com/office/drawing/2014/main" id="{6333213E-E483-4C09-B2D6-5EE9E53D6ACB}"/>
              </a:ext>
            </a:extLst>
          </p:cNvPr>
          <p:cNvSpPr>
            <a:spLocks xmlns:a="http://schemas.openxmlformats.org/drawingml/2006/main" noGrp="1"/>
          </p:cNvSpPr>
          <p:nvPr/>
        </p:nvSpPr>
        <p:spPr>
          <a:xfrm xmlns:a="http://schemas.openxmlformats.org/drawingml/2006/main">
            <a:off x="400050" y="3429000"/>
            <a:ext cx="5295900" cy="2133600"/>
          </a:xfrm>
          <a:prstGeom xmlns:a="http://schemas.openxmlformats.org/drawingml/2006/main" prst="roundRect">
            <a:avLst>
              <a:gd name="adj" fmla="val 5357"/>
            </a:avLst>
          </a:prstGeom>
          <a:solidFill xmlns:a="http://schemas.openxmlformats.org/drawingml/2006/main">
            <a:srgbClr val="EAF5FF"/>
          </a:solidFill>
          <a:ln xmlns:a="http://schemas.openxmlformats.org/drawingml/2006/main" w="9525">
            <a:solidFill>
              <a:srgbClr val="EDEDED"/>
            </a:solidFill>
            <a:prstDash val="solid"/>
          </a:ln>
        </p:spPr>
      </p:sp>
      <p:sp>
        <p:nvSpPr>
          <p:cNvPr id="25" name="">
            <a:extLst xmlns:a="http://schemas.openxmlformats.org/drawingml/2006/main">
              <a:ext uri="{FF2B5EF4-FFF2-40B4-BE49-F238E27FC236}">
                <a16:creationId xmlns:a16="http://schemas.microsoft.com/office/drawing/2014/main" id="{BC813C29-AC57-45ED-9776-ECB8BBDE7C07}"/>
              </a:ext>
            </a:extLst>
          </p:cNvPr>
          <p:cNvSpPr>
            <a:spLocks xmlns:a="http://schemas.openxmlformats.org/drawingml/2006/main" noGrp="1"/>
          </p:cNvSpPr>
          <p:nvPr/>
        </p:nvSpPr>
        <p:spPr>
          <a:xfrm xmlns:a="http://schemas.openxmlformats.org/drawingml/2006/main">
            <a:off x="571500" y="3600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Descriptor families</a:t>
            </a:r>
          </a:p>
        </p:txBody>
      </p:sp>
      <p:sp>
        <p:nvSpPr>
          <p:cNvPr id="26" name="">
            <a:extLst xmlns:a="http://schemas.openxmlformats.org/drawingml/2006/main">
              <a:ext uri="{FF2B5EF4-FFF2-40B4-BE49-F238E27FC236}">
                <a16:creationId xmlns:a16="http://schemas.microsoft.com/office/drawing/2014/main" id="{6CAAF27B-F864-4C3C-AFB3-D155FC1DC7F1}"/>
              </a:ext>
            </a:extLst>
          </p:cNvPr>
          <p:cNvSpPr>
            <a:spLocks xmlns:a="http://schemas.openxmlformats.org/drawingml/2006/main" noGrp="1"/>
          </p:cNvSpPr>
          <p:nvPr/>
        </p:nvSpPr>
        <p:spPr>
          <a:xfrm xmlns:a="http://schemas.openxmlformats.org/drawingml/2006/main">
            <a:off x="571500" y="4019550"/>
            <a:ext cx="4953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Distribution and histogram modes · outlier timing · linear/nonlinear autocorrelation · low-frequency power · forecasting error · fluctuation scaling · symbolic run lengths.</a:t>
            </a:r>
          </a:p>
        </p:txBody>
      </p:sp>
      <p:sp>
        <p:nvSpPr>
          <p:cNvPr id="27" name="">
            <a:extLst xmlns:a="http://schemas.openxmlformats.org/drawingml/2006/main">
              <a:ext uri="{FF2B5EF4-FFF2-40B4-BE49-F238E27FC236}">
                <a16:creationId xmlns:a16="http://schemas.microsoft.com/office/drawing/2014/main" id="{BE0B673E-54B0-4CE4-95F3-E91E02165E97}"/>
              </a:ext>
            </a:extLst>
          </p:cNvPr>
          <p:cNvSpPr>
            <a:spLocks xmlns:a="http://schemas.openxmlformats.org/drawingml/2006/main" noGrp="1"/>
          </p:cNvSpPr>
          <p:nvPr/>
        </p:nvSpPr>
        <p:spPr>
          <a:xfrm xmlns:a="http://schemas.openxmlformats.org/drawingml/2006/main">
            <a:off x="5924550" y="3429000"/>
            <a:ext cx="5600700" cy="2133600"/>
          </a:xfrm>
          <a:prstGeom xmlns:a="http://schemas.openxmlformats.org/drawingml/2006/main" prst="roundRect">
            <a:avLst>
              <a:gd name="adj" fmla="val 5357"/>
            </a:avLst>
          </a:prstGeom>
          <a:solidFill xmlns:a="http://schemas.openxmlformats.org/drawingml/2006/main">
            <a:srgbClr val="FFF2E7"/>
          </a:solidFill>
          <a:ln xmlns:a="http://schemas.openxmlformats.org/drawingml/2006/main" w="9525">
            <a:solidFill>
              <a:srgbClr val="EDEDED"/>
            </a:solidFill>
            <a:prstDash val="solid"/>
          </a:ln>
        </p:spPr>
      </p:sp>
      <p:sp>
        <p:nvSpPr>
          <p:cNvPr id="28" name="">
            <a:extLst xmlns:a="http://schemas.openxmlformats.org/drawingml/2006/main">
              <a:ext uri="{FF2B5EF4-FFF2-40B4-BE49-F238E27FC236}">
                <a16:creationId xmlns:a16="http://schemas.microsoft.com/office/drawing/2014/main" id="{C35FEB97-DCB8-480F-B288-0307B19BDCF0}"/>
              </a:ext>
            </a:extLst>
          </p:cNvPr>
          <p:cNvSpPr>
            <a:spLocks xmlns:a="http://schemas.openxmlformats.org/drawingml/2006/main" noGrp="1"/>
          </p:cNvSpPr>
          <p:nvPr/>
        </p:nvSpPr>
        <p:spPr>
          <a:xfrm xmlns:a="http://schemas.openxmlformats.org/drawingml/2006/main">
            <a:off x="6096000" y="3600450"/>
            <a:ext cx="5257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XGBoost configuration</a:t>
            </a:r>
          </a:p>
        </p:txBody>
      </p:sp>
      <p:sp>
        <p:nvSpPr>
          <p:cNvPr id="29" name="">
            <a:extLst xmlns:a="http://schemas.openxmlformats.org/drawingml/2006/main">
              <a:ext uri="{FF2B5EF4-FFF2-40B4-BE49-F238E27FC236}">
                <a16:creationId xmlns:a16="http://schemas.microsoft.com/office/drawing/2014/main" id="{E129327C-1AB0-40A9-9AD8-39C2CE7576E1}"/>
              </a:ext>
            </a:extLst>
          </p:cNvPr>
          <p:cNvSpPr>
            <a:spLocks xmlns:a="http://schemas.openxmlformats.org/drawingml/2006/main" noGrp="1"/>
          </p:cNvSpPr>
          <p:nvPr/>
        </p:nvSpPr>
        <p:spPr>
          <a:xfrm xmlns:a="http://schemas.openxmlformats.org/drawingml/2006/main">
            <a:off x="6096000" y="4019550"/>
            <a:ext cx="52578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300 trees · maximum depth 2 · learning rate 0.03 · subsample 0.8 · column sample 0.7 · L1 = 1 · L2 = 5 · balanced class weighting · 3 seeds.</a:t>
            </a:r>
          </a:p>
        </p:txBody>
      </p:sp>
      <p:sp>
        <p:nvSpPr>
          <p:cNvPr id="30" name="">
            <a:extLst xmlns:a="http://schemas.openxmlformats.org/drawingml/2006/main">
              <a:ext uri="{FF2B5EF4-FFF2-40B4-BE49-F238E27FC236}">
                <a16:creationId xmlns:a16="http://schemas.microsoft.com/office/drawing/2014/main" id="{513B2428-CD87-4589-A009-81959F462683}"/>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Catch22 paper; XGBoost KDD 2016; local round-4 config</a:t>
            </a:r>
          </a:p>
        </p:txBody>
      </p:sp>
    </p:spTree>
    <p:extLst>
      <p:ext uri="{BB962C8B-B14F-4D97-AF65-F5344CB8AC3E}">
        <p14:creationId xmlns:p14="http://schemas.microsoft.com/office/powerpoint/2010/main" val="95100192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5DD4EED-F8EA-4C35-9D46-F30D27192A5C}"/>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CATCH22 + XGBOOST · NAMING</a:t>
            </a:r>
          </a:p>
        </p:txBody>
      </p:sp>
      <p:sp>
        <p:nvSpPr>
          <p:cNvPr id="2" name="">
            <a:extLst xmlns:a="http://schemas.openxmlformats.org/drawingml/2006/main">
              <a:ext uri="{FF2B5EF4-FFF2-40B4-BE49-F238E27FC236}">
                <a16:creationId xmlns:a16="http://schemas.microsoft.com/office/drawing/2014/main" id="{DA48336F-E29F-4522-9A98-C0640512F38E}"/>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96"/>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Feature names encode channel, segment pool and descriptor</a:t>
            </a:r>
          </a:p>
        </p:txBody>
      </p:sp>
      <p:sp>
        <p:nvSpPr>
          <p:cNvPr id="3" name="">
            <a:extLst xmlns:a="http://schemas.openxmlformats.org/drawingml/2006/main">
              <a:ext uri="{FF2B5EF4-FFF2-40B4-BE49-F238E27FC236}">
                <a16:creationId xmlns:a16="http://schemas.microsoft.com/office/drawing/2014/main" id="{91F1674F-7C93-4EED-9BF9-6F36C479488B}"/>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3112B9F-088C-484B-8377-7B6EC02096AA}"/>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36748FB6-007E-49E0-BD45-5B1090FDA985}"/>
              </a:ext>
            </a:extLst>
          </p:cNvPr>
          <p:cNvSpPr>
            <a:spLocks xmlns:a="http://schemas.openxmlformats.org/drawingml/2006/main" noGrp="1"/>
          </p:cNvSpPr>
          <p:nvPr/>
        </p:nvSpPr>
        <p:spPr>
          <a:xfrm xmlns:a="http://schemas.openxmlformats.org/drawingml/2006/main">
            <a:off x="400050" y="1524000"/>
            <a:ext cx="11125200" cy="876300"/>
          </a:xfrm>
          <a:prstGeom xmlns:a="http://schemas.openxmlformats.org/drawingml/2006/main" prst="roundRect">
            <a:avLst>
              <a:gd name="adj" fmla="val 8696"/>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107E2232-66FE-4C60-A833-22C9D2F92097}"/>
              </a:ext>
            </a:extLst>
          </p:cNvPr>
          <p:cNvSpPr>
            <a:spLocks xmlns:a="http://schemas.openxmlformats.org/drawingml/2006/main" noGrp="1"/>
          </p:cNvSpPr>
          <p:nvPr/>
        </p:nvSpPr>
        <p:spPr>
          <a:xfrm xmlns:a="http://schemas.openxmlformats.org/drawingml/2006/main">
            <a:off x="571500" y="1676400"/>
            <a:ext cx="10782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c1_min_DN_OutlierInclude_p_001_mdrmd</a:t>
            </a:r>
          </a:p>
        </p:txBody>
      </p:sp>
      <p:sp>
        <p:nvSpPr>
          <p:cNvPr id="7" name="">
            <a:extLst xmlns:a="http://schemas.openxmlformats.org/drawingml/2006/main">
              <a:ext uri="{FF2B5EF4-FFF2-40B4-BE49-F238E27FC236}">
                <a16:creationId xmlns:a16="http://schemas.microsoft.com/office/drawing/2014/main" id="{04DED5DB-405E-43E0-B9F1-7EA0D72FAEBD}"/>
              </a:ext>
            </a:extLst>
          </p:cNvPr>
          <p:cNvSpPr>
            <a:spLocks xmlns:a="http://schemas.openxmlformats.org/drawingml/2006/main" noGrp="1"/>
          </p:cNvSpPr>
          <p:nvPr/>
        </p:nvSpPr>
        <p:spPr>
          <a:xfrm xmlns:a="http://schemas.openxmlformats.org/drawingml/2006/main">
            <a:off x="533400" y="2133600"/>
            <a:ext cx="1085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channel 1 · minimum across segments · positive-outlier timing descriptor</a:t>
            </a:r>
          </a:p>
        </p:txBody>
      </p:sp>
      <p:sp>
        <p:nvSpPr>
          <p:cNvPr id="8" name="">
            <a:extLst xmlns:a="http://schemas.openxmlformats.org/drawingml/2006/main">
              <a:ext uri="{FF2B5EF4-FFF2-40B4-BE49-F238E27FC236}">
                <a16:creationId xmlns:a16="http://schemas.microsoft.com/office/drawing/2014/main" id="{5FE4B95D-E22A-405A-BCBB-39F41A17CF71}"/>
              </a:ext>
            </a:extLst>
          </p:cNvPr>
          <p:cNvSpPr>
            <a:spLocks xmlns:a="http://schemas.openxmlformats.org/drawingml/2006/main" noGrp="1"/>
          </p:cNvSpPr>
          <p:nvPr/>
        </p:nvSpPr>
        <p:spPr>
          <a:xfrm xmlns:a="http://schemas.openxmlformats.org/drawingml/2006/main">
            <a:off x="400050" y="2743200"/>
            <a:ext cx="3524250" cy="2247900"/>
          </a:xfrm>
          <a:prstGeom xmlns:a="http://schemas.openxmlformats.org/drawingml/2006/main" prst="roundRect">
            <a:avLst>
              <a:gd name="adj" fmla="val 5085"/>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B5A45353-B923-40F2-A244-00A2FC8B5091}"/>
              </a:ext>
            </a:extLst>
          </p:cNvPr>
          <p:cNvSpPr>
            <a:spLocks xmlns:a="http://schemas.openxmlformats.org/drawingml/2006/main" noGrp="1"/>
          </p:cNvSpPr>
          <p:nvPr/>
        </p:nvSpPr>
        <p:spPr>
          <a:xfrm xmlns:a="http://schemas.openxmlformats.org/drawingml/2006/main">
            <a:off x="571500" y="29146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3D8DFF"/>
                </a:solidFill>
                <a:latin typeface="Arial"/>
                <a:ea typeface="Arial"/>
                <a:cs typeface="Arial"/>
              </a:defRPr>
            </a:pPr>
            <a:r>
              <a:rPr sz="1875" b="1" i="0">
                <a:solidFill>
                  <a:srgbClr val="3D8DFF"/>
                </a:solidFill>
                <a:latin typeface="Arial"/>
                <a:ea typeface="Arial"/>
                <a:cs typeface="Arial"/>
              </a:rPr>
              <a:t>c1</a:t>
            </a:r>
          </a:p>
        </p:txBody>
      </p:sp>
      <p:sp>
        <p:nvSpPr>
          <p:cNvPr id="10" name="">
            <a:extLst xmlns:a="http://schemas.openxmlformats.org/drawingml/2006/main">
              <a:ext uri="{FF2B5EF4-FFF2-40B4-BE49-F238E27FC236}">
                <a16:creationId xmlns:a16="http://schemas.microsoft.com/office/drawing/2014/main" id="{B910ED4B-3902-4CAF-8FA7-A2431CA42AE8}"/>
              </a:ext>
            </a:extLst>
          </p:cNvPr>
          <p:cNvSpPr>
            <a:spLocks xmlns:a="http://schemas.openxmlformats.org/drawingml/2006/main" noGrp="1"/>
          </p:cNvSpPr>
          <p:nvPr/>
        </p:nvSpPr>
        <p:spPr>
          <a:xfrm xmlns:a="http://schemas.openxmlformats.org/drawingml/2006/main">
            <a:off x="571500" y="3333750"/>
            <a:ext cx="31813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Current Endo</a:t>
            </a:r>
          </a:p>
        </p:txBody>
      </p:sp>
      <p:sp>
        <p:nvSpPr>
          <p:cNvPr id="11" name="">
            <a:extLst xmlns:a="http://schemas.openxmlformats.org/drawingml/2006/main">
              <a:ext uri="{FF2B5EF4-FFF2-40B4-BE49-F238E27FC236}">
                <a16:creationId xmlns:a16="http://schemas.microsoft.com/office/drawing/2014/main" id="{AE73C9A3-DCDC-4C50-8CD7-520AD14B8AD1}"/>
              </a:ext>
            </a:extLst>
          </p:cNvPr>
          <p:cNvSpPr>
            <a:spLocks xmlns:a="http://schemas.openxmlformats.org/drawingml/2006/main" noGrp="1"/>
          </p:cNvSpPr>
          <p:nvPr/>
        </p:nvSpPr>
        <p:spPr>
          <a:xfrm xmlns:a="http://schemas.openxmlformats.org/drawingml/2006/main">
            <a:off x="4114800" y="2743200"/>
            <a:ext cx="3524250" cy="2247900"/>
          </a:xfrm>
          <a:prstGeom xmlns:a="http://schemas.openxmlformats.org/drawingml/2006/main" prst="roundRect">
            <a:avLst>
              <a:gd name="adj" fmla="val 5085"/>
            </a:avLst>
          </a:prstGeom>
          <a:solidFill xmlns:a="http://schemas.openxmlformats.org/drawingml/2006/main">
            <a:srgbClr val="EBF6E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60BE6B18-3E4C-4E85-8334-CD689118E07D}"/>
              </a:ext>
            </a:extLst>
          </p:cNvPr>
          <p:cNvSpPr>
            <a:spLocks xmlns:a="http://schemas.openxmlformats.org/drawingml/2006/main" noGrp="1"/>
          </p:cNvSpPr>
          <p:nvPr/>
        </p:nvSpPr>
        <p:spPr>
          <a:xfrm xmlns:a="http://schemas.openxmlformats.org/drawingml/2006/main">
            <a:off x="4286250" y="29146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2E8B57"/>
                </a:solidFill>
                <a:latin typeface="Arial"/>
                <a:ea typeface="Arial"/>
                <a:cs typeface="Arial"/>
              </a:defRPr>
            </a:pPr>
            <a:r>
              <a:rPr sz="1875" b="1" i="0">
                <a:solidFill>
                  <a:srgbClr val="2E8B57"/>
                </a:solidFill>
                <a:latin typeface="Arial"/>
                <a:ea typeface="Arial"/>
                <a:cs typeface="Arial"/>
              </a:rPr>
              <a:t>min</a:t>
            </a:r>
          </a:p>
        </p:txBody>
      </p:sp>
      <p:sp>
        <p:nvSpPr>
          <p:cNvPr id="13" name="">
            <a:extLst xmlns:a="http://schemas.openxmlformats.org/drawingml/2006/main">
              <a:ext uri="{FF2B5EF4-FFF2-40B4-BE49-F238E27FC236}">
                <a16:creationId xmlns:a16="http://schemas.microsoft.com/office/drawing/2014/main" id="{EACC65D2-D19F-41D0-88A4-813AAFB25120}"/>
              </a:ext>
            </a:extLst>
          </p:cNvPr>
          <p:cNvSpPr>
            <a:spLocks xmlns:a="http://schemas.openxmlformats.org/drawingml/2006/main" noGrp="1"/>
          </p:cNvSpPr>
          <p:nvPr/>
        </p:nvSpPr>
        <p:spPr>
          <a:xfrm xmlns:a="http://schemas.openxmlformats.org/drawingml/2006/main">
            <a:off x="4286250" y="3333750"/>
            <a:ext cx="31813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Minimum of the descriptor across 18 segments</a:t>
            </a:r>
          </a:p>
        </p:txBody>
      </p:sp>
      <p:sp>
        <p:nvSpPr>
          <p:cNvPr id="14" name="">
            <a:extLst xmlns:a="http://schemas.openxmlformats.org/drawingml/2006/main">
              <a:ext uri="{FF2B5EF4-FFF2-40B4-BE49-F238E27FC236}">
                <a16:creationId xmlns:a16="http://schemas.microsoft.com/office/drawing/2014/main" id="{AB39F52B-2349-4540-99F4-2296A96A1DE7}"/>
              </a:ext>
            </a:extLst>
          </p:cNvPr>
          <p:cNvSpPr>
            <a:spLocks xmlns:a="http://schemas.openxmlformats.org/drawingml/2006/main" noGrp="1"/>
          </p:cNvSpPr>
          <p:nvPr/>
        </p:nvSpPr>
        <p:spPr>
          <a:xfrm xmlns:a="http://schemas.openxmlformats.org/drawingml/2006/main">
            <a:off x="7829550" y="2743200"/>
            <a:ext cx="3524250" cy="2247900"/>
          </a:xfrm>
          <a:prstGeom xmlns:a="http://schemas.openxmlformats.org/drawingml/2006/main" prst="roundRect">
            <a:avLst>
              <a:gd name="adj" fmla="val 5085"/>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49AAF7E0-47C1-4BFB-9CAC-3AE460450400}"/>
              </a:ext>
            </a:extLst>
          </p:cNvPr>
          <p:cNvSpPr>
            <a:spLocks xmlns:a="http://schemas.openxmlformats.org/drawingml/2006/main" noGrp="1"/>
          </p:cNvSpPr>
          <p:nvPr/>
        </p:nvSpPr>
        <p:spPr>
          <a:xfrm xmlns:a="http://schemas.openxmlformats.org/drawingml/2006/main">
            <a:off x="8001000" y="29146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E8893A"/>
                </a:solidFill>
                <a:latin typeface="Arial"/>
                <a:ea typeface="Arial"/>
                <a:cs typeface="Arial"/>
              </a:defRPr>
            </a:pPr>
            <a:r>
              <a:rPr sz="1875" b="1" i="0">
                <a:solidFill>
                  <a:srgbClr val="E8893A"/>
                </a:solidFill>
                <a:latin typeface="Arial"/>
                <a:ea typeface="Arial"/>
                <a:cs typeface="Arial"/>
              </a:rPr>
              <a:t>DN_Outlier…</a:t>
            </a:r>
          </a:p>
        </p:txBody>
      </p:sp>
      <p:sp>
        <p:nvSpPr>
          <p:cNvPr id="16" name="">
            <a:extLst xmlns:a="http://schemas.openxmlformats.org/drawingml/2006/main">
              <a:ext uri="{FF2B5EF4-FFF2-40B4-BE49-F238E27FC236}">
                <a16:creationId xmlns:a16="http://schemas.microsoft.com/office/drawing/2014/main" id="{038A75F7-978E-4328-98B9-76F42549478C}"/>
              </a:ext>
            </a:extLst>
          </p:cNvPr>
          <p:cNvSpPr>
            <a:spLocks xmlns:a="http://schemas.openxmlformats.org/drawingml/2006/main" noGrp="1"/>
          </p:cNvSpPr>
          <p:nvPr/>
        </p:nvSpPr>
        <p:spPr>
          <a:xfrm xmlns:a="http://schemas.openxmlformats.org/drawingml/2006/main">
            <a:off x="8001000" y="3333750"/>
            <a:ext cx="31813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Catch22 positive-outlier timing statistic</a:t>
            </a:r>
          </a:p>
        </p:txBody>
      </p:sp>
      <p:sp>
        <p:nvSpPr>
          <p:cNvPr id="17" name="">
            <a:extLst xmlns:a="http://schemas.openxmlformats.org/drawingml/2006/main">
              <a:ext uri="{FF2B5EF4-FFF2-40B4-BE49-F238E27FC236}">
                <a16:creationId xmlns:a16="http://schemas.microsoft.com/office/drawing/2014/main" id="{B034627B-2D5A-43F3-BD06-FFD86F25F85F}"/>
              </a:ext>
            </a:extLst>
          </p:cNvPr>
          <p:cNvSpPr>
            <a:spLocks xmlns:a="http://schemas.openxmlformats.org/drawingml/2006/main" noGrp="1"/>
          </p:cNvSpPr>
          <p:nvPr/>
        </p:nvSpPr>
        <p:spPr>
          <a:xfrm xmlns:a="http://schemas.openxmlformats.org/drawingml/2006/main">
            <a:off x="876300" y="53530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Channel map: c1 current Endo · c2 current Mid · c3 current gap · c4 ΔEndo · c5 ΔMid · c6 Δgap</a:t>
            </a:r>
          </a:p>
        </p:txBody>
      </p:sp>
      <p:sp>
        <p:nvSpPr>
          <p:cNvPr id="18" name="">
            <a:extLst xmlns:a="http://schemas.openxmlformats.org/drawingml/2006/main">
              <a:ext uri="{FF2B5EF4-FFF2-40B4-BE49-F238E27FC236}">
                <a16:creationId xmlns:a16="http://schemas.microsoft.com/office/drawing/2014/main" id="{110F7A15-AFE7-4B78-AF56-339399E2CFF0}"/>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catch22_structured_features naming convention</a:t>
            </a:r>
          </a:p>
        </p:txBody>
      </p:sp>
    </p:spTree>
    <p:extLst>
      <p:ext uri="{BB962C8B-B14F-4D97-AF65-F5344CB8AC3E}">
        <p14:creationId xmlns:p14="http://schemas.microsoft.com/office/powerpoint/2010/main" val="1470171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C3D98DA-5241-4D04-A26A-B058AAF2443A}"/>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CATCH22 + XGBOOST · TOP INPUTS</a:t>
            </a:r>
          </a:p>
        </p:txBody>
      </p:sp>
      <p:sp>
        <p:nvSpPr>
          <p:cNvPr id="2" name="">
            <a:extLst xmlns:a="http://schemas.openxmlformats.org/drawingml/2006/main">
              <a:ext uri="{FF2B5EF4-FFF2-40B4-BE49-F238E27FC236}">
                <a16:creationId xmlns:a16="http://schemas.microsoft.com/office/drawing/2014/main" id="{B1739CDA-E15E-4FFA-925F-8CC135FB09AC}"/>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Catch22: an extreme Endo timing feature led the ranking</a:t>
            </a:r>
          </a:p>
        </p:txBody>
      </p:sp>
      <p:sp>
        <p:nvSpPr>
          <p:cNvPr id="3" name="">
            <a:extLst xmlns:a="http://schemas.openxmlformats.org/drawingml/2006/main">
              <a:ext uri="{FF2B5EF4-FFF2-40B4-BE49-F238E27FC236}">
                <a16:creationId xmlns:a16="http://schemas.microsoft.com/office/drawing/2014/main" id="{20CB2037-E2FA-475A-9AA1-7B3C518A7639}"/>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6EDAD0E-2C6C-496F-A52F-8EED39CBD010}"/>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3C8AD0A2-7194-4533-A80D-A1CA7363474C}"/>
              </a:ext>
            </a:extLst>
          </p:cNvPr>
          <p:cNvSpPr>
            <a:spLocks xmlns:a="http://schemas.openxmlformats.org/drawingml/2006/main" noGrp="1"/>
          </p:cNvSpPr>
          <p:nvPr/>
        </p:nvSpPr>
        <p:spPr>
          <a:xfrm xmlns:a="http://schemas.openxmlformats.org/drawingml/2006/main">
            <a:off x="590550" y="167640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c1 min · positive-outlier timing</a:t>
            </a:r>
          </a:p>
        </p:txBody>
      </p:sp>
      <p:sp>
        <p:nvSpPr>
          <p:cNvPr id="6" name="">
            <a:extLst xmlns:a="http://schemas.openxmlformats.org/drawingml/2006/main">
              <a:ext uri="{FF2B5EF4-FFF2-40B4-BE49-F238E27FC236}">
                <a16:creationId xmlns:a16="http://schemas.microsoft.com/office/drawing/2014/main" id="{CAC61AE9-377D-4903-A8FD-C3EBF43314ED}"/>
              </a:ext>
            </a:extLst>
          </p:cNvPr>
          <p:cNvSpPr>
            <a:spLocks xmlns:a="http://schemas.openxmlformats.org/drawingml/2006/main" noGrp="1"/>
          </p:cNvSpPr>
          <p:nvPr/>
        </p:nvSpPr>
        <p:spPr>
          <a:xfrm xmlns:a="http://schemas.openxmlformats.org/drawingml/2006/main">
            <a:off x="3775710" y="171450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7" name="">
            <a:extLst xmlns:a="http://schemas.openxmlformats.org/drawingml/2006/main">
              <a:ext uri="{FF2B5EF4-FFF2-40B4-BE49-F238E27FC236}">
                <a16:creationId xmlns:a16="http://schemas.microsoft.com/office/drawing/2014/main" id="{3F22BB06-2D8F-4C47-88CD-FC9D1A767F9B}"/>
              </a:ext>
            </a:extLst>
          </p:cNvPr>
          <p:cNvSpPr>
            <a:spLocks xmlns:a="http://schemas.openxmlformats.org/drawingml/2006/main" noGrp="1"/>
          </p:cNvSpPr>
          <p:nvPr/>
        </p:nvSpPr>
        <p:spPr>
          <a:xfrm xmlns:a="http://schemas.openxmlformats.org/drawingml/2006/main">
            <a:off x="3775710" y="1714500"/>
            <a:ext cx="2713539"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8" name="">
            <a:extLst xmlns:a="http://schemas.openxmlformats.org/drawingml/2006/main">
              <a:ext uri="{FF2B5EF4-FFF2-40B4-BE49-F238E27FC236}">
                <a16:creationId xmlns:a16="http://schemas.microsoft.com/office/drawing/2014/main" id="{7A8377D2-8148-46AD-9BF1-35036F309565}"/>
              </a:ext>
            </a:extLst>
          </p:cNvPr>
          <p:cNvSpPr>
            <a:spLocks xmlns:a="http://schemas.openxmlformats.org/drawingml/2006/main" noGrp="1"/>
          </p:cNvSpPr>
          <p:nvPr/>
        </p:nvSpPr>
        <p:spPr>
          <a:xfrm xmlns:a="http://schemas.openxmlformats.org/drawingml/2006/main">
            <a:off x="6960870" y="167640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0.036</a:t>
            </a:r>
          </a:p>
        </p:txBody>
      </p:sp>
      <p:sp>
        <p:nvSpPr>
          <p:cNvPr id="9" name="">
            <a:extLst xmlns:a="http://schemas.openxmlformats.org/drawingml/2006/main">
              <a:ext uri="{FF2B5EF4-FFF2-40B4-BE49-F238E27FC236}">
                <a16:creationId xmlns:a16="http://schemas.microsoft.com/office/drawing/2014/main" id="{887C7388-4A1A-44B0-B02D-E32BB214ECF0}"/>
              </a:ext>
            </a:extLst>
          </p:cNvPr>
          <p:cNvSpPr>
            <a:spLocks xmlns:a="http://schemas.openxmlformats.org/drawingml/2006/main" noGrp="1"/>
          </p:cNvSpPr>
          <p:nvPr/>
        </p:nvSpPr>
        <p:spPr>
          <a:xfrm xmlns:a="http://schemas.openxmlformats.org/drawingml/2006/main">
            <a:off x="3775710" y="192405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0.0029–0.0653</a:t>
            </a:r>
          </a:p>
        </p:txBody>
      </p:sp>
      <p:sp>
        <p:nvSpPr>
          <p:cNvPr id="10" name="">
            <a:extLst xmlns:a="http://schemas.openxmlformats.org/drawingml/2006/main">
              <a:ext uri="{FF2B5EF4-FFF2-40B4-BE49-F238E27FC236}">
                <a16:creationId xmlns:a16="http://schemas.microsoft.com/office/drawing/2014/main" id="{170B7DDD-6D46-44C7-B120-DFEC8A29B7EB}"/>
              </a:ext>
            </a:extLst>
          </p:cNvPr>
          <p:cNvSpPr>
            <a:spLocks xmlns:a="http://schemas.openxmlformats.org/drawingml/2006/main" noGrp="1"/>
          </p:cNvSpPr>
          <p:nvPr/>
        </p:nvSpPr>
        <p:spPr>
          <a:xfrm xmlns:a="http://schemas.openxmlformats.org/drawingml/2006/main">
            <a:off x="590550" y="253365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All curve descriptors</a:t>
            </a:r>
          </a:p>
        </p:txBody>
      </p:sp>
      <p:sp>
        <p:nvSpPr>
          <p:cNvPr id="11" name="">
            <a:extLst xmlns:a="http://schemas.openxmlformats.org/drawingml/2006/main">
              <a:ext uri="{FF2B5EF4-FFF2-40B4-BE49-F238E27FC236}">
                <a16:creationId xmlns:a16="http://schemas.microsoft.com/office/drawing/2014/main" id="{DE755781-6CFE-4E91-9548-37F7DFC9C5A4}"/>
              </a:ext>
            </a:extLst>
          </p:cNvPr>
          <p:cNvSpPr>
            <a:spLocks xmlns:a="http://schemas.openxmlformats.org/drawingml/2006/main" noGrp="1"/>
          </p:cNvSpPr>
          <p:nvPr/>
        </p:nvSpPr>
        <p:spPr>
          <a:xfrm xmlns:a="http://schemas.openxmlformats.org/drawingml/2006/main">
            <a:off x="3775710" y="257175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2" name="">
            <a:extLst xmlns:a="http://schemas.openxmlformats.org/drawingml/2006/main">
              <a:ext uri="{FF2B5EF4-FFF2-40B4-BE49-F238E27FC236}">
                <a16:creationId xmlns:a16="http://schemas.microsoft.com/office/drawing/2014/main" id="{9BE5FF37-3718-4274-8B8F-99C5F47B686C}"/>
              </a:ext>
            </a:extLst>
          </p:cNvPr>
          <p:cNvSpPr>
            <a:spLocks xmlns:a="http://schemas.openxmlformats.org/drawingml/2006/main" noGrp="1"/>
          </p:cNvSpPr>
          <p:nvPr/>
        </p:nvSpPr>
        <p:spPr>
          <a:xfrm xmlns:a="http://schemas.openxmlformats.org/drawingml/2006/main">
            <a:off x="3775710" y="2571750"/>
            <a:ext cx="2751544"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3" name="">
            <a:extLst xmlns:a="http://schemas.openxmlformats.org/drawingml/2006/main">
              <a:ext uri="{FF2B5EF4-FFF2-40B4-BE49-F238E27FC236}">
                <a16:creationId xmlns:a16="http://schemas.microsoft.com/office/drawing/2014/main" id="{E03F58E4-6C33-4B41-A7A6-4D5DA54B4ABA}"/>
              </a:ext>
            </a:extLst>
          </p:cNvPr>
          <p:cNvSpPr>
            <a:spLocks xmlns:a="http://schemas.openxmlformats.org/drawingml/2006/main" noGrp="1"/>
          </p:cNvSpPr>
          <p:nvPr/>
        </p:nvSpPr>
        <p:spPr>
          <a:xfrm xmlns:a="http://schemas.openxmlformats.org/drawingml/2006/main">
            <a:off x="6960870" y="253365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0.036</a:t>
            </a:r>
          </a:p>
        </p:txBody>
      </p:sp>
      <p:sp>
        <p:nvSpPr>
          <p:cNvPr id="14" name="">
            <a:extLst xmlns:a="http://schemas.openxmlformats.org/drawingml/2006/main">
              <a:ext uri="{FF2B5EF4-FFF2-40B4-BE49-F238E27FC236}">
                <a16:creationId xmlns:a16="http://schemas.microsoft.com/office/drawing/2014/main" id="{1132EA0E-B334-4CE7-8D7B-7327B90B989B}"/>
              </a:ext>
            </a:extLst>
          </p:cNvPr>
          <p:cNvSpPr>
            <a:spLocks xmlns:a="http://schemas.openxmlformats.org/drawingml/2006/main" noGrp="1"/>
          </p:cNvSpPr>
          <p:nvPr/>
        </p:nvSpPr>
        <p:spPr>
          <a:xfrm xmlns:a="http://schemas.openxmlformats.org/drawingml/2006/main">
            <a:off x="3775710" y="278130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group permutation</a:t>
            </a:r>
          </a:p>
        </p:txBody>
      </p:sp>
      <p:sp>
        <p:nvSpPr>
          <p:cNvPr id="15" name="">
            <a:extLst xmlns:a="http://schemas.openxmlformats.org/drawingml/2006/main">
              <a:ext uri="{FF2B5EF4-FFF2-40B4-BE49-F238E27FC236}">
                <a16:creationId xmlns:a16="http://schemas.microsoft.com/office/drawing/2014/main" id="{9A62C0FA-B1E9-4D41-820C-2251665DC492}"/>
              </a:ext>
            </a:extLst>
          </p:cNvPr>
          <p:cNvSpPr>
            <a:spLocks xmlns:a="http://schemas.openxmlformats.org/drawingml/2006/main" noGrp="1"/>
          </p:cNvSpPr>
          <p:nvPr/>
        </p:nvSpPr>
        <p:spPr>
          <a:xfrm xmlns:a="http://schemas.openxmlformats.org/drawingml/2006/main">
            <a:off x="590550" y="339090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All scalar features</a:t>
            </a:r>
          </a:p>
        </p:txBody>
      </p:sp>
      <p:sp>
        <p:nvSpPr>
          <p:cNvPr id="16" name="">
            <a:extLst xmlns:a="http://schemas.openxmlformats.org/drawingml/2006/main">
              <a:ext uri="{FF2B5EF4-FFF2-40B4-BE49-F238E27FC236}">
                <a16:creationId xmlns:a16="http://schemas.microsoft.com/office/drawing/2014/main" id="{61378AB1-D868-4C88-A255-5372B522C3A7}"/>
              </a:ext>
            </a:extLst>
          </p:cNvPr>
          <p:cNvSpPr>
            <a:spLocks xmlns:a="http://schemas.openxmlformats.org/drawingml/2006/main" noGrp="1"/>
          </p:cNvSpPr>
          <p:nvPr/>
        </p:nvSpPr>
        <p:spPr>
          <a:xfrm xmlns:a="http://schemas.openxmlformats.org/drawingml/2006/main">
            <a:off x="3775710" y="342900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7" name="">
            <a:extLst xmlns:a="http://schemas.openxmlformats.org/drawingml/2006/main">
              <a:ext uri="{FF2B5EF4-FFF2-40B4-BE49-F238E27FC236}">
                <a16:creationId xmlns:a16="http://schemas.microsoft.com/office/drawing/2014/main" id="{80721C73-DCC5-4657-B769-CC33D2730FDD}"/>
              </a:ext>
            </a:extLst>
          </p:cNvPr>
          <p:cNvSpPr>
            <a:spLocks xmlns:a="http://schemas.openxmlformats.org/drawingml/2006/main" noGrp="1"/>
          </p:cNvSpPr>
          <p:nvPr/>
        </p:nvSpPr>
        <p:spPr>
          <a:xfrm xmlns:a="http://schemas.openxmlformats.org/drawingml/2006/main">
            <a:off x="3775710" y="3429000"/>
            <a:ext cx="2029454"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18" name="">
            <a:extLst xmlns:a="http://schemas.openxmlformats.org/drawingml/2006/main">
              <a:ext uri="{FF2B5EF4-FFF2-40B4-BE49-F238E27FC236}">
                <a16:creationId xmlns:a16="http://schemas.microsoft.com/office/drawing/2014/main" id="{5470D345-2DAC-4197-A706-4B8A124E5A40}"/>
              </a:ext>
            </a:extLst>
          </p:cNvPr>
          <p:cNvSpPr>
            <a:spLocks xmlns:a="http://schemas.openxmlformats.org/drawingml/2006/main" noGrp="1"/>
          </p:cNvSpPr>
          <p:nvPr/>
        </p:nvSpPr>
        <p:spPr>
          <a:xfrm xmlns:a="http://schemas.openxmlformats.org/drawingml/2006/main">
            <a:off x="6960870" y="339090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0.027</a:t>
            </a:r>
          </a:p>
        </p:txBody>
      </p:sp>
      <p:sp>
        <p:nvSpPr>
          <p:cNvPr id="19" name="">
            <a:extLst xmlns:a="http://schemas.openxmlformats.org/drawingml/2006/main">
              <a:ext uri="{FF2B5EF4-FFF2-40B4-BE49-F238E27FC236}">
                <a16:creationId xmlns:a16="http://schemas.microsoft.com/office/drawing/2014/main" id="{EE923A92-0627-4306-B4B3-AB64795CA91B}"/>
              </a:ext>
            </a:extLst>
          </p:cNvPr>
          <p:cNvSpPr>
            <a:spLocks xmlns:a="http://schemas.openxmlformats.org/drawingml/2006/main" noGrp="1"/>
          </p:cNvSpPr>
          <p:nvPr/>
        </p:nvSpPr>
        <p:spPr>
          <a:xfrm xmlns:a="http://schemas.openxmlformats.org/drawingml/2006/main">
            <a:off x="3775710" y="363855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group permutation</a:t>
            </a:r>
          </a:p>
        </p:txBody>
      </p:sp>
      <p:sp>
        <p:nvSpPr>
          <p:cNvPr id="20" name="">
            <a:extLst xmlns:a="http://schemas.openxmlformats.org/drawingml/2006/main">
              <a:ext uri="{FF2B5EF4-FFF2-40B4-BE49-F238E27FC236}">
                <a16:creationId xmlns:a16="http://schemas.microsoft.com/office/drawing/2014/main" id="{8B865104-1C09-4AE1-B818-7EBD39F719D1}"/>
              </a:ext>
            </a:extLst>
          </p:cNvPr>
          <p:cNvSpPr>
            <a:spLocks xmlns:a="http://schemas.openxmlformats.org/drawingml/2006/main" noGrp="1"/>
          </p:cNvSpPr>
          <p:nvPr/>
        </p:nvSpPr>
        <p:spPr>
          <a:xfrm xmlns:a="http://schemas.openxmlformats.org/drawingml/2006/main">
            <a:off x="590550" y="4248150"/>
            <a:ext cx="30403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c5 median · high fluctuation</a:t>
            </a:r>
          </a:p>
        </p:txBody>
      </p:sp>
      <p:sp>
        <p:nvSpPr>
          <p:cNvPr id="21" name="">
            <a:extLst xmlns:a="http://schemas.openxmlformats.org/drawingml/2006/main">
              <a:ext uri="{FF2B5EF4-FFF2-40B4-BE49-F238E27FC236}">
                <a16:creationId xmlns:a16="http://schemas.microsoft.com/office/drawing/2014/main" id="{383B57D9-448B-4017-B275-B6BC5E41BEBB}"/>
              </a:ext>
            </a:extLst>
          </p:cNvPr>
          <p:cNvSpPr>
            <a:spLocks xmlns:a="http://schemas.openxmlformats.org/drawingml/2006/main" noGrp="1"/>
          </p:cNvSpPr>
          <p:nvPr/>
        </p:nvSpPr>
        <p:spPr>
          <a:xfrm xmlns:a="http://schemas.openxmlformats.org/drawingml/2006/main">
            <a:off x="3775710" y="4286250"/>
            <a:ext cx="30403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2" name="">
            <a:extLst xmlns:a="http://schemas.openxmlformats.org/drawingml/2006/main">
              <a:ext uri="{FF2B5EF4-FFF2-40B4-BE49-F238E27FC236}">
                <a16:creationId xmlns:a16="http://schemas.microsoft.com/office/drawing/2014/main" id="{7D75D2E3-2FA5-421A-BFD5-69575580EE13}"/>
              </a:ext>
            </a:extLst>
          </p:cNvPr>
          <p:cNvSpPr>
            <a:spLocks xmlns:a="http://schemas.openxmlformats.org/drawingml/2006/main" noGrp="1"/>
          </p:cNvSpPr>
          <p:nvPr/>
        </p:nvSpPr>
        <p:spPr>
          <a:xfrm xmlns:a="http://schemas.openxmlformats.org/drawingml/2006/main">
            <a:off x="3775710" y="4286250"/>
            <a:ext cx="934917"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23" name="">
            <a:extLst xmlns:a="http://schemas.openxmlformats.org/drawingml/2006/main">
              <a:ext uri="{FF2B5EF4-FFF2-40B4-BE49-F238E27FC236}">
                <a16:creationId xmlns:a16="http://schemas.microsoft.com/office/drawing/2014/main" id="{E41AB3E2-E8B9-44CF-B2A6-291885192E14}"/>
              </a:ext>
            </a:extLst>
          </p:cNvPr>
          <p:cNvSpPr>
            <a:spLocks xmlns:a="http://schemas.openxmlformats.org/drawingml/2006/main" noGrp="1"/>
          </p:cNvSpPr>
          <p:nvPr/>
        </p:nvSpPr>
        <p:spPr>
          <a:xfrm xmlns:a="http://schemas.openxmlformats.org/drawingml/2006/main">
            <a:off x="6960870" y="4248150"/>
            <a:ext cx="8686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0.012</a:t>
            </a:r>
          </a:p>
        </p:txBody>
      </p:sp>
      <p:sp>
        <p:nvSpPr>
          <p:cNvPr id="24" name="">
            <a:extLst xmlns:a="http://schemas.openxmlformats.org/drawingml/2006/main">
              <a:ext uri="{FF2B5EF4-FFF2-40B4-BE49-F238E27FC236}">
                <a16:creationId xmlns:a16="http://schemas.microsoft.com/office/drawing/2014/main" id="{3559B39D-62E5-43D0-9EBD-448DA4F83520}"/>
              </a:ext>
            </a:extLst>
          </p:cNvPr>
          <p:cNvSpPr>
            <a:spLocks xmlns:a="http://schemas.openxmlformats.org/drawingml/2006/main" noGrp="1"/>
          </p:cNvSpPr>
          <p:nvPr/>
        </p:nvSpPr>
        <p:spPr>
          <a:xfrm xmlns:a="http://schemas.openxmlformats.org/drawingml/2006/main">
            <a:off x="3775710" y="4495800"/>
            <a:ext cx="39090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95% CI 0.0038–0.0205</a:t>
            </a:r>
          </a:p>
        </p:txBody>
      </p:sp>
      <p:sp>
        <p:nvSpPr>
          <p:cNvPr id="25" name="">
            <a:extLst xmlns:a="http://schemas.openxmlformats.org/drawingml/2006/main">
              <a:ext uri="{FF2B5EF4-FFF2-40B4-BE49-F238E27FC236}">
                <a16:creationId xmlns:a16="http://schemas.microsoft.com/office/drawing/2014/main" id="{5894F229-151B-4E3E-A683-85BE297A56B6}"/>
              </a:ext>
            </a:extLst>
          </p:cNvPr>
          <p:cNvSpPr>
            <a:spLocks xmlns:a="http://schemas.openxmlformats.org/drawingml/2006/main" noGrp="1"/>
          </p:cNvSpPr>
          <p:nvPr/>
        </p:nvSpPr>
        <p:spPr>
          <a:xfrm xmlns:a="http://schemas.openxmlformats.org/drawingml/2006/main">
            <a:off x="8153400" y="1676400"/>
            <a:ext cx="3371850" cy="2571750"/>
          </a:xfrm>
          <a:prstGeom xmlns:a="http://schemas.openxmlformats.org/drawingml/2006/main" prst="roundRect">
            <a:avLst>
              <a:gd name="adj" fmla="val 4444"/>
            </a:avLst>
          </a:prstGeom>
          <a:solidFill xmlns:a="http://schemas.openxmlformats.org/drawingml/2006/main">
            <a:srgbClr val="FFF2E7"/>
          </a:solidFill>
          <a:ln xmlns:a="http://schemas.openxmlformats.org/drawingml/2006/main" w="9525">
            <a:solidFill>
              <a:srgbClr val="EDEDED"/>
            </a:solidFill>
            <a:prstDash val="solid"/>
          </a:ln>
        </p:spPr>
      </p:sp>
      <p:sp>
        <p:nvSpPr>
          <p:cNvPr id="26" name="">
            <a:extLst xmlns:a="http://schemas.openxmlformats.org/drawingml/2006/main">
              <a:ext uri="{FF2B5EF4-FFF2-40B4-BE49-F238E27FC236}">
                <a16:creationId xmlns:a16="http://schemas.microsoft.com/office/drawing/2014/main" id="{42290141-014D-48B6-B44A-C16F1639A1D8}"/>
              </a:ext>
            </a:extLst>
          </p:cNvPr>
          <p:cNvSpPr>
            <a:spLocks xmlns:a="http://schemas.openxmlformats.org/drawingml/2006/main" noGrp="1"/>
          </p:cNvSpPr>
          <p:nvPr/>
        </p:nvSpPr>
        <p:spPr>
          <a:xfrm xmlns:a="http://schemas.openxmlformats.org/drawingml/2006/main">
            <a:off x="8324850" y="1847850"/>
            <a:ext cx="302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Native TreeSHAP agrees</a:t>
            </a:r>
          </a:p>
        </p:txBody>
      </p:sp>
      <p:sp>
        <p:nvSpPr>
          <p:cNvPr id="27" name="">
            <a:extLst xmlns:a="http://schemas.openxmlformats.org/drawingml/2006/main">
              <a:ext uri="{FF2B5EF4-FFF2-40B4-BE49-F238E27FC236}">
                <a16:creationId xmlns:a16="http://schemas.microsoft.com/office/drawing/2014/main" id="{76F7F805-DC7B-4CD0-A53A-0B75C0745157}"/>
              </a:ext>
            </a:extLst>
          </p:cNvPr>
          <p:cNvSpPr>
            <a:spLocks xmlns:a="http://schemas.openxmlformats.org/drawingml/2006/main" noGrp="1"/>
          </p:cNvSpPr>
          <p:nvPr/>
        </p:nvSpPr>
        <p:spPr>
          <a:xfrm xmlns:a="http://schemas.openxmlformats.org/drawingml/2006/main">
            <a:off x="8324850" y="2266950"/>
            <a:ext cx="30289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The same c1-min outlier-timing feature ranked first. Baseline Endo GLS, current Mid peak dispersion, gap histogram mode and low-frequency power also ranked highly.</a:t>
            </a:r>
          </a:p>
        </p:txBody>
      </p:sp>
      <p:sp>
        <p:nvSpPr>
          <p:cNvPr id="28" name="">
            <a:extLst xmlns:a="http://schemas.openxmlformats.org/drawingml/2006/main">
              <a:ext uri="{FF2B5EF4-FFF2-40B4-BE49-F238E27FC236}">
                <a16:creationId xmlns:a16="http://schemas.microsoft.com/office/drawing/2014/main" id="{03269E8B-331C-446F-8AA6-00F589DD99DF}"/>
              </a:ext>
            </a:extLst>
          </p:cNvPr>
          <p:cNvSpPr>
            <a:spLocks xmlns:a="http://schemas.openxmlformats.org/drawingml/2006/main" noGrp="1"/>
          </p:cNvSpPr>
          <p:nvPr/>
        </p:nvSpPr>
        <p:spPr>
          <a:xfrm xmlns:a="http://schemas.openxmlformats.org/drawingml/2006/main">
            <a:off x="8153400" y="4438650"/>
            <a:ext cx="3371850" cy="1352550"/>
          </a:xfrm>
          <a:prstGeom xmlns:a="http://schemas.openxmlformats.org/drawingml/2006/main" prst="roundRect">
            <a:avLst>
              <a:gd name="adj" fmla="val 8451"/>
            </a:avLst>
          </a:prstGeom>
          <a:solidFill xmlns:a="http://schemas.openxmlformats.org/drawingml/2006/main">
            <a:srgbClr val="EAF5FF"/>
          </a:solidFill>
          <a:ln xmlns:a="http://schemas.openxmlformats.org/drawingml/2006/main" w="9525">
            <a:solidFill>
              <a:srgbClr val="EDEDED"/>
            </a:solidFill>
            <a:prstDash val="solid"/>
          </a:ln>
        </p:spPr>
      </p:sp>
      <p:sp>
        <p:nvSpPr>
          <p:cNvPr id="29" name="">
            <a:extLst xmlns:a="http://schemas.openxmlformats.org/drawingml/2006/main">
              <a:ext uri="{FF2B5EF4-FFF2-40B4-BE49-F238E27FC236}">
                <a16:creationId xmlns:a16="http://schemas.microsoft.com/office/drawing/2014/main" id="{3C8F66D2-0377-44BE-AFA0-758E4CFCE268}"/>
              </a:ext>
            </a:extLst>
          </p:cNvPr>
          <p:cNvSpPr>
            <a:spLocks xmlns:a="http://schemas.openxmlformats.org/drawingml/2006/main" noGrp="1"/>
          </p:cNvSpPr>
          <p:nvPr/>
        </p:nvSpPr>
        <p:spPr>
          <a:xfrm xmlns:a="http://schemas.openxmlformats.org/drawingml/2006/main">
            <a:off x="8324850" y="4610100"/>
            <a:ext cx="302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50505"/>
                </a:solidFill>
                <a:latin typeface="Arial"/>
                <a:ea typeface="Arial"/>
                <a:cs typeface="Arial"/>
              </a:defRPr>
            </a:pPr>
            <a:r>
              <a:rPr sz="1350" b="1" i="0">
                <a:solidFill>
                  <a:srgbClr val="050505"/>
                </a:solidFill>
                <a:latin typeface="Arial"/>
                <a:ea typeface="Arial"/>
                <a:cs typeface="Arial"/>
              </a:rPr>
              <a:t>Ensemble value</a:t>
            </a:r>
          </a:p>
        </p:txBody>
      </p:sp>
      <p:sp>
        <p:nvSpPr>
          <p:cNvPr id="30" name="">
            <a:extLst xmlns:a="http://schemas.openxmlformats.org/drawingml/2006/main">
              <a:ext uri="{FF2B5EF4-FFF2-40B4-BE49-F238E27FC236}">
                <a16:creationId xmlns:a16="http://schemas.microsoft.com/office/drawing/2014/main" id="{50CEEA9B-7063-438F-A545-3EAF686EDADE}"/>
              </a:ext>
            </a:extLst>
          </p:cNvPr>
          <p:cNvSpPr>
            <a:spLocks xmlns:a="http://schemas.openxmlformats.org/drawingml/2006/main" noGrp="1"/>
          </p:cNvSpPr>
          <p:nvPr/>
        </p:nvSpPr>
        <p:spPr>
          <a:xfrm xmlns:a="http://schemas.openxmlformats.org/drawingml/2006/main">
            <a:off x="8324850" y="502920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Catch22 unique leave-one-out AUC ≈ 0.000, but AP +0.011. It may refine positive ranking more than global discrimination.</a:t>
            </a:r>
          </a:p>
        </p:txBody>
      </p:sp>
      <p:sp>
        <p:nvSpPr>
          <p:cNvPr id="31" name="">
            <a:extLst xmlns:a="http://schemas.openxmlformats.org/drawingml/2006/main">
              <a:ext uri="{FF2B5EF4-FFF2-40B4-BE49-F238E27FC236}">
                <a16:creationId xmlns:a16="http://schemas.microsoft.com/office/drawing/2014/main" id="{B9980F28-CA4E-4F87-A010-D0F4B05B66A1}"/>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held-out permutation + OOF TreeSHAP</a:t>
            </a:r>
          </a:p>
        </p:txBody>
      </p:sp>
    </p:spTree>
    <p:extLst>
      <p:ext uri="{BB962C8B-B14F-4D97-AF65-F5344CB8AC3E}">
        <p14:creationId xmlns:p14="http://schemas.microsoft.com/office/powerpoint/2010/main" val="142193250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6223318-0CF6-4AB0-924A-98DFDB635F6B}"/>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CATCH22 + XGBOOST · STRONGEST FEATURE</a:t>
            </a:r>
          </a:p>
        </p:txBody>
      </p:sp>
      <p:sp>
        <p:nvSpPr>
          <p:cNvPr id="2" name="">
            <a:extLst xmlns:a="http://schemas.openxmlformats.org/drawingml/2006/main">
              <a:ext uri="{FF2B5EF4-FFF2-40B4-BE49-F238E27FC236}">
                <a16:creationId xmlns:a16="http://schemas.microsoft.com/office/drawing/2014/main" id="{0AAC8AD7-4192-4F66-ACAF-4A5AFF790C48}"/>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Deep dive: positive-outlier timing in current Endo curves</a:t>
            </a:r>
          </a:p>
        </p:txBody>
      </p:sp>
      <p:sp>
        <p:nvSpPr>
          <p:cNvPr id="3" name="">
            <a:extLst xmlns:a="http://schemas.openxmlformats.org/drawingml/2006/main">
              <a:ext uri="{FF2B5EF4-FFF2-40B4-BE49-F238E27FC236}">
                <a16:creationId xmlns:a16="http://schemas.microsoft.com/office/drawing/2014/main" id="{41898F9E-EA10-4D3F-93F7-28AEA41BD949}"/>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38F8727-8DD0-4F65-8C94-07375C974DB5}"/>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19456251-A4A0-48E9-9FCB-C847C7D76ADC}"/>
              </a:ext>
            </a:extLst>
          </p:cNvPr>
          <p:cNvSpPr>
            <a:spLocks xmlns:a="http://schemas.openxmlformats.org/drawingml/2006/main" noGrp="1"/>
          </p:cNvSpPr>
          <p:nvPr/>
        </p:nvSpPr>
        <p:spPr>
          <a:xfrm xmlns:a="http://schemas.openxmlformats.org/drawingml/2006/main">
            <a:off x="400050" y="1524000"/>
            <a:ext cx="6648450" cy="933450"/>
          </a:xfrm>
          <a:prstGeom xmlns:a="http://schemas.openxmlformats.org/drawingml/2006/main" prst="roundRect">
            <a:avLst>
              <a:gd name="adj" fmla="val 8163"/>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74606BCA-B8B0-40A9-A161-CECE1D7837F3}"/>
              </a:ext>
            </a:extLst>
          </p:cNvPr>
          <p:cNvSpPr>
            <a:spLocks xmlns:a="http://schemas.openxmlformats.org/drawingml/2006/main" noGrp="1"/>
          </p:cNvSpPr>
          <p:nvPr/>
        </p:nvSpPr>
        <p:spPr>
          <a:xfrm xmlns:a="http://schemas.openxmlformats.org/drawingml/2006/main">
            <a:off x="571500" y="1676400"/>
            <a:ext cx="630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feature = min across segments of positive-outlier timing(curve)</a:t>
            </a:r>
          </a:p>
        </p:txBody>
      </p:sp>
      <p:sp>
        <p:nvSpPr>
          <p:cNvPr id="7" name="">
            <a:extLst xmlns:a="http://schemas.openxmlformats.org/drawingml/2006/main">
              <a:ext uri="{FF2B5EF4-FFF2-40B4-BE49-F238E27FC236}">
                <a16:creationId xmlns:a16="http://schemas.microsoft.com/office/drawing/2014/main" id="{492BBDC1-B1D1-4549-8CBF-D4C526C389FF}"/>
              </a:ext>
            </a:extLst>
          </p:cNvPr>
          <p:cNvSpPr>
            <a:spLocks xmlns:a="http://schemas.openxmlformats.org/drawingml/2006/main" noGrp="1"/>
          </p:cNvSpPr>
          <p:nvPr/>
        </p:nvSpPr>
        <p:spPr>
          <a:xfrm xmlns:a="http://schemas.openxmlformats.org/drawingml/2006/main">
            <a:off x="533400" y="2190750"/>
            <a:ext cx="638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Catch22 DN_OutlierInclude_p_001_mdrmd · c1 = current Endo</a:t>
            </a:r>
          </a:p>
        </p:txBody>
      </p:sp>
      <p:sp>
        <p:nvSpPr>
          <p:cNvPr id="8" name="">
            <a:extLst xmlns:a="http://schemas.openxmlformats.org/drawingml/2006/main">
              <a:ext uri="{FF2B5EF4-FFF2-40B4-BE49-F238E27FC236}">
                <a16:creationId xmlns:a16="http://schemas.microsoft.com/office/drawing/2014/main" id="{E803E824-8077-493F-9953-47E6D5121DDC}"/>
              </a:ext>
            </a:extLst>
          </p:cNvPr>
          <p:cNvSpPr>
            <a:spLocks xmlns:a="http://schemas.openxmlformats.org/drawingml/2006/main" noGrp="1"/>
          </p:cNvSpPr>
          <p:nvPr/>
        </p:nvSpPr>
        <p:spPr>
          <a:xfrm xmlns:a="http://schemas.openxmlformats.org/drawingml/2006/main">
            <a:off x="400050" y="2762250"/>
            <a:ext cx="6648450" cy="2724150"/>
          </a:xfrm>
          <a:prstGeom xmlns:a="http://schemas.openxmlformats.org/drawingml/2006/main" prst="roundRect">
            <a:avLst>
              <a:gd name="adj" fmla="val 4196"/>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4C5B13EA-8F21-4B10-8BB8-CB257A2C4F37}"/>
              </a:ext>
            </a:extLst>
          </p:cNvPr>
          <p:cNvSpPr>
            <a:spLocks xmlns:a="http://schemas.openxmlformats.org/drawingml/2006/main" noGrp="1"/>
          </p:cNvSpPr>
          <p:nvPr/>
        </p:nvSpPr>
        <p:spPr>
          <a:xfrm xmlns:a="http://schemas.openxmlformats.org/drawingml/2006/main">
            <a:off x="571500" y="2933700"/>
            <a:ext cx="630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How it is calculated conceptually</a:t>
            </a:r>
          </a:p>
        </p:txBody>
      </p:sp>
      <p:sp>
        <p:nvSpPr>
          <p:cNvPr id="10" name="">
            <a:extLst xmlns:a="http://schemas.openxmlformats.org/drawingml/2006/main">
              <a:ext uri="{FF2B5EF4-FFF2-40B4-BE49-F238E27FC236}">
                <a16:creationId xmlns:a16="http://schemas.microsoft.com/office/drawing/2014/main" id="{D9FFD8DA-1EAB-4AA9-8A46-620F63950B55}"/>
              </a:ext>
            </a:extLst>
          </p:cNvPr>
          <p:cNvSpPr>
            <a:spLocks xmlns:a="http://schemas.openxmlformats.org/drawingml/2006/main" noGrp="1"/>
          </p:cNvSpPr>
          <p:nvPr/>
        </p:nvSpPr>
        <p:spPr>
          <a:xfrm xmlns:a="http://schemas.openxmlformats.org/drawingml/2006/main">
            <a:off x="571500" y="3352800"/>
            <a:ext cx="630555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Within each Endo segment curve, Catch22 progressively identifies unusually high values and summarizes the spacing/timing of those positive extremes. The model then keeps the minimum descriptor value across 18 segments.</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Because longitudinal strain is mostly negative, ‘positive outlier’ means upward relative to that curve’s distribution—not necessarily strain &gt; 0%.</a:t>
            </a:r>
          </a:p>
        </p:txBody>
      </p:sp>
      <p:sp>
        <p:nvSpPr>
          <p:cNvPr id="11" name="">
            <a:extLst xmlns:a="http://schemas.openxmlformats.org/drawingml/2006/main">
              <a:ext uri="{FF2B5EF4-FFF2-40B4-BE49-F238E27FC236}">
                <a16:creationId xmlns:a16="http://schemas.microsoft.com/office/drawing/2014/main" id="{F2975E02-76DA-468C-8476-538EE2BDB40C}"/>
              </a:ext>
            </a:extLst>
          </p:cNvPr>
          <p:cNvSpPr>
            <a:spLocks xmlns:a="http://schemas.openxmlformats.org/drawingml/2006/main" noGrp="1"/>
          </p:cNvSpPr>
          <p:nvPr/>
        </p:nvSpPr>
        <p:spPr>
          <a:xfrm xmlns:a="http://schemas.openxmlformats.org/drawingml/2006/main">
            <a:off x="7315200" y="1524000"/>
            <a:ext cx="4210050" cy="1771650"/>
          </a:xfrm>
          <a:prstGeom xmlns:a="http://schemas.openxmlformats.org/drawingml/2006/main" prst="roundRect">
            <a:avLst>
              <a:gd name="adj" fmla="val 6452"/>
            </a:avLst>
          </a:prstGeom>
          <a:solidFill xmlns:a="http://schemas.openxmlformats.org/drawingml/2006/main">
            <a:srgbClr val="EBF6E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2A161358-4C5F-4993-A890-ED11C4B2CEDC}"/>
              </a:ext>
            </a:extLst>
          </p:cNvPr>
          <p:cNvSpPr>
            <a:spLocks xmlns:a="http://schemas.openxmlformats.org/drawingml/2006/main" noGrp="1"/>
          </p:cNvSpPr>
          <p:nvPr/>
        </p:nvSpPr>
        <p:spPr>
          <a:xfrm xmlns:a="http://schemas.openxmlformats.org/drawingml/2006/main">
            <a:off x="7486650" y="169545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Possible physiological signal</a:t>
            </a:r>
          </a:p>
        </p:txBody>
      </p:sp>
      <p:sp>
        <p:nvSpPr>
          <p:cNvPr id="13" name="">
            <a:extLst xmlns:a="http://schemas.openxmlformats.org/drawingml/2006/main">
              <a:ext uri="{FF2B5EF4-FFF2-40B4-BE49-F238E27FC236}">
                <a16:creationId xmlns:a16="http://schemas.microsoft.com/office/drawing/2014/main" id="{FA80E437-A43E-4326-81A1-0163382A95BF}"/>
              </a:ext>
            </a:extLst>
          </p:cNvPr>
          <p:cNvSpPr>
            <a:spLocks xmlns:a="http://schemas.openxmlformats.org/drawingml/2006/main" noGrp="1"/>
          </p:cNvSpPr>
          <p:nvPr/>
        </p:nvSpPr>
        <p:spPr>
          <a:xfrm xmlns:a="http://schemas.openxmlformats.org/drawingml/2006/main">
            <a:off x="7486650" y="2114550"/>
            <a:ext cx="38671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Atypical timing of upward excursions may reflect altered relaxation, post-systolic behavior, rebound or a distorted contour in one segment.</a:t>
            </a:r>
          </a:p>
        </p:txBody>
      </p:sp>
      <p:sp>
        <p:nvSpPr>
          <p:cNvPr id="14" name="">
            <a:extLst xmlns:a="http://schemas.openxmlformats.org/drawingml/2006/main">
              <a:ext uri="{FF2B5EF4-FFF2-40B4-BE49-F238E27FC236}">
                <a16:creationId xmlns:a16="http://schemas.microsoft.com/office/drawing/2014/main" id="{C6596E24-B10F-403D-B7A2-1B3DACAE145A}"/>
              </a:ext>
            </a:extLst>
          </p:cNvPr>
          <p:cNvSpPr>
            <a:spLocks xmlns:a="http://schemas.openxmlformats.org/drawingml/2006/main" noGrp="1"/>
          </p:cNvSpPr>
          <p:nvPr/>
        </p:nvSpPr>
        <p:spPr>
          <a:xfrm xmlns:a="http://schemas.openxmlformats.org/drawingml/2006/main">
            <a:off x="7315200" y="3486150"/>
            <a:ext cx="4210050" cy="2000250"/>
          </a:xfrm>
          <a:prstGeom xmlns:a="http://schemas.openxmlformats.org/drawingml/2006/main" prst="roundRect">
            <a:avLst>
              <a:gd name="adj" fmla="val 5714"/>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9A5615F4-BBE5-41BA-89F7-1FF1FF83A57B}"/>
              </a:ext>
            </a:extLst>
          </p:cNvPr>
          <p:cNvSpPr>
            <a:spLocks xmlns:a="http://schemas.openxmlformats.org/drawingml/2006/main" noGrp="1"/>
          </p:cNvSpPr>
          <p:nvPr/>
        </p:nvSpPr>
        <p:spPr>
          <a:xfrm xmlns:a="http://schemas.openxmlformats.org/drawingml/2006/main">
            <a:off x="7486650" y="36576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Measurement caveat</a:t>
            </a:r>
          </a:p>
        </p:txBody>
      </p:sp>
      <p:sp>
        <p:nvSpPr>
          <p:cNvPr id="16" name="">
            <a:extLst xmlns:a="http://schemas.openxmlformats.org/drawingml/2006/main">
              <a:ext uri="{FF2B5EF4-FFF2-40B4-BE49-F238E27FC236}">
                <a16:creationId xmlns:a16="http://schemas.microsoft.com/office/drawing/2014/main" id="{95B029B4-AB2A-4490-A64A-14A1E8FE8AE8}"/>
              </a:ext>
            </a:extLst>
          </p:cNvPr>
          <p:cNvSpPr>
            <a:spLocks xmlns:a="http://schemas.openxmlformats.org/drawingml/2006/main" noGrp="1"/>
          </p:cNvSpPr>
          <p:nvPr/>
        </p:nvSpPr>
        <p:spPr>
          <a:xfrm xmlns:a="http://schemas.openxmlformats.org/drawingml/2006/main">
            <a:off x="7486650" y="4076700"/>
            <a:ext cx="38671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An upward excursion can also arise from tracking failure, valve-plane contamination or interpolation. The feature is best described as curve-contour timing—not a direct biomarker of one mechanism.</a:t>
            </a:r>
          </a:p>
        </p:txBody>
      </p:sp>
      <p:sp>
        <p:nvSpPr>
          <p:cNvPr id="17" name="">
            <a:extLst xmlns:a="http://schemas.openxmlformats.org/drawingml/2006/main">
              <a:ext uri="{FF2B5EF4-FFF2-40B4-BE49-F238E27FC236}">
                <a16:creationId xmlns:a16="http://schemas.microsoft.com/office/drawing/2014/main" id="{63396540-0117-41C6-8764-CA0FB2E6C123}"/>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Catch22 feature documentation; local c1_min aggregation</a:t>
            </a:r>
          </a:p>
        </p:txBody>
      </p:sp>
    </p:spTree>
    <p:extLst>
      <p:ext uri="{BB962C8B-B14F-4D97-AF65-F5344CB8AC3E}">
        <p14:creationId xmlns:p14="http://schemas.microsoft.com/office/powerpoint/2010/main" val="143984947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0E81D45D-49CB-47F0-B276-37D73548C520}"/>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CATCH22 + XGBOOST · FEATURE MEANINGS</a:t>
            </a:r>
          </a:p>
        </p:txBody>
      </p:sp>
      <p:sp>
        <p:nvSpPr>
          <p:cNvPr id="2" name="">
            <a:extLst xmlns:a="http://schemas.openxmlformats.org/drawingml/2006/main">
              <a:ext uri="{FF2B5EF4-FFF2-40B4-BE49-F238E27FC236}">
                <a16:creationId xmlns:a16="http://schemas.microsoft.com/office/drawing/2014/main" id="{6394B9CD-DF25-4E8B-8BCA-7BC6FCA115BF}"/>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204"/>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Other high-value Catch22 features describe fluctuation and timing</a:t>
            </a:r>
          </a:p>
        </p:txBody>
      </p:sp>
      <p:sp>
        <p:nvSpPr>
          <p:cNvPr id="3" name="">
            <a:extLst xmlns:a="http://schemas.openxmlformats.org/drawingml/2006/main">
              <a:ext uri="{FF2B5EF4-FFF2-40B4-BE49-F238E27FC236}">
                <a16:creationId xmlns:a16="http://schemas.microsoft.com/office/drawing/2014/main" id="{1408964B-5777-4F54-B3BD-ED9C5EC8061D}"/>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9BA2E81-0AFC-4D4C-B090-0C728CA41C2A}"/>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7BAD93C3-5876-480A-8FF1-4B0E1BF63EC7}"/>
              </a:ext>
            </a:extLst>
          </p:cNvPr>
          <p:cNvSpPr>
            <a:spLocks xmlns:a="http://schemas.openxmlformats.org/drawingml/2006/main" noGrp="1"/>
          </p:cNvSpPr>
          <p:nvPr/>
        </p:nvSpPr>
        <p:spPr>
          <a:xfrm xmlns:a="http://schemas.openxmlformats.org/drawingml/2006/main">
            <a:off x="400050" y="1562100"/>
            <a:ext cx="2952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7EE86EC3-B172-4709-AAE5-AA3890EDD758}"/>
              </a:ext>
            </a:extLst>
          </p:cNvPr>
          <p:cNvSpPr>
            <a:spLocks xmlns:a="http://schemas.openxmlformats.org/drawingml/2006/main" noGrp="1"/>
          </p:cNvSpPr>
          <p:nvPr/>
        </p:nvSpPr>
        <p:spPr>
          <a:xfrm xmlns:a="http://schemas.openxmlformats.org/drawingml/2006/main">
            <a:off x="476250" y="1647825"/>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Technical name</a:t>
            </a:r>
          </a:p>
        </p:txBody>
      </p:sp>
      <p:sp>
        <p:nvSpPr>
          <p:cNvPr id="7" name="">
            <a:extLst xmlns:a="http://schemas.openxmlformats.org/drawingml/2006/main">
              <a:ext uri="{FF2B5EF4-FFF2-40B4-BE49-F238E27FC236}">
                <a16:creationId xmlns:a16="http://schemas.microsoft.com/office/drawing/2014/main" id="{03D69912-BC8C-47A2-B322-C033CD96F750}"/>
              </a:ext>
            </a:extLst>
          </p:cNvPr>
          <p:cNvSpPr>
            <a:spLocks xmlns:a="http://schemas.openxmlformats.org/drawingml/2006/main" noGrp="1"/>
          </p:cNvSpPr>
          <p:nvPr/>
        </p:nvSpPr>
        <p:spPr>
          <a:xfrm xmlns:a="http://schemas.openxmlformats.org/drawingml/2006/main">
            <a:off x="3352800" y="1562100"/>
            <a:ext cx="2000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4C898629-882C-4A51-BD1D-B0BE793E0A37}"/>
              </a:ext>
            </a:extLst>
          </p:cNvPr>
          <p:cNvSpPr>
            <a:spLocks xmlns:a="http://schemas.openxmlformats.org/drawingml/2006/main" noGrp="1"/>
          </p:cNvSpPr>
          <p:nvPr/>
        </p:nvSpPr>
        <p:spPr>
          <a:xfrm xmlns:a="http://schemas.openxmlformats.org/drawingml/2006/main">
            <a:off x="3429000" y="1647825"/>
            <a:ext cx="1847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Scope</a:t>
            </a:r>
          </a:p>
        </p:txBody>
      </p:sp>
      <p:sp>
        <p:nvSpPr>
          <p:cNvPr id="9" name="">
            <a:extLst xmlns:a="http://schemas.openxmlformats.org/drawingml/2006/main">
              <a:ext uri="{FF2B5EF4-FFF2-40B4-BE49-F238E27FC236}">
                <a16:creationId xmlns:a16="http://schemas.microsoft.com/office/drawing/2014/main" id="{52A75F9E-A2B2-4CC4-AFA6-2E0B8F97D6D1}"/>
              </a:ext>
            </a:extLst>
          </p:cNvPr>
          <p:cNvSpPr>
            <a:spLocks xmlns:a="http://schemas.openxmlformats.org/drawingml/2006/main" noGrp="1"/>
          </p:cNvSpPr>
          <p:nvPr/>
        </p:nvSpPr>
        <p:spPr>
          <a:xfrm xmlns:a="http://schemas.openxmlformats.org/drawingml/2006/main">
            <a:off x="5353050" y="1562100"/>
            <a:ext cx="31051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565206E4-285E-4FF7-AA03-86618D48BB3E}"/>
              </a:ext>
            </a:extLst>
          </p:cNvPr>
          <p:cNvSpPr>
            <a:spLocks xmlns:a="http://schemas.openxmlformats.org/drawingml/2006/main" noGrp="1"/>
          </p:cNvSpPr>
          <p:nvPr/>
        </p:nvSpPr>
        <p:spPr>
          <a:xfrm xmlns:a="http://schemas.openxmlformats.org/drawingml/2006/main">
            <a:off x="5429250" y="164782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Calculation</a:t>
            </a:r>
          </a:p>
        </p:txBody>
      </p:sp>
      <p:sp>
        <p:nvSpPr>
          <p:cNvPr id="11" name="">
            <a:extLst xmlns:a="http://schemas.openxmlformats.org/drawingml/2006/main">
              <a:ext uri="{FF2B5EF4-FFF2-40B4-BE49-F238E27FC236}">
                <a16:creationId xmlns:a16="http://schemas.microsoft.com/office/drawing/2014/main" id="{F1310119-9E54-4DD3-914F-2AFD2495FE93}"/>
              </a:ext>
            </a:extLst>
          </p:cNvPr>
          <p:cNvSpPr>
            <a:spLocks xmlns:a="http://schemas.openxmlformats.org/drawingml/2006/main" noGrp="1"/>
          </p:cNvSpPr>
          <p:nvPr/>
        </p:nvSpPr>
        <p:spPr>
          <a:xfrm xmlns:a="http://schemas.openxmlformats.org/drawingml/2006/main">
            <a:off x="8458200" y="1562100"/>
            <a:ext cx="3333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1BEE6DD7-8CBD-4B29-8CDA-D8157900D31D}"/>
              </a:ext>
            </a:extLst>
          </p:cNvPr>
          <p:cNvSpPr>
            <a:spLocks xmlns:a="http://schemas.openxmlformats.org/drawingml/2006/main" noGrp="1"/>
          </p:cNvSpPr>
          <p:nvPr/>
        </p:nvSpPr>
        <p:spPr>
          <a:xfrm xmlns:a="http://schemas.openxmlformats.org/drawingml/2006/main">
            <a:off x="8534400" y="164782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Possible meaning</a:t>
            </a:r>
          </a:p>
        </p:txBody>
      </p:sp>
      <p:sp>
        <p:nvSpPr>
          <p:cNvPr id="13" name="">
            <a:extLst xmlns:a="http://schemas.openxmlformats.org/drawingml/2006/main">
              <a:ext uri="{FF2B5EF4-FFF2-40B4-BE49-F238E27FC236}">
                <a16:creationId xmlns:a16="http://schemas.microsoft.com/office/drawing/2014/main" id="{96D2A00D-CFE9-47E6-BA24-472F28F769F4}"/>
              </a:ext>
            </a:extLst>
          </p:cNvPr>
          <p:cNvSpPr>
            <a:spLocks xmlns:a="http://schemas.openxmlformats.org/drawingml/2006/main" noGrp="1"/>
          </p:cNvSpPr>
          <p:nvPr/>
        </p:nvSpPr>
        <p:spPr>
          <a:xfrm xmlns:a="http://schemas.openxmlformats.org/drawingml/2006/main">
            <a:off x="400050" y="1943100"/>
            <a:ext cx="29527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D18146EF-63A0-4B1E-B836-52B8BB47281B}"/>
              </a:ext>
            </a:extLst>
          </p:cNvPr>
          <p:cNvSpPr>
            <a:spLocks xmlns:a="http://schemas.openxmlformats.org/drawingml/2006/main" noGrp="1"/>
          </p:cNvSpPr>
          <p:nvPr/>
        </p:nvSpPr>
        <p:spPr>
          <a:xfrm xmlns:a="http://schemas.openxmlformats.org/drawingml/2006/main">
            <a:off x="476250" y="2019300"/>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1" i="0">
                <a:solidFill>
                  <a:srgbClr val="050505"/>
                </a:solidFill>
                <a:latin typeface="Arial"/>
                <a:ea typeface="Arial"/>
                <a:cs typeface="Arial"/>
              </a:defRPr>
            </a:pPr>
            <a:r>
              <a:rPr sz="1088" b="1" i="0">
                <a:solidFill>
                  <a:srgbClr val="050505"/>
                </a:solidFill>
                <a:latin typeface="Arial"/>
                <a:ea typeface="Arial"/>
                <a:cs typeface="Arial"/>
              </a:rPr>
              <a:t>c5_median_MD_hrv_classic_pnn40</a:t>
            </a:r>
          </a:p>
        </p:txBody>
      </p:sp>
      <p:sp>
        <p:nvSpPr>
          <p:cNvPr id="15" name="">
            <a:extLst xmlns:a="http://schemas.openxmlformats.org/drawingml/2006/main">
              <a:ext uri="{FF2B5EF4-FFF2-40B4-BE49-F238E27FC236}">
                <a16:creationId xmlns:a16="http://schemas.microsoft.com/office/drawing/2014/main" id="{33B82F22-2A33-4857-AAC2-C9E7A467E7AD}"/>
              </a:ext>
            </a:extLst>
          </p:cNvPr>
          <p:cNvSpPr>
            <a:spLocks xmlns:a="http://schemas.openxmlformats.org/drawingml/2006/main" noGrp="1"/>
          </p:cNvSpPr>
          <p:nvPr/>
        </p:nvSpPr>
        <p:spPr>
          <a:xfrm xmlns:a="http://schemas.openxmlformats.org/drawingml/2006/main">
            <a:off x="3352800" y="1943100"/>
            <a:ext cx="20002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99FB606F-E047-46CA-853B-FBEE40E35BAD}"/>
              </a:ext>
            </a:extLst>
          </p:cNvPr>
          <p:cNvSpPr>
            <a:spLocks xmlns:a="http://schemas.openxmlformats.org/drawingml/2006/main" noGrp="1"/>
          </p:cNvSpPr>
          <p:nvPr/>
        </p:nvSpPr>
        <p:spPr>
          <a:xfrm xmlns:a="http://schemas.openxmlformats.org/drawingml/2006/main">
            <a:off x="3429000" y="201930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ΔMid · segment median</a:t>
            </a:r>
          </a:p>
        </p:txBody>
      </p:sp>
      <p:sp>
        <p:nvSpPr>
          <p:cNvPr id="17" name="">
            <a:extLst xmlns:a="http://schemas.openxmlformats.org/drawingml/2006/main">
              <a:ext uri="{FF2B5EF4-FFF2-40B4-BE49-F238E27FC236}">
                <a16:creationId xmlns:a16="http://schemas.microsoft.com/office/drawing/2014/main" id="{B508079F-3E30-423E-92E7-9C70EFBF38FE}"/>
              </a:ext>
            </a:extLst>
          </p:cNvPr>
          <p:cNvSpPr>
            <a:spLocks xmlns:a="http://schemas.openxmlformats.org/drawingml/2006/main" noGrp="1"/>
          </p:cNvSpPr>
          <p:nvPr/>
        </p:nvSpPr>
        <p:spPr>
          <a:xfrm xmlns:a="http://schemas.openxmlformats.org/drawingml/2006/main">
            <a:off x="5353050" y="1943100"/>
            <a:ext cx="31051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A15397FC-600A-4447-A3CA-53BA20A1E472}"/>
              </a:ext>
            </a:extLst>
          </p:cNvPr>
          <p:cNvSpPr>
            <a:spLocks xmlns:a="http://schemas.openxmlformats.org/drawingml/2006/main" noGrp="1"/>
          </p:cNvSpPr>
          <p:nvPr/>
        </p:nvSpPr>
        <p:spPr>
          <a:xfrm xmlns:a="http://schemas.openxmlformats.org/drawingml/2006/main">
            <a:off x="5429250" y="201930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Fraction of successive changes &gt; 0.04×curve SD</a:t>
            </a:r>
          </a:p>
        </p:txBody>
      </p:sp>
      <p:sp>
        <p:nvSpPr>
          <p:cNvPr id="19" name="">
            <a:extLst xmlns:a="http://schemas.openxmlformats.org/drawingml/2006/main">
              <a:ext uri="{FF2B5EF4-FFF2-40B4-BE49-F238E27FC236}">
                <a16:creationId xmlns:a16="http://schemas.microsoft.com/office/drawing/2014/main" id="{8E8BB679-C203-4CDC-8562-55AD6FFFE54B}"/>
              </a:ext>
            </a:extLst>
          </p:cNvPr>
          <p:cNvSpPr>
            <a:spLocks xmlns:a="http://schemas.openxmlformats.org/drawingml/2006/main" noGrp="1"/>
          </p:cNvSpPr>
          <p:nvPr/>
        </p:nvSpPr>
        <p:spPr>
          <a:xfrm xmlns:a="http://schemas.openxmlformats.org/drawingml/2006/main">
            <a:off x="8458200" y="1943100"/>
            <a:ext cx="33337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F3449C80-1994-4F0D-BD36-A6D6C7B8AC6F}"/>
              </a:ext>
            </a:extLst>
          </p:cNvPr>
          <p:cNvSpPr>
            <a:spLocks xmlns:a="http://schemas.openxmlformats.org/drawingml/2006/main" noGrp="1"/>
          </p:cNvSpPr>
          <p:nvPr/>
        </p:nvSpPr>
        <p:spPr>
          <a:xfrm xmlns:a="http://schemas.openxmlformats.org/drawingml/2006/main">
            <a:off x="8534400" y="201930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Point-to-point contour instability or sharp local change</a:t>
            </a:r>
          </a:p>
        </p:txBody>
      </p:sp>
      <p:sp>
        <p:nvSpPr>
          <p:cNvPr id="21" name="">
            <a:extLst xmlns:a="http://schemas.openxmlformats.org/drawingml/2006/main">
              <a:ext uri="{FF2B5EF4-FFF2-40B4-BE49-F238E27FC236}">
                <a16:creationId xmlns:a16="http://schemas.microsoft.com/office/drawing/2014/main" id="{17F880CF-1CC3-49CB-8937-CAAAB3D7F6DC}"/>
              </a:ext>
            </a:extLst>
          </p:cNvPr>
          <p:cNvSpPr>
            <a:spLocks xmlns:a="http://schemas.openxmlformats.org/drawingml/2006/main" noGrp="1"/>
          </p:cNvSpPr>
          <p:nvPr/>
        </p:nvSpPr>
        <p:spPr>
          <a:xfrm xmlns:a="http://schemas.openxmlformats.org/drawingml/2006/main">
            <a:off x="400050" y="2686050"/>
            <a:ext cx="29527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9DF1A547-5EDC-41CC-92EE-24F82DA236FC}"/>
              </a:ext>
            </a:extLst>
          </p:cNvPr>
          <p:cNvSpPr>
            <a:spLocks xmlns:a="http://schemas.openxmlformats.org/drawingml/2006/main" noGrp="1"/>
          </p:cNvSpPr>
          <p:nvPr/>
        </p:nvSpPr>
        <p:spPr>
          <a:xfrm xmlns:a="http://schemas.openxmlformats.org/drawingml/2006/main">
            <a:off x="476250" y="2762250"/>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1" i="0">
                <a:solidFill>
                  <a:srgbClr val="050505"/>
                </a:solidFill>
                <a:latin typeface="Arial"/>
                <a:ea typeface="Arial"/>
                <a:cs typeface="Arial"/>
              </a:defRPr>
            </a:pPr>
            <a:r>
              <a:rPr sz="1088" b="1" i="0">
                <a:solidFill>
                  <a:srgbClr val="050505"/>
                </a:solidFill>
                <a:latin typeface="Arial"/>
                <a:ea typeface="Arial"/>
                <a:cs typeface="Arial"/>
              </a:rPr>
              <a:t>c3_min_DN_HistogramMode_5</a:t>
            </a:r>
          </a:p>
        </p:txBody>
      </p:sp>
      <p:sp>
        <p:nvSpPr>
          <p:cNvPr id="23" name="">
            <a:extLst xmlns:a="http://schemas.openxmlformats.org/drawingml/2006/main">
              <a:ext uri="{FF2B5EF4-FFF2-40B4-BE49-F238E27FC236}">
                <a16:creationId xmlns:a16="http://schemas.microsoft.com/office/drawing/2014/main" id="{47E4D995-0308-41D5-8F00-6163F8ADBA5C}"/>
              </a:ext>
            </a:extLst>
          </p:cNvPr>
          <p:cNvSpPr>
            <a:spLocks xmlns:a="http://schemas.openxmlformats.org/drawingml/2006/main" noGrp="1"/>
          </p:cNvSpPr>
          <p:nvPr/>
        </p:nvSpPr>
        <p:spPr>
          <a:xfrm xmlns:a="http://schemas.openxmlformats.org/drawingml/2006/main">
            <a:off x="3352800" y="2686050"/>
            <a:ext cx="20002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C4E67E60-9655-4A34-90F9-A26173CDCB45}"/>
              </a:ext>
            </a:extLst>
          </p:cNvPr>
          <p:cNvSpPr>
            <a:spLocks xmlns:a="http://schemas.openxmlformats.org/drawingml/2006/main" noGrp="1"/>
          </p:cNvSpPr>
          <p:nvPr/>
        </p:nvSpPr>
        <p:spPr>
          <a:xfrm xmlns:a="http://schemas.openxmlformats.org/drawingml/2006/main">
            <a:off x="3429000" y="27622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Current gap · segment min</a:t>
            </a:r>
          </a:p>
        </p:txBody>
      </p:sp>
      <p:sp>
        <p:nvSpPr>
          <p:cNvPr id="25" name="">
            <a:extLst xmlns:a="http://schemas.openxmlformats.org/drawingml/2006/main">
              <a:ext uri="{FF2B5EF4-FFF2-40B4-BE49-F238E27FC236}">
                <a16:creationId xmlns:a16="http://schemas.microsoft.com/office/drawing/2014/main" id="{2DB83AEA-157A-4BF3-9FD0-DD4E837D2091}"/>
              </a:ext>
            </a:extLst>
          </p:cNvPr>
          <p:cNvSpPr>
            <a:spLocks xmlns:a="http://schemas.openxmlformats.org/drawingml/2006/main" noGrp="1"/>
          </p:cNvSpPr>
          <p:nvPr/>
        </p:nvSpPr>
        <p:spPr>
          <a:xfrm xmlns:a="http://schemas.openxmlformats.org/drawingml/2006/main">
            <a:off x="5353050" y="2686050"/>
            <a:ext cx="31051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2D965DA2-6E9C-470E-95D9-1CCF0D4BE632}"/>
              </a:ext>
            </a:extLst>
          </p:cNvPr>
          <p:cNvSpPr>
            <a:spLocks xmlns:a="http://schemas.openxmlformats.org/drawingml/2006/main" noGrp="1"/>
          </p:cNvSpPr>
          <p:nvPr/>
        </p:nvSpPr>
        <p:spPr>
          <a:xfrm xmlns:a="http://schemas.openxmlformats.org/drawingml/2006/main">
            <a:off x="5429250" y="27622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Mode of a 5-bin value histogram</a:t>
            </a:r>
          </a:p>
        </p:txBody>
      </p:sp>
      <p:sp>
        <p:nvSpPr>
          <p:cNvPr id="27" name="">
            <a:extLst xmlns:a="http://schemas.openxmlformats.org/drawingml/2006/main">
              <a:ext uri="{FF2B5EF4-FFF2-40B4-BE49-F238E27FC236}">
                <a16:creationId xmlns:a16="http://schemas.microsoft.com/office/drawing/2014/main" id="{39C1DAF6-5D84-4FA8-9E4A-D2C2E0A73EB4}"/>
              </a:ext>
            </a:extLst>
          </p:cNvPr>
          <p:cNvSpPr>
            <a:spLocks xmlns:a="http://schemas.openxmlformats.org/drawingml/2006/main" noGrp="1"/>
          </p:cNvSpPr>
          <p:nvPr/>
        </p:nvSpPr>
        <p:spPr>
          <a:xfrm xmlns:a="http://schemas.openxmlformats.org/drawingml/2006/main">
            <a:off x="8458200" y="2686050"/>
            <a:ext cx="33337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E707EEFC-9E36-4D9A-B787-681D1DB4EEF7}"/>
              </a:ext>
            </a:extLst>
          </p:cNvPr>
          <p:cNvSpPr>
            <a:spLocks xmlns:a="http://schemas.openxmlformats.org/drawingml/2006/main" noGrp="1"/>
          </p:cNvSpPr>
          <p:nvPr/>
        </p:nvSpPr>
        <p:spPr>
          <a:xfrm xmlns:a="http://schemas.openxmlformats.org/drawingml/2006/main">
            <a:off x="8534400" y="276225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Typical level/distribution of Endo−Mid discordance</a:t>
            </a:r>
          </a:p>
        </p:txBody>
      </p:sp>
      <p:sp>
        <p:nvSpPr>
          <p:cNvPr id="29" name="">
            <a:extLst xmlns:a="http://schemas.openxmlformats.org/drawingml/2006/main">
              <a:ext uri="{FF2B5EF4-FFF2-40B4-BE49-F238E27FC236}">
                <a16:creationId xmlns:a16="http://schemas.microsoft.com/office/drawing/2014/main" id="{D6EAF531-AB1F-409E-A521-5BD15572A53A}"/>
              </a:ext>
            </a:extLst>
          </p:cNvPr>
          <p:cNvSpPr>
            <a:spLocks xmlns:a="http://schemas.openxmlformats.org/drawingml/2006/main" noGrp="1"/>
          </p:cNvSpPr>
          <p:nvPr/>
        </p:nvSpPr>
        <p:spPr>
          <a:xfrm xmlns:a="http://schemas.openxmlformats.org/drawingml/2006/main">
            <a:off x="400050" y="3429000"/>
            <a:ext cx="29527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F4DB20AB-2ED8-4839-B335-CA946D70F7B9}"/>
              </a:ext>
            </a:extLst>
          </p:cNvPr>
          <p:cNvSpPr>
            <a:spLocks xmlns:a="http://schemas.openxmlformats.org/drawingml/2006/main" noGrp="1"/>
          </p:cNvSpPr>
          <p:nvPr/>
        </p:nvSpPr>
        <p:spPr>
          <a:xfrm xmlns:a="http://schemas.openxmlformats.org/drawingml/2006/main">
            <a:off x="476250" y="3505200"/>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1" i="0">
                <a:solidFill>
                  <a:srgbClr val="050505"/>
                </a:solidFill>
                <a:latin typeface="Arial"/>
                <a:ea typeface="Arial"/>
                <a:cs typeface="Arial"/>
              </a:defRPr>
            </a:pPr>
            <a:r>
              <a:rPr sz="1088" b="1" i="0">
                <a:solidFill>
                  <a:srgbClr val="050505"/>
                </a:solidFill>
                <a:latin typeface="Arial"/>
                <a:ea typeface="Arial"/>
                <a:cs typeface="Arial"/>
              </a:rPr>
              <a:t>c1_min_SP_…area_5_1</a:t>
            </a:r>
          </a:p>
        </p:txBody>
      </p:sp>
      <p:sp>
        <p:nvSpPr>
          <p:cNvPr id="31" name="">
            <a:extLst xmlns:a="http://schemas.openxmlformats.org/drawingml/2006/main">
              <a:ext uri="{FF2B5EF4-FFF2-40B4-BE49-F238E27FC236}">
                <a16:creationId xmlns:a16="http://schemas.microsoft.com/office/drawing/2014/main" id="{E328EE06-E2AE-495F-9F3B-C433A6A4EC35}"/>
              </a:ext>
            </a:extLst>
          </p:cNvPr>
          <p:cNvSpPr>
            <a:spLocks xmlns:a="http://schemas.openxmlformats.org/drawingml/2006/main" noGrp="1"/>
          </p:cNvSpPr>
          <p:nvPr/>
        </p:nvSpPr>
        <p:spPr>
          <a:xfrm xmlns:a="http://schemas.openxmlformats.org/drawingml/2006/main">
            <a:off x="3352800" y="3429000"/>
            <a:ext cx="20002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3B2122A1-87A4-42C6-B9C0-25D219F39B32}"/>
              </a:ext>
            </a:extLst>
          </p:cNvPr>
          <p:cNvSpPr>
            <a:spLocks xmlns:a="http://schemas.openxmlformats.org/drawingml/2006/main" noGrp="1"/>
          </p:cNvSpPr>
          <p:nvPr/>
        </p:nvSpPr>
        <p:spPr>
          <a:xfrm xmlns:a="http://schemas.openxmlformats.org/drawingml/2006/main">
            <a:off x="3429000" y="350520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Current Endo · segment min</a:t>
            </a:r>
          </a:p>
        </p:txBody>
      </p:sp>
      <p:sp>
        <p:nvSpPr>
          <p:cNvPr id="33" name="">
            <a:extLst xmlns:a="http://schemas.openxmlformats.org/drawingml/2006/main">
              <a:ext uri="{FF2B5EF4-FFF2-40B4-BE49-F238E27FC236}">
                <a16:creationId xmlns:a16="http://schemas.microsoft.com/office/drawing/2014/main" id="{5825FB73-C568-42DE-9690-A4E5760A9CBB}"/>
              </a:ext>
            </a:extLst>
          </p:cNvPr>
          <p:cNvSpPr>
            <a:spLocks xmlns:a="http://schemas.openxmlformats.org/drawingml/2006/main" noGrp="1"/>
          </p:cNvSpPr>
          <p:nvPr/>
        </p:nvSpPr>
        <p:spPr>
          <a:xfrm xmlns:a="http://schemas.openxmlformats.org/drawingml/2006/main">
            <a:off x="5353050" y="3429000"/>
            <a:ext cx="31051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FB7B809D-7F8A-4D2E-A3E1-1FA0311A7377}"/>
              </a:ext>
            </a:extLst>
          </p:cNvPr>
          <p:cNvSpPr>
            <a:spLocks xmlns:a="http://schemas.openxmlformats.org/drawingml/2006/main" noGrp="1"/>
          </p:cNvSpPr>
          <p:nvPr/>
        </p:nvSpPr>
        <p:spPr>
          <a:xfrm xmlns:a="http://schemas.openxmlformats.org/drawingml/2006/main">
            <a:off x="5429250" y="350520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Power in lowest 20% of frequencies</a:t>
            </a:r>
          </a:p>
        </p:txBody>
      </p:sp>
      <p:sp>
        <p:nvSpPr>
          <p:cNvPr id="35" name="">
            <a:extLst xmlns:a="http://schemas.openxmlformats.org/drawingml/2006/main">
              <a:ext uri="{FF2B5EF4-FFF2-40B4-BE49-F238E27FC236}">
                <a16:creationId xmlns:a16="http://schemas.microsoft.com/office/drawing/2014/main" id="{6DAF18AF-CD53-41C5-8648-C597035D99EA}"/>
              </a:ext>
            </a:extLst>
          </p:cNvPr>
          <p:cNvSpPr>
            <a:spLocks xmlns:a="http://schemas.openxmlformats.org/drawingml/2006/main" noGrp="1"/>
          </p:cNvSpPr>
          <p:nvPr/>
        </p:nvSpPr>
        <p:spPr>
          <a:xfrm xmlns:a="http://schemas.openxmlformats.org/drawingml/2006/main">
            <a:off x="8458200" y="3429000"/>
            <a:ext cx="33337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3DC9678D-382C-48C4-A4C3-1F5D9949D11E}"/>
              </a:ext>
            </a:extLst>
          </p:cNvPr>
          <p:cNvSpPr>
            <a:spLocks xmlns:a="http://schemas.openxmlformats.org/drawingml/2006/main" noGrp="1"/>
          </p:cNvSpPr>
          <p:nvPr/>
        </p:nvSpPr>
        <p:spPr>
          <a:xfrm xmlns:a="http://schemas.openxmlformats.org/drawingml/2006/main">
            <a:off x="8534400" y="350520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Broad, smooth cycle-scale variation vs rapid fluctuation</a:t>
            </a:r>
          </a:p>
        </p:txBody>
      </p:sp>
      <p:sp>
        <p:nvSpPr>
          <p:cNvPr id="37" name="">
            <a:extLst xmlns:a="http://schemas.openxmlformats.org/drawingml/2006/main">
              <a:ext uri="{FF2B5EF4-FFF2-40B4-BE49-F238E27FC236}">
                <a16:creationId xmlns:a16="http://schemas.microsoft.com/office/drawing/2014/main" id="{269F194A-DA1C-40E4-B410-2385AB07045D}"/>
              </a:ext>
            </a:extLst>
          </p:cNvPr>
          <p:cNvSpPr>
            <a:spLocks xmlns:a="http://schemas.openxmlformats.org/drawingml/2006/main" noGrp="1"/>
          </p:cNvSpPr>
          <p:nvPr/>
        </p:nvSpPr>
        <p:spPr>
          <a:xfrm xmlns:a="http://schemas.openxmlformats.org/drawingml/2006/main">
            <a:off x="400050" y="4171950"/>
            <a:ext cx="29527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2DFB03EC-F127-4056-B140-B520421DE5D4}"/>
              </a:ext>
            </a:extLst>
          </p:cNvPr>
          <p:cNvSpPr>
            <a:spLocks xmlns:a="http://schemas.openxmlformats.org/drawingml/2006/main" noGrp="1"/>
          </p:cNvSpPr>
          <p:nvPr/>
        </p:nvSpPr>
        <p:spPr>
          <a:xfrm xmlns:a="http://schemas.openxmlformats.org/drawingml/2006/main">
            <a:off x="476250" y="4248150"/>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1" i="0">
                <a:solidFill>
                  <a:srgbClr val="050505"/>
                </a:solidFill>
                <a:latin typeface="Arial"/>
                <a:ea typeface="Arial"/>
                <a:cs typeface="Arial"/>
              </a:defRPr>
            </a:pPr>
            <a:r>
              <a:rPr sz="1088" b="1" i="0">
                <a:solidFill>
                  <a:srgbClr val="050505"/>
                </a:solidFill>
                <a:latin typeface="Arial"/>
                <a:ea typeface="Arial"/>
                <a:cs typeface="Arial"/>
              </a:rPr>
              <a:t>c3_max_CO_f1ecac</a:t>
            </a:r>
          </a:p>
        </p:txBody>
      </p:sp>
      <p:sp>
        <p:nvSpPr>
          <p:cNvPr id="39" name="">
            <a:extLst xmlns:a="http://schemas.openxmlformats.org/drawingml/2006/main">
              <a:ext uri="{FF2B5EF4-FFF2-40B4-BE49-F238E27FC236}">
                <a16:creationId xmlns:a16="http://schemas.microsoft.com/office/drawing/2014/main" id="{AFA9C0A2-1AFF-4BF0-9752-84403F2B2BE2}"/>
              </a:ext>
            </a:extLst>
          </p:cNvPr>
          <p:cNvSpPr>
            <a:spLocks xmlns:a="http://schemas.openxmlformats.org/drawingml/2006/main" noGrp="1"/>
          </p:cNvSpPr>
          <p:nvPr/>
        </p:nvSpPr>
        <p:spPr>
          <a:xfrm xmlns:a="http://schemas.openxmlformats.org/drawingml/2006/main">
            <a:off x="3352800" y="4171950"/>
            <a:ext cx="20002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B6A26610-DE0C-4FA1-854B-4468D2215FD0}"/>
              </a:ext>
            </a:extLst>
          </p:cNvPr>
          <p:cNvSpPr>
            <a:spLocks xmlns:a="http://schemas.openxmlformats.org/drawingml/2006/main" noGrp="1"/>
          </p:cNvSpPr>
          <p:nvPr/>
        </p:nvSpPr>
        <p:spPr>
          <a:xfrm xmlns:a="http://schemas.openxmlformats.org/drawingml/2006/main">
            <a:off x="3429000" y="42481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Current gap · segment max</a:t>
            </a:r>
          </a:p>
        </p:txBody>
      </p:sp>
      <p:sp>
        <p:nvSpPr>
          <p:cNvPr id="41" name="">
            <a:extLst xmlns:a="http://schemas.openxmlformats.org/drawingml/2006/main">
              <a:ext uri="{FF2B5EF4-FFF2-40B4-BE49-F238E27FC236}">
                <a16:creationId xmlns:a16="http://schemas.microsoft.com/office/drawing/2014/main" id="{2B41930F-1127-4586-AB3C-810096A4B27C}"/>
              </a:ext>
            </a:extLst>
          </p:cNvPr>
          <p:cNvSpPr>
            <a:spLocks xmlns:a="http://schemas.openxmlformats.org/drawingml/2006/main" noGrp="1"/>
          </p:cNvSpPr>
          <p:nvPr/>
        </p:nvSpPr>
        <p:spPr>
          <a:xfrm xmlns:a="http://schemas.openxmlformats.org/drawingml/2006/main">
            <a:off x="5353050" y="4171950"/>
            <a:ext cx="31051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3C7A14D1-E105-4627-9DC4-67277AC95647}"/>
              </a:ext>
            </a:extLst>
          </p:cNvPr>
          <p:cNvSpPr>
            <a:spLocks xmlns:a="http://schemas.openxmlformats.org/drawingml/2006/main" noGrp="1"/>
          </p:cNvSpPr>
          <p:nvPr/>
        </p:nvSpPr>
        <p:spPr>
          <a:xfrm xmlns:a="http://schemas.openxmlformats.org/drawingml/2006/main">
            <a:off x="5429250" y="4248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First 1/e crossing of autocorrelation</a:t>
            </a:r>
          </a:p>
        </p:txBody>
      </p:sp>
      <p:sp>
        <p:nvSpPr>
          <p:cNvPr id="43" name="">
            <a:extLst xmlns:a="http://schemas.openxmlformats.org/drawingml/2006/main">
              <a:ext uri="{FF2B5EF4-FFF2-40B4-BE49-F238E27FC236}">
                <a16:creationId xmlns:a16="http://schemas.microsoft.com/office/drawing/2014/main" id="{45ADD510-626D-4905-B221-0056E9F9E944}"/>
              </a:ext>
            </a:extLst>
          </p:cNvPr>
          <p:cNvSpPr>
            <a:spLocks xmlns:a="http://schemas.openxmlformats.org/drawingml/2006/main" noGrp="1"/>
          </p:cNvSpPr>
          <p:nvPr/>
        </p:nvSpPr>
        <p:spPr>
          <a:xfrm xmlns:a="http://schemas.openxmlformats.org/drawingml/2006/main">
            <a:off x="8458200" y="4171950"/>
            <a:ext cx="3333750" cy="742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AC289FED-3438-4419-B8E7-F1FB9476D1BD}"/>
              </a:ext>
            </a:extLst>
          </p:cNvPr>
          <p:cNvSpPr>
            <a:spLocks xmlns:a="http://schemas.openxmlformats.org/drawingml/2006/main" noGrp="1"/>
          </p:cNvSpPr>
          <p:nvPr/>
        </p:nvSpPr>
        <p:spPr>
          <a:xfrm xmlns:a="http://schemas.openxmlformats.org/drawingml/2006/main">
            <a:off x="8534400" y="424815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Persistence/time scale of the gap waveform</a:t>
            </a:r>
          </a:p>
        </p:txBody>
      </p:sp>
      <p:sp>
        <p:nvSpPr>
          <p:cNvPr id="45" name="">
            <a:extLst xmlns:a="http://schemas.openxmlformats.org/drawingml/2006/main">
              <a:ext uri="{FF2B5EF4-FFF2-40B4-BE49-F238E27FC236}">
                <a16:creationId xmlns:a16="http://schemas.microsoft.com/office/drawing/2014/main" id="{0BB38ACA-7A60-4BE4-A62D-D6F185D34245}"/>
              </a:ext>
            </a:extLst>
          </p:cNvPr>
          <p:cNvSpPr>
            <a:spLocks xmlns:a="http://schemas.openxmlformats.org/drawingml/2006/main" noGrp="1"/>
          </p:cNvSpPr>
          <p:nvPr/>
        </p:nvSpPr>
        <p:spPr>
          <a:xfrm xmlns:a="http://schemas.openxmlformats.org/drawingml/2006/main">
            <a:off x="400050" y="4914900"/>
            <a:ext cx="29527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75616110-F584-4E09-87E2-82C95B3F0E14}"/>
              </a:ext>
            </a:extLst>
          </p:cNvPr>
          <p:cNvSpPr>
            <a:spLocks xmlns:a="http://schemas.openxmlformats.org/drawingml/2006/main" noGrp="1"/>
          </p:cNvSpPr>
          <p:nvPr/>
        </p:nvSpPr>
        <p:spPr>
          <a:xfrm xmlns:a="http://schemas.openxmlformats.org/drawingml/2006/main">
            <a:off x="476250" y="4991100"/>
            <a:ext cx="2800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1" i="0">
                <a:solidFill>
                  <a:srgbClr val="050505"/>
                </a:solidFill>
                <a:latin typeface="Arial"/>
                <a:ea typeface="Arial"/>
                <a:cs typeface="Arial"/>
              </a:defRPr>
            </a:pPr>
            <a:r>
              <a:rPr sz="1088" b="1" i="0">
                <a:solidFill>
                  <a:srgbClr val="050505"/>
                </a:solidFill>
                <a:latin typeface="Arial"/>
                <a:ea typeface="Arial"/>
                <a:cs typeface="Arial"/>
              </a:rPr>
              <a:t>c3_min_SB_Binary…longstretch1</a:t>
            </a:r>
          </a:p>
        </p:txBody>
      </p:sp>
      <p:sp>
        <p:nvSpPr>
          <p:cNvPr id="47" name="">
            <a:extLst xmlns:a="http://schemas.openxmlformats.org/drawingml/2006/main">
              <a:ext uri="{FF2B5EF4-FFF2-40B4-BE49-F238E27FC236}">
                <a16:creationId xmlns:a16="http://schemas.microsoft.com/office/drawing/2014/main" id="{D33CD334-6062-4B6E-8662-B153A79D4F21}"/>
              </a:ext>
            </a:extLst>
          </p:cNvPr>
          <p:cNvSpPr>
            <a:spLocks xmlns:a="http://schemas.openxmlformats.org/drawingml/2006/main" noGrp="1"/>
          </p:cNvSpPr>
          <p:nvPr/>
        </p:nvSpPr>
        <p:spPr>
          <a:xfrm xmlns:a="http://schemas.openxmlformats.org/drawingml/2006/main">
            <a:off x="3352800" y="4914900"/>
            <a:ext cx="20002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8" name="">
            <a:extLst xmlns:a="http://schemas.openxmlformats.org/drawingml/2006/main">
              <a:ext uri="{FF2B5EF4-FFF2-40B4-BE49-F238E27FC236}">
                <a16:creationId xmlns:a16="http://schemas.microsoft.com/office/drawing/2014/main" id="{2032E10B-295D-4288-AB62-CBF9D6392E2B}"/>
              </a:ext>
            </a:extLst>
          </p:cNvPr>
          <p:cNvSpPr>
            <a:spLocks xmlns:a="http://schemas.openxmlformats.org/drawingml/2006/main" noGrp="1"/>
          </p:cNvSpPr>
          <p:nvPr/>
        </p:nvSpPr>
        <p:spPr>
          <a:xfrm xmlns:a="http://schemas.openxmlformats.org/drawingml/2006/main">
            <a:off x="3429000" y="499110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Current gap · segment min</a:t>
            </a:r>
          </a:p>
        </p:txBody>
      </p:sp>
      <p:sp>
        <p:nvSpPr>
          <p:cNvPr id="49" name="">
            <a:extLst xmlns:a="http://schemas.openxmlformats.org/drawingml/2006/main">
              <a:ext uri="{FF2B5EF4-FFF2-40B4-BE49-F238E27FC236}">
                <a16:creationId xmlns:a16="http://schemas.microsoft.com/office/drawing/2014/main" id="{0A95CE9C-5222-44A4-AAFD-D19C36F7AE10}"/>
              </a:ext>
            </a:extLst>
          </p:cNvPr>
          <p:cNvSpPr>
            <a:spLocks xmlns:a="http://schemas.openxmlformats.org/drawingml/2006/main" noGrp="1"/>
          </p:cNvSpPr>
          <p:nvPr/>
        </p:nvSpPr>
        <p:spPr>
          <a:xfrm xmlns:a="http://schemas.openxmlformats.org/drawingml/2006/main">
            <a:off x="5353050" y="4914900"/>
            <a:ext cx="31051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0" name="">
            <a:extLst xmlns:a="http://schemas.openxmlformats.org/drawingml/2006/main">
              <a:ext uri="{FF2B5EF4-FFF2-40B4-BE49-F238E27FC236}">
                <a16:creationId xmlns:a16="http://schemas.microsoft.com/office/drawing/2014/main" id="{2A9B172F-FD61-4DE1-8AE0-8EF143BA441E}"/>
              </a:ext>
            </a:extLst>
          </p:cNvPr>
          <p:cNvSpPr>
            <a:spLocks xmlns:a="http://schemas.openxmlformats.org/drawingml/2006/main" noGrp="1"/>
          </p:cNvSpPr>
          <p:nvPr/>
        </p:nvSpPr>
        <p:spPr>
          <a:xfrm xmlns:a="http://schemas.openxmlformats.org/drawingml/2006/main">
            <a:off x="5429250" y="499110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Longest run above the curve mean</a:t>
            </a:r>
          </a:p>
        </p:txBody>
      </p:sp>
      <p:sp>
        <p:nvSpPr>
          <p:cNvPr id="51" name="">
            <a:extLst xmlns:a="http://schemas.openxmlformats.org/drawingml/2006/main">
              <a:ext uri="{FF2B5EF4-FFF2-40B4-BE49-F238E27FC236}">
                <a16:creationId xmlns:a16="http://schemas.microsoft.com/office/drawing/2014/main" id="{F0187620-A5AC-46CE-9AD2-5FDF5DEE64DE}"/>
              </a:ext>
            </a:extLst>
          </p:cNvPr>
          <p:cNvSpPr>
            <a:spLocks xmlns:a="http://schemas.openxmlformats.org/drawingml/2006/main" noGrp="1"/>
          </p:cNvSpPr>
          <p:nvPr/>
        </p:nvSpPr>
        <p:spPr>
          <a:xfrm xmlns:a="http://schemas.openxmlformats.org/drawingml/2006/main">
            <a:off x="8458200" y="4914900"/>
            <a:ext cx="3333750" cy="742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2" name="">
            <a:extLst xmlns:a="http://schemas.openxmlformats.org/drawingml/2006/main">
              <a:ext uri="{FF2B5EF4-FFF2-40B4-BE49-F238E27FC236}">
                <a16:creationId xmlns:a16="http://schemas.microsoft.com/office/drawing/2014/main" id="{5FD0B021-8864-49A3-983B-ADE5AA2AD511}"/>
              </a:ext>
            </a:extLst>
          </p:cNvPr>
          <p:cNvSpPr>
            <a:spLocks xmlns:a="http://schemas.openxmlformats.org/drawingml/2006/main" noGrp="1"/>
          </p:cNvSpPr>
          <p:nvPr/>
        </p:nvSpPr>
        <p:spPr>
          <a:xfrm xmlns:a="http://schemas.openxmlformats.org/drawingml/2006/main">
            <a:off x="8534400" y="499110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Duration of sustained above-mean gap behavior</a:t>
            </a:r>
          </a:p>
        </p:txBody>
      </p:sp>
      <p:sp>
        <p:nvSpPr>
          <p:cNvPr id="53" name="">
            <a:extLst xmlns:a="http://schemas.openxmlformats.org/drawingml/2006/main">
              <a:ext uri="{FF2B5EF4-FFF2-40B4-BE49-F238E27FC236}">
                <a16:creationId xmlns:a16="http://schemas.microsoft.com/office/drawing/2014/main" id="{967A3CB8-1F1D-47E5-A076-42968597D08F}"/>
              </a:ext>
            </a:extLst>
          </p:cNvPr>
          <p:cNvSpPr>
            <a:spLocks xmlns:a="http://schemas.openxmlformats.org/drawingml/2006/main" noGrp="1"/>
          </p:cNvSpPr>
          <p:nvPr/>
        </p:nvSpPr>
        <p:spPr>
          <a:xfrm xmlns:a="http://schemas.openxmlformats.org/drawingml/2006/main">
            <a:off x="1200150" y="5676900"/>
            <a:ext cx="979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9"/>
          </a:bodyPr>
          <a:lstStyle xmlns:a="http://schemas.openxmlformats.org/drawingml/2006/main"/>
          <a:p xmlns:a="http://schemas.openxmlformats.org/drawingml/2006/main">
            <a:pPr algn="ctr">
              <a:defRPr sz="1313" b="1" i="0">
                <a:solidFill>
                  <a:srgbClr val="050505"/>
                </a:solidFill>
                <a:latin typeface="Arial"/>
                <a:ea typeface="Arial"/>
                <a:cs typeface="Arial"/>
              </a:defRPr>
            </a:pPr>
            <a:r>
              <a:rPr sz="1313" b="1" i="0">
                <a:solidFill>
                  <a:srgbClr val="050505"/>
                </a:solidFill>
                <a:latin typeface="Arial"/>
                <a:ea typeface="Arial"/>
                <a:cs typeface="Arial"/>
              </a:rPr>
              <a:t>These are generic time-series descriptors. Physiological meaning depends on the channel to which the descriptor is applied.</a:t>
            </a:r>
          </a:p>
        </p:txBody>
      </p:sp>
      <p:sp>
        <p:nvSpPr>
          <p:cNvPr id="54" name="">
            <a:extLst xmlns:a="http://schemas.openxmlformats.org/drawingml/2006/main">
              <a:ext uri="{FF2B5EF4-FFF2-40B4-BE49-F238E27FC236}">
                <a16:creationId xmlns:a16="http://schemas.microsoft.com/office/drawing/2014/main" id="{2E94D8A8-B9DD-4791-8678-A874044CBFC3}"/>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Catch22 feature overview; native TreeSHAP ranking</a:t>
            </a:r>
          </a:p>
        </p:txBody>
      </p:sp>
    </p:spTree>
    <p:extLst>
      <p:ext uri="{BB962C8B-B14F-4D97-AF65-F5344CB8AC3E}">
        <p14:creationId xmlns:p14="http://schemas.microsoft.com/office/powerpoint/2010/main" val="14778984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33A44AEB-F4B2-4BFD-8A0E-D79FBB3DFE4C}"/>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INTEGRATED IMPORTANCE</a:t>
            </a:r>
          </a:p>
        </p:txBody>
      </p:sp>
      <p:sp>
        <p:nvSpPr>
          <p:cNvPr id="2" name="">
            <a:extLst xmlns:a="http://schemas.openxmlformats.org/drawingml/2006/main">
              <a:ext uri="{FF2B5EF4-FFF2-40B4-BE49-F238E27FC236}">
                <a16:creationId xmlns:a16="http://schemas.microsoft.com/office/drawing/2014/main" id="{D8F1468D-0000-4C22-895C-CC094FFE9908}"/>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Top five feature groups inside each ensemble</a:t>
            </a:r>
          </a:p>
        </p:txBody>
      </p:sp>
      <p:sp>
        <p:nvSpPr>
          <p:cNvPr id="3" name="">
            <a:extLst xmlns:a="http://schemas.openxmlformats.org/drawingml/2006/main">
              <a:ext uri="{FF2B5EF4-FFF2-40B4-BE49-F238E27FC236}">
                <a16:creationId xmlns:a16="http://schemas.microsoft.com/office/drawing/2014/main" id="{6108DCB8-43EF-4EE6-90EC-4D38BBEA15DA}"/>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BBD8332-D469-4F66-B535-A63B6CA02D64}"/>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1D7C67E1-CA65-41C7-8DA4-4EF0EB38E50A}"/>
              </a:ext>
            </a:extLst>
          </p:cNvPr>
          <p:cNvSpPr>
            <a:spLocks xmlns:a="http://schemas.openxmlformats.org/drawingml/2006/main" noGrp="1"/>
          </p:cNvSpPr>
          <p:nvPr/>
        </p:nvSpPr>
        <p:spPr>
          <a:xfrm xmlns:a="http://schemas.openxmlformats.org/drawingml/2006/main">
            <a:off x="400050" y="14287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3D8DFF"/>
                </a:solidFill>
                <a:latin typeface="Arial"/>
                <a:ea typeface="Arial"/>
                <a:cs typeface="Arial"/>
              </a:defRPr>
            </a:pPr>
            <a:r>
              <a:rPr sz="1500" b="1" i="0">
                <a:solidFill>
                  <a:srgbClr val="3D8DFF"/>
                </a:solidFill>
                <a:latin typeface="Arial"/>
                <a:ea typeface="Arial"/>
                <a:cs typeface="Arial"/>
              </a:rPr>
              <a:t>CNN + MOMENT + RDST</a:t>
            </a:r>
          </a:p>
        </p:txBody>
      </p:sp>
      <p:sp>
        <p:nvSpPr>
          <p:cNvPr id="6" name="">
            <a:extLst xmlns:a="http://schemas.openxmlformats.org/drawingml/2006/main">
              <a:ext uri="{FF2B5EF4-FFF2-40B4-BE49-F238E27FC236}">
                <a16:creationId xmlns:a16="http://schemas.microsoft.com/office/drawing/2014/main" id="{D7A4C591-089F-4A2A-95FF-C759D2D94B95}"/>
              </a:ext>
            </a:extLst>
          </p:cNvPr>
          <p:cNvSpPr>
            <a:spLocks xmlns:a="http://schemas.openxmlformats.org/drawingml/2006/main" noGrp="1"/>
          </p:cNvSpPr>
          <p:nvPr/>
        </p:nvSpPr>
        <p:spPr>
          <a:xfrm xmlns:a="http://schemas.openxmlformats.org/drawingml/2006/main">
            <a:off x="400050" y="18478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MOMENT segment max</a:t>
            </a:r>
          </a:p>
        </p:txBody>
      </p:sp>
      <p:sp>
        <p:nvSpPr>
          <p:cNvPr id="7" name="">
            <a:extLst xmlns:a="http://schemas.openxmlformats.org/drawingml/2006/main">
              <a:ext uri="{FF2B5EF4-FFF2-40B4-BE49-F238E27FC236}">
                <a16:creationId xmlns:a16="http://schemas.microsoft.com/office/drawing/2014/main" id="{ACF0BD7C-3378-4B7D-B0F7-1704CACE28FD}"/>
              </a:ext>
            </a:extLst>
          </p:cNvPr>
          <p:cNvSpPr>
            <a:spLocks xmlns:a="http://schemas.openxmlformats.org/drawingml/2006/main" noGrp="1"/>
          </p:cNvSpPr>
          <p:nvPr/>
        </p:nvSpPr>
        <p:spPr>
          <a:xfrm xmlns:a="http://schemas.openxmlformats.org/drawingml/2006/main">
            <a:off x="2747010" y="18859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8" name="">
            <a:extLst xmlns:a="http://schemas.openxmlformats.org/drawingml/2006/main">
              <a:ext uri="{FF2B5EF4-FFF2-40B4-BE49-F238E27FC236}">
                <a16:creationId xmlns:a16="http://schemas.microsoft.com/office/drawing/2014/main" id="{2442366C-3DDE-4D35-B16F-152F4C5FCEFB}"/>
              </a:ext>
            </a:extLst>
          </p:cNvPr>
          <p:cNvSpPr>
            <a:spLocks xmlns:a="http://schemas.openxmlformats.org/drawingml/2006/main" noGrp="1"/>
          </p:cNvSpPr>
          <p:nvPr/>
        </p:nvSpPr>
        <p:spPr>
          <a:xfrm xmlns:a="http://schemas.openxmlformats.org/drawingml/2006/main">
            <a:off x="2747010" y="1885950"/>
            <a:ext cx="1941576"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9" name="">
            <a:extLst xmlns:a="http://schemas.openxmlformats.org/drawingml/2006/main">
              <a:ext uri="{FF2B5EF4-FFF2-40B4-BE49-F238E27FC236}">
                <a16:creationId xmlns:a16="http://schemas.microsoft.com/office/drawing/2014/main" id="{9612AF83-9126-425A-9750-17D692FC56E8}"/>
              </a:ext>
            </a:extLst>
          </p:cNvPr>
          <p:cNvSpPr>
            <a:spLocks xmlns:a="http://schemas.openxmlformats.org/drawingml/2006/main" noGrp="1"/>
          </p:cNvSpPr>
          <p:nvPr/>
        </p:nvSpPr>
        <p:spPr>
          <a:xfrm xmlns:a="http://schemas.openxmlformats.org/drawingml/2006/main">
            <a:off x="5093970" y="18478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0.039</a:t>
            </a:r>
          </a:p>
        </p:txBody>
      </p:sp>
      <p:sp>
        <p:nvSpPr>
          <p:cNvPr id="10" name="">
            <a:extLst xmlns:a="http://schemas.openxmlformats.org/drawingml/2006/main">
              <a:ext uri="{FF2B5EF4-FFF2-40B4-BE49-F238E27FC236}">
                <a16:creationId xmlns:a16="http://schemas.microsoft.com/office/drawing/2014/main" id="{A83CDDFC-945F-4DDB-9A40-1B392375C5E1}"/>
              </a:ext>
            </a:extLst>
          </p:cNvPr>
          <p:cNvSpPr>
            <a:spLocks xmlns:a="http://schemas.openxmlformats.org/drawingml/2006/main" noGrp="1"/>
          </p:cNvSpPr>
          <p:nvPr/>
        </p:nvSpPr>
        <p:spPr>
          <a:xfrm xmlns:a="http://schemas.openxmlformats.org/drawingml/2006/main">
            <a:off x="2747010" y="20955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−0.000–0.074</a:t>
            </a:r>
          </a:p>
        </p:txBody>
      </p:sp>
      <p:sp>
        <p:nvSpPr>
          <p:cNvPr id="11" name="">
            <a:extLst xmlns:a="http://schemas.openxmlformats.org/drawingml/2006/main">
              <a:ext uri="{FF2B5EF4-FFF2-40B4-BE49-F238E27FC236}">
                <a16:creationId xmlns:a16="http://schemas.microsoft.com/office/drawing/2014/main" id="{D2FECAD1-B545-47D1-8793-201866F06262}"/>
              </a:ext>
            </a:extLst>
          </p:cNvPr>
          <p:cNvSpPr>
            <a:spLocks xmlns:a="http://schemas.openxmlformats.org/drawingml/2006/main" noGrp="1"/>
          </p:cNvSpPr>
          <p:nvPr/>
        </p:nvSpPr>
        <p:spPr>
          <a:xfrm xmlns:a="http://schemas.openxmlformats.org/drawingml/2006/main">
            <a:off x="400050" y="25336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RDST best-match location</a:t>
            </a:r>
          </a:p>
        </p:txBody>
      </p:sp>
      <p:sp>
        <p:nvSpPr>
          <p:cNvPr id="12" name="">
            <a:extLst xmlns:a="http://schemas.openxmlformats.org/drawingml/2006/main">
              <a:ext uri="{FF2B5EF4-FFF2-40B4-BE49-F238E27FC236}">
                <a16:creationId xmlns:a16="http://schemas.microsoft.com/office/drawing/2014/main" id="{24D8DE44-AAAA-4559-B856-577E9AE6065E}"/>
              </a:ext>
            </a:extLst>
          </p:cNvPr>
          <p:cNvSpPr>
            <a:spLocks xmlns:a="http://schemas.openxmlformats.org/drawingml/2006/main" noGrp="1"/>
          </p:cNvSpPr>
          <p:nvPr/>
        </p:nvSpPr>
        <p:spPr>
          <a:xfrm xmlns:a="http://schemas.openxmlformats.org/drawingml/2006/main">
            <a:off x="2747010" y="25717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3" name="">
            <a:extLst xmlns:a="http://schemas.openxmlformats.org/drawingml/2006/main">
              <a:ext uri="{FF2B5EF4-FFF2-40B4-BE49-F238E27FC236}">
                <a16:creationId xmlns:a16="http://schemas.microsoft.com/office/drawing/2014/main" id="{22F10353-0735-4FA2-8396-DABF15D66F8E}"/>
              </a:ext>
            </a:extLst>
          </p:cNvPr>
          <p:cNvSpPr>
            <a:spLocks xmlns:a="http://schemas.openxmlformats.org/drawingml/2006/main" noGrp="1"/>
          </p:cNvSpPr>
          <p:nvPr/>
        </p:nvSpPr>
        <p:spPr>
          <a:xfrm xmlns:a="http://schemas.openxmlformats.org/drawingml/2006/main">
            <a:off x="2747010" y="2571750"/>
            <a:ext cx="1493520"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14" name="">
            <a:extLst xmlns:a="http://schemas.openxmlformats.org/drawingml/2006/main">
              <a:ext uri="{FF2B5EF4-FFF2-40B4-BE49-F238E27FC236}">
                <a16:creationId xmlns:a16="http://schemas.microsoft.com/office/drawing/2014/main" id="{6438E04D-081C-43D2-971F-B7417ABC5D39}"/>
              </a:ext>
            </a:extLst>
          </p:cNvPr>
          <p:cNvSpPr>
            <a:spLocks xmlns:a="http://schemas.openxmlformats.org/drawingml/2006/main" noGrp="1"/>
          </p:cNvSpPr>
          <p:nvPr/>
        </p:nvSpPr>
        <p:spPr>
          <a:xfrm xmlns:a="http://schemas.openxmlformats.org/drawingml/2006/main">
            <a:off x="5093970" y="25336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0.030</a:t>
            </a:r>
          </a:p>
        </p:txBody>
      </p:sp>
      <p:sp>
        <p:nvSpPr>
          <p:cNvPr id="15" name="">
            <a:extLst xmlns:a="http://schemas.openxmlformats.org/drawingml/2006/main">
              <a:ext uri="{FF2B5EF4-FFF2-40B4-BE49-F238E27FC236}">
                <a16:creationId xmlns:a16="http://schemas.microsoft.com/office/drawing/2014/main" id="{5299F024-9DE5-4416-8689-10AB9315D166}"/>
              </a:ext>
            </a:extLst>
          </p:cNvPr>
          <p:cNvSpPr>
            <a:spLocks xmlns:a="http://schemas.openxmlformats.org/drawingml/2006/main" noGrp="1"/>
          </p:cNvSpPr>
          <p:nvPr/>
        </p:nvSpPr>
        <p:spPr>
          <a:xfrm xmlns:a="http://schemas.openxmlformats.org/drawingml/2006/main">
            <a:off x="2747010" y="27813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0.001–0.058</a:t>
            </a:r>
          </a:p>
        </p:txBody>
      </p:sp>
      <p:sp>
        <p:nvSpPr>
          <p:cNvPr id="16" name="">
            <a:extLst xmlns:a="http://schemas.openxmlformats.org/drawingml/2006/main">
              <a:ext uri="{FF2B5EF4-FFF2-40B4-BE49-F238E27FC236}">
                <a16:creationId xmlns:a16="http://schemas.microsoft.com/office/drawing/2014/main" id="{F6D26566-348E-45E9-B4DD-852334C99FF3}"/>
              </a:ext>
            </a:extLst>
          </p:cNvPr>
          <p:cNvSpPr>
            <a:spLocks xmlns:a="http://schemas.openxmlformats.org/drawingml/2006/main" noGrp="1"/>
          </p:cNvSpPr>
          <p:nvPr/>
        </p:nvSpPr>
        <p:spPr>
          <a:xfrm xmlns:a="http://schemas.openxmlformats.org/drawingml/2006/main">
            <a:off x="400050" y="32194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MOMENT ΔEndo−Mid</a:t>
            </a:r>
          </a:p>
        </p:txBody>
      </p:sp>
      <p:sp>
        <p:nvSpPr>
          <p:cNvPr id="17" name="">
            <a:extLst xmlns:a="http://schemas.openxmlformats.org/drawingml/2006/main">
              <a:ext uri="{FF2B5EF4-FFF2-40B4-BE49-F238E27FC236}">
                <a16:creationId xmlns:a16="http://schemas.microsoft.com/office/drawing/2014/main" id="{6D711856-769C-4AF6-A9F0-F96C04394497}"/>
              </a:ext>
            </a:extLst>
          </p:cNvPr>
          <p:cNvSpPr>
            <a:spLocks xmlns:a="http://schemas.openxmlformats.org/drawingml/2006/main" noGrp="1"/>
          </p:cNvSpPr>
          <p:nvPr/>
        </p:nvSpPr>
        <p:spPr>
          <a:xfrm xmlns:a="http://schemas.openxmlformats.org/drawingml/2006/main">
            <a:off x="2747010" y="32575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18" name="">
            <a:extLst xmlns:a="http://schemas.openxmlformats.org/drawingml/2006/main">
              <a:ext uri="{FF2B5EF4-FFF2-40B4-BE49-F238E27FC236}">
                <a16:creationId xmlns:a16="http://schemas.microsoft.com/office/drawing/2014/main" id="{865E0DC6-78AB-4593-BB31-2BC357815FFC}"/>
              </a:ext>
            </a:extLst>
          </p:cNvPr>
          <p:cNvSpPr>
            <a:spLocks xmlns:a="http://schemas.openxmlformats.org/drawingml/2006/main" noGrp="1"/>
          </p:cNvSpPr>
          <p:nvPr/>
        </p:nvSpPr>
        <p:spPr>
          <a:xfrm xmlns:a="http://schemas.openxmlformats.org/drawingml/2006/main">
            <a:off x="2747010" y="3257550"/>
            <a:ext cx="995680" cy="171450"/>
          </a:xfrm>
          <a:prstGeom xmlns:a="http://schemas.openxmlformats.org/drawingml/2006/main" prst="roundRect">
            <a:avLst>
              <a:gd name="adj" fmla="val 50000"/>
            </a:avLst>
          </a:prstGeom>
          <a:solidFill xmlns:a="http://schemas.openxmlformats.org/drawingml/2006/main">
            <a:srgbClr val="C94949"/>
          </a:solidFill>
          <a:ln xmlns:a="http://schemas.openxmlformats.org/drawingml/2006/main" w="0">
            <a:solidFill>
              <a:srgbClr val="C94949"/>
            </a:solidFill>
            <a:prstDash val="solid"/>
          </a:ln>
        </p:spPr>
      </p:sp>
      <p:sp>
        <p:nvSpPr>
          <p:cNvPr id="19" name="">
            <a:extLst xmlns:a="http://schemas.openxmlformats.org/drawingml/2006/main">
              <a:ext uri="{FF2B5EF4-FFF2-40B4-BE49-F238E27FC236}">
                <a16:creationId xmlns:a16="http://schemas.microsoft.com/office/drawing/2014/main" id="{C281969D-CA2B-4B8C-8ACE-AC305F29CE31}"/>
              </a:ext>
            </a:extLst>
          </p:cNvPr>
          <p:cNvSpPr>
            <a:spLocks xmlns:a="http://schemas.openxmlformats.org/drawingml/2006/main" noGrp="1"/>
          </p:cNvSpPr>
          <p:nvPr/>
        </p:nvSpPr>
        <p:spPr>
          <a:xfrm xmlns:a="http://schemas.openxmlformats.org/drawingml/2006/main">
            <a:off x="5093970" y="32194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0.020</a:t>
            </a:r>
          </a:p>
        </p:txBody>
      </p:sp>
      <p:sp>
        <p:nvSpPr>
          <p:cNvPr id="20" name="">
            <a:extLst xmlns:a="http://schemas.openxmlformats.org/drawingml/2006/main">
              <a:ext uri="{FF2B5EF4-FFF2-40B4-BE49-F238E27FC236}">
                <a16:creationId xmlns:a16="http://schemas.microsoft.com/office/drawing/2014/main" id="{32B768B7-CDF2-457F-B1D6-9FAA8A4E29B5}"/>
              </a:ext>
            </a:extLst>
          </p:cNvPr>
          <p:cNvSpPr>
            <a:spLocks xmlns:a="http://schemas.openxmlformats.org/drawingml/2006/main" noGrp="1"/>
          </p:cNvSpPr>
          <p:nvPr/>
        </p:nvSpPr>
        <p:spPr>
          <a:xfrm xmlns:a="http://schemas.openxmlformats.org/drawingml/2006/main">
            <a:off x="2747010" y="34671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−0.021–0.058</a:t>
            </a:r>
          </a:p>
        </p:txBody>
      </p:sp>
      <p:sp>
        <p:nvSpPr>
          <p:cNvPr id="21" name="">
            <a:extLst xmlns:a="http://schemas.openxmlformats.org/drawingml/2006/main">
              <a:ext uri="{FF2B5EF4-FFF2-40B4-BE49-F238E27FC236}">
                <a16:creationId xmlns:a16="http://schemas.microsoft.com/office/drawing/2014/main" id="{540D2826-4F57-4A49-979C-E8E67DCF3623}"/>
              </a:ext>
            </a:extLst>
          </p:cNvPr>
          <p:cNvSpPr>
            <a:spLocks xmlns:a="http://schemas.openxmlformats.org/drawingml/2006/main" noGrp="1"/>
          </p:cNvSpPr>
          <p:nvPr/>
        </p:nvSpPr>
        <p:spPr>
          <a:xfrm xmlns:a="http://schemas.openxmlformats.org/drawingml/2006/main">
            <a:off x="400050" y="39052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MOMENT all curve embeds</a:t>
            </a:r>
          </a:p>
        </p:txBody>
      </p:sp>
      <p:sp>
        <p:nvSpPr>
          <p:cNvPr id="22" name="">
            <a:extLst xmlns:a="http://schemas.openxmlformats.org/drawingml/2006/main">
              <a:ext uri="{FF2B5EF4-FFF2-40B4-BE49-F238E27FC236}">
                <a16:creationId xmlns:a16="http://schemas.microsoft.com/office/drawing/2014/main" id="{CE65A45D-7166-4978-A3C7-D9301F674C76}"/>
              </a:ext>
            </a:extLst>
          </p:cNvPr>
          <p:cNvSpPr>
            <a:spLocks xmlns:a="http://schemas.openxmlformats.org/drawingml/2006/main" noGrp="1"/>
          </p:cNvSpPr>
          <p:nvPr/>
        </p:nvSpPr>
        <p:spPr>
          <a:xfrm xmlns:a="http://schemas.openxmlformats.org/drawingml/2006/main">
            <a:off x="2747010" y="39433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3" name="">
            <a:extLst xmlns:a="http://schemas.openxmlformats.org/drawingml/2006/main">
              <a:ext uri="{FF2B5EF4-FFF2-40B4-BE49-F238E27FC236}">
                <a16:creationId xmlns:a16="http://schemas.microsoft.com/office/drawing/2014/main" id="{4D49CC72-C49D-49F6-B3C2-CF982A52A7BB}"/>
              </a:ext>
            </a:extLst>
          </p:cNvPr>
          <p:cNvSpPr>
            <a:spLocks xmlns:a="http://schemas.openxmlformats.org/drawingml/2006/main" noGrp="1"/>
          </p:cNvSpPr>
          <p:nvPr/>
        </p:nvSpPr>
        <p:spPr>
          <a:xfrm xmlns:a="http://schemas.openxmlformats.org/drawingml/2006/main">
            <a:off x="2747010" y="3943350"/>
            <a:ext cx="896112"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24" name="">
            <a:extLst xmlns:a="http://schemas.openxmlformats.org/drawingml/2006/main">
              <a:ext uri="{FF2B5EF4-FFF2-40B4-BE49-F238E27FC236}">
                <a16:creationId xmlns:a16="http://schemas.microsoft.com/office/drawing/2014/main" id="{92CE07E4-B265-4D95-97D1-5A448234BFE3}"/>
              </a:ext>
            </a:extLst>
          </p:cNvPr>
          <p:cNvSpPr>
            <a:spLocks xmlns:a="http://schemas.openxmlformats.org/drawingml/2006/main" noGrp="1"/>
          </p:cNvSpPr>
          <p:nvPr/>
        </p:nvSpPr>
        <p:spPr>
          <a:xfrm xmlns:a="http://schemas.openxmlformats.org/drawingml/2006/main">
            <a:off x="5093970" y="39052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0.018</a:t>
            </a:r>
          </a:p>
        </p:txBody>
      </p:sp>
      <p:sp>
        <p:nvSpPr>
          <p:cNvPr id="25" name="">
            <a:extLst xmlns:a="http://schemas.openxmlformats.org/drawingml/2006/main">
              <a:ext uri="{FF2B5EF4-FFF2-40B4-BE49-F238E27FC236}">
                <a16:creationId xmlns:a16="http://schemas.microsoft.com/office/drawing/2014/main" id="{72DFE686-B32C-4EE1-B20C-44C82B58DB2A}"/>
              </a:ext>
            </a:extLst>
          </p:cNvPr>
          <p:cNvSpPr>
            <a:spLocks xmlns:a="http://schemas.openxmlformats.org/drawingml/2006/main" noGrp="1"/>
          </p:cNvSpPr>
          <p:nvPr/>
        </p:nvSpPr>
        <p:spPr>
          <a:xfrm xmlns:a="http://schemas.openxmlformats.org/drawingml/2006/main">
            <a:off x="2747010" y="41529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−0.012–0.048</a:t>
            </a:r>
          </a:p>
        </p:txBody>
      </p:sp>
      <p:sp>
        <p:nvSpPr>
          <p:cNvPr id="26" name="">
            <a:extLst xmlns:a="http://schemas.openxmlformats.org/drawingml/2006/main">
              <a:ext uri="{FF2B5EF4-FFF2-40B4-BE49-F238E27FC236}">
                <a16:creationId xmlns:a16="http://schemas.microsoft.com/office/drawing/2014/main" id="{36B01D4F-CB75-42D8-AFB7-06FCF0CB9502}"/>
              </a:ext>
            </a:extLst>
          </p:cNvPr>
          <p:cNvSpPr>
            <a:spLocks xmlns:a="http://schemas.openxmlformats.org/drawingml/2006/main" noGrp="1"/>
          </p:cNvSpPr>
          <p:nvPr/>
        </p:nvSpPr>
        <p:spPr>
          <a:xfrm xmlns:a="http://schemas.openxmlformats.org/drawingml/2006/main">
            <a:off x="400050" y="45910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RDST all shapelets</a:t>
            </a:r>
          </a:p>
        </p:txBody>
      </p:sp>
      <p:sp>
        <p:nvSpPr>
          <p:cNvPr id="27" name="">
            <a:extLst xmlns:a="http://schemas.openxmlformats.org/drawingml/2006/main">
              <a:ext uri="{FF2B5EF4-FFF2-40B4-BE49-F238E27FC236}">
                <a16:creationId xmlns:a16="http://schemas.microsoft.com/office/drawing/2014/main" id="{40A28632-25E7-4A24-A728-C60D6F1F89D8}"/>
              </a:ext>
            </a:extLst>
          </p:cNvPr>
          <p:cNvSpPr>
            <a:spLocks xmlns:a="http://schemas.openxmlformats.org/drawingml/2006/main" noGrp="1"/>
          </p:cNvSpPr>
          <p:nvPr/>
        </p:nvSpPr>
        <p:spPr>
          <a:xfrm xmlns:a="http://schemas.openxmlformats.org/drawingml/2006/main">
            <a:off x="2747010" y="46291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28" name="">
            <a:extLst xmlns:a="http://schemas.openxmlformats.org/drawingml/2006/main">
              <a:ext uri="{FF2B5EF4-FFF2-40B4-BE49-F238E27FC236}">
                <a16:creationId xmlns:a16="http://schemas.microsoft.com/office/drawing/2014/main" id="{F2EB4DE3-D31C-461A-BE60-D2B3E1C3BA96}"/>
              </a:ext>
            </a:extLst>
          </p:cNvPr>
          <p:cNvSpPr>
            <a:spLocks xmlns:a="http://schemas.openxmlformats.org/drawingml/2006/main" noGrp="1"/>
          </p:cNvSpPr>
          <p:nvPr/>
        </p:nvSpPr>
        <p:spPr>
          <a:xfrm xmlns:a="http://schemas.openxmlformats.org/drawingml/2006/main">
            <a:off x="2747010" y="4629150"/>
            <a:ext cx="896112"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29" name="">
            <a:extLst xmlns:a="http://schemas.openxmlformats.org/drawingml/2006/main">
              <a:ext uri="{FF2B5EF4-FFF2-40B4-BE49-F238E27FC236}">
                <a16:creationId xmlns:a16="http://schemas.microsoft.com/office/drawing/2014/main" id="{C75445CC-3839-42CF-94BF-272068E75FF4}"/>
              </a:ext>
            </a:extLst>
          </p:cNvPr>
          <p:cNvSpPr>
            <a:spLocks xmlns:a="http://schemas.openxmlformats.org/drawingml/2006/main" noGrp="1"/>
          </p:cNvSpPr>
          <p:nvPr/>
        </p:nvSpPr>
        <p:spPr>
          <a:xfrm xmlns:a="http://schemas.openxmlformats.org/drawingml/2006/main">
            <a:off x="5093970" y="45910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0.018</a:t>
            </a:r>
          </a:p>
        </p:txBody>
      </p:sp>
      <p:sp>
        <p:nvSpPr>
          <p:cNvPr id="30" name="">
            <a:extLst xmlns:a="http://schemas.openxmlformats.org/drawingml/2006/main">
              <a:ext uri="{FF2B5EF4-FFF2-40B4-BE49-F238E27FC236}">
                <a16:creationId xmlns:a16="http://schemas.microsoft.com/office/drawing/2014/main" id="{BEFCE0AC-C092-4F77-840C-83433860607D}"/>
              </a:ext>
            </a:extLst>
          </p:cNvPr>
          <p:cNvSpPr>
            <a:spLocks xmlns:a="http://schemas.openxmlformats.org/drawingml/2006/main" noGrp="1"/>
          </p:cNvSpPr>
          <p:nvPr/>
        </p:nvSpPr>
        <p:spPr>
          <a:xfrm xmlns:a="http://schemas.openxmlformats.org/drawingml/2006/main">
            <a:off x="2747010" y="48387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−0.017–0.051</a:t>
            </a:r>
          </a:p>
        </p:txBody>
      </p:sp>
      <p:sp>
        <p:nvSpPr>
          <p:cNvPr id="31" name="">
            <a:extLst xmlns:a="http://schemas.openxmlformats.org/drawingml/2006/main">
              <a:ext uri="{FF2B5EF4-FFF2-40B4-BE49-F238E27FC236}">
                <a16:creationId xmlns:a16="http://schemas.microsoft.com/office/drawing/2014/main" id="{75A7EEBA-B091-4221-BBF7-A8270EE64F80}"/>
              </a:ext>
            </a:extLst>
          </p:cNvPr>
          <p:cNvSpPr>
            <a:spLocks xmlns:a="http://schemas.openxmlformats.org/drawingml/2006/main" noGrp="1"/>
          </p:cNvSpPr>
          <p:nvPr/>
        </p:nvSpPr>
        <p:spPr>
          <a:xfrm xmlns:a="http://schemas.openxmlformats.org/drawingml/2006/main">
            <a:off x="6191250" y="14287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F8A8A"/>
                </a:solidFill>
                <a:latin typeface="Arial"/>
                <a:ea typeface="Arial"/>
                <a:cs typeface="Arial"/>
              </a:defRPr>
            </a:pPr>
            <a:r>
              <a:rPr sz="1500" b="1" i="0">
                <a:solidFill>
                  <a:srgbClr val="1F8A8A"/>
                </a:solidFill>
                <a:latin typeface="Arial"/>
                <a:ea typeface="Arial"/>
                <a:cs typeface="Arial"/>
              </a:rPr>
              <a:t>CNN + MOMENT + Catch22</a:t>
            </a:r>
          </a:p>
        </p:txBody>
      </p:sp>
      <p:sp>
        <p:nvSpPr>
          <p:cNvPr id="32" name="">
            <a:extLst xmlns:a="http://schemas.openxmlformats.org/drawingml/2006/main">
              <a:ext uri="{FF2B5EF4-FFF2-40B4-BE49-F238E27FC236}">
                <a16:creationId xmlns:a16="http://schemas.microsoft.com/office/drawing/2014/main" id="{E9519783-C994-4743-906A-E88CA016E238}"/>
              </a:ext>
            </a:extLst>
          </p:cNvPr>
          <p:cNvSpPr>
            <a:spLocks xmlns:a="http://schemas.openxmlformats.org/drawingml/2006/main" noGrp="1"/>
          </p:cNvSpPr>
          <p:nvPr/>
        </p:nvSpPr>
        <p:spPr>
          <a:xfrm xmlns:a="http://schemas.openxmlformats.org/drawingml/2006/main">
            <a:off x="6191250" y="18478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MOMENT segment max</a:t>
            </a:r>
          </a:p>
        </p:txBody>
      </p:sp>
      <p:sp>
        <p:nvSpPr>
          <p:cNvPr id="33" name="">
            <a:extLst xmlns:a="http://schemas.openxmlformats.org/drawingml/2006/main">
              <a:ext uri="{FF2B5EF4-FFF2-40B4-BE49-F238E27FC236}">
                <a16:creationId xmlns:a16="http://schemas.microsoft.com/office/drawing/2014/main" id="{44E4951B-45B7-4A1E-A869-49BE4C863D7A}"/>
              </a:ext>
            </a:extLst>
          </p:cNvPr>
          <p:cNvSpPr>
            <a:spLocks xmlns:a="http://schemas.openxmlformats.org/drawingml/2006/main" noGrp="1"/>
          </p:cNvSpPr>
          <p:nvPr/>
        </p:nvSpPr>
        <p:spPr>
          <a:xfrm xmlns:a="http://schemas.openxmlformats.org/drawingml/2006/main">
            <a:off x="8538210" y="18859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34" name="">
            <a:extLst xmlns:a="http://schemas.openxmlformats.org/drawingml/2006/main">
              <a:ext uri="{FF2B5EF4-FFF2-40B4-BE49-F238E27FC236}">
                <a16:creationId xmlns:a16="http://schemas.microsoft.com/office/drawing/2014/main" id="{E66B237A-8DC8-4838-B213-0BD14FD01CEE}"/>
              </a:ext>
            </a:extLst>
          </p:cNvPr>
          <p:cNvSpPr>
            <a:spLocks xmlns:a="http://schemas.openxmlformats.org/drawingml/2006/main" noGrp="1"/>
          </p:cNvSpPr>
          <p:nvPr/>
        </p:nvSpPr>
        <p:spPr>
          <a:xfrm xmlns:a="http://schemas.openxmlformats.org/drawingml/2006/main">
            <a:off x="8538210" y="1885950"/>
            <a:ext cx="2090928" cy="17145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35" name="">
            <a:extLst xmlns:a="http://schemas.openxmlformats.org/drawingml/2006/main">
              <a:ext uri="{FF2B5EF4-FFF2-40B4-BE49-F238E27FC236}">
                <a16:creationId xmlns:a16="http://schemas.microsoft.com/office/drawing/2014/main" id="{51D71255-5D85-47F4-8D47-9E3FE5CFF86A}"/>
              </a:ext>
            </a:extLst>
          </p:cNvPr>
          <p:cNvSpPr>
            <a:spLocks xmlns:a="http://schemas.openxmlformats.org/drawingml/2006/main" noGrp="1"/>
          </p:cNvSpPr>
          <p:nvPr/>
        </p:nvSpPr>
        <p:spPr>
          <a:xfrm xmlns:a="http://schemas.openxmlformats.org/drawingml/2006/main">
            <a:off x="10885170" y="18478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0.042</a:t>
            </a:r>
          </a:p>
        </p:txBody>
      </p:sp>
      <p:sp>
        <p:nvSpPr>
          <p:cNvPr id="36" name="">
            <a:extLst xmlns:a="http://schemas.openxmlformats.org/drawingml/2006/main">
              <a:ext uri="{FF2B5EF4-FFF2-40B4-BE49-F238E27FC236}">
                <a16:creationId xmlns:a16="http://schemas.microsoft.com/office/drawing/2014/main" id="{D4B46EC7-1C38-48C2-BFF8-ECC5047B598E}"/>
              </a:ext>
            </a:extLst>
          </p:cNvPr>
          <p:cNvSpPr>
            <a:spLocks xmlns:a="http://schemas.openxmlformats.org/drawingml/2006/main" noGrp="1"/>
          </p:cNvSpPr>
          <p:nvPr/>
        </p:nvSpPr>
        <p:spPr>
          <a:xfrm xmlns:a="http://schemas.openxmlformats.org/drawingml/2006/main">
            <a:off x="8538210" y="20955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0.002–0.082</a:t>
            </a:r>
          </a:p>
        </p:txBody>
      </p:sp>
      <p:sp>
        <p:nvSpPr>
          <p:cNvPr id="37" name="">
            <a:extLst xmlns:a="http://schemas.openxmlformats.org/drawingml/2006/main">
              <a:ext uri="{FF2B5EF4-FFF2-40B4-BE49-F238E27FC236}">
                <a16:creationId xmlns:a16="http://schemas.microsoft.com/office/drawing/2014/main" id="{C3545889-A4F3-4964-91E3-9EE6A76AF768}"/>
              </a:ext>
            </a:extLst>
          </p:cNvPr>
          <p:cNvSpPr>
            <a:spLocks xmlns:a="http://schemas.openxmlformats.org/drawingml/2006/main" noGrp="1"/>
          </p:cNvSpPr>
          <p:nvPr/>
        </p:nvSpPr>
        <p:spPr>
          <a:xfrm xmlns:a="http://schemas.openxmlformats.org/drawingml/2006/main">
            <a:off x="6191250" y="25336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MOMENT ΔEndo−Mid</a:t>
            </a:r>
          </a:p>
        </p:txBody>
      </p:sp>
      <p:sp>
        <p:nvSpPr>
          <p:cNvPr id="38" name="">
            <a:extLst xmlns:a="http://schemas.openxmlformats.org/drawingml/2006/main">
              <a:ext uri="{FF2B5EF4-FFF2-40B4-BE49-F238E27FC236}">
                <a16:creationId xmlns:a16="http://schemas.microsoft.com/office/drawing/2014/main" id="{5B09D9ED-E6D4-4DB3-970D-18C249B85ED3}"/>
              </a:ext>
            </a:extLst>
          </p:cNvPr>
          <p:cNvSpPr>
            <a:spLocks xmlns:a="http://schemas.openxmlformats.org/drawingml/2006/main" noGrp="1"/>
          </p:cNvSpPr>
          <p:nvPr/>
        </p:nvSpPr>
        <p:spPr>
          <a:xfrm xmlns:a="http://schemas.openxmlformats.org/drawingml/2006/main">
            <a:off x="8538210" y="25717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39" name="">
            <a:extLst xmlns:a="http://schemas.openxmlformats.org/drawingml/2006/main">
              <a:ext uri="{FF2B5EF4-FFF2-40B4-BE49-F238E27FC236}">
                <a16:creationId xmlns:a16="http://schemas.microsoft.com/office/drawing/2014/main" id="{C5A5C9FB-881F-4129-8247-87DC0C2795BC}"/>
              </a:ext>
            </a:extLst>
          </p:cNvPr>
          <p:cNvSpPr>
            <a:spLocks xmlns:a="http://schemas.openxmlformats.org/drawingml/2006/main" noGrp="1"/>
          </p:cNvSpPr>
          <p:nvPr/>
        </p:nvSpPr>
        <p:spPr>
          <a:xfrm xmlns:a="http://schemas.openxmlformats.org/drawingml/2006/main">
            <a:off x="8538210" y="2571750"/>
            <a:ext cx="1095248" cy="171450"/>
          </a:xfrm>
          <a:prstGeom xmlns:a="http://schemas.openxmlformats.org/drawingml/2006/main" prst="roundRect">
            <a:avLst>
              <a:gd name="adj" fmla="val 50000"/>
            </a:avLst>
          </a:prstGeom>
          <a:solidFill xmlns:a="http://schemas.openxmlformats.org/drawingml/2006/main">
            <a:srgbClr val="C94949"/>
          </a:solidFill>
          <a:ln xmlns:a="http://schemas.openxmlformats.org/drawingml/2006/main" w="0">
            <a:solidFill>
              <a:srgbClr val="C94949"/>
            </a:solidFill>
            <a:prstDash val="solid"/>
          </a:ln>
        </p:spPr>
      </p:sp>
      <p:sp>
        <p:nvSpPr>
          <p:cNvPr id="40" name="">
            <a:extLst xmlns:a="http://schemas.openxmlformats.org/drawingml/2006/main">
              <a:ext uri="{FF2B5EF4-FFF2-40B4-BE49-F238E27FC236}">
                <a16:creationId xmlns:a16="http://schemas.microsoft.com/office/drawing/2014/main" id="{7F6DCC72-5437-4DE8-B46F-80A0BAD0DBD8}"/>
              </a:ext>
            </a:extLst>
          </p:cNvPr>
          <p:cNvSpPr>
            <a:spLocks xmlns:a="http://schemas.openxmlformats.org/drawingml/2006/main" noGrp="1"/>
          </p:cNvSpPr>
          <p:nvPr/>
        </p:nvSpPr>
        <p:spPr>
          <a:xfrm xmlns:a="http://schemas.openxmlformats.org/drawingml/2006/main">
            <a:off x="10885170" y="25336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0.022</a:t>
            </a:r>
          </a:p>
        </p:txBody>
      </p:sp>
      <p:sp>
        <p:nvSpPr>
          <p:cNvPr id="41" name="">
            <a:extLst xmlns:a="http://schemas.openxmlformats.org/drawingml/2006/main">
              <a:ext uri="{FF2B5EF4-FFF2-40B4-BE49-F238E27FC236}">
                <a16:creationId xmlns:a16="http://schemas.microsoft.com/office/drawing/2014/main" id="{75F4F864-3017-4088-AA93-75E71CC6922E}"/>
              </a:ext>
            </a:extLst>
          </p:cNvPr>
          <p:cNvSpPr>
            <a:spLocks xmlns:a="http://schemas.openxmlformats.org/drawingml/2006/main" noGrp="1"/>
          </p:cNvSpPr>
          <p:nvPr/>
        </p:nvSpPr>
        <p:spPr>
          <a:xfrm xmlns:a="http://schemas.openxmlformats.org/drawingml/2006/main">
            <a:off x="8538210" y="27813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−0.022–0.069</a:t>
            </a:r>
          </a:p>
        </p:txBody>
      </p:sp>
      <p:sp>
        <p:nvSpPr>
          <p:cNvPr id="42" name="">
            <a:extLst xmlns:a="http://schemas.openxmlformats.org/drawingml/2006/main">
              <a:ext uri="{FF2B5EF4-FFF2-40B4-BE49-F238E27FC236}">
                <a16:creationId xmlns:a16="http://schemas.microsoft.com/office/drawing/2014/main" id="{9956E50C-A2DD-4860-A622-AA84A39D7EFB}"/>
              </a:ext>
            </a:extLst>
          </p:cNvPr>
          <p:cNvSpPr>
            <a:spLocks xmlns:a="http://schemas.openxmlformats.org/drawingml/2006/main" noGrp="1"/>
          </p:cNvSpPr>
          <p:nvPr/>
        </p:nvSpPr>
        <p:spPr>
          <a:xfrm xmlns:a="http://schemas.openxmlformats.org/drawingml/2006/main">
            <a:off x="6191250" y="32194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MOMENT all curve embeds</a:t>
            </a:r>
          </a:p>
        </p:txBody>
      </p:sp>
      <p:sp>
        <p:nvSpPr>
          <p:cNvPr id="43" name="">
            <a:extLst xmlns:a="http://schemas.openxmlformats.org/drawingml/2006/main">
              <a:ext uri="{FF2B5EF4-FFF2-40B4-BE49-F238E27FC236}">
                <a16:creationId xmlns:a16="http://schemas.microsoft.com/office/drawing/2014/main" id="{04381967-57B8-4F84-917E-4C6A7FF36445}"/>
              </a:ext>
            </a:extLst>
          </p:cNvPr>
          <p:cNvSpPr>
            <a:spLocks xmlns:a="http://schemas.openxmlformats.org/drawingml/2006/main" noGrp="1"/>
          </p:cNvSpPr>
          <p:nvPr/>
        </p:nvSpPr>
        <p:spPr>
          <a:xfrm xmlns:a="http://schemas.openxmlformats.org/drawingml/2006/main">
            <a:off x="8538210" y="32575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44" name="">
            <a:extLst xmlns:a="http://schemas.openxmlformats.org/drawingml/2006/main">
              <a:ext uri="{FF2B5EF4-FFF2-40B4-BE49-F238E27FC236}">
                <a16:creationId xmlns:a16="http://schemas.microsoft.com/office/drawing/2014/main" id="{EAEA93C6-47E8-4288-9854-2506E28969F0}"/>
              </a:ext>
            </a:extLst>
          </p:cNvPr>
          <p:cNvSpPr>
            <a:spLocks xmlns:a="http://schemas.openxmlformats.org/drawingml/2006/main" noGrp="1"/>
          </p:cNvSpPr>
          <p:nvPr/>
        </p:nvSpPr>
        <p:spPr>
          <a:xfrm xmlns:a="http://schemas.openxmlformats.org/drawingml/2006/main">
            <a:off x="8538210" y="3257550"/>
            <a:ext cx="1045464" cy="17145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45" name="">
            <a:extLst xmlns:a="http://schemas.openxmlformats.org/drawingml/2006/main">
              <a:ext uri="{FF2B5EF4-FFF2-40B4-BE49-F238E27FC236}">
                <a16:creationId xmlns:a16="http://schemas.microsoft.com/office/drawing/2014/main" id="{7082B4D1-0D16-4570-9934-BE43A5CA8181}"/>
              </a:ext>
            </a:extLst>
          </p:cNvPr>
          <p:cNvSpPr>
            <a:spLocks xmlns:a="http://schemas.openxmlformats.org/drawingml/2006/main" noGrp="1"/>
          </p:cNvSpPr>
          <p:nvPr/>
        </p:nvSpPr>
        <p:spPr>
          <a:xfrm xmlns:a="http://schemas.openxmlformats.org/drawingml/2006/main">
            <a:off x="10885170" y="32194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0.021</a:t>
            </a:r>
          </a:p>
        </p:txBody>
      </p:sp>
      <p:sp>
        <p:nvSpPr>
          <p:cNvPr id="46" name="">
            <a:extLst xmlns:a="http://schemas.openxmlformats.org/drawingml/2006/main">
              <a:ext uri="{FF2B5EF4-FFF2-40B4-BE49-F238E27FC236}">
                <a16:creationId xmlns:a16="http://schemas.microsoft.com/office/drawing/2014/main" id="{9E5EFCA5-C2B6-4E72-8245-27516D072D29}"/>
              </a:ext>
            </a:extLst>
          </p:cNvPr>
          <p:cNvSpPr>
            <a:spLocks xmlns:a="http://schemas.openxmlformats.org/drawingml/2006/main" noGrp="1"/>
          </p:cNvSpPr>
          <p:nvPr/>
        </p:nvSpPr>
        <p:spPr>
          <a:xfrm xmlns:a="http://schemas.openxmlformats.org/drawingml/2006/main">
            <a:off x="8538210" y="34671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−0.010–0.052</a:t>
            </a:r>
          </a:p>
        </p:txBody>
      </p:sp>
      <p:sp>
        <p:nvSpPr>
          <p:cNvPr id="47" name="">
            <a:extLst xmlns:a="http://schemas.openxmlformats.org/drawingml/2006/main">
              <a:ext uri="{FF2B5EF4-FFF2-40B4-BE49-F238E27FC236}">
                <a16:creationId xmlns:a16="http://schemas.microsoft.com/office/drawing/2014/main" id="{8D353DBC-8F83-4FC4-95EA-F409D0D00812}"/>
              </a:ext>
            </a:extLst>
          </p:cNvPr>
          <p:cNvSpPr>
            <a:spLocks xmlns:a="http://schemas.openxmlformats.org/drawingml/2006/main" noGrp="1"/>
          </p:cNvSpPr>
          <p:nvPr/>
        </p:nvSpPr>
        <p:spPr>
          <a:xfrm xmlns:a="http://schemas.openxmlformats.org/drawingml/2006/main">
            <a:off x="6191250" y="39052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CNN all scalars</a:t>
            </a:r>
          </a:p>
        </p:txBody>
      </p:sp>
      <p:sp>
        <p:nvSpPr>
          <p:cNvPr id="48" name="">
            <a:extLst xmlns:a="http://schemas.openxmlformats.org/drawingml/2006/main">
              <a:ext uri="{FF2B5EF4-FFF2-40B4-BE49-F238E27FC236}">
                <a16:creationId xmlns:a16="http://schemas.microsoft.com/office/drawing/2014/main" id="{F3B1DE50-92E8-4595-8AF8-4347D4764DDB}"/>
              </a:ext>
            </a:extLst>
          </p:cNvPr>
          <p:cNvSpPr>
            <a:spLocks xmlns:a="http://schemas.openxmlformats.org/drawingml/2006/main" noGrp="1"/>
          </p:cNvSpPr>
          <p:nvPr/>
        </p:nvSpPr>
        <p:spPr>
          <a:xfrm xmlns:a="http://schemas.openxmlformats.org/drawingml/2006/main">
            <a:off x="8538210" y="39433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49" name="">
            <a:extLst xmlns:a="http://schemas.openxmlformats.org/drawingml/2006/main">
              <a:ext uri="{FF2B5EF4-FFF2-40B4-BE49-F238E27FC236}">
                <a16:creationId xmlns:a16="http://schemas.microsoft.com/office/drawing/2014/main" id="{CDA3BEB6-2803-4023-93AB-1FD9F68A35AA}"/>
              </a:ext>
            </a:extLst>
          </p:cNvPr>
          <p:cNvSpPr>
            <a:spLocks xmlns:a="http://schemas.openxmlformats.org/drawingml/2006/main" noGrp="1"/>
          </p:cNvSpPr>
          <p:nvPr/>
        </p:nvSpPr>
        <p:spPr>
          <a:xfrm xmlns:a="http://schemas.openxmlformats.org/drawingml/2006/main">
            <a:off x="8538210" y="3943350"/>
            <a:ext cx="746760" cy="1714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50" name="">
            <a:extLst xmlns:a="http://schemas.openxmlformats.org/drawingml/2006/main">
              <a:ext uri="{FF2B5EF4-FFF2-40B4-BE49-F238E27FC236}">
                <a16:creationId xmlns:a16="http://schemas.microsoft.com/office/drawing/2014/main" id="{C65C074F-0395-4788-B039-B03E7C1CE6DE}"/>
              </a:ext>
            </a:extLst>
          </p:cNvPr>
          <p:cNvSpPr>
            <a:spLocks xmlns:a="http://schemas.openxmlformats.org/drawingml/2006/main" noGrp="1"/>
          </p:cNvSpPr>
          <p:nvPr/>
        </p:nvSpPr>
        <p:spPr>
          <a:xfrm xmlns:a="http://schemas.openxmlformats.org/drawingml/2006/main">
            <a:off x="10885170" y="39052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0.015</a:t>
            </a:r>
          </a:p>
        </p:txBody>
      </p:sp>
      <p:sp>
        <p:nvSpPr>
          <p:cNvPr id="51" name="">
            <a:extLst xmlns:a="http://schemas.openxmlformats.org/drawingml/2006/main">
              <a:ext uri="{FF2B5EF4-FFF2-40B4-BE49-F238E27FC236}">
                <a16:creationId xmlns:a16="http://schemas.microsoft.com/office/drawing/2014/main" id="{637D70A0-3041-4AD6-985B-7E3B1B79649B}"/>
              </a:ext>
            </a:extLst>
          </p:cNvPr>
          <p:cNvSpPr>
            <a:spLocks xmlns:a="http://schemas.openxmlformats.org/drawingml/2006/main" noGrp="1"/>
          </p:cNvSpPr>
          <p:nvPr/>
        </p:nvSpPr>
        <p:spPr>
          <a:xfrm xmlns:a="http://schemas.openxmlformats.org/drawingml/2006/main">
            <a:off x="8538210" y="41529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0.001–0.029</a:t>
            </a:r>
          </a:p>
        </p:txBody>
      </p:sp>
      <p:sp>
        <p:nvSpPr>
          <p:cNvPr id="52" name="">
            <a:extLst xmlns:a="http://schemas.openxmlformats.org/drawingml/2006/main">
              <a:ext uri="{FF2B5EF4-FFF2-40B4-BE49-F238E27FC236}">
                <a16:creationId xmlns:a16="http://schemas.microsoft.com/office/drawing/2014/main" id="{C639FE81-2D61-4631-B720-D220B5A97AF7}"/>
              </a:ext>
            </a:extLst>
          </p:cNvPr>
          <p:cNvSpPr>
            <a:spLocks xmlns:a="http://schemas.openxmlformats.org/drawingml/2006/main" noGrp="1"/>
          </p:cNvSpPr>
          <p:nvPr/>
        </p:nvSpPr>
        <p:spPr>
          <a:xfrm xmlns:a="http://schemas.openxmlformats.org/drawingml/2006/main">
            <a:off x="6191250" y="4591050"/>
            <a:ext cx="224028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050505"/>
                </a:solidFill>
                <a:latin typeface="Arial"/>
                <a:ea typeface="Arial"/>
                <a:cs typeface="Arial"/>
              </a:defRPr>
            </a:pPr>
            <a:r>
              <a:rPr sz="1163" b="0" i="0">
                <a:solidFill>
                  <a:srgbClr val="050505"/>
                </a:solidFill>
                <a:latin typeface="Arial"/>
                <a:ea typeface="Arial"/>
                <a:cs typeface="Arial"/>
              </a:rPr>
              <a:t>Catch22 Endo outlier timing</a:t>
            </a:r>
          </a:p>
        </p:txBody>
      </p:sp>
      <p:sp>
        <p:nvSpPr>
          <p:cNvPr id="53" name="">
            <a:extLst xmlns:a="http://schemas.openxmlformats.org/drawingml/2006/main">
              <a:ext uri="{FF2B5EF4-FFF2-40B4-BE49-F238E27FC236}">
                <a16:creationId xmlns:a16="http://schemas.microsoft.com/office/drawing/2014/main" id="{764886B4-ADA7-4F8C-BC0F-AB00224FBCE4}"/>
              </a:ext>
            </a:extLst>
          </p:cNvPr>
          <p:cNvSpPr>
            <a:spLocks xmlns:a="http://schemas.openxmlformats.org/drawingml/2006/main" noGrp="1"/>
          </p:cNvSpPr>
          <p:nvPr/>
        </p:nvSpPr>
        <p:spPr>
          <a:xfrm xmlns:a="http://schemas.openxmlformats.org/drawingml/2006/main">
            <a:off x="8538210" y="4629150"/>
            <a:ext cx="2240280" cy="171450"/>
          </a:xfrm>
          <a:prstGeom xmlns:a="http://schemas.openxmlformats.org/drawingml/2006/main" prst="roundRect">
            <a:avLst>
              <a:gd name="adj" fmla="val 50000"/>
            </a:avLst>
          </a:prstGeom>
          <a:solidFill xmlns:a="http://schemas.openxmlformats.org/drawingml/2006/main">
            <a:srgbClr val="EDEDED"/>
          </a:solidFill>
          <a:ln xmlns:a="http://schemas.openxmlformats.org/drawingml/2006/main" w="0">
            <a:solidFill>
              <a:srgbClr val="EDEDED"/>
            </a:solidFill>
            <a:prstDash val="solid"/>
          </a:ln>
        </p:spPr>
      </p:sp>
      <p:sp>
        <p:nvSpPr>
          <p:cNvPr id="54" name="">
            <a:extLst xmlns:a="http://schemas.openxmlformats.org/drawingml/2006/main">
              <a:ext uri="{FF2B5EF4-FFF2-40B4-BE49-F238E27FC236}">
                <a16:creationId xmlns:a16="http://schemas.microsoft.com/office/drawing/2014/main" id="{3E0A24D3-DDA4-4034-8311-B32E7BEA86ED}"/>
              </a:ext>
            </a:extLst>
          </p:cNvPr>
          <p:cNvSpPr>
            <a:spLocks xmlns:a="http://schemas.openxmlformats.org/drawingml/2006/main" noGrp="1"/>
          </p:cNvSpPr>
          <p:nvPr/>
        </p:nvSpPr>
        <p:spPr>
          <a:xfrm xmlns:a="http://schemas.openxmlformats.org/drawingml/2006/main">
            <a:off x="8538210" y="4629150"/>
            <a:ext cx="746760" cy="17145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55" name="">
            <a:extLst xmlns:a="http://schemas.openxmlformats.org/drawingml/2006/main">
              <a:ext uri="{FF2B5EF4-FFF2-40B4-BE49-F238E27FC236}">
                <a16:creationId xmlns:a16="http://schemas.microsoft.com/office/drawing/2014/main" id="{4FD7CA29-9079-404E-900E-995052C18923}"/>
              </a:ext>
            </a:extLst>
          </p:cNvPr>
          <p:cNvSpPr>
            <a:spLocks xmlns:a="http://schemas.openxmlformats.org/drawingml/2006/main" noGrp="1"/>
          </p:cNvSpPr>
          <p:nvPr/>
        </p:nvSpPr>
        <p:spPr>
          <a:xfrm xmlns:a="http://schemas.openxmlformats.org/drawingml/2006/main">
            <a:off x="10885170" y="4591050"/>
            <a:ext cx="6400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i="0">
                <a:solidFill>
                  <a:srgbClr val="050505"/>
                </a:solidFill>
                <a:latin typeface="Arial"/>
                <a:ea typeface="Arial"/>
                <a:cs typeface="Arial"/>
              </a:defRPr>
            </a:pPr>
            <a:r>
              <a:rPr sz="1125" b="1" i="0">
                <a:solidFill>
                  <a:srgbClr val="050505"/>
                </a:solidFill>
                <a:latin typeface="Arial"/>
                <a:ea typeface="Arial"/>
                <a:cs typeface="Arial"/>
              </a:rPr>
              <a:t>0.015</a:t>
            </a:r>
          </a:p>
        </p:txBody>
      </p:sp>
      <p:sp>
        <p:nvSpPr>
          <p:cNvPr id="56" name="">
            <a:extLst xmlns:a="http://schemas.openxmlformats.org/drawingml/2006/main">
              <a:ext uri="{FF2B5EF4-FFF2-40B4-BE49-F238E27FC236}">
                <a16:creationId xmlns:a16="http://schemas.microsoft.com/office/drawing/2014/main" id="{055D32C5-A036-4CED-830F-EECEA5A92DD5}"/>
              </a:ext>
            </a:extLst>
          </p:cNvPr>
          <p:cNvSpPr>
            <a:spLocks xmlns:a="http://schemas.openxmlformats.org/drawingml/2006/main" noGrp="1"/>
          </p:cNvSpPr>
          <p:nvPr/>
        </p:nvSpPr>
        <p:spPr>
          <a:xfrm xmlns:a="http://schemas.openxmlformats.org/drawingml/2006/main">
            <a:off x="8538210" y="4838700"/>
            <a:ext cx="288036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63" b="0" i="0">
                <a:solidFill>
                  <a:srgbClr val="5B616B"/>
                </a:solidFill>
                <a:latin typeface="Arial"/>
                <a:ea typeface="Arial"/>
                <a:cs typeface="Arial"/>
              </a:defRPr>
            </a:pPr>
            <a:r>
              <a:rPr sz="863" b="0" i="0">
                <a:solidFill>
                  <a:srgbClr val="5B616B"/>
                </a:solidFill>
                <a:latin typeface="Arial"/>
                <a:ea typeface="Arial"/>
                <a:cs typeface="Arial"/>
              </a:rPr>
              <a:t>CI 0.002–0.027</a:t>
            </a:r>
          </a:p>
        </p:txBody>
      </p:sp>
      <p:sp>
        <p:nvSpPr>
          <p:cNvPr id="57" name="">
            <a:extLst xmlns:a="http://schemas.openxmlformats.org/drawingml/2006/main">
              <a:ext uri="{FF2B5EF4-FFF2-40B4-BE49-F238E27FC236}">
                <a16:creationId xmlns:a16="http://schemas.microsoft.com/office/drawing/2014/main" id="{C838D490-1D47-494C-8A63-308CA51B4637}"/>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joint ensemble perturbation ΔAUC; correlated groups can share importance</a:t>
            </a:r>
          </a:p>
        </p:txBody>
      </p:sp>
    </p:spTree>
    <p:extLst>
      <p:ext uri="{BB962C8B-B14F-4D97-AF65-F5344CB8AC3E}">
        <p14:creationId xmlns:p14="http://schemas.microsoft.com/office/powerpoint/2010/main" val="19004842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38E1813-DD3B-44ED-B923-6A492E89AD77}"/>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PHYSIOLOGICAL SYNTHESIS</a:t>
            </a:r>
          </a:p>
        </p:txBody>
      </p:sp>
      <p:sp>
        <p:nvSpPr>
          <p:cNvPr id="2" name="">
            <a:extLst xmlns:a="http://schemas.openxmlformats.org/drawingml/2006/main">
              <a:ext uri="{FF2B5EF4-FFF2-40B4-BE49-F238E27FC236}">
                <a16:creationId xmlns:a16="http://schemas.microsoft.com/office/drawing/2014/main" id="{50B4D266-7CD3-420D-9BE1-9332C02072EE}"/>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41"/>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The strongest evidence favors spatial–temporal heterogeneity</a:t>
            </a:r>
          </a:p>
        </p:txBody>
      </p:sp>
      <p:sp>
        <p:nvSpPr>
          <p:cNvPr id="3" name="">
            <a:extLst xmlns:a="http://schemas.openxmlformats.org/drawingml/2006/main">
              <a:ext uri="{FF2B5EF4-FFF2-40B4-BE49-F238E27FC236}">
                <a16:creationId xmlns:a16="http://schemas.microsoft.com/office/drawing/2014/main" id="{8C94C38B-CCBF-4C7F-A22A-CDC97122550D}"/>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F95EA56-7B19-4597-91AB-E266AD0943F6}"/>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A9C1DC63-C1D6-4B69-B0A5-52296F227BE9}"/>
              </a:ext>
            </a:extLst>
          </p:cNvPr>
          <p:cNvSpPr>
            <a:spLocks xmlns:a="http://schemas.openxmlformats.org/drawingml/2006/main" noGrp="1"/>
          </p:cNvSpPr>
          <p:nvPr/>
        </p:nvSpPr>
        <p:spPr>
          <a:xfrm xmlns:a="http://schemas.openxmlformats.org/drawingml/2006/main">
            <a:off x="400050" y="1562100"/>
            <a:ext cx="3543300" cy="3752850"/>
          </a:xfrm>
          <a:prstGeom xmlns:a="http://schemas.openxmlformats.org/drawingml/2006/main" prst="roundRect">
            <a:avLst>
              <a:gd name="adj" fmla="val 3226"/>
            </a:avLst>
          </a:prstGeom>
          <a:solidFill xmlns:a="http://schemas.openxmlformats.org/drawingml/2006/main">
            <a:srgbClr val="EAF5FF"/>
          </a:solidFill>
          <a:ln xmlns:a="http://schemas.openxmlformats.org/drawingml/2006/main" w="9525">
            <a:solidFill>
              <a:srgbClr val="EDEDED"/>
            </a:solidFill>
            <a:prstDash val="solid"/>
          </a:ln>
        </p:spPr>
      </p:sp>
      <p:sp>
        <p:nvSpPr>
          <p:cNvPr id="6" name="">
            <a:extLst xmlns:a="http://schemas.openxmlformats.org/drawingml/2006/main">
              <a:ext uri="{FF2B5EF4-FFF2-40B4-BE49-F238E27FC236}">
                <a16:creationId xmlns:a16="http://schemas.microsoft.com/office/drawing/2014/main" id="{D832BF0E-B10D-4636-BE1F-AC21AC58D544}"/>
              </a:ext>
            </a:extLst>
          </p:cNvPr>
          <p:cNvSpPr>
            <a:spLocks xmlns:a="http://schemas.openxmlformats.org/drawingml/2006/main" noGrp="1"/>
          </p:cNvSpPr>
          <p:nvPr/>
        </p:nvSpPr>
        <p:spPr>
          <a:xfrm xmlns:a="http://schemas.openxmlformats.org/drawingml/2006/main">
            <a:off x="571500" y="173355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7460"/>
          </a:bodyPr>
          <a:lstStyle xmlns:a="http://schemas.openxmlformats.org/drawingml/2006/main"/>
          <a:p xmlns:a="http://schemas.openxmlformats.org/drawingml/2006/main">
            <a:pPr algn="l">
              <a:defRPr sz="1575" b="1" i="0">
                <a:solidFill>
                  <a:srgbClr val="3D8DFF"/>
                </a:solidFill>
                <a:latin typeface="Arial"/>
                <a:ea typeface="Arial"/>
                <a:cs typeface="Arial"/>
              </a:defRPr>
            </a:pPr>
            <a:r>
              <a:rPr sz="1575" b="1" i="0">
                <a:solidFill>
                  <a:srgbClr val="3D8DFF"/>
                </a:solidFill>
                <a:latin typeface="Arial"/>
                <a:ea typeface="Arial"/>
                <a:cs typeface="Arial"/>
              </a:rPr>
              <a:t>Hypothesis 1</a:t>
            </a:r>
          </a:p>
          <a:p xmlns:a="http://schemas.openxmlformats.org/drawingml/2006/main">
            <a:pPr algn="l">
              <a:defRPr sz="1575" b="1" i="0">
                <a:solidFill>
                  <a:srgbClr val="3D8DFF"/>
                </a:solidFill>
                <a:latin typeface="Arial"/>
                <a:ea typeface="Arial"/>
                <a:cs typeface="Arial"/>
              </a:defRPr>
            </a:pPr>
            <a:r>
              <a:rPr sz="1575" b="1" i="0">
                <a:solidFill>
                  <a:srgbClr val="3D8DFF"/>
                </a:solidFill>
                <a:latin typeface="Arial"/>
                <a:ea typeface="Arial"/>
                <a:cs typeface="Arial"/>
              </a:rPr>
              <a:t>Endo–Mid discordance</a:t>
            </a:r>
          </a:p>
        </p:txBody>
      </p:sp>
      <p:sp>
        <p:nvSpPr>
          <p:cNvPr id="7" name="">
            <a:extLst xmlns:a="http://schemas.openxmlformats.org/drawingml/2006/main">
              <a:ext uri="{FF2B5EF4-FFF2-40B4-BE49-F238E27FC236}">
                <a16:creationId xmlns:a16="http://schemas.microsoft.com/office/drawing/2014/main" id="{5F3B30B6-EB41-4055-A03E-165E6F51F98D}"/>
              </a:ext>
            </a:extLst>
          </p:cNvPr>
          <p:cNvSpPr>
            <a:spLocks xmlns:a="http://schemas.openxmlformats.org/drawingml/2006/main" noGrp="1"/>
          </p:cNvSpPr>
          <p:nvPr/>
        </p:nvSpPr>
        <p:spPr>
          <a:xfrm xmlns:a="http://schemas.openxmlformats.org/drawingml/2006/main">
            <a:off x="571500" y="2152650"/>
            <a:ext cx="32004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Evidence: MOMENT change-gap channel ranks 2nd–3rd inside both ensembles. Current gap Catch22 features also appear in TreeSHAP.</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Strength: supportive; intervals usually cross zero.</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Interpretation: changing transmural mechanics may precede global Mid-GLS decline.</a:t>
            </a:r>
          </a:p>
        </p:txBody>
      </p:sp>
      <p:sp>
        <p:nvSpPr>
          <p:cNvPr id="8" name="">
            <a:extLst xmlns:a="http://schemas.openxmlformats.org/drawingml/2006/main">
              <a:ext uri="{FF2B5EF4-FFF2-40B4-BE49-F238E27FC236}">
                <a16:creationId xmlns:a16="http://schemas.microsoft.com/office/drawing/2014/main" id="{CA2CD242-58F3-4B50-81EC-BDBA30835614}"/>
              </a:ext>
            </a:extLst>
          </p:cNvPr>
          <p:cNvSpPr>
            <a:spLocks xmlns:a="http://schemas.openxmlformats.org/drawingml/2006/main" noGrp="1"/>
          </p:cNvSpPr>
          <p:nvPr/>
        </p:nvSpPr>
        <p:spPr>
          <a:xfrm xmlns:a="http://schemas.openxmlformats.org/drawingml/2006/main">
            <a:off x="4133850" y="1562100"/>
            <a:ext cx="3543300" cy="3752850"/>
          </a:xfrm>
          <a:prstGeom xmlns:a="http://schemas.openxmlformats.org/drawingml/2006/main" prst="roundRect">
            <a:avLst>
              <a:gd name="adj" fmla="val 3226"/>
            </a:avLst>
          </a:prstGeom>
          <a:solidFill xmlns:a="http://schemas.openxmlformats.org/drawingml/2006/main">
            <a:srgbClr val="EBF6E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574088D7-391C-4601-9C25-5FB241C18407}"/>
              </a:ext>
            </a:extLst>
          </p:cNvPr>
          <p:cNvSpPr>
            <a:spLocks xmlns:a="http://schemas.openxmlformats.org/drawingml/2006/main" noGrp="1"/>
          </p:cNvSpPr>
          <p:nvPr/>
        </p:nvSpPr>
        <p:spPr>
          <a:xfrm xmlns:a="http://schemas.openxmlformats.org/drawingml/2006/main">
            <a:off x="4305300" y="173355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7460"/>
          </a:bodyPr>
          <a:lstStyle xmlns:a="http://schemas.openxmlformats.org/drawingml/2006/main"/>
          <a:p xmlns:a="http://schemas.openxmlformats.org/drawingml/2006/main">
            <a:pPr algn="l">
              <a:defRPr sz="1575" b="1" i="0">
                <a:solidFill>
                  <a:srgbClr val="2E8B57"/>
                </a:solidFill>
                <a:latin typeface="Arial"/>
                <a:ea typeface="Arial"/>
                <a:cs typeface="Arial"/>
              </a:defRPr>
            </a:pPr>
            <a:r>
              <a:rPr sz="1575" b="1" i="0">
                <a:solidFill>
                  <a:srgbClr val="2E8B57"/>
                </a:solidFill>
                <a:latin typeface="Arial"/>
                <a:ea typeface="Arial"/>
                <a:cs typeface="Arial"/>
              </a:rPr>
              <a:t>Hypothesis 2</a:t>
            </a:r>
          </a:p>
          <a:p xmlns:a="http://schemas.openxmlformats.org/drawingml/2006/main">
            <a:pPr algn="l">
              <a:defRPr sz="1575" b="1" i="0">
                <a:solidFill>
                  <a:srgbClr val="2E8B57"/>
                </a:solidFill>
                <a:latin typeface="Arial"/>
                <a:ea typeface="Arial"/>
                <a:cs typeface="Arial"/>
              </a:defRPr>
            </a:pPr>
            <a:r>
              <a:rPr sz="1575" b="1" i="0">
                <a:solidFill>
                  <a:srgbClr val="2E8B57"/>
                </a:solidFill>
                <a:latin typeface="Arial"/>
                <a:ea typeface="Arial"/>
                <a:cs typeface="Arial"/>
              </a:rPr>
              <a:t>Inter-segment variability</a:t>
            </a:r>
          </a:p>
        </p:txBody>
      </p:sp>
      <p:sp>
        <p:nvSpPr>
          <p:cNvPr id="10" name="">
            <a:extLst xmlns:a="http://schemas.openxmlformats.org/drawingml/2006/main">
              <a:ext uri="{FF2B5EF4-FFF2-40B4-BE49-F238E27FC236}">
                <a16:creationId xmlns:a16="http://schemas.microsoft.com/office/drawing/2014/main" id="{B1A1CA27-4BEC-4BED-959F-F6AE712ADC53}"/>
              </a:ext>
            </a:extLst>
          </p:cNvPr>
          <p:cNvSpPr>
            <a:spLocks xmlns:a="http://schemas.openxmlformats.org/drawingml/2006/main" noGrp="1"/>
          </p:cNvSpPr>
          <p:nvPr/>
        </p:nvSpPr>
        <p:spPr>
          <a:xfrm xmlns:a="http://schemas.openxmlformats.org/drawingml/2006/main">
            <a:off x="4305300" y="2152650"/>
            <a:ext cx="32004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Evidence: MOMENT segment max, RDST match location, robust peak dispersion, Catch22 segment extremes and CNN SD/max pooling.</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Strength: more consistent across model families.</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Interpretation: focal or dyssynchronous dysfunction can be diluted by global averaging.</a:t>
            </a:r>
          </a:p>
        </p:txBody>
      </p:sp>
      <p:sp>
        <p:nvSpPr>
          <p:cNvPr id="11" name="">
            <a:extLst xmlns:a="http://schemas.openxmlformats.org/drawingml/2006/main">
              <a:ext uri="{FF2B5EF4-FFF2-40B4-BE49-F238E27FC236}">
                <a16:creationId xmlns:a16="http://schemas.microsoft.com/office/drawing/2014/main" id="{F91DD41D-DEFB-44D3-9527-E73D8D2BEE7A}"/>
              </a:ext>
            </a:extLst>
          </p:cNvPr>
          <p:cNvSpPr>
            <a:spLocks xmlns:a="http://schemas.openxmlformats.org/drawingml/2006/main" noGrp="1"/>
          </p:cNvSpPr>
          <p:nvPr/>
        </p:nvSpPr>
        <p:spPr>
          <a:xfrm xmlns:a="http://schemas.openxmlformats.org/drawingml/2006/main">
            <a:off x="7867650" y="1562100"/>
            <a:ext cx="3657600" cy="3752850"/>
          </a:xfrm>
          <a:prstGeom xmlns:a="http://schemas.openxmlformats.org/drawingml/2006/main" prst="roundRect">
            <a:avLst>
              <a:gd name="adj" fmla="val 3125"/>
            </a:avLst>
          </a:prstGeom>
          <a:solidFill xmlns:a="http://schemas.openxmlformats.org/drawingml/2006/main">
            <a:srgbClr val="FFF2E7"/>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8D855981-1A14-446A-A32A-E4FC3A4F714E}"/>
              </a:ext>
            </a:extLst>
          </p:cNvPr>
          <p:cNvSpPr>
            <a:spLocks xmlns:a="http://schemas.openxmlformats.org/drawingml/2006/main" noGrp="1"/>
          </p:cNvSpPr>
          <p:nvPr/>
        </p:nvSpPr>
        <p:spPr>
          <a:xfrm xmlns:a="http://schemas.openxmlformats.org/drawingml/2006/main">
            <a:off x="8039100" y="1733550"/>
            <a:ext cx="331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7460"/>
          </a:bodyPr>
          <a:lstStyle xmlns:a="http://schemas.openxmlformats.org/drawingml/2006/main"/>
          <a:p xmlns:a="http://schemas.openxmlformats.org/drawingml/2006/main">
            <a:pPr algn="l">
              <a:defRPr sz="1575" b="1" i="0">
                <a:solidFill>
                  <a:srgbClr val="E8893A"/>
                </a:solidFill>
                <a:latin typeface="Arial"/>
                <a:ea typeface="Arial"/>
                <a:cs typeface="Arial"/>
              </a:defRPr>
            </a:pPr>
            <a:r>
              <a:rPr sz="1575" b="1" i="0">
                <a:solidFill>
                  <a:srgbClr val="E8893A"/>
                </a:solidFill>
                <a:latin typeface="Arial"/>
                <a:ea typeface="Arial"/>
                <a:cs typeface="Arial"/>
              </a:rPr>
              <a:t>Clinical context</a:t>
            </a:r>
          </a:p>
          <a:p xmlns:a="http://schemas.openxmlformats.org/drawingml/2006/main">
            <a:pPr algn="l">
              <a:defRPr sz="1575" b="1" i="0">
                <a:solidFill>
                  <a:srgbClr val="E8893A"/>
                </a:solidFill>
                <a:latin typeface="Arial"/>
                <a:ea typeface="Arial"/>
                <a:cs typeface="Arial"/>
              </a:defRPr>
            </a:pPr>
            <a:r>
              <a:rPr sz="1575" b="1" i="0">
                <a:solidFill>
                  <a:srgbClr val="E8893A"/>
                </a:solidFill>
                <a:latin typeface="Arial"/>
                <a:ea typeface="Arial"/>
                <a:cs typeface="Arial"/>
              </a:rPr>
              <a:t>Baseline and trajectory</a:t>
            </a:r>
          </a:p>
        </p:txBody>
      </p:sp>
      <p:sp>
        <p:nvSpPr>
          <p:cNvPr id="13" name="">
            <a:extLst xmlns:a="http://schemas.openxmlformats.org/drawingml/2006/main">
              <a:ext uri="{FF2B5EF4-FFF2-40B4-BE49-F238E27FC236}">
                <a16:creationId xmlns:a16="http://schemas.microsoft.com/office/drawing/2014/main" id="{F5C714BC-92B6-4425-A144-9546AF488AC3}"/>
              </a:ext>
            </a:extLst>
          </p:cNvPr>
          <p:cNvSpPr>
            <a:spLocks xmlns:a="http://schemas.openxmlformats.org/drawingml/2006/main" noGrp="1"/>
          </p:cNvSpPr>
          <p:nvPr/>
        </p:nvSpPr>
        <p:spPr>
          <a:xfrm xmlns:a="http://schemas.openxmlformats.org/drawingml/2006/main">
            <a:off x="8039100" y="2152650"/>
            <a:ext cx="33147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Evidence: scalar block is strong in CNN and remains useful in RDST/MOMENT/Catch22. Baseline GLS and current variability rank highly in TreeSHAP.</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Interpretation: curve morphology is most informative when interpreted relative to the patient’s starting function and recent course.</a:t>
            </a:r>
          </a:p>
        </p:txBody>
      </p:sp>
      <p:sp>
        <p:nvSpPr>
          <p:cNvPr id="14" name="">
            <a:extLst xmlns:a="http://schemas.openxmlformats.org/drawingml/2006/main">
              <a:ext uri="{FF2B5EF4-FFF2-40B4-BE49-F238E27FC236}">
                <a16:creationId xmlns:a16="http://schemas.microsoft.com/office/drawing/2014/main" id="{B0434024-3C6D-43B5-B7E8-C8A8DC2FBB60}"/>
              </a:ext>
            </a:extLst>
          </p:cNvPr>
          <p:cNvSpPr>
            <a:spLocks xmlns:a="http://schemas.openxmlformats.org/drawingml/2006/main" noGrp="1"/>
          </p:cNvSpPr>
          <p:nvPr/>
        </p:nvSpPr>
        <p:spPr>
          <a:xfrm xmlns:a="http://schemas.openxmlformats.org/drawingml/2006/main">
            <a:off x="1009650" y="5657850"/>
            <a:ext cx="1017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53"/>
          </a:bodyPr>
          <a:lstStyle xmlns:a="http://schemas.openxmlformats.org/drawingml/2006/main"/>
          <a:p xmlns:a="http://schemas.openxmlformats.org/drawingml/2006/main">
            <a:pPr algn="ctr">
              <a:defRPr sz="1350" b="1" i="0">
                <a:solidFill>
                  <a:srgbClr val="050505"/>
                </a:solidFill>
                <a:latin typeface="Arial"/>
                <a:ea typeface="Arial"/>
                <a:cs typeface="Arial"/>
              </a:defRPr>
            </a:pPr>
            <a:r>
              <a:rPr sz="1350" b="1" i="0">
                <a:solidFill>
                  <a:srgbClr val="050505"/>
                </a:solidFill>
                <a:latin typeface="Arial"/>
                <a:ea typeface="Arial"/>
                <a:cs typeface="Arial"/>
              </a:rPr>
              <a:t>Best current scientific story: early deterioration may be a diffuse risk state with locally expressed timing and heterogeneity abnormalities.</a:t>
            </a:r>
          </a:p>
        </p:txBody>
      </p:sp>
      <p:sp>
        <p:nvSpPr>
          <p:cNvPr id="15" name="">
            <a:extLst xmlns:a="http://schemas.openxmlformats.org/drawingml/2006/main">
              <a:ext uri="{FF2B5EF4-FFF2-40B4-BE49-F238E27FC236}">
                <a16:creationId xmlns:a16="http://schemas.microsoft.com/office/drawing/2014/main" id="{8EC618BC-6857-4516-A6DD-C30B0006681A}"/>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cross-model convergence; interpretation remains associative</a:t>
            </a:r>
          </a:p>
        </p:txBody>
      </p:sp>
    </p:spTree>
    <p:extLst>
      <p:ext uri="{BB962C8B-B14F-4D97-AF65-F5344CB8AC3E}">
        <p14:creationId xmlns:p14="http://schemas.microsoft.com/office/powerpoint/2010/main" val="193401699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4351BAF2-AE6B-4D4F-B317-7E4DE2B4500C}"/>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LIMITATIONS &amp; PERFORMANCE CEILING</a:t>
            </a:r>
          </a:p>
        </p:txBody>
      </p:sp>
      <p:sp>
        <p:nvSpPr>
          <p:cNvPr id="2" name="">
            <a:extLst xmlns:a="http://schemas.openxmlformats.org/drawingml/2006/main">
              <a:ext uri="{FF2B5EF4-FFF2-40B4-BE49-F238E27FC236}">
                <a16:creationId xmlns:a16="http://schemas.microsoft.com/office/drawing/2014/main" id="{0C1F1075-6D71-4658-94FB-9F045BC99A3D}"/>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What limits the physiological claims</a:t>
            </a:r>
          </a:p>
        </p:txBody>
      </p:sp>
      <p:sp>
        <p:nvSpPr>
          <p:cNvPr id="3" name="">
            <a:extLst xmlns:a="http://schemas.openxmlformats.org/drawingml/2006/main">
              <a:ext uri="{FF2B5EF4-FFF2-40B4-BE49-F238E27FC236}">
                <a16:creationId xmlns:a16="http://schemas.microsoft.com/office/drawing/2014/main" id="{2E75C29B-8105-4F7F-94B3-A4466648A1A2}"/>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1ACADDF-4DF9-4EAD-B336-D1E755408FA5}"/>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39E6B28D-F46F-4C21-A75F-2266C34FF361}"/>
              </a:ext>
            </a:extLst>
          </p:cNvPr>
          <p:cNvSpPr>
            <a:spLocks xmlns:a="http://schemas.openxmlformats.org/drawingml/2006/main" noGrp="1"/>
          </p:cNvSpPr>
          <p:nvPr/>
        </p:nvSpPr>
        <p:spPr>
          <a:xfrm xmlns:a="http://schemas.openxmlformats.org/drawingml/2006/main">
            <a:off x="400050" y="1524000"/>
            <a:ext cx="2381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B56157EE-6733-4A5E-AEEC-B70EEDA76A21}"/>
              </a:ext>
            </a:extLst>
          </p:cNvPr>
          <p:cNvSpPr>
            <a:spLocks xmlns:a="http://schemas.openxmlformats.org/drawingml/2006/main" noGrp="1"/>
          </p:cNvSpPr>
          <p:nvPr/>
        </p:nvSpPr>
        <p:spPr>
          <a:xfrm xmlns:a="http://schemas.openxmlformats.org/drawingml/2006/main">
            <a:off x="476250" y="1609725"/>
            <a:ext cx="2228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Constraint</a:t>
            </a:r>
          </a:p>
        </p:txBody>
      </p:sp>
      <p:sp>
        <p:nvSpPr>
          <p:cNvPr id="7" name="">
            <a:extLst xmlns:a="http://schemas.openxmlformats.org/drawingml/2006/main">
              <a:ext uri="{FF2B5EF4-FFF2-40B4-BE49-F238E27FC236}">
                <a16:creationId xmlns:a16="http://schemas.microsoft.com/office/drawing/2014/main" id="{3165B7C1-D570-41DA-AFAA-56A1AD8F9C99}"/>
              </a:ext>
            </a:extLst>
          </p:cNvPr>
          <p:cNvSpPr>
            <a:spLocks xmlns:a="http://schemas.openxmlformats.org/drawingml/2006/main" noGrp="1"/>
          </p:cNvSpPr>
          <p:nvPr/>
        </p:nvSpPr>
        <p:spPr>
          <a:xfrm xmlns:a="http://schemas.openxmlformats.org/drawingml/2006/main">
            <a:off x="2781300" y="1524000"/>
            <a:ext cx="3714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7357DBD0-BD06-47DF-B721-D1864FC34723}"/>
              </a:ext>
            </a:extLst>
          </p:cNvPr>
          <p:cNvSpPr>
            <a:spLocks xmlns:a="http://schemas.openxmlformats.org/drawingml/2006/main" noGrp="1"/>
          </p:cNvSpPr>
          <p:nvPr/>
        </p:nvSpPr>
        <p:spPr>
          <a:xfrm xmlns:a="http://schemas.openxmlformats.org/drawingml/2006/main">
            <a:off x="2857500" y="1609725"/>
            <a:ext cx="3562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Where it enters</a:t>
            </a:r>
          </a:p>
        </p:txBody>
      </p:sp>
      <p:sp>
        <p:nvSpPr>
          <p:cNvPr id="9" name="">
            <a:extLst xmlns:a="http://schemas.openxmlformats.org/drawingml/2006/main">
              <a:ext uri="{FF2B5EF4-FFF2-40B4-BE49-F238E27FC236}">
                <a16:creationId xmlns:a16="http://schemas.microsoft.com/office/drawing/2014/main" id="{E946D61F-C720-487C-B982-11811ACFFEFC}"/>
              </a:ext>
            </a:extLst>
          </p:cNvPr>
          <p:cNvSpPr>
            <a:spLocks xmlns:a="http://schemas.openxmlformats.org/drawingml/2006/main" noGrp="1"/>
          </p:cNvSpPr>
          <p:nvPr/>
        </p:nvSpPr>
        <p:spPr>
          <a:xfrm xmlns:a="http://schemas.openxmlformats.org/drawingml/2006/main">
            <a:off x="6496050" y="1524000"/>
            <a:ext cx="52959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E6BE8C17-1BC1-4307-B98E-7564AF578CA5}"/>
              </a:ext>
            </a:extLst>
          </p:cNvPr>
          <p:cNvSpPr>
            <a:spLocks xmlns:a="http://schemas.openxmlformats.org/drawingml/2006/main" noGrp="1"/>
          </p:cNvSpPr>
          <p:nvPr/>
        </p:nvSpPr>
        <p:spPr>
          <a:xfrm xmlns:a="http://schemas.openxmlformats.org/drawingml/2006/main">
            <a:off x="6572250" y="160972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Consequence</a:t>
            </a:r>
          </a:p>
        </p:txBody>
      </p:sp>
      <p:sp>
        <p:nvSpPr>
          <p:cNvPr id="11" name="">
            <a:extLst xmlns:a="http://schemas.openxmlformats.org/drawingml/2006/main">
              <a:ext uri="{FF2B5EF4-FFF2-40B4-BE49-F238E27FC236}">
                <a16:creationId xmlns:a16="http://schemas.microsoft.com/office/drawing/2014/main" id="{8B29296A-97B3-4F82-875B-498A49E8EE34}"/>
              </a:ext>
            </a:extLst>
          </p:cNvPr>
          <p:cNvSpPr>
            <a:spLocks xmlns:a="http://schemas.openxmlformats.org/drawingml/2006/main" noGrp="1"/>
          </p:cNvSpPr>
          <p:nvPr/>
        </p:nvSpPr>
        <p:spPr>
          <a:xfrm xmlns:a="http://schemas.openxmlformats.org/drawingml/2006/main">
            <a:off x="400050" y="1905000"/>
            <a:ext cx="238125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7FD3E2A8-2CEF-4752-B0DF-BB123499D5F0}"/>
              </a:ext>
            </a:extLst>
          </p:cNvPr>
          <p:cNvSpPr>
            <a:spLocks xmlns:a="http://schemas.openxmlformats.org/drawingml/2006/main" noGrp="1"/>
          </p:cNvSpPr>
          <p:nvPr/>
        </p:nvSpPr>
        <p:spPr>
          <a:xfrm xmlns:a="http://schemas.openxmlformats.org/drawingml/2006/main">
            <a:off x="476250" y="198120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Small sample</a:t>
            </a:r>
          </a:p>
        </p:txBody>
      </p:sp>
      <p:sp>
        <p:nvSpPr>
          <p:cNvPr id="13" name="">
            <a:extLst xmlns:a="http://schemas.openxmlformats.org/drawingml/2006/main">
              <a:ext uri="{FF2B5EF4-FFF2-40B4-BE49-F238E27FC236}">
                <a16:creationId xmlns:a16="http://schemas.microsoft.com/office/drawing/2014/main" id="{819A9FD0-22D9-4F00-A224-E58F364BA577}"/>
              </a:ext>
            </a:extLst>
          </p:cNvPr>
          <p:cNvSpPr>
            <a:spLocks xmlns:a="http://schemas.openxmlformats.org/drawingml/2006/main" noGrp="1"/>
          </p:cNvSpPr>
          <p:nvPr/>
        </p:nvSpPr>
        <p:spPr>
          <a:xfrm xmlns:a="http://schemas.openxmlformats.org/drawingml/2006/main">
            <a:off x="2781300" y="1905000"/>
            <a:ext cx="371475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1D1B61B0-808A-4242-9B89-E8EC0C9AB196}"/>
              </a:ext>
            </a:extLst>
          </p:cNvPr>
          <p:cNvSpPr>
            <a:spLocks xmlns:a="http://schemas.openxmlformats.org/drawingml/2006/main" noGrp="1"/>
          </p:cNvSpPr>
          <p:nvPr/>
        </p:nvSpPr>
        <p:spPr>
          <a:xfrm xmlns:a="http://schemas.openxmlformats.org/drawingml/2006/main">
            <a:off x="2857500" y="1981200"/>
            <a:ext cx="3562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103 patients / 49 events</a:t>
            </a:r>
          </a:p>
        </p:txBody>
      </p:sp>
      <p:sp>
        <p:nvSpPr>
          <p:cNvPr id="15" name="">
            <a:extLst xmlns:a="http://schemas.openxmlformats.org/drawingml/2006/main">
              <a:ext uri="{FF2B5EF4-FFF2-40B4-BE49-F238E27FC236}">
                <a16:creationId xmlns:a16="http://schemas.microsoft.com/office/drawing/2014/main" id="{0F9D5B4E-152E-4E16-8449-212ED5BECA8D}"/>
              </a:ext>
            </a:extLst>
          </p:cNvPr>
          <p:cNvSpPr>
            <a:spLocks xmlns:a="http://schemas.openxmlformats.org/drawingml/2006/main" noGrp="1"/>
          </p:cNvSpPr>
          <p:nvPr/>
        </p:nvSpPr>
        <p:spPr>
          <a:xfrm xmlns:a="http://schemas.openxmlformats.org/drawingml/2006/main">
            <a:off x="6496050" y="1905000"/>
            <a:ext cx="529590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6AD5651C-219E-4990-A09B-DB9B8F47C1B1}"/>
              </a:ext>
            </a:extLst>
          </p:cNvPr>
          <p:cNvSpPr>
            <a:spLocks xmlns:a="http://schemas.openxmlformats.org/drawingml/2006/main" noGrp="1"/>
          </p:cNvSpPr>
          <p:nvPr/>
        </p:nvSpPr>
        <p:spPr>
          <a:xfrm xmlns:a="http://schemas.openxmlformats.org/drawingml/2006/main">
            <a:off x="6572250" y="19812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Wide intervals; unstable rankings; overfitting risk</a:t>
            </a:r>
          </a:p>
        </p:txBody>
      </p:sp>
      <p:sp>
        <p:nvSpPr>
          <p:cNvPr id="17" name="">
            <a:extLst xmlns:a="http://schemas.openxmlformats.org/drawingml/2006/main">
              <a:ext uri="{FF2B5EF4-FFF2-40B4-BE49-F238E27FC236}">
                <a16:creationId xmlns:a16="http://schemas.microsoft.com/office/drawing/2014/main" id="{6CDF5D0D-08DD-4CDA-85F2-2B387376C4D7}"/>
              </a:ext>
            </a:extLst>
          </p:cNvPr>
          <p:cNvSpPr>
            <a:spLocks xmlns:a="http://schemas.openxmlformats.org/drawingml/2006/main" noGrp="1"/>
          </p:cNvSpPr>
          <p:nvPr/>
        </p:nvSpPr>
        <p:spPr>
          <a:xfrm xmlns:a="http://schemas.openxmlformats.org/drawingml/2006/main">
            <a:off x="400050" y="2533650"/>
            <a:ext cx="23812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B3BDD962-BFBD-406D-A445-DAE0B04C68A0}"/>
              </a:ext>
            </a:extLst>
          </p:cNvPr>
          <p:cNvSpPr>
            <a:spLocks xmlns:a="http://schemas.openxmlformats.org/drawingml/2006/main" noGrp="1"/>
          </p:cNvSpPr>
          <p:nvPr/>
        </p:nvSpPr>
        <p:spPr>
          <a:xfrm xmlns:a="http://schemas.openxmlformats.org/drawingml/2006/main">
            <a:off x="476250" y="260985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Label derived from strain</a:t>
            </a:r>
          </a:p>
        </p:txBody>
      </p:sp>
      <p:sp>
        <p:nvSpPr>
          <p:cNvPr id="19" name="">
            <a:extLst xmlns:a="http://schemas.openxmlformats.org/drawingml/2006/main">
              <a:ext uri="{FF2B5EF4-FFF2-40B4-BE49-F238E27FC236}">
                <a16:creationId xmlns:a16="http://schemas.microsoft.com/office/drawing/2014/main" id="{063BD0FA-E061-4108-8FB2-039561CAF917}"/>
              </a:ext>
            </a:extLst>
          </p:cNvPr>
          <p:cNvSpPr>
            <a:spLocks xmlns:a="http://schemas.openxmlformats.org/drawingml/2006/main" noGrp="1"/>
          </p:cNvSpPr>
          <p:nvPr/>
        </p:nvSpPr>
        <p:spPr>
          <a:xfrm xmlns:a="http://schemas.openxmlformats.org/drawingml/2006/main">
            <a:off x="2781300" y="2533650"/>
            <a:ext cx="37147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C89FFF30-129D-4C0F-850B-03F86FA1C00C}"/>
              </a:ext>
            </a:extLst>
          </p:cNvPr>
          <p:cNvSpPr>
            <a:spLocks xmlns:a="http://schemas.openxmlformats.org/drawingml/2006/main" noGrp="1"/>
          </p:cNvSpPr>
          <p:nvPr/>
        </p:nvSpPr>
        <p:spPr>
          <a:xfrm xmlns:a="http://schemas.openxmlformats.org/drawingml/2006/main">
            <a:off x="2857500" y="2609850"/>
            <a:ext cx="3562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Outcome is a 15% Mid-GLS change</a:t>
            </a:r>
          </a:p>
        </p:txBody>
      </p:sp>
      <p:sp>
        <p:nvSpPr>
          <p:cNvPr id="21" name="">
            <a:extLst xmlns:a="http://schemas.openxmlformats.org/drawingml/2006/main">
              <a:ext uri="{FF2B5EF4-FFF2-40B4-BE49-F238E27FC236}">
                <a16:creationId xmlns:a16="http://schemas.microsoft.com/office/drawing/2014/main" id="{74589280-7471-4487-8E1C-44E09CD1A405}"/>
              </a:ext>
            </a:extLst>
          </p:cNvPr>
          <p:cNvSpPr>
            <a:spLocks xmlns:a="http://schemas.openxmlformats.org/drawingml/2006/main" noGrp="1"/>
          </p:cNvSpPr>
          <p:nvPr/>
        </p:nvSpPr>
        <p:spPr>
          <a:xfrm xmlns:a="http://schemas.openxmlformats.org/drawingml/2006/main">
            <a:off x="6496050" y="2533650"/>
            <a:ext cx="529590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54234F4C-DFA5-46C8-A279-C7A3AFDAB4E3}"/>
              </a:ext>
            </a:extLst>
          </p:cNvPr>
          <p:cNvSpPr>
            <a:spLocks xmlns:a="http://schemas.openxmlformats.org/drawingml/2006/main" noGrp="1"/>
          </p:cNvSpPr>
          <p:nvPr/>
        </p:nvSpPr>
        <p:spPr>
          <a:xfrm xmlns:a="http://schemas.openxmlformats.org/drawingml/2006/main">
            <a:off x="6572250" y="26098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Measurement noise affects both predictors and labels</a:t>
            </a:r>
          </a:p>
        </p:txBody>
      </p:sp>
      <p:sp>
        <p:nvSpPr>
          <p:cNvPr id="23" name="">
            <a:extLst xmlns:a="http://schemas.openxmlformats.org/drawingml/2006/main">
              <a:ext uri="{FF2B5EF4-FFF2-40B4-BE49-F238E27FC236}">
                <a16:creationId xmlns:a16="http://schemas.microsoft.com/office/drawing/2014/main" id="{32B2D101-3265-44A9-80BD-0EB9D88C63CD}"/>
              </a:ext>
            </a:extLst>
          </p:cNvPr>
          <p:cNvSpPr>
            <a:spLocks xmlns:a="http://schemas.openxmlformats.org/drawingml/2006/main" noGrp="1"/>
          </p:cNvSpPr>
          <p:nvPr/>
        </p:nvSpPr>
        <p:spPr>
          <a:xfrm xmlns:a="http://schemas.openxmlformats.org/drawingml/2006/main">
            <a:off x="400050" y="3162300"/>
            <a:ext cx="238125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522439A8-F8C1-4135-A974-A0CD46719B47}"/>
              </a:ext>
            </a:extLst>
          </p:cNvPr>
          <p:cNvSpPr>
            <a:spLocks xmlns:a="http://schemas.openxmlformats.org/drawingml/2006/main" noGrp="1"/>
          </p:cNvSpPr>
          <p:nvPr/>
        </p:nvSpPr>
        <p:spPr>
          <a:xfrm xmlns:a="http://schemas.openxmlformats.org/drawingml/2006/main">
            <a:off x="476250" y="323850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Correlated inputs</a:t>
            </a:r>
          </a:p>
        </p:txBody>
      </p:sp>
      <p:sp>
        <p:nvSpPr>
          <p:cNvPr id="25" name="">
            <a:extLst xmlns:a="http://schemas.openxmlformats.org/drawingml/2006/main">
              <a:ext uri="{FF2B5EF4-FFF2-40B4-BE49-F238E27FC236}">
                <a16:creationId xmlns:a16="http://schemas.microsoft.com/office/drawing/2014/main" id="{41755EA4-DF78-4010-A994-FC0EDA5090DE}"/>
              </a:ext>
            </a:extLst>
          </p:cNvPr>
          <p:cNvSpPr>
            <a:spLocks xmlns:a="http://schemas.openxmlformats.org/drawingml/2006/main" noGrp="1"/>
          </p:cNvSpPr>
          <p:nvPr/>
        </p:nvSpPr>
        <p:spPr>
          <a:xfrm xmlns:a="http://schemas.openxmlformats.org/drawingml/2006/main">
            <a:off x="2781300" y="3162300"/>
            <a:ext cx="371475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BB07EA82-6A78-4DE1-8AC3-FD81290F3904}"/>
              </a:ext>
            </a:extLst>
          </p:cNvPr>
          <p:cNvSpPr>
            <a:spLocks xmlns:a="http://schemas.openxmlformats.org/drawingml/2006/main" noGrp="1"/>
          </p:cNvSpPr>
          <p:nvPr/>
        </p:nvSpPr>
        <p:spPr>
          <a:xfrm xmlns:a="http://schemas.openxmlformats.org/drawingml/2006/main">
            <a:off x="2857500" y="3238500"/>
            <a:ext cx="3562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Raw curves, GLS and variability overlap</a:t>
            </a:r>
          </a:p>
        </p:txBody>
      </p:sp>
      <p:sp>
        <p:nvSpPr>
          <p:cNvPr id="27" name="">
            <a:extLst xmlns:a="http://schemas.openxmlformats.org/drawingml/2006/main">
              <a:ext uri="{FF2B5EF4-FFF2-40B4-BE49-F238E27FC236}">
                <a16:creationId xmlns:a16="http://schemas.microsoft.com/office/drawing/2014/main" id="{A881AEB5-D271-4B1C-8F2D-BC8F1A894463}"/>
              </a:ext>
            </a:extLst>
          </p:cNvPr>
          <p:cNvSpPr>
            <a:spLocks xmlns:a="http://schemas.openxmlformats.org/drawingml/2006/main" noGrp="1"/>
          </p:cNvSpPr>
          <p:nvPr/>
        </p:nvSpPr>
        <p:spPr>
          <a:xfrm xmlns:a="http://schemas.openxmlformats.org/drawingml/2006/main">
            <a:off x="6496050" y="3162300"/>
            <a:ext cx="529590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062FF9C7-4BFB-472C-A7BA-A157EEC0EF8C}"/>
              </a:ext>
            </a:extLst>
          </p:cNvPr>
          <p:cNvSpPr>
            <a:spLocks xmlns:a="http://schemas.openxmlformats.org/drawingml/2006/main" noGrp="1"/>
          </p:cNvSpPr>
          <p:nvPr/>
        </p:nvSpPr>
        <p:spPr>
          <a:xfrm xmlns:a="http://schemas.openxmlformats.org/drawingml/2006/main">
            <a:off x="6572250" y="32385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Importance is redistributed across substitutes</a:t>
            </a:r>
          </a:p>
        </p:txBody>
      </p:sp>
      <p:sp>
        <p:nvSpPr>
          <p:cNvPr id="29" name="">
            <a:extLst xmlns:a="http://schemas.openxmlformats.org/drawingml/2006/main">
              <a:ext uri="{FF2B5EF4-FFF2-40B4-BE49-F238E27FC236}">
                <a16:creationId xmlns:a16="http://schemas.microsoft.com/office/drawing/2014/main" id="{343A16C8-5D66-495B-A336-EBE8048C3BB1}"/>
              </a:ext>
            </a:extLst>
          </p:cNvPr>
          <p:cNvSpPr>
            <a:spLocks xmlns:a="http://schemas.openxmlformats.org/drawingml/2006/main" noGrp="1"/>
          </p:cNvSpPr>
          <p:nvPr/>
        </p:nvSpPr>
        <p:spPr>
          <a:xfrm xmlns:a="http://schemas.openxmlformats.org/drawingml/2006/main">
            <a:off x="400050" y="3790950"/>
            <a:ext cx="23812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2479FA75-8481-49A3-A44E-5C14B8F66433}"/>
              </a:ext>
            </a:extLst>
          </p:cNvPr>
          <p:cNvSpPr>
            <a:spLocks xmlns:a="http://schemas.openxmlformats.org/drawingml/2006/main" noGrp="1"/>
          </p:cNvSpPr>
          <p:nvPr/>
        </p:nvSpPr>
        <p:spPr>
          <a:xfrm xmlns:a="http://schemas.openxmlformats.org/drawingml/2006/main">
            <a:off x="476250" y="386715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Single pipeline/site</a:t>
            </a:r>
          </a:p>
        </p:txBody>
      </p:sp>
      <p:sp>
        <p:nvSpPr>
          <p:cNvPr id="31" name="">
            <a:extLst xmlns:a="http://schemas.openxmlformats.org/drawingml/2006/main">
              <a:ext uri="{FF2B5EF4-FFF2-40B4-BE49-F238E27FC236}">
                <a16:creationId xmlns:a16="http://schemas.microsoft.com/office/drawing/2014/main" id="{E0338D9F-5422-4F4F-AF73-2E4180A0BD2D}"/>
              </a:ext>
            </a:extLst>
          </p:cNvPr>
          <p:cNvSpPr>
            <a:spLocks xmlns:a="http://schemas.openxmlformats.org/drawingml/2006/main" noGrp="1"/>
          </p:cNvSpPr>
          <p:nvPr/>
        </p:nvSpPr>
        <p:spPr>
          <a:xfrm xmlns:a="http://schemas.openxmlformats.org/drawingml/2006/main">
            <a:off x="2781300" y="3790950"/>
            <a:ext cx="37147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E6192FDE-42FA-41A5-97D9-2D1EECE84A8C}"/>
              </a:ext>
            </a:extLst>
          </p:cNvPr>
          <p:cNvSpPr>
            <a:spLocks xmlns:a="http://schemas.openxmlformats.org/drawingml/2006/main" noGrp="1"/>
          </p:cNvSpPr>
          <p:nvPr/>
        </p:nvSpPr>
        <p:spPr>
          <a:xfrm xmlns:a="http://schemas.openxmlformats.org/drawingml/2006/main">
            <a:off x="2857500" y="3867150"/>
            <a:ext cx="3562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Same vendor/report ecosystem</a:t>
            </a:r>
          </a:p>
        </p:txBody>
      </p:sp>
      <p:sp>
        <p:nvSpPr>
          <p:cNvPr id="33" name="">
            <a:extLst xmlns:a="http://schemas.openxmlformats.org/drawingml/2006/main">
              <a:ext uri="{FF2B5EF4-FFF2-40B4-BE49-F238E27FC236}">
                <a16:creationId xmlns:a16="http://schemas.microsoft.com/office/drawing/2014/main" id="{1650CD60-4B9F-4D1C-A713-B9316C597605}"/>
              </a:ext>
            </a:extLst>
          </p:cNvPr>
          <p:cNvSpPr>
            <a:spLocks xmlns:a="http://schemas.openxmlformats.org/drawingml/2006/main" noGrp="1"/>
          </p:cNvSpPr>
          <p:nvPr/>
        </p:nvSpPr>
        <p:spPr>
          <a:xfrm xmlns:a="http://schemas.openxmlformats.org/drawingml/2006/main">
            <a:off x="6496050" y="3790950"/>
            <a:ext cx="529590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B355D176-D023-45FC-9BCD-2E835A87C2B7}"/>
              </a:ext>
            </a:extLst>
          </p:cNvPr>
          <p:cNvSpPr>
            <a:spLocks xmlns:a="http://schemas.openxmlformats.org/drawingml/2006/main" noGrp="1"/>
          </p:cNvSpPr>
          <p:nvPr/>
        </p:nvSpPr>
        <p:spPr>
          <a:xfrm xmlns:a="http://schemas.openxmlformats.org/drawingml/2006/main">
            <a:off x="6572250" y="38671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Unknown transportability and calibration</a:t>
            </a:r>
          </a:p>
        </p:txBody>
      </p:sp>
      <p:sp>
        <p:nvSpPr>
          <p:cNvPr id="35" name="">
            <a:extLst xmlns:a="http://schemas.openxmlformats.org/drawingml/2006/main">
              <a:ext uri="{FF2B5EF4-FFF2-40B4-BE49-F238E27FC236}">
                <a16:creationId xmlns:a16="http://schemas.microsoft.com/office/drawing/2014/main" id="{E2A6047B-7A5B-4AFF-81D9-8435F3316692}"/>
              </a:ext>
            </a:extLst>
          </p:cNvPr>
          <p:cNvSpPr>
            <a:spLocks xmlns:a="http://schemas.openxmlformats.org/drawingml/2006/main" noGrp="1"/>
          </p:cNvSpPr>
          <p:nvPr/>
        </p:nvSpPr>
        <p:spPr>
          <a:xfrm xmlns:a="http://schemas.openxmlformats.org/drawingml/2006/main">
            <a:off x="400050" y="4419600"/>
            <a:ext cx="238125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3006A821-E407-4759-B62A-A3A5A01A1845}"/>
              </a:ext>
            </a:extLst>
          </p:cNvPr>
          <p:cNvSpPr>
            <a:spLocks xmlns:a="http://schemas.openxmlformats.org/drawingml/2006/main" noGrp="1"/>
          </p:cNvSpPr>
          <p:nvPr/>
        </p:nvSpPr>
        <p:spPr>
          <a:xfrm xmlns:a="http://schemas.openxmlformats.org/drawingml/2006/main">
            <a:off x="476250" y="449580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No causal intervention</a:t>
            </a:r>
          </a:p>
        </p:txBody>
      </p:sp>
      <p:sp>
        <p:nvSpPr>
          <p:cNvPr id="37" name="">
            <a:extLst xmlns:a="http://schemas.openxmlformats.org/drawingml/2006/main">
              <a:ext uri="{FF2B5EF4-FFF2-40B4-BE49-F238E27FC236}">
                <a16:creationId xmlns:a16="http://schemas.microsoft.com/office/drawing/2014/main" id="{7EAA54E9-F0B6-4D7F-B4C7-903A99D9C82D}"/>
              </a:ext>
            </a:extLst>
          </p:cNvPr>
          <p:cNvSpPr>
            <a:spLocks xmlns:a="http://schemas.openxmlformats.org/drawingml/2006/main" noGrp="1"/>
          </p:cNvSpPr>
          <p:nvPr/>
        </p:nvSpPr>
        <p:spPr>
          <a:xfrm xmlns:a="http://schemas.openxmlformats.org/drawingml/2006/main">
            <a:off x="2781300" y="4419600"/>
            <a:ext cx="371475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BDD0CD93-ABB7-4224-98F6-47CC664636B2}"/>
              </a:ext>
            </a:extLst>
          </p:cNvPr>
          <p:cNvSpPr>
            <a:spLocks xmlns:a="http://schemas.openxmlformats.org/drawingml/2006/main" noGrp="1"/>
          </p:cNvSpPr>
          <p:nvPr/>
        </p:nvSpPr>
        <p:spPr>
          <a:xfrm xmlns:a="http://schemas.openxmlformats.org/drawingml/2006/main">
            <a:off x="2857500" y="4495800"/>
            <a:ext cx="3562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Retrospective observational prediction</a:t>
            </a:r>
          </a:p>
        </p:txBody>
      </p:sp>
      <p:sp>
        <p:nvSpPr>
          <p:cNvPr id="39" name="">
            <a:extLst xmlns:a="http://schemas.openxmlformats.org/drawingml/2006/main">
              <a:ext uri="{FF2B5EF4-FFF2-40B4-BE49-F238E27FC236}">
                <a16:creationId xmlns:a16="http://schemas.microsoft.com/office/drawing/2014/main" id="{28D253AF-AFB1-464E-A819-37F4576C4A6F}"/>
              </a:ext>
            </a:extLst>
          </p:cNvPr>
          <p:cNvSpPr>
            <a:spLocks xmlns:a="http://schemas.openxmlformats.org/drawingml/2006/main" noGrp="1"/>
          </p:cNvSpPr>
          <p:nvPr/>
        </p:nvSpPr>
        <p:spPr>
          <a:xfrm xmlns:a="http://schemas.openxmlformats.org/drawingml/2006/main">
            <a:off x="6496050" y="4419600"/>
            <a:ext cx="5295900" cy="6286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3F792D3D-B4A1-4071-AE5F-C8B32D00BCD7}"/>
              </a:ext>
            </a:extLst>
          </p:cNvPr>
          <p:cNvSpPr>
            <a:spLocks xmlns:a="http://schemas.openxmlformats.org/drawingml/2006/main" noGrp="1"/>
          </p:cNvSpPr>
          <p:nvPr/>
        </p:nvSpPr>
        <p:spPr>
          <a:xfrm xmlns:a="http://schemas.openxmlformats.org/drawingml/2006/main">
            <a:off x="6572250" y="44958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Physiological interpretations are hypotheses</a:t>
            </a:r>
          </a:p>
        </p:txBody>
      </p:sp>
      <p:sp>
        <p:nvSpPr>
          <p:cNvPr id="41" name="">
            <a:extLst xmlns:a="http://schemas.openxmlformats.org/drawingml/2006/main">
              <a:ext uri="{FF2B5EF4-FFF2-40B4-BE49-F238E27FC236}">
                <a16:creationId xmlns:a16="http://schemas.microsoft.com/office/drawing/2014/main" id="{9480EBCE-DFAE-453F-A308-4EA38D5D8C69}"/>
              </a:ext>
            </a:extLst>
          </p:cNvPr>
          <p:cNvSpPr>
            <a:spLocks xmlns:a="http://schemas.openxmlformats.org/drawingml/2006/main" noGrp="1"/>
          </p:cNvSpPr>
          <p:nvPr/>
        </p:nvSpPr>
        <p:spPr>
          <a:xfrm xmlns:a="http://schemas.openxmlformats.org/drawingml/2006/main">
            <a:off x="400050" y="5048250"/>
            <a:ext cx="23812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D52206B0-EFF9-4727-9908-954D3DC1D31F}"/>
              </a:ext>
            </a:extLst>
          </p:cNvPr>
          <p:cNvSpPr>
            <a:spLocks xmlns:a="http://schemas.openxmlformats.org/drawingml/2006/main" noGrp="1"/>
          </p:cNvSpPr>
          <p:nvPr/>
        </p:nvSpPr>
        <p:spPr>
          <a:xfrm xmlns:a="http://schemas.openxmlformats.org/drawingml/2006/main">
            <a:off x="476250" y="512445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Event imbalance</a:t>
            </a:r>
          </a:p>
        </p:txBody>
      </p:sp>
      <p:sp>
        <p:nvSpPr>
          <p:cNvPr id="43" name="">
            <a:extLst xmlns:a="http://schemas.openxmlformats.org/drawingml/2006/main">
              <a:ext uri="{FF2B5EF4-FFF2-40B4-BE49-F238E27FC236}">
                <a16:creationId xmlns:a16="http://schemas.microsoft.com/office/drawing/2014/main" id="{2F6A3B31-5436-45E4-B099-8484073359F2}"/>
              </a:ext>
            </a:extLst>
          </p:cNvPr>
          <p:cNvSpPr>
            <a:spLocks xmlns:a="http://schemas.openxmlformats.org/drawingml/2006/main" noGrp="1"/>
          </p:cNvSpPr>
          <p:nvPr/>
        </p:nvSpPr>
        <p:spPr>
          <a:xfrm xmlns:a="http://schemas.openxmlformats.org/drawingml/2006/main">
            <a:off x="2781300" y="5048250"/>
            <a:ext cx="37147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9159E301-14C6-431F-A703-EB26D861C841}"/>
              </a:ext>
            </a:extLst>
          </p:cNvPr>
          <p:cNvSpPr>
            <a:spLocks xmlns:a="http://schemas.openxmlformats.org/drawingml/2006/main" noGrp="1"/>
          </p:cNvSpPr>
          <p:nvPr/>
        </p:nvSpPr>
        <p:spPr>
          <a:xfrm xmlns:a="http://schemas.openxmlformats.org/drawingml/2006/main">
            <a:off x="2857500" y="5124450"/>
            <a:ext cx="3562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20.6% positives</a:t>
            </a:r>
          </a:p>
        </p:txBody>
      </p:sp>
      <p:sp>
        <p:nvSpPr>
          <p:cNvPr id="45" name="">
            <a:extLst xmlns:a="http://schemas.openxmlformats.org/drawingml/2006/main">
              <a:ext uri="{FF2B5EF4-FFF2-40B4-BE49-F238E27FC236}">
                <a16:creationId xmlns:a16="http://schemas.microsoft.com/office/drawing/2014/main" id="{439CF815-E6E7-4EBB-B116-3CE472BEA050}"/>
              </a:ext>
            </a:extLst>
          </p:cNvPr>
          <p:cNvSpPr>
            <a:spLocks xmlns:a="http://schemas.openxmlformats.org/drawingml/2006/main" noGrp="1"/>
          </p:cNvSpPr>
          <p:nvPr/>
        </p:nvSpPr>
        <p:spPr>
          <a:xfrm xmlns:a="http://schemas.openxmlformats.org/drawingml/2006/main">
            <a:off x="6496050" y="5048250"/>
            <a:ext cx="529590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C3FD330E-30A8-4590-A449-4135C5102B0C}"/>
              </a:ext>
            </a:extLst>
          </p:cNvPr>
          <p:cNvSpPr>
            <a:spLocks xmlns:a="http://schemas.openxmlformats.org/drawingml/2006/main" noGrp="1"/>
          </p:cNvSpPr>
          <p:nvPr/>
        </p:nvSpPr>
        <p:spPr>
          <a:xfrm xmlns:a="http://schemas.openxmlformats.org/drawingml/2006/main">
            <a:off x="6572250" y="51244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AP is sensitive to prevalence and false positives</a:t>
            </a:r>
          </a:p>
        </p:txBody>
      </p:sp>
      <p:sp>
        <p:nvSpPr>
          <p:cNvPr id="47" name="">
            <a:extLst xmlns:a="http://schemas.openxmlformats.org/drawingml/2006/main">
              <a:ext uri="{FF2B5EF4-FFF2-40B4-BE49-F238E27FC236}">
                <a16:creationId xmlns:a16="http://schemas.microsoft.com/office/drawing/2014/main" id="{F4B9393A-00D6-42E3-80D9-D943C41CE72F}"/>
              </a:ext>
            </a:extLst>
          </p:cNvPr>
          <p:cNvSpPr>
            <a:spLocks xmlns:a="http://schemas.openxmlformats.org/drawingml/2006/main" noGrp="1"/>
          </p:cNvSpPr>
          <p:nvPr/>
        </p:nvSpPr>
        <p:spPr>
          <a:xfrm xmlns:a="http://schemas.openxmlformats.org/drawingml/2006/main">
            <a:off x="990600" y="5676900"/>
            <a:ext cx="1021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C94949"/>
                </a:solidFill>
                <a:latin typeface="Arial"/>
                <a:ea typeface="Arial"/>
                <a:cs typeface="Arial"/>
              </a:defRPr>
            </a:pPr>
            <a:r>
              <a:rPr sz="1350" b="1" i="0">
                <a:solidFill>
                  <a:srgbClr val="C94949"/>
                </a:solidFill>
                <a:latin typeface="Arial"/>
                <a:ea typeface="Arial"/>
                <a:cs typeface="Arial"/>
              </a:rPr>
              <a:t>Publication positioning: a hypothesis-generating ML study with internal validation—not a clinically deployable alert system.</a:t>
            </a:r>
          </a:p>
        </p:txBody>
      </p:sp>
      <p:sp>
        <p:nvSpPr>
          <p:cNvPr id="48" name="">
            <a:extLst xmlns:a="http://schemas.openxmlformats.org/drawingml/2006/main">
              <a:ext uri="{FF2B5EF4-FFF2-40B4-BE49-F238E27FC236}">
                <a16:creationId xmlns:a16="http://schemas.microsoft.com/office/drawing/2014/main" id="{EF80E198-3546-4AA7-B791-26B737BE8ADB}"/>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error/noise analysis and bootstrap uncertainty</a:t>
            </a:r>
          </a:p>
        </p:txBody>
      </p:sp>
    </p:spTree>
    <p:extLst>
      <p:ext uri="{BB962C8B-B14F-4D97-AF65-F5344CB8AC3E}">
        <p14:creationId xmlns:p14="http://schemas.microsoft.com/office/powerpoint/2010/main" val="195912732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FE00E3-54C7-4437-B502-F7807BE0A93F}"/>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FEATURE DICTIONARY</a:t>
            </a:r>
          </a:p>
        </p:txBody>
      </p:sp>
      <p:sp>
        <p:nvSpPr>
          <p:cNvPr id="2" name="">
            <a:extLst xmlns:a="http://schemas.openxmlformats.org/drawingml/2006/main">
              <a:ext uri="{FF2B5EF4-FFF2-40B4-BE49-F238E27FC236}">
                <a16:creationId xmlns:a16="http://schemas.microsoft.com/office/drawing/2014/main" id="{8BC45207-B312-4DF7-AE0D-4D70940DF50C}"/>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Appendix: how to decode a scalar feature name</a:t>
            </a:r>
          </a:p>
        </p:txBody>
      </p:sp>
      <p:sp>
        <p:nvSpPr>
          <p:cNvPr id="3" name="">
            <a:extLst xmlns:a="http://schemas.openxmlformats.org/drawingml/2006/main">
              <a:ext uri="{FF2B5EF4-FFF2-40B4-BE49-F238E27FC236}">
                <a16:creationId xmlns:a16="http://schemas.microsoft.com/office/drawing/2014/main" id="{C395E709-4023-41CB-8F61-0A84792F35A9}"/>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FBA3504-9A17-490C-99C1-2175A7F8D794}"/>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26D7C13A-635F-4D98-97B5-59437EDB9B07}"/>
              </a:ext>
            </a:extLst>
          </p:cNvPr>
          <p:cNvSpPr>
            <a:spLocks xmlns:a="http://schemas.openxmlformats.org/drawingml/2006/main" noGrp="1"/>
          </p:cNvSpPr>
          <p:nvPr/>
        </p:nvSpPr>
        <p:spPr>
          <a:xfrm xmlns:a="http://schemas.openxmlformats.org/drawingml/2006/main">
            <a:off x="400050" y="1524000"/>
            <a:ext cx="11125200" cy="895350"/>
          </a:xfrm>
          <a:prstGeom xmlns:a="http://schemas.openxmlformats.org/drawingml/2006/main" prst="roundRect">
            <a:avLst>
              <a:gd name="adj" fmla="val 8511"/>
            </a:avLst>
          </a:prstGeom>
          <a:solidFill xmlns:a="http://schemas.openxmlformats.org/drawingml/2006/main">
            <a:srgbClr val="050505"/>
          </a:solidFill>
          <a:ln xmlns:a="http://schemas.openxmlformats.org/drawingml/2006/main" w="0">
            <a:solidFill>
              <a:srgbClr val="050505"/>
            </a:solidFill>
            <a:prstDash val="solid"/>
          </a:ln>
        </p:spPr>
      </p:sp>
      <p:sp>
        <p:nvSpPr>
          <p:cNvPr id="6" name="">
            <a:extLst xmlns:a="http://schemas.openxmlformats.org/drawingml/2006/main">
              <a:ext uri="{FF2B5EF4-FFF2-40B4-BE49-F238E27FC236}">
                <a16:creationId xmlns:a16="http://schemas.microsoft.com/office/drawing/2014/main" id="{F7F30470-8DAA-46CB-9881-062036866E90}"/>
              </a:ext>
            </a:extLst>
          </p:cNvPr>
          <p:cNvSpPr>
            <a:spLocks xmlns:a="http://schemas.openxmlformats.org/drawingml/2006/main" noGrp="1"/>
          </p:cNvSpPr>
          <p:nvPr/>
        </p:nvSpPr>
        <p:spPr>
          <a:xfrm xmlns:a="http://schemas.openxmlformats.org/drawingml/2006/main">
            <a:off x="571500" y="1676400"/>
            <a:ext cx="10782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d_var__mid_spatial_timing_graph_roughness</a:t>
            </a:r>
          </a:p>
        </p:txBody>
      </p:sp>
      <p:sp>
        <p:nvSpPr>
          <p:cNvPr id="7" name="">
            <a:extLst xmlns:a="http://schemas.openxmlformats.org/drawingml/2006/main">
              <a:ext uri="{FF2B5EF4-FFF2-40B4-BE49-F238E27FC236}">
                <a16:creationId xmlns:a16="http://schemas.microsoft.com/office/drawing/2014/main" id="{3B628EA9-FC5E-4A50-8332-92A45F611CB6}"/>
              </a:ext>
            </a:extLst>
          </p:cNvPr>
          <p:cNvSpPr>
            <a:spLocks xmlns:a="http://schemas.openxmlformats.org/drawingml/2006/main" noGrp="1"/>
          </p:cNvSpPr>
          <p:nvPr/>
        </p:nvSpPr>
        <p:spPr>
          <a:xfrm xmlns:a="http://schemas.openxmlformats.org/drawingml/2006/main">
            <a:off x="533400" y="2152650"/>
            <a:ext cx="1085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63" b="0" i="0">
                <a:solidFill>
                  <a:srgbClr val="6DCBF4"/>
                </a:solidFill>
                <a:latin typeface="Arial"/>
                <a:ea typeface="Arial"/>
                <a:cs typeface="Arial"/>
              </a:defRPr>
            </a:pPr>
            <a:r>
              <a:rPr sz="863" b="0" i="0">
                <a:solidFill>
                  <a:srgbClr val="6DCBF4"/>
                </a:solidFill>
                <a:latin typeface="Arial"/>
                <a:ea typeface="Arial"/>
                <a:cs typeface="Arial"/>
              </a:rPr>
              <a:t>change feature · Mid layer · neighboring-segment timing disagreement</a:t>
            </a:r>
          </a:p>
        </p:txBody>
      </p:sp>
      <p:sp>
        <p:nvSpPr>
          <p:cNvPr id="8" name="">
            <a:extLst xmlns:a="http://schemas.openxmlformats.org/drawingml/2006/main">
              <a:ext uri="{FF2B5EF4-FFF2-40B4-BE49-F238E27FC236}">
                <a16:creationId xmlns:a16="http://schemas.microsoft.com/office/drawing/2014/main" id="{F6CCC02A-07EF-45B5-853D-1A91F1C323D5}"/>
              </a:ext>
            </a:extLst>
          </p:cNvPr>
          <p:cNvSpPr>
            <a:spLocks xmlns:a="http://schemas.openxmlformats.org/drawingml/2006/main" noGrp="1"/>
          </p:cNvSpPr>
          <p:nvPr/>
        </p:nvSpPr>
        <p:spPr>
          <a:xfrm xmlns:a="http://schemas.openxmlformats.org/drawingml/2006/main">
            <a:off x="400050" y="2743200"/>
            <a:ext cx="3448050" cy="2343150"/>
          </a:xfrm>
          <a:prstGeom xmlns:a="http://schemas.openxmlformats.org/drawingml/2006/main" prst="roundRect">
            <a:avLst>
              <a:gd name="adj" fmla="val 4878"/>
            </a:avLst>
          </a:prstGeom>
          <a:solidFill xmlns:a="http://schemas.openxmlformats.org/drawingml/2006/main">
            <a:srgbClr val="EAF5FF"/>
          </a:solidFill>
          <a:ln xmlns:a="http://schemas.openxmlformats.org/drawingml/2006/main" w="9525">
            <a:solidFill>
              <a:srgbClr val="EDEDED"/>
            </a:solidFill>
            <a:prstDash val="solid"/>
          </a:ln>
        </p:spPr>
      </p:sp>
      <p:sp>
        <p:nvSpPr>
          <p:cNvPr id="9" name="">
            <a:extLst xmlns:a="http://schemas.openxmlformats.org/drawingml/2006/main">
              <a:ext uri="{FF2B5EF4-FFF2-40B4-BE49-F238E27FC236}">
                <a16:creationId xmlns:a16="http://schemas.microsoft.com/office/drawing/2014/main" id="{5958DF2D-30F8-4E19-98F1-D280F8DC576E}"/>
              </a:ext>
            </a:extLst>
          </p:cNvPr>
          <p:cNvSpPr>
            <a:spLocks xmlns:a="http://schemas.openxmlformats.org/drawingml/2006/main" noGrp="1"/>
          </p:cNvSpPr>
          <p:nvPr/>
        </p:nvSpPr>
        <p:spPr>
          <a:xfrm xmlns:a="http://schemas.openxmlformats.org/drawingml/2006/main">
            <a:off x="571500" y="291465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Prefix</a:t>
            </a:r>
          </a:p>
        </p:txBody>
      </p:sp>
      <p:sp>
        <p:nvSpPr>
          <p:cNvPr id="10" name="">
            <a:extLst xmlns:a="http://schemas.openxmlformats.org/drawingml/2006/main">
              <a:ext uri="{FF2B5EF4-FFF2-40B4-BE49-F238E27FC236}">
                <a16:creationId xmlns:a16="http://schemas.microsoft.com/office/drawing/2014/main" id="{4177376B-24A2-453D-89E1-966B1AACEA98}"/>
              </a:ext>
            </a:extLst>
          </p:cNvPr>
          <p:cNvSpPr>
            <a:spLocks xmlns:a="http://schemas.openxmlformats.org/drawingml/2006/main" noGrp="1"/>
          </p:cNvSpPr>
          <p:nvPr/>
        </p:nvSpPr>
        <p:spPr>
          <a:xfrm xmlns:a="http://schemas.openxmlformats.org/drawingml/2006/main">
            <a:off x="571500" y="3333750"/>
            <a:ext cx="31051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cur_var__ = value at current visit</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d_var__ = current − previous visit</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first_ = first-visit baseline</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current_ = current landmark value</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last_ = current vs previous</a:t>
            </a:r>
          </a:p>
        </p:txBody>
      </p:sp>
      <p:sp>
        <p:nvSpPr>
          <p:cNvPr id="11" name="">
            <a:extLst xmlns:a="http://schemas.openxmlformats.org/drawingml/2006/main">
              <a:ext uri="{FF2B5EF4-FFF2-40B4-BE49-F238E27FC236}">
                <a16:creationId xmlns:a16="http://schemas.microsoft.com/office/drawing/2014/main" id="{4F4345B4-8F9C-4504-B790-8099465F0168}"/>
              </a:ext>
            </a:extLst>
          </p:cNvPr>
          <p:cNvSpPr>
            <a:spLocks xmlns:a="http://schemas.openxmlformats.org/drawingml/2006/main" noGrp="1"/>
          </p:cNvSpPr>
          <p:nvPr/>
        </p:nvSpPr>
        <p:spPr>
          <a:xfrm xmlns:a="http://schemas.openxmlformats.org/drawingml/2006/main">
            <a:off x="4038600" y="2743200"/>
            <a:ext cx="3448050" cy="2343150"/>
          </a:xfrm>
          <a:prstGeom xmlns:a="http://schemas.openxmlformats.org/drawingml/2006/main" prst="roundRect">
            <a:avLst>
              <a:gd name="adj" fmla="val 4878"/>
            </a:avLst>
          </a:prstGeom>
          <a:solidFill xmlns:a="http://schemas.openxmlformats.org/drawingml/2006/main">
            <a:srgbClr val="EBF6EF"/>
          </a:solidFill>
          <a:ln xmlns:a="http://schemas.openxmlformats.org/drawingml/2006/main" w="9525">
            <a:solidFill>
              <a:srgbClr val="EDEDED"/>
            </a:solidFill>
            <a:prstDash val="solid"/>
          </a:ln>
        </p:spPr>
      </p:sp>
      <p:sp>
        <p:nvSpPr>
          <p:cNvPr id="12" name="">
            <a:extLst xmlns:a="http://schemas.openxmlformats.org/drawingml/2006/main">
              <a:ext uri="{FF2B5EF4-FFF2-40B4-BE49-F238E27FC236}">
                <a16:creationId xmlns:a16="http://schemas.microsoft.com/office/drawing/2014/main" id="{D1DE4E88-EB57-434A-9116-FA286C343D19}"/>
              </a:ext>
            </a:extLst>
          </p:cNvPr>
          <p:cNvSpPr>
            <a:spLocks xmlns:a="http://schemas.openxmlformats.org/drawingml/2006/main" noGrp="1"/>
          </p:cNvSpPr>
          <p:nvPr/>
        </p:nvSpPr>
        <p:spPr>
          <a:xfrm xmlns:a="http://schemas.openxmlformats.org/drawingml/2006/main">
            <a:off x="4210050" y="291465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Layer</a:t>
            </a:r>
          </a:p>
        </p:txBody>
      </p:sp>
      <p:sp>
        <p:nvSpPr>
          <p:cNvPr id="13" name="">
            <a:extLst xmlns:a="http://schemas.openxmlformats.org/drawingml/2006/main">
              <a:ext uri="{FF2B5EF4-FFF2-40B4-BE49-F238E27FC236}">
                <a16:creationId xmlns:a16="http://schemas.microsoft.com/office/drawing/2014/main" id="{F880EFD3-A49D-4844-BBA4-0222D04F7975}"/>
              </a:ext>
            </a:extLst>
          </p:cNvPr>
          <p:cNvSpPr>
            <a:spLocks xmlns:a="http://schemas.openxmlformats.org/drawingml/2006/main" noGrp="1"/>
          </p:cNvSpPr>
          <p:nvPr/>
        </p:nvSpPr>
        <p:spPr>
          <a:xfrm xmlns:a="http://schemas.openxmlformats.org/drawingml/2006/main">
            <a:off x="4210050" y="3333750"/>
            <a:ext cx="31051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endo = endocardial strain</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mid = mid-wall strain</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tm / gap = Endo–Mid relationship</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Peak features generally use absolute strain magnitude.</a:t>
            </a:r>
          </a:p>
        </p:txBody>
      </p:sp>
      <p:sp>
        <p:nvSpPr>
          <p:cNvPr id="14" name="">
            <a:extLst xmlns:a="http://schemas.openxmlformats.org/drawingml/2006/main">
              <a:ext uri="{FF2B5EF4-FFF2-40B4-BE49-F238E27FC236}">
                <a16:creationId xmlns:a16="http://schemas.microsoft.com/office/drawing/2014/main" id="{862B2A03-84F4-4A44-A0D1-D38D6396E229}"/>
              </a:ext>
            </a:extLst>
          </p:cNvPr>
          <p:cNvSpPr>
            <a:spLocks xmlns:a="http://schemas.openxmlformats.org/drawingml/2006/main" noGrp="1"/>
          </p:cNvSpPr>
          <p:nvPr/>
        </p:nvSpPr>
        <p:spPr>
          <a:xfrm xmlns:a="http://schemas.openxmlformats.org/drawingml/2006/main">
            <a:off x="7677150" y="2743200"/>
            <a:ext cx="3848100" cy="2343150"/>
          </a:xfrm>
          <a:prstGeom xmlns:a="http://schemas.openxmlformats.org/drawingml/2006/main" prst="roundRect">
            <a:avLst>
              <a:gd name="adj" fmla="val 4878"/>
            </a:avLst>
          </a:prstGeom>
          <a:solidFill xmlns:a="http://schemas.openxmlformats.org/drawingml/2006/main">
            <a:srgbClr val="FFF2E7"/>
          </a:solidFill>
          <a:ln xmlns:a="http://schemas.openxmlformats.org/drawingml/2006/main" w="9525">
            <a:solidFill>
              <a:srgbClr val="EDEDED"/>
            </a:solidFill>
            <a:prstDash val="solid"/>
          </a:ln>
        </p:spPr>
      </p:sp>
      <p:sp>
        <p:nvSpPr>
          <p:cNvPr id="15" name="">
            <a:extLst xmlns:a="http://schemas.openxmlformats.org/drawingml/2006/main">
              <a:ext uri="{FF2B5EF4-FFF2-40B4-BE49-F238E27FC236}">
                <a16:creationId xmlns:a16="http://schemas.microsoft.com/office/drawing/2014/main" id="{CB4039F6-F662-498A-B968-55AB14ECA3BF}"/>
              </a:ext>
            </a:extLst>
          </p:cNvPr>
          <p:cNvSpPr>
            <a:spLocks xmlns:a="http://schemas.openxmlformats.org/drawingml/2006/main" noGrp="1"/>
          </p:cNvSpPr>
          <p:nvPr/>
        </p:nvSpPr>
        <p:spPr>
          <a:xfrm xmlns:a="http://schemas.openxmlformats.org/drawingml/2006/main">
            <a:off x="7848600" y="29146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Suffix</a:t>
            </a:r>
          </a:p>
        </p:txBody>
      </p:sp>
      <p:sp>
        <p:nvSpPr>
          <p:cNvPr id="16" name="">
            <a:extLst xmlns:a="http://schemas.openxmlformats.org/drawingml/2006/main">
              <a:ext uri="{FF2B5EF4-FFF2-40B4-BE49-F238E27FC236}">
                <a16:creationId xmlns:a16="http://schemas.microsoft.com/office/drawing/2014/main" id="{C47B8197-4CDB-4942-ABFE-A30526B1C6E7}"/>
              </a:ext>
            </a:extLst>
          </p:cNvPr>
          <p:cNvSpPr>
            <a:spLocks xmlns:a="http://schemas.openxmlformats.org/drawingml/2006/main" noGrp="1"/>
          </p:cNvSpPr>
          <p:nvPr/>
        </p:nvSpPr>
        <p:spPr>
          <a:xfrm xmlns:a="http://schemas.openxmlformats.org/drawingml/2006/main">
            <a:off x="7848600" y="3333750"/>
            <a:ext cx="35052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Names the within-visit operation: amplitude dispersion, timing dispersion, curve dispersion, shape incoherence, spatial roughness, impairment fraction or regional gradient.</a:t>
            </a:r>
          </a:p>
        </p:txBody>
      </p:sp>
      <p:sp>
        <p:nvSpPr>
          <p:cNvPr id="17" name="">
            <a:extLst xmlns:a="http://schemas.openxmlformats.org/drawingml/2006/main">
              <a:ext uri="{FF2B5EF4-FFF2-40B4-BE49-F238E27FC236}">
                <a16:creationId xmlns:a16="http://schemas.microsoft.com/office/drawing/2014/main" id="{1146C701-D04A-4C8B-A8E6-5C6751900B0A}"/>
              </a:ext>
            </a:extLst>
          </p:cNvPr>
          <p:cNvSpPr>
            <a:spLocks xmlns:a="http://schemas.openxmlformats.org/drawingml/2006/main" noGrp="1"/>
          </p:cNvSpPr>
          <p:nvPr/>
        </p:nvSpPr>
        <p:spPr>
          <a:xfrm xmlns:a="http://schemas.openxmlformats.org/drawingml/2006/main">
            <a:off x="1562100" y="5524500"/>
            <a:ext cx="906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13" b="1" i="0">
                <a:solidFill>
                  <a:srgbClr val="050505"/>
                </a:solidFill>
                <a:latin typeface="Arial"/>
                <a:ea typeface="Arial"/>
                <a:cs typeface="Arial"/>
              </a:defRPr>
            </a:pPr>
            <a:r>
              <a:rPr sz="1313" b="1" i="0">
                <a:solidFill>
                  <a:srgbClr val="050505"/>
                </a:solidFill>
                <a:latin typeface="Arial"/>
                <a:ea typeface="Arial"/>
                <a:cs typeface="Arial"/>
              </a:rPr>
              <a:t>All outcome decline calculations use first visit as the baseline; rolling features are predictor context only.</a:t>
            </a:r>
          </a:p>
        </p:txBody>
      </p:sp>
      <p:sp>
        <p:nvSpPr>
          <p:cNvPr id="18" name="">
            <a:extLst xmlns:a="http://schemas.openxmlformats.org/drawingml/2006/main">
              <a:ext uri="{FF2B5EF4-FFF2-40B4-BE49-F238E27FC236}">
                <a16:creationId xmlns:a16="http://schemas.microsoft.com/office/drawing/2014/main" id="{566D37DF-62DF-4285-AF82-0F531BE963CC}"/>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cardiotoxicity_next_visit_gpu.py naming and landmark construction</a:t>
            </a:r>
          </a:p>
        </p:txBody>
      </p:sp>
    </p:spTree>
    <p:extLst>
      <p:ext uri="{BB962C8B-B14F-4D97-AF65-F5344CB8AC3E}">
        <p14:creationId xmlns:p14="http://schemas.microsoft.com/office/powerpoint/2010/main" val="204848025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D79516F-8BC7-46F0-BC0B-B9F5BBEDEF75}"/>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CLINICAL SCALAR CATALOG · 1/2</a:t>
            </a:r>
          </a:p>
        </p:txBody>
      </p:sp>
      <p:sp>
        <p:nvSpPr>
          <p:cNvPr id="2" name="">
            <a:extLst xmlns:a="http://schemas.openxmlformats.org/drawingml/2006/main">
              <a:ext uri="{FF2B5EF4-FFF2-40B4-BE49-F238E27FC236}">
                <a16:creationId xmlns:a16="http://schemas.microsoft.com/office/drawing/2014/main" id="{DE47D1D8-C754-4CA8-BF7D-CDD5A5B5DE80}"/>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Appendix: visit timing and current-state features</a:t>
            </a:r>
          </a:p>
        </p:txBody>
      </p:sp>
      <p:sp>
        <p:nvSpPr>
          <p:cNvPr id="3" name="">
            <a:extLst xmlns:a="http://schemas.openxmlformats.org/drawingml/2006/main">
              <a:ext uri="{FF2B5EF4-FFF2-40B4-BE49-F238E27FC236}">
                <a16:creationId xmlns:a16="http://schemas.microsoft.com/office/drawing/2014/main" id="{4F69CEDB-46AA-40EA-9DD2-E1BD672F4634}"/>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8A676E2-E743-436B-8542-36B202C94D8F}"/>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7273B47E-38B7-4912-A431-2882EFE272B6}"/>
              </a:ext>
            </a:extLst>
          </p:cNvPr>
          <p:cNvSpPr>
            <a:spLocks xmlns:a="http://schemas.openxmlformats.org/drawingml/2006/main" noGrp="1"/>
          </p:cNvSpPr>
          <p:nvPr/>
        </p:nvSpPr>
        <p:spPr>
          <a:xfrm xmlns:a="http://schemas.openxmlformats.org/drawingml/2006/main">
            <a:off x="400050" y="1466850"/>
            <a:ext cx="3143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3751D02A-A44C-4A2A-A1BA-08D3036C5CC0}"/>
              </a:ext>
            </a:extLst>
          </p:cNvPr>
          <p:cNvSpPr>
            <a:spLocks xmlns:a="http://schemas.openxmlformats.org/drawingml/2006/main" noGrp="1"/>
          </p:cNvSpPr>
          <p:nvPr/>
        </p:nvSpPr>
        <p:spPr>
          <a:xfrm xmlns:a="http://schemas.openxmlformats.org/drawingml/2006/main">
            <a:off x="476250" y="1552575"/>
            <a:ext cx="2990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Feature</a:t>
            </a:r>
          </a:p>
        </p:txBody>
      </p:sp>
      <p:sp>
        <p:nvSpPr>
          <p:cNvPr id="7" name="">
            <a:extLst xmlns:a="http://schemas.openxmlformats.org/drawingml/2006/main">
              <a:ext uri="{FF2B5EF4-FFF2-40B4-BE49-F238E27FC236}">
                <a16:creationId xmlns:a16="http://schemas.microsoft.com/office/drawing/2014/main" id="{765F5AF3-E177-49EE-9768-353C307B6305}"/>
              </a:ext>
            </a:extLst>
          </p:cNvPr>
          <p:cNvSpPr>
            <a:spLocks xmlns:a="http://schemas.openxmlformats.org/drawingml/2006/main" noGrp="1"/>
          </p:cNvSpPr>
          <p:nvPr/>
        </p:nvSpPr>
        <p:spPr>
          <a:xfrm xmlns:a="http://schemas.openxmlformats.org/drawingml/2006/main">
            <a:off x="3543300" y="1466850"/>
            <a:ext cx="3905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BE8781CA-2066-442F-A5BF-59E0FAFE37F2}"/>
              </a:ext>
            </a:extLst>
          </p:cNvPr>
          <p:cNvSpPr>
            <a:spLocks xmlns:a="http://schemas.openxmlformats.org/drawingml/2006/main" noGrp="1"/>
          </p:cNvSpPr>
          <p:nvPr/>
        </p:nvSpPr>
        <p:spPr>
          <a:xfrm xmlns:a="http://schemas.openxmlformats.org/drawingml/2006/main">
            <a:off x="3619500" y="1552575"/>
            <a:ext cx="3752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Exact calculation</a:t>
            </a:r>
          </a:p>
        </p:txBody>
      </p:sp>
      <p:sp>
        <p:nvSpPr>
          <p:cNvPr id="9" name="">
            <a:extLst xmlns:a="http://schemas.openxmlformats.org/drawingml/2006/main">
              <a:ext uri="{FF2B5EF4-FFF2-40B4-BE49-F238E27FC236}">
                <a16:creationId xmlns:a16="http://schemas.microsoft.com/office/drawing/2014/main" id="{E6DDB738-939B-4C74-8511-A094F5393A1D}"/>
              </a:ext>
            </a:extLst>
          </p:cNvPr>
          <p:cNvSpPr>
            <a:spLocks xmlns:a="http://schemas.openxmlformats.org/drawingml/2006/main" noGrp="1"/>
          </p:cNvSpPr>
          <p:nvPr/>
        </p:nvSpPr>
        <p:spPr>
          <a:xfrm xmlns:a="http://schemas.openxmlformats.org/drawingml/2006/main">
            <a:off x="7448550" y="1466850"/>
            <a:ext cx="43434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5B203A0D-EFE2-4EA2-8E68-8AA9A3267A95}"/>
              </a:ext>
            </a:extLst>
          </p:cNvPr>
          <p:cNvSpPr>
            <a:spLocks xmlns:a="http://schemas.openxmlformats.org/drawingml/2006/main" noGrp="1"/>
          </p:cNvSpPr>
          <p:nvPr/>
        </p:nvSpPr>
        <p:spPr>
          <a:xfrm xmlns:a="http://schemas.openxmlformats.org/drawingml/2006/main">
            <a:off x="7524750" y="1552575"/>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Why it may matter</a:t>
            </a:r>
          </a:p>
        </p:txBody>
      </p:sp>
      <p:sp>
        <p:nvSpPr>
          <p:cNvPr id="11" name="">
            <a:extLst xmlns:a="http://schemas.openxmlformats.org/drawingml/2006/main">
              <a:ext uri="{FF2B5EF4-FFF2-40B4-BE49-F238E27FC236}">
                <a16:creationId xmlns:a16="http://schemas.microsoft.com/office/drawing/2014/main" id="{CFEA3064-CB2A-45D2-ADC2-6C13B4EBBD09}"/>
              </a:ext>
            </a:extLst>
          </p:cNvPr>
          <p:cNvSpPr>
            <a:spLocks xmlns:a="http://schemas.openxmlformats.org/drawingml/2006/main" noGrp="1"/>
          </p:cNvSpPr>
          <p:nvPr/>
        </p:nvSpPr>
        <p:spPr>
          <a:xfrm xmlns:a="http://schemas.openxmlformats.org/drawingml/2006/main">
            <a:off x="400050" y="1847850"/>
            <a:ext cx="3143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136F2D68-2BCE-4377-89CB-2140D057EF99}"/>
              </a:ext>
            </a:extLst>
          </p:cNvPr>
          <p:cNvSpPr>
            <a:spLocks xmlns:a="http://schemas.openxmlformats.org/drawingml/2006/main" noGrp="1"/>
          </p:cNvSpPr>
          <p:nvPr/>
        </p:nvSpPr>
        <p:spPr>
          <a:xfrm xmlns:a="http://schemas.openxmlformats.org/drawingml/2006/main">
            <a:off x="476250" y="1924050"/>
            <a:ext cx="2990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history_visits</a:t>
            </a:r>
          </a:p>
        </p:txBody>
      </p:sp>
      <p:sp>
        <p:nvSpPr>
          <p:cNvPr id="13" name="">
            <a:extLst xmlns:a="http://schemas.openxmlformats.org/drawingml/2006/main">
              <a:ext uri="{FF2B5EF4-FFF2-40B4-BE49-F238E27FC236}">
                <a16:creationId xmlns:a16="http://schemas.microsoft.com/office/drawing/2014/main" id="{C54DDB0C-BB02-4F06-8CB9-B981544EE0E5}"/>
              </a:ext>
            </a:extLst>
          </p:cNvPr>
          <p:cNvSpPr>
            <a:spLocks xmlns:a="http://schemas.openxmlformats.org/drawingml/2006/main" noGrp="1"/>
          </p:cNvSpPr>
          <p:nvPr/>
        </p:nvSpPr>
        <p:spPr>
          <a:xfrm xmlns:a="http://schemas.openxmlformats.org/drawingml/2006/main">
            <a:off x="3543300" y="1847850"/>
            <a:ext cx="3905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0A0D233C-C5FB-46D7-93B2-20D2739A5AE0}"/>
              </a:ext>
            </a:extLst>
          </p:cNvPr>
          <p:cNvSpPr>
            <a:spLocks xmlns:a="http://schemas.openxmlformats.org/drawingml/2006/main" noGrp="1"/>
          </p:cNvSpPr>
          <p:nvPr/>
        </p:nvSpPr>
        <p:spPr>
          <a:xfrm xmlns:a="http://schemas.openxmlformats.org/drawingml/2006/main">
            <a:off x="3619500" y="1924050"/>
            <a:ext cx="375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Number of visits available through t</a:t>
            </a:r>
          </a:p>
        </p:txBody>
      </p:sp>
      <p:sp>
        <p:nvSpPr>
          <p:cNvPr id="15" name="">
            <a:extLst xmlns:a="http://schemas.openxmlformats.org/drawingml/2006/main">
              <a:ext uri="{FF2B5EF4-FFF2-40B4-BE49-F238E27FC236}">
                <a16:creationId xmlns:a16="http://schemas.microsoft.com/office/drawing/2014/main" id="{2C164317-CCC4-4E09-8718-44708AF32547}"/>
              </a:ext>
            </a:extLst>
          </p:cNvPr>
          <p:cNvSpPr>
            <a:spLocks xmlns:a="http://schemas.openxmlformats.org/drawingml/2006/main" noGrp="1"/>
          </p:cNvSpPr>
          <p:nvPr/>
        </p:nvSpPr>
        <p:spPr>
          <a:xfrm xmlns:a="http://schemas.openxmlformats.org/drawingml/2006/main">
            <a:off x="7448550" y="1847850"/>
            <a:ext cx="434340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1D587E09-6642-46F0-9EF2-6573B3CFF22C}"/>
              </a:ext>
            </a:extLst>
          </p:cNvPr>
          <p:cNvSpPr>
            <a:spLocks xmlns:a="http://schemas.openxmlformats.org/drawingml/2006/main" noGrp="1"/>
          </p:cNvSpPr>
          <p:nvPr/>
        </p:nvSpPr>
        <p:spPr>
          <a:xfrm xmlns:a="http://schemas.openxmlformats.org/drawingml/2006/main">
            <a:off x="7524750" y="1924050"/>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Exposure/history depth; opportunity for trend estimation</a:t>
            </a:r>
          </a:p>
        </p:txBody>
      </p:sp>
      <p:sp>
        <p:nvSpPr>
          <p:cNvPr id="17" name="">
            <a:extLst xmlns:a="http://schemas.openxmlformats.org/drawingml/2006/main">
              <a:ext uri="{FF2B5EF4-FFF2-40B4-BE49-F238E27FC236}">
                <a16:creationId xmlns:a16="http://schemas.microsoft.com/office/drawing/2014/main" id="{C57413F1-BCF0-4FAA-B878-CA9DAC5EA048}"/>
              </a:ext>
            </a:extLst>
          </p:cNvPr>
          <p:cNvSpPr>
            <a:spLocks xmlns:a="http://schemas.openxmlformats.org/drawingml/2006/main" noGrp="1"/>
          </p:cNvSpPr>
          <p:nvPr/>
        </p:nvSpPr>
        <p:spPr>
          <a:xfrm xmlns:a="http://schemas.openxmlformats.org/drawingml/2006/main">
            <a:off x="400050" y="2447925"/>
            <a:ext cx="31432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A3CD438A-5625-497A-8C8B-4E538D5555C4}"/>
              </a:ext>
            </a:extLst>
          </p:cNvPr>
          <p:cNvSpPr>
            <a:spLocks xmlns:a="http://schemas.openxmlformats.org/drawingml/2006/main" noGrp="1"/>
          </p:cNvSpPr>
          <p:nvPr/>
        </p:nvSpPr>
        <p:spPr>
          <a:xfrm xmlns:a="http://schemas.openxmlformats.org/drawingml/2006/main">
            <a:off x="476250" y="2524125"/>
            <a:ext cx="2990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days_since_first</a:t>
            </a:r>
          </a:p>
        </p:txBody>
      </p:sp>
      <p:sp>
        <p:nvSpPr>
          <p:cNvPr id="19" name="">
            <a:extLst xmlns:a="http://schemas.openxmlformats.org/drawingml/2006/main">
              <a:ext uri="{FF2B5EF4-FFF2-40B4-BE49-F238E27FC236}">
                <a16:creationId xmlns:a16="http://schemas.microsoft.com/office/drawing/2014/main" id="{6B87DFE7-281A-4453-90BA-AA0D33C54CA2}"/>
              </a:ext>
            </a:extLst>
          </p:cNvPr>
          <p:cNvSpPr>
            <a:spLocks xmlns:a="http://schemas.openxmlformats.org/drawingml/2006/main" noGrp="1"/>
          </p:cNvSpPr>
          <p:nvPr/>
        </p:nvSpPr>
        <p:spPr>
          <a:xfrm xmlns:a="http://schemas.openxmlformats.org/drawingml/2006/main">
            <a:off x="3543300" y="2447925"/>
            <a:ext cx="39052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D16A1532-9F05-4CFF-8640-A7976EC3CDA3}"/>
              </a:ext>
            </a:extLst>
          </p:cNvPr>
          <p:cNvSpPr>
            <a:spLocks xmlns:a="http://schemas.openxmlformats.org/drawingml/2006/main" noGrp="1"/>
          </p:cNvSpPr>
          <p:nvPr/>
        </p:nvSpPr>
        <p:spPr>
          <a:xfrm xmlns:a="http://schemas.openxmlformats.org/drawingml/2006/main">
            <a:off x="3619500" y="2524125"/>
            <a:ext cx="375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date(t) − date(first)</a:t>
            </a:r>
          </a:p>
        </p:txBody>
      </p:sp>
      <p:sp>
        <p:nvSpPr>
          <p:cNvPr id="21" name="">
            <a:extLst xmlns:a="http://schemas.openxmlformats.org/drawingml/2006/main">
              <a:ext uri="{FF2B5EF4-FFF2-40B4-BE49-F238E27FC236}">
                <a16:creationId xmlns:a16="http://schemas.microsoft.com/office/drawing/2014/main" id="{9B144879-48ED-4FB0-BF0F-124AD91D64AA}"/>
              </a:ext>
            </a:extLst>
          </p:cNvPr>
          <p:cNvSpPr>
            <a:spLocks xmlns:a="http://schemas.openxmlformats.org/drawingml/2006/main" noGrp="1"/>
          </p:cNvSpPr>
          <p:nvPr/>
        </p:nvSpPr>
        <p:spPr>
          <a:xfrm xmlns:a="http://schemas.openxmlformats.org/drawingml/2006/main">
            <a:off x="7448550" y="2447925"/>
            <a:ext cx="434340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0CD0F84B-3077-4A1F-91E1-50FD57260E87}"/>
              </a:ext>
            </a:extLst>
          </p:cNvPr>
          <p:cNvSpPr>
            <a:spLocks xmlns:a="http://schemas.openxmlformats.org/drawingml/2006/main" noGrp="1"/>
          </p:cNvSpPr>
          <p:nvPr/>
        </p:nvSpPr>
        <p:spPr>
          <a:xfrm xmlns:a="http://schemas.openxmlformats.org/drawingml/2006/main">
            <a:off x="7524750" y="2524125"/>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Elapsed treatment/follow-up time</a:t>
            </a:r>
          </a:p>
        </p:txBody>
      </p:sp>
      <p:sp>
        <p:nvSpPr>
          <p:cNvPr id="23" name="">
            <a:extLst xmlns:a="http://schemas.openxmlformats.org/drawingml/2006/main">
              <a:ext uri="{FF2B5EF4-FFF2-40B4-BE49-F238E27FC236}">
                <a16:creationId xmlns:a16="http://schemas.microsoft.com/office/drawing/2014/main" id="{EB6EE118-9C6D-4393-B5C9-26DBEE7F16D5}"/>
              </a:ext>
            </a:extLst>
          </p:cNvPr>
          <p:cNvSpPr>
            <a:spLocks xmlns:a="http://schemas.openxmlformats.org/drawingml/2006/main" noGrp="1"/>
          </p:cNvSpPr>
          <p:nvPr/>
        </p:nvSpPr>
        <p:spPr>
          <a:xfrm xmlns:a="http://schemas.openxmlformats.org/drawingml/2006/main">
            <a:off x="400050" y="3048000"/>
            <a:ext cx="3143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7F2A65C4-6A40-43D4-B785-47030EE3F630}"/>
              </a:ext>
            </a:extLst>
          </p:cNvPr>
          <p:cNvSpPr>
            <a:spLocks xmlns:a="http://schemas.openxmlformats.org/drawingml/2006/main" noGrp="1"/>
          </p:cNvSpPr>
          <p:nvPr/>
        </p:nvSpPr>
        <p:spPr>
          <a:xfrm xmlns:a="http://schemas.openxmlformats.org/drawingml/2006/main">
            <a:off x="476250" y="3124200"/>
            <a:ext cx="2990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days_since_previous</a:t>
            </a:r>
          </a:p>
        </p:txBody>
      </p:sp>
      <p:sp>
        <p:nvSpPr>
          <p:cNvPr id="25" name="">
            <a:extLst xmlns:a="http://schemas.openxmlformats.org/drawingml/2006/main">
              <a:ext uri="{FF2B5EF4-FFF2-40B4-BE49-F238E27FC236}">
                <a16:creationId xmlns:a16="http://schemas.microsoft.com/office/drawing/2014/main" id="{0724F261-BE97-48E6-96DD-1D4D4C257B93}"/>
              </a:ext>
            </a:extLst>
          </p:cNvPr>
          <p:cNvSpPr>
            <a:spLocks xmlns:a="http://schemas.openxmlformats.org/drawingml/2006/main" noGrp="1"/>
          </p:cNvSpPr>
          <p:nvPr/>
        </p:nvSpPr>
        <p:spPr>
          <a:xfrm xmlns:a="http://schemas.openxmlformats.org/drawingml/2006/main">
            <a:off x="3543300" y="3048000"/>
            <a:ext cx="3905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FB48FEFF-977E-4551-8628-ED45DCD2AF70}"/>
              </a:ext>
            </a:extLst>
          </p:cNvPr>
          <p:cNvSpPr>
            <a:spLocks xmlns:a="http://schemas.openxmlformats.org/drawingml/2006/main" noGrp="1"/>
          </p:cNvSpPr>
          <p:nvPr/>
        </p:nvSpPr>
        <p:spPr>
          <a:xfrm xmlns:a="http://schemas.openxmlformats.org/drawingml/2006/main">
            <a:off x="3619500" y="3124200"/>
            <a:ext cx="375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date(t) − date(t−1)</a:t>
            </a:r>
          </a:p>
        </p:txBody>
      </p:sp>
      <p:sp>
        <p:nvSpPr>
          <p:cNvPr id="27" name="">
            <a:extLst xmlns:a="http://schemas.openxmlformats.org/drawingml/2006/main">
              <a:ext uri="{FF2B5EF4-FFF2-40B4-BE49-F238E27FC236}">
                <a16:creationId xmlns:a16="http://schemas.microsoft.com/office/drawing/2014/main" id="{88C7DDFE-F606-4AF8-B38C-9611481F8D3F}"/>
              </a:ext>
            </a:extLst>
          </p:cNvPr>
          <p:cNvSpPr>
            <a:spLocks xmlns:a="http://schemas.openxmlformats.org/drawingml/2006/main" noGrp="1"/>
          </p:cNvSpPr>
          <p:nvPr/>
        </p:nvSpPr>
        <p:spPr>
          <a:xfrm xmlns:a="http://schemas.openxmlformats.org/drawingml/2006/main">
            <a:off x="7448550" y="3048000"/>
            <a:ext cx="434340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884A0E61-5FAF-4F99-9050-34AD88D40114}"/>
              </a:ext>
            </a:extLst>
          </p:cNvPr>
          <p:cNvSpPr>
            <a:spLocks xmlns:a="http://schemas.openxmlformats.org/drawingml/2006/main" noGrp="1"/>
          </p:cNvSpPr>
          <p:nvPr/>
        </p:nvSpPr>
        <p:spPr>
          <a:xfrm xmlns:a="http://schemas.openxmlformats.org/drawingml/2006/main">
            <a:off x="7524750" y="3124200"/>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Controls for irregular follow-up intervals</a:t>
            </a:r>
          </a:p>
        </p:txBody>
      </p:sp>
      <p:sp>
        <p:nvSpPr>
          <p:cNvPr id="29" name="">
            <a:extLst xmlns:a="http://schemas.openxmlformats.org/drawingml/2006/main">
              <a:ext uri="{FF2B5EF4-FFF2-40B4-BE49-F238E27FC236}">
                <a16:creationId xmlns:a16="http://schemas.microsoft.com/office/drawing/2014/main" id="{B399636A-77EA-416B-A2DF-319B491C2061}"/>
              </a:ext>
            </a:extLst>
          </p:cNvPr>
          <p:cNvSpPr>
            <a:spLocks xmlns:a="http://schemas.openxmlformats.org/drawingml/2006/main" noGrp="1"/>
          </p:cNvSpPr>
          <p:nvPr/>
        </p:nvSpPr>
        <p:spPr>
          <a:xfrm xmlns:a="http://schemas.openxmlformats.org/drawingml/2006/main">
            <a:off x="400050" y="3648075"/>
            <a:ext cx="31432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91F2D56F-3B96-4A6B-8E01-49AB5AD31CCA}"/>
              </a:ext>
            </a:extLst>
          </p:cNvPr>
          <p:cNvSpPr>
            <a:spLocks xmlns:a="http://schemas.openxmlformats.org/drawingml/2006/main" noGrp="1"/>
          </p:cNvSpPr>
          <p:nvPr/>
        </p:nvSpPr>
        <p:spPr>
          <a:xfrm xmlns:a="http://schemas.openxmlformats.org/drawingml/2006/main">
            <a:off x="476250" y="3724275"/>
            <a:ext cx="2990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has_previous_visit</a:t>
            </a:r>
          </a:p>
        </p:txBody>
      </p:sp>
      <p:sp>
        <p:nvSpPr>
          <p:cNvPr id="31" name="">
            <a:extLst xmlns:a="http://schemas.openxmlformats.org/drawingml/2006/main">
              <a:ext uri="{FF2B5EF4-FFF2-40B4-BE49-F238E27FC236}">
                <a16:creationId xmlns:a16="http://schemas.microsoft.com/office/drawing/2014/main" id="{9B4726E2-9216-47F5-ACC9-EBDB6D990C1F}"/>
              </a:ext>
            </a:extLst>
          </p:cNvPr>
          <p:cNvSpPr>
            <a:spLocks xmlns:a="http://schemas.openxmlformats.org/drawingml/2006/main" noGrp="1"/>
          </p:cNvSpPr>
          <p:nvPr/>
        </p:nvSpPr>
        <p:spPr>
          <a:xfrm xmlns:a="http://schemas.openxmlformats.org/drawingml/2006/main">
            <a:off x="3543300" y="3648075"/>
            <a:ext cx="39052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9BA8A95C-E034-457A-A621-2EF2153795D4}"/>
              </a:ext>
            </a:extLst>
          </p:cNvPr>
          <p:cNvSpPr>
            <a:spLocks xmlns:a="http://schemas.openxmlformats.org/drawingml/2006/main" noGrp="1"/>
          </p:cNvSpPr>
          <p:nvPr/>
        </p:nvSpPr>
        <p:spPr>
          <a:xfrm xmlns:a="http://schemas.openxmlformats.org/drawingml/2006/main">
            <a:off x="3619500" y="3724275"/>
            <a:ext cx="375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1 if t has a prior visit, else 0</a:t>
            </a:r>
          </a:p>
        </p:txBody>
      </p:sp>
      <p:sp>
        <p:nvSpPr>
          <p:cNvPr id="33" name="">
            <a:extLst xmlns:a="http://schemas.openxmlformats.org/drawingml/2006/main">
              <a:ext uri="{FF2B5EF4-FFF2-40B4-BE49-F238E27FC236}">
                <a16:creationId xmlns:a16="http://schemas.microsoft.com/office/drawing/2014/main" id="{D163C0FD-B629-4F8C-8022-C585C29C8D03}"/>
              </a:ext>
            </a:extLst>
          </p:cNvPr>
          <p:cNvSpPr>
            <a:spLocks xmlns:a="http://schemas.openxmlformats.org/drawingml/2006/main" noGrp="1"/>
          </p:cNvSpPr>
          <p:nvPr/>
        </p:nvSpPr>
        <p:spPr>
          <a:xfrm xmlns:a="http://schemas.openxmlformats.org/drawingml/2006/main">
            <a:off x="7448550" y="3648075"/>
            <a:ext cx="434340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0BCF530B-6ABB-41A8-BAA7-A4B2DCD080D3}"/>
              </a:ext>
            </a:extLst>
          </p:cNvPr>
          <p:cNvSpPr>
            <a:spLocks xmlns:a="http://schemas.openxmlformats.org/drawingml/2006/main" noGrp="1"/>
          </p:cNvSpPr>
          <p:nvPr/>
        </p:nvSpPr>
        <p:spPr>
          <a:xfrm xmlns:a="http://schemas.openxmlformats.org/drawingml/2006/main">
            <a:off x="7524750" y="3724275"/>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Distinguishes true change channels from first landmark</a:t>
            </a:r>
          </a:p>
        </p:txBody>
      </p:sp>
      <p:sp>
        <p:nvSpPr>
          <p:cNvPr id="35" name="">
            <a:extLst xmlns:a="http://schemas.openxmlformats.org/drawingml/2006/main">
              <a:ext uri="{FF2B5EF4-FFF2-40B4-BE49-F238E27FC236}">
                <a16:creationId xmlns:a16="http://schemas.microsoft.com/office/drawing/2014/main" id="{EDAA21FA-7400-487F-A103-28759316F1E2}"/>
              </a:ext>
            </a:extLst>
          </p:cNvPr>
          <p:cNvSpPr>
            <a:spLocks xmlns:a="http://schemas.openxmlformats.org/drawingml/2006/main" noGrp="1"/>
          </p:cNvSpPr>
          <p:nvPr/>
        </p:nvSpPr>
        <p:spPr>
          <a:xfrm xmlns:a="http://schemas.openxmlformats.org/drawingml/2006/main">
            <a:off x="400050" y="4248150"/>
            <a:ext cx="3143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6A6397AF-F30F-4F4A-A36C-925CFF1825A3}"/>
              </a:ext>
            </a:extLst>
          </p:cNvPr>
          <p:cNvSpPr>
            <a:spLocks xmlns:a="http://schemas.openxmlformats.org/drawingml/2006/main" noGrp="1"/>
          </p:cNvSpPr>
          <p:nvPr/>
        </p:nvSpPr>
        <p:spPr>
          <a:xfrm xmlns:a="http://schemas.openxmlformats.org/drawingml/2006/main">
            <a:off x="476250" y="4324350"/>
            <a:ext cx="2990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current_mid_gls / current_endo_gls</a:t>
            </a:r>
          </a:p>
        </p:txBody>
      </p:sp>
      <p:sp>
        <p:nvSpPr>
          <p:cNvPr id="37" name="">
            <a:extLst xmlns:a="http://schemas.openxmlformats.org/drawingml/2006/main">
              <a:ext uri="{FF2B5EF4-FFF2-40B4-BE49-F238E27FC236}">
                <a16:creationId xmlns:a16="http://schemas.microsoft.com/office/drawing/2014/main" id="{2BD38B91-6001-46F7-A023-FB5D56BEF947}"/>
              </a:ext>
            </a:extLst>
          </p:cNvPr>
          <p:cNvSpPr>
            <a:spLocks xmlns:a="http://schemas.openxmlformats.org/drawingml/2006/main" noGrp="1"/>
          </p:cNvSpPr>
          <p:nvPr/>
        </p:nvSpPr>
        <p:spPr>
          <a:xfrm xmlns:a="http://schemas.openxmlformats.org/drawingml/2006/main">
            <a:off x="3543300" y="4248150"/>
            <a:ext cx="3905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C9CFD906-4883-4F72-9FB2-8F6016DF277A}"/>
              </a:ext>
            </a:extLst>
          </p:cNvPr>
          <p:cNvSpPr>
            <a:spLocks xmlns:a="http://schemas.openxmlformats.org/drawingml/2006/main" noGrp="1"/>
          </p:cNvSpPr>
          <p:nvPr/>
        </p:nvSpPr>
        <p:spPr>
          <a:xfrm xmlns:a="http://schemas.openxmlformats.org/drawingml/2006/main">
            <a:off x="3619500" y="4324350"/>
            <a:ext cx="375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|GLS| at t</a:t>
            </a:r>
          </a:p>
        </p:txBody>
      </p:sp>
      <p:sp>
        <p:nvSpPr>
          <p:cNvPr id="39" name="">
            <a:extLst xmlns:a="http://schemas.openxmlformats.org/drawingml/2006/main">
              <a:ext uri="{FF2B5EF4-FFF2-40B4-BE49-F238E27FC236}">
                <a16:creationId xmlns:a16="http://schemas.microsoft.com/office/drawing/2014/main" id="{1EEAED82-9A90-4337-8417-62DAC828136B}"/>
              </a:ext>
            </a:extLst>
          </p:cNvPr>
          <p:cNvSpPr>
            <a:spLocks xmlns:a="http://schemas.openxmlformats.org/drawingml/2006/main" noGrp="1"/>
          </p:cNvSpPr>
          <p:nvPr/>
        </p:nvSpPr>
        <p:spPr>
          <a:xfrm xmlns:a="http://schemas.openxmlformats.org/drawingml/2006/main">
            <a:off x="7448550" y="4248150"/>
            <a:ext cx="434340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D8288E25-5D6E-4480-9138-FDE1C22AF963}"/>
              </a:ext>
            </a:extLst>
          </p:cNvPr>
          <p:cNvSpPr>
            <a:spLocks xmlns:a="http://schemas.openxmlformats.org/drawingml/2006/main" noGrp="1"/>
          </p:cNvSpPr>
          <p:nvPr/>
        </p:nvSpPr>
        <p:spPr>
          <a:xfrm xmlns:a="http://schemas.openxmlformats.org/drawingml/2006/main">
            <a:off x="7524750" y="4324350"/>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Current global longitudinal contractile magnitude</a:t>
            </a:r>
          </a:p>
        </p:txBody>
      </p:sp>
      <p:sp>
        <p:nvSpPr>
          <p:cNvPr id="41" name="">
            <a:extLst xmlns:a="http://schemas.openxmlformats.org/drawingml/2006/main">
              <a:ext uri="{FF2B5EF4-FFF2-40B4-BE49-F238E27FC236}">
                <a16:creationId xmlns:a16="http://schemas.microsoft.com/office/drawing/2014/main" id="{C5E74DC0-6416-4B98-BA13-4472F484F237}"/>
              </a:ext>
            </a:extLst>
          </p:cNvPr>
          <p:cNvSpPr>
            <a:spLocks xmlns:a="http://schemas.openxmlformats.org/drawingml/2006/main" noGrp="1"/>
          </p:cNvSpPr>
          <p:nvPr/>
        </p:nvSpPr>
        <p:spPr>
          <a:xfrm xmlns:a="http://schemas.openxmlformats.org/drawingml/2006/main">
            <a:off x="400050" y="4848225"/>
            <a:ext cx="31432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85DC3099-6E7C-4A37-A280-A51BC8C1A62E}"/>
              </a:ext>
            </a:extLst>
          </p:cNvPr>
          <p:cNvSpPr>
            <a:spLocks xmlns:a="http://schemas.openxmlformats.org/drawingml/2006/main" noGrp="1"/>
          </p:cNvSpPr>
          <p:nvPr/>
        </p:nvSpPr>
        <p:spPr>
          <a:xfrm xmlns:a="http://schemas.openxmlformats.org/drawingml/2006/main">
            <a:off x="476250" y="4924425"/>
            <a:ext cx="2990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current_ef</a:t>
            </a:r>
          </a:p>
        </p:txBody>
      </p:sp>
      <p:sp>
        <p:nvSpPr>
          <p:cNvPr id="43" name="">
            <a:extLst xmlns:a="http://schemas.openxmlformats.org/drawingml/2006/main">
              <a:ext uri="{FF2B5EF4-FFF2-40B4-BE49-F238E27FC236}">
                <a16:creationId xmlns:a16="http://schemas.microsoft.com/office/drawing/2014/main" id="{04FD7C97-9B85-464D-8B4E-B91B502B0FC9}"/>
              </a:ext>
            </a:extLst>
          </p:cNvPr>
          <p:cNvSpPr>
            <a:spLocks xmlns:a="http://schemas.openxmlformats.org/drawingml/2006/main" noGrp="1"/>
          </p:cNvSpPr>
          <p:nvPr/>
        </p:nvSpPr>
        <p:spPr>
          <a:xfrm xmlns:a="http://schemas.openxmlformats.org/drawingml/2006/main">
            <a:off x="3543300" y="4848225"/>
            <a:ext cx="39052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44D91C6C-C6C3-4EAA-8A08-7B75E55283F9}"/>
              </a:ext>
            </a:extLst>
          </p:cNvPr>
          <p:cNvSpPr>
            <a:spLocks xmlns:a="http://schemas.openxmlformats.org/drawingml/2006/main" noGrp="1"/>
          </p:cNvSpPr>
          <p:nvPr/>
        </p:nvSpPr>
        <p:spPr>
          <a:xfrm xmlns:a="http://schemas.openxmlformats.org/drawingml/2006/main">
            <a:off x="3619500" y="4924425"/>
            <a:ext cx="375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Biplane EF at t</a:t>
            </a:r>
          </a:p>
        </p:txBody>
      </p:sp>
      <p:sp>
        <p:nvSpPr>
          <p:cNvPr id="45" name="">
            <a:extLst xmlns:a="http://schemas.openxmlformats.org/drawingml/2006/main">
              <a:ext uri="{FF2B5EF4-FFF2-40B4-BE49-F238E27FC236}">
                <a16:creationId xmlns:a16="http://schemas.microsoft.com/office/drawing/2014/main" id="{EDD48DF0-A8C2-4EDC-AFED-0419D6DB8613}"/>
              </a:ext>
            </a:extLst>
          </p:cNvPr>
          <p:cNvSpPr>
            <a:spLocks xmlns:a="http://schemas.openxmlformats.org/drawingml/2006/main" noGrp="1"/>
          </p:cNvSpPr>
          <p:nvPr/>
        </p:nvSpPr>
        <p:spPr>
          <a:xfrm xmlns:a="http://schemas.openxmlformats.org/drawingml/2006/main">
            <a:off x="7448550" y="4848225"/>
            <a:ext cx="434340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A4B63921-6C34-4B8C-B970-18E02FBAECBE}"/>
              </a:ext>
            </a:extLst>
          </p:cNvPr>
          <p:cNvSpPr>
            <a:spLocks xmlns:a="http://schemas.openxmlformats.org/drawingml/2006/main" noGrp="1"/>
          </p:cNvSpPr>
          <p:nvPr/>
        </p:nvSpPr>
        <p:spPr>
          <a:xfrm xmlns:a="http://schemas.openxmlformats.org/drawingml/2006/main">
            <a:off x="7524750" y="4924425"/>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Conventional global systolic function</a:t>
            </a:r>
          </a:p>
        </p:txBody>
      </p:sp>
      <p:sp>
        <p:nvSpPr>
          <p:cNvPr id="47" name="">
            <a:extLst xmlns:a="http://schemas.openxmlformats.org/drawingml/2006/main">
              <a:ext uri="{FF2B5EF4-FFF2-40B4-BE49-F238E27FC236}">
                <a16:creationId xmlns:a16="http://schemas.microsoft.com/office/drawing/2014/main" id="{C6900EB8-7374-42BE-B199-6B5AD7545D9E}"/>
              </a:ext>
            </a:extLst>
          </p:cNvPr>
          <p:cNvSpPr>
            <a:spLocks xmlns:a="http://schemas.openxmlformats.org/drawingml/2006/main" noGrp="1"/>
          </p:cNvSpPr>
          <p:nvPr/>
        </p:nvSpPr>
        <p:spPr>
          <a:xfrm xmlns:a="http://schemas.openxmlformats.org/drawingml/2006/main">
            <a:off x="400050" y="5448300"/>
            <a:ext cx="3143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8" name="">
            <a:extLst xmlns:a="http://schemas.openxmlformats.org/drawingml/2006/main">
              <a:ext uri="{FF2B5EF4-FFF2-40B4-BE49-F238E27FC236}">
                <a16:creationId xmlns:a16="http://schemas.microsoft.com/office/drawing/2014/main" id="{A38A93CF-0CDF-48DC-B39E-09D87249D4B9}"/>
              </a:ext>
            </a:extLst>
          </p:cNvPr>
          <p:cNvSpPr>
            <a:spLocks xmlns:a="http://schemas.openxmlformats.org/drawingml/2006/main" noGrp="1"/>
          </p:cNvSpPr>
          <p:nvPr/>
        </p:nvSpPr>
        <p:spPr>
          <a:xfrm xmlns:a="http://schemas.openxmlformats.org/drawingml/2006/main">
            <a:off x="476250" y="5524500"/>
            <a:ext cx="2990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first_mid_gls / first_endo_gls / first_ef</a:t>
            </a:r>
          </a:p>
        </p:txBody>
      </p:sp>
      <p:sp>
        <p:nvSpPr>
          <p:cNvPr id="49" name="">
            <a:extLst xmlns:a="http://schemas.openxmlformats.org/drawingml/2006/main">
              <a:ext uri="{FF2B5EF4-FFF2-40B4-BE49-F238E27FC236}">
                <a16:creationId xmlns:a16="http://schemas.microsoft.com/office/drawing/2014/main" id="{2FEE3B4E-AD8A-47D5-A6F7-3B1867FAA2E4}"/>
              </a:ext>
            </a:extLst>
          </p:cNvPr>
          <p:cNvSpPr>
            <a:spLocks xmlns:a="http://schemas.openxmlformats.org/drawingml/2006/main" noGrp="1"/>
          </p:cNvSpPr>
          <p:nvPr/>
        </p:nvSpPr>
        <p:spPr>
          <a:xfrm xmlns:a="http://schemas.openxmlformats.org/drawingml/2006/main">
            <a:off x="3543300" y="5448300"/>
            <a:ext cx="390525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0" name="">
            <a:extLst xmlns:a="http://schemas.openxmlformats.org/drawingml/2006/main">
              <a:ext uri="{FF2B5EF4-FFF2-40B4-BE49-F238E27FC236}">
                <a16:creationId xmlns:a16="http://schemas.microsoft.com/office/drawing/2014/main" id="{192CAAFC-68F0-488B-9E03-037093029EB8}"/>
              </a:ext>
            </a:extLst>
          </p:cNvPr>
          <p:cNvSpPr>
            <a:spLocks xmlns:a="http://schemas.openxmlformats.org/drawingml/2006/main" noGrp="1"/>
          </p:cNvSpPr>
          <p:nvPr/>
        </p:nvSpPr>
        <p:spPr>
          <a:xfrm xmlns:a="http://schemas.openxmlformats.org/drawingml/2006/main">
            <a:off x="3619500" y="5524500"/>
            <a:ext cx="375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Value at first visit</a:t>
            </a:r>
          </a:p>
        </p:txBody>
      </p:sp>
      <p:sp>
        <p:nvSpPr>
          <p:cNvPr id="51" name="">
            <a:extLst xmlns:a="http://schemas.openxmlformats.org/drawingml/2006/main">
              <a:ext uri="{FF2B5EF4-FFF2-40B4-BE49-F238E27FC236}">
                <a16:creationId xmlns:a16="http://schemas.microsoft.com/office/drawing/2014/main" id="{318E236F-DB0A-4A57-A2FF-C467B73A00C5}"/>
              </a:ext>
            </a:extLst>
          </p:cNvPr>
          <p:cNvSpPr>
            <a:spLocks xmlns:a="http://schemas.openxmlformats.org/drawingml/2006/main" noGrp="1"/>
          </p:cNvSpPr>
          <p:nvPr/>
        </p:nvSpPr>
        <p:spPr>
          <a:xfrm xmlns:a="http://schemas.openxmlformats.org/drawingml/2006/main">
            <a:off x="7448550" y="5448300"/>
            <a:ext cx="4343400" cy="60007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2" name="">
            <a:extLst xmlns:a="http://schemas.openxmlformats.org/drawingml/2006/main">
              <a:ext uri="{FF2B5EF4-FFF2-40B4-BE49-F238E27FC236}">
                <a16:creationId xmlns:a16="http://schemas.microsoft.com/office/drawing/2014/main" id="{993F58A8-6852-45D0-B397-D770529C6D93}"/>
              </a:ext>
            </a:extLst>
          </p:cNvPr>
          <p:cNvSpPr>
            <a:spLocks xmlns:a="http://schemas.openxmlformats.org/drawingml/2006/main" noGrp="1"/>
          </p:cNvSpPr>
          <p:nvPr/>
        </p:nvSpPr>
        <p:spPr>
          <a:xfrm xmlns:a="http://schemas.openxmlformats.org/drawingml/2006/main">
            <a:off x="7524750" y="5524500"/>
            <a:ext cx="4191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Patient-specific starting function and reserve</a:t>
            </a:r>
          </a:p>
        </p:txBody>
      </p:sp>
      <p:sp>
        <p:nvSpPr>
          <p:cNvPr id="53" name="">
            <a:extLst xmlns:a="http://schemas.openxmlformats.org/drawingml/2006/main">
              <a:ext uri="{FF2B5EF4-FFF2-40B4-BE49-F238E27FC236}">
                <a16:creationId xmlns:a16="http://schemas.microsoft.com/office/drawing/2014/main" id="{4E8FA4B1-6B33-4A71-AB1E-D821172DBB21}"/>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cardiotoxicity_next_visit_gpu.py · magnitudes use abs(GLS)</a:t>
            </a:r>
          </a:p>
        </p:txBody>
      </p:sp>
    </p:spTree>
    <p:extLst>
      <p:ext uri="{BB962C8B-B14F-4D97-AF65-F5344CB8AC3E}">
        <p14:creationId xmlns:p14="http://schemas.microsoft.com/office/powerpoint/2010/main" val="213599638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8276C87F-C187-48C4-879C-2FD9537DB5D9}"/>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CLINICAL SCALAR CATALOG · 2/2</a:t>
            </a:r>
          </a:p>
        </p:txBody>
      </p:sp>
      <p:sp>
        <p:nvSpPr>
          <p:cNvPr id="2" name="">
            <a:extLst xmlns:a="http://schemas.openxmlformats.org/drawingml/2006/main">
              <a:ext uri="{FF2B5EF4-FFF2-40B4-BE49-F238E27FC236}">
                <a16:creationId xmlns:a16="http://schemas.microsoft.com/office/drawing/2014/main" id="{7FB53164-C761-4653-A43C-7808C17B9ED8}"/>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Appendix: relative trajectory and gap features</a:t>
            </a:r>
          </a:p>
        </p:txBody>
      </p:sp>
      <p:sp>
        <p:nvSpPr>
          <p:cNvPr id="3" name="">
            <a:extLst xmlns:a="http://schemas.openxmlformats.org/drawingml/2006/main">
              <a:ext uri="{FF2B5EF4-FFF2-40B4-BE49-F238E27FC236}">
                <a16:creationId xmlns:a16="http://schemas.microsoft.com/office/drawing/2014/main" id="{265B143D-4ADC-4DDF-AECE-3CEA06D9031D}"/>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BD76259C-917E-433C-A44A-98A388B865F6}"/>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3501A059-BF3F-4D00-B2CD-FCE7FFAF0330}"/>
              </a:ext>
            </a:extLst>
          </p:cNvPr>
          <p:cNvSpPr>
            <a:spLocks xmlns:a="http://schemas.openxmlformats.org/drawingml/2006/main" noGrp="1"/>
          </p:cNvSpPr>
          <p:nvPr/>
        </p:nvSpPr>
        <p:spPr>
          <a:xfrm xmlns:a="http://schemas.openxmlformats.org/drawingml/2006/main">
            <a:off x="400050" y="1524000"/>
            <a:ext cx="3333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C99E78E-D2D8-4866-8538-9A54226F89BA}"/>
              </a:ext>
            </a:extLst>
          </p:cNvPr>
          <p:cNvSpPr>
            <a:spLocks xmlns:a="http://schemas.openxmlformats.org/drawingml/2006/main" noGrp="1"/>
          </p:cNvSpPr>
          <p:nvPr/>
        </p:nvSpPr>
        <p:spPr>
          <a:xfrm xmlns:a="http://schemas.openxmlformats.org/drawingml/2006/main">
            <a:off x="476250" y="160972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Feature family</a:t>
            </a:r>
          </a:p>
        </p:txBody>
      </p:sp>
      <p:sp>
        <p:nvSpPr>
          <p:cNvPr id="7" name="">
            <a:extLst xmlns:a="http://schemas.openxmlformats.org/drawingml/2006/main">
              <a:ext uri="{FF2B5EF4-FFF2-40B4-BE49-F238E27FC236}">
                <a16:creationId xmlns:a16="http://schemas.microsoft.com/office/drawing/2014/main" id="{93404F5A-FADB-4725-A8E9-62E277588E63}"/>
              </a:ext>
            </a:extLst>
          </p:cNvPr>
          <p:cNvSpPr>
            <a:spLocks xmlns:a="http://schemas.openxmlformats.org/drawingml/2006/main" noGrp="1"/>
          </p:cNvSpPr>
          <p:nvPr/>
        </p:nvSpPr>
        <p:spPr>
          <a:xfrm xmlns:a="http://schemas.openxmlformats.org/drawingml/2006/main">
            <a:off x="3733800" y="1524000"/>
            <a:ext cx="3905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35E66676-028D-40EC-AE82-4B1B79F6616A}"/>
              </a:ext>
            </a:extLst>
          </p:cNvPr>
          <p:cNvSpPr>
            <a:spLocks xmlns:a="http://schemas.openxmlformats.org/drawingml/2006/main" noGrp="1"/>
          </p:cNvSpPr>
          <p:nvPr/>
        </p:nvSpPr>
        <p:spPr>
          <a:xfrm xmlns:a="http://schemas.openxmlformats.org/drawingml/2006/main">
            <a:off x="3810000" y="1609725"/>
            <a:ext cx="3752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Exact calculation</a:t>
            </a:r>
          </a:p>
        </p:txBody>
      </p:sp>
      <p:sp>
        <p:nvSpPr>
          <p:cNvPr id="9" name="">
            <a:extLst xmlns:a="http://schemas.openxmlformats.org/drawingml/2006/main">
              <a:ext uri="{FF2B5EF4-FFF2-40B4-BE49-F238E27FC236}">
                <a16:creationId xmlns:a16="http://schemas.microsoft.com/office/drawing/2014/main" id="{C94D01EC-5DE7-4B22-B346-C093A4FFB799}"/>
              </a:ext>
            </a:extLst>
          </p:cNvPr>
          <p:cNvSpPr>
            <a:spLocks xmlns:a="http://schemas.openxmlformats.org/drawingml/2006/main" noGrp="1"/>
          </p:cNvSpPr>
          <p:nvPr/>
        </p:nvSpPr>
        <p:spPr>
          <a:xfrm xmlns:a="http://schemas.openxmlformats.org/drawingml/2006/main">
            <a:off x="7639050" y="1524000"/>
            <a:ext cx="41529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6BC895AC-3AA3-43F6-AB85-E5C856B6E281}"/>
              </a:ext>
            </a:extLst>
          </p:cNvPr>
          <p:cNvSpPr>
            <a:spLocks xmlns:a="http://schemas.openxmlformats.org/drawingml/2006/main" noGrp="1"/>
          </p:cNvSpPr>
          <p:nvPr/>
        </p:nvSpPr>
        <p:spPr>
          <a:xfrm xmlns:a="http://schemas.openxmlformats.org/drawingml/2006/main">
            <a:off x="7715250" y="16097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Why it may matter</a:t>
            </a:r>
          </a:p>
        </p:txBody>
      </p:sp>
      <p:sp>
        <p:nvSpPr>
          <p:cNvPr id="11" name="">
            <a:extLst xmlns:a="http://schemas.openxmlformats.org/drawingml/2006/main">
              <a:ext uri="{FF2B5EF4-FFF2-40B4-BE49-F238E27FC236}">
                <a16:creationId xmlns:a16="http://schemas.microsoft.com/office/drawing/2014/main" id="{7E137169-5219-4FC8-A6BD-915929111FEC}"/>
              </a:ext>
            </a:extLst>
          </p:cNvPr>
          <p:cNvSpPr>
            <a:spLocks xmlns:a="http://schemas.openxmlformats.org/drawingml/2006/main" noGrp="1"/>
          </p:cNvSpPr>
          <p:nvPr/>
        </p:nvSpPr>
        <p:spPr>
          <a:xfrm xmlns:a="http://schemas.openxmlformats.org/drawingml/2006/main">
            <a:off x="400050" y="1905000"/>
            <a:ext cx="333375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7E3B801E-C934-42DB-8B75-12F7B50C48B6}"/>
              </a:ext>
            </a:extLst>
          </p:cNvPr>
          <p:cNvSpPr>
            <a:spLocks xmlns:a="http://schemas.openxmlformats.org/drawingml/2006/main" noGrp="1"/>
          </p:cNvSpPr>
          <p:nvPr/>
        </p:nvSpPr>
        <p:spPr>
          <a:xfrm xmlns:a="http://schemas.openxmlformats.org/drawingml/2006/main">
            <a:off x="476250" y="1981200"/>
            <a:ext cx="3181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current_*_decline_from_first</a:t>
            </a:r>
          </a:p>
        </p:txBody>
      </p:sp>
      <p:sp>
        <p:nvSpPr>
          <p:cNvPr id="13" name="">
            <a:extLst xmlns:a="http://schemas.openxmlformats.org/drawingml/2006/main">
              <a:ext uri="{FF2B5EF4-FFF2-40B4-BE49-F238E27FC236}">
                <a16:creationId xmlns:a16="http://schemas.microsoft.com/office/drawing/2014/main" id="{E32697C9-C419-4F5A-B183-7F45BF40FBA6}"/>
              </a:ext>
            </a:extLst>
          </p:cNvPr>
          <p:cNvSpPr>
            <a:spLocks xmlns:a="http://schemas.openxmlformats.org/drawingml/2006/main" noGrp="1"/>
          </p:cNvSpPr>
          <p:nvPr/>
        </p:nvSpPr>
        <p:spPr>
          <a:xfrm xmlns:a="http://schemas.openxmlformats.org/drawingml/2006/main">
            <a:off x="3733800" y="1905000"/>
            <a:ext cx="390525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B45604A6-46D4-4999-A681-5C14FDDFE82C}"/>
              </a:ext>
            </a:extLst>
          </p:cNvPr>
          <p:cNvSpPr>
            <a:spLocks xmlns:a="http://schemas.openxmlformats.org/drawingml/2006/main" noGrp="1"/>
          </p:cNvSpPr>
          <p:nvPr/>
        </p:nvSpPr>
        <p:spPr>
          <a:xfrm xmlns:a="http://schemas.openxmlformats.org/drawingml/2006/main">
            <a:off x="3810000" y="1981200"/>
            <a:ext cx="375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1 − current / first</a:t>
            </a:r>
          </a:p>
        </p:txBody>
      </p:sp>
      <p:sp>
        <p:nvSpPr>
          <p:cNvPr id="15" name="">
            <a:extLst xmlns:a="http://schemas.openxmlformats.org/drawingml/2006/main">
              <a:ext uri="{FF2B5EF4-FFF2-40B4-BE49-F238E27FC236}">
                <a16:creationId xmlns:a16="http://schemas.microsoft.com/office/drawing/2014/main" id="{137D3632-81D6-4CA4-A9BB-A671574D411D}"/>
              </a:ext>
            </a:extLst>
          </p:cNvPr>
          <p:cNvSpPr>
            <a:spLocks xmlns:a="http://schemas.openxmlformats.org/drawingml/2006/main" noGrp="1"/>
          </p:cNvSpPr>
          <p:nvPr/>
        </p:nvSpPr>
        <p:spPr>
          <a:xfrm xmlns:a="http://schemas.openxmlformats.org/drawingml/2006/main">
            <a:off x="7639050" y="1905000"/>
            <a:ext cx="415290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44E68FAC-6487-465C-8DCC-7B1CCC7C9907}"/>
              </a:ext>
            </a:extLst>
          </p:cNvPr>
          <p:cNvSpPr>
            <a:spLocks xmlns:a="http://schemas.openxmlformats.org/drawingml/2006/main" noGrp="1"/>
          </p:cNvSpPr>
          <p:nvPr/>
        </p:nvSpPr>
        <p:spPr>
          <a:xfrm xmlns:a="http://schemas.openxmlformats.org/drawingml/2006/main">
            <a:off x="7715250" y="198120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Relative loss from patient-specific baseline</a:t>
            </a:r>
          </a:p>
        </p:txBody>
      </p:sp>
      <p:sp>
        <p:nvSpPr>
          <p:cNvPr id="17" name="">
            <a:extLst xmlns:a="http://schemas.openxmlformats.org/drawingml/2006/main">
              <a:ext uri="{FF2B5EF4-FFF2-40B4-BE49-F238E27FC236}">
                <a16:creationId xmlns:a16="http://schemas.microsoft.com/office/drawing/2014/main" id="{2E10667C-08A3-4881-AE0C-BDFB879F273E}"/>
              </a:ext>
            </a:extLst>
          </p:cNvPr>
          <p:cNvSpPr>
            <a:spLocks xmlns:a="http://schemas.openxmlformats.org/drawingml/2006/main" noGrp="1"/>
          </p:cNvSpPr>
          <p:nvPr/>
        </p:nvSpPr>
        <p:spPr>
          <a:xfrm xmlns:a="http://schemas.openxmlformats.org/drawingml/2006/main">
            <a:off x="400050" y="2571750"/>
            <a:ext cx="33337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919E1FE4-616D-4B18-9B68-EA39AC0B513D}"/>
              </a:ext>
            </a:extLst>
          </p:cNvPr>
          <p:cNvSpPr>
            <a:spLocks xmlns:a="http://schemas.openxmlformats.org/drawingml/2006/main" noGrp="1"/>
          </p:cNvSpPr>
          <p:nvPr/>
        </p:nvSpPr>
        <p:spPr>
          <a:xfrm xmlns:a="http://schemas.openxmlformats.org/drawingml/2006/main">
            <a:off x="476250" y="2647950"/>
            <a:ext cx="3181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last_*_relative_change</a:t>
            </a:r>
          </a:p>
        </p:txBody>
      </p:sp>
      <p:sp>
        <p:nvSpPr>
          <p:cNvPr id="19" name="">
            <a:extLst xmlns:a="http://schemas.openxmlformats.org/drawingml/2006/main">
              <a:ext uri="{FF2B5EF4-FFF2-40B4-BE49-F238E27FC236}">
                <a16:creationId xmlns:a16="http://schemas.microsoft.com/office/drawing/2014/main" id="{07827495-5B3F-47D7-9F9C-269732AADA7B}"/>
              </a:ext>
            </a:extLst>
          </p:cNvPr>
          <p:cNvSpPr>
            <a:spLocks xmlns:a="http://schemas.openxmlformats.org/drawingml/2006/main" noGrp="1"/>
          </p:cNvSpPr>
          <p:nvPr/>
        </p:nvSpPr>
        <p:spPr>
          <a:xfrm xmlns:a="http://schemas.openxmlformats.org/drawingml/2006/main">
            <a:off x="3733800" y="2571750"/>
            <a:ext cx="39052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7F6561BB-5905-4713-B0AE-19A57961FFBA}"/>
              </a:ext>
            </a:extLst>
          </p:cNvPr>
          <p:cNvSpPr>
            <a:spLocks xmlns:a="http://schemas.openxmlformats.org/drawingml/2006/main" noGrp="1"/>
          </p:cNvSpPr>
          <p:nvPr/>
        </p:nvSpPr>
        <p:spPr>
          <a:xfrm xmlns:a="http://schemas.openxmlformats.org/drawingml/2006/main">
            <a:off x="3810000" y="2647950"/>
            <a:ext cx="375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1 − current / previous</a:t>
            </a:r>
          </a:p>
        </p:txBody>
      </p:sp>
      <p:sp>
        <p:nvSpPr>
          <p:cNvPr id="21" name="">
            <a:extLst xmlns:a="http://schemas.openxmlformats.org/drawingml/2006/main">
              <a:ext uri="{FF2B5EF4-FFF2-40B4-BE49-F238E27FC236}">
                <a16:creationId xmlns:a16="http://schemas.microsoft.com/office/drawing/2014/main" id="{82E1E064-7C42-490B-8435-C530789A9373}"/>
              </a:ext>
            </a:extLst>
          </p:cNvPr>
          <p:cNvSpPr>
            <a:spLocks xmlns:a="http://schemas.openxmlformats.org/drawingml/2006/main" noGrp="1"/>
          </p:cNvSpPr>
          <p:nvPr/>
        </p:nvSpPr>
        <p:spPr>
          <a:xfrm xmlns:a="http://schemas.openxmlformats.org/drawingml/2006/main">
            <a:off x="7639050" y="2571750"/>
            <a:ext cx="415290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C0006F9E-1B64-4E92-8818-B216CB94C5B0}"/>
              </a:ext>
            </a:extLst>
          </p:cNvPr>
          <p:cNvSpPr>
            <a:spLocks xmlns:a="http://schemas.openxmlformats.org/drawingml/2006/main" noGrp="1"/>
          </p:cNvSpPr>
          <p:nvPr/>
        </p:nvSpPr>
        <p:spPr>
          <a:xfrm xmlns:a="http://schemas.openxmlformats.org/drawingml/2006/main">
            <a:off x="7715250" y="26479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Most recent relative step; interval length ignored</a:t>
            </a:r>
          </a:p>
        </p:txBody>
      </p:sp>
      <p:sp>
        <p:nvSpPr>
          <p:cNvPr id="23" name="">
            <a:extLst xmlns:a="http://schemas.openxmlformats.org/drawingml/2006/main">
              <a:ext uri="{FF2B5EF4-FFF2-40B4-BE49-F238E27FC236}">
                <a16:creationId xmlns:a16="http://schemas.microsoft.com/office/drawing/2014/main" id="{E24C1C73-8B26-491C-BE21-A80927060B53}"/>
              </a:ext>
            </a:extLst>
          </p:cNvPr>
          <p:cNvSpPr>
            <a:spLocks xmlns:a="http://schemas.openxmlformats.org/drawingml/2006/main" noGrp="1"/>
          </p:cNvSpPr>
          <p:nvPr/>
        </p:nvSpPr>
        <p:spPr>
          <a:xfrm xmlns:a="http://schemas.openxmlformats.org/drawingml/2006/main">
            <a:off x="400050" y="3238500"/>
            <a:ext cx="333375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8BC37EE2-A2C9-4CFF-8E11-11AD34096D83}"/>
              </a:ext>
            </a:extLst>
          </p:cNvPr>
          <p:cNvSpPr>
            <a:spLocks xmlns:a="http://schemas.openxmlformats.org/drawingml/2006/main" noGrp="1"/>
          </p:cNvSpPr>
          <p:nvPr/>
        </p:nvSpPr>
        <p:spPr>
          <a:xfrm xmlns:a="http://schemas.openxmlformats.org/drawingml/2006/main">
            <a:off x="476250" y="3314700"/>
            <a:ext cx="3181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*_decline_slope_per_100d</a:t>
            </a:r>
          </a:p>
        </p:txBody>
      </p:sp>
      <p:sp>
        <p:nvSpPr>
          <p:cNvPr id="25" name="">
            <a:extLst xmlns:a="http://schemas.openxmlformats.org/drawingml/2006/main">
              <a:ext uri="{FF2B5EF4-FFF2-40B4-BE49-F238E27FC236}">
                <a16:creationId xmlns:a16="http://schemas.microsoft.com/office/drawing/2014/main" id="{87939B28-36D0-4002-8326-CDC8AD5B7822}"/>
              </a:ext>
            </a:extLst>
          </p:cNvPr>
          <p:cNvSpPr>
            <a:spLocks xmlns:a="http://schemas.openxmlformats.org/drawingml/2006/main" noGrp="1"/>
          </p:cNvSpPr>
          <p:nvPr/>
        </p:nvSpPr>
        <p:spPr>
          <a:xfrm xmlns:a="http://schemas.openxmlformats.org/drawingml/2006/main">
            <a:off x="3733800" y="3238500"/>
            <a:ext cx="390525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F9C9B1FE-FB5A-4513-A49A-490290C5E0B8}"/>
              </a:ext>
            </a:extLst>
          </p:cNvPr>
          <p:cNvSpPr>
            <a:spLocks xmlns:a="http://schemas.openxmlformats.org/drawingml/2006/main" noGrp="1"/>
          </p:cNvSpPr>
          <p:nvPr/>
        </p:nvSpPr>
        <p:spPr>
          <a:xfrm xmlns:a="http://schemas.openxmlformats.org/drawingml/2006/main">
            <a:off x="3810000" y="3314700"/>
            <a:ext cx="375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(1 − current/previous) × 100 / Δdays</a:t>
            </a:r>
          </a:p>
        </p:txBody>
      </p:sp>
      <p:sp>
        <p:nvSpPr>
          <p:cNvPr id="27" name="">
            <a:extLst xmlns:a="http://schemas.openxmlformats.org/drawingml/2006/main">
              <a:ext uri="{FF2B5EF4-FFF2-40B4-BE49-F238E27FC236}">
                <a16:creationId xmlns:a16="http://schemas.microsoft.com/office/drawing/2014/main" id="{2CD4EE04-1C22-4388-9048-DD75606894EC}"/>
              </a:ext>
            </a:extLst>
          </p:cNvPr>
          <p:cNvSpPr>
            <a:spLocks xmlns:a="http://schemas.openxmlformats.org/drawingml/2006/main" noGrp="1"/>
          </p:cNvSpPr>
          <p:nvPr/>
        </p:nvSpPr>
        <p:spPr>
          <a:xfrm xmlns:a="http://schemas.openxmlformats.org/drawingml/2006/main">
            <a:off x="7639050" y="3238500"/>
            <a:ext cx="415290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89223052-5B50-4FEE-8B91-DD96336A6875}"/>
              </a:ext>
            </a:extLst>
          </p:cNvPr>
          <p:cNvSpPr>
            <a:spLocks xmlns:a="http://schemas.openxmlformats.org/drawingml/2006/main" noGrp="1"/>
          </p:cNvSpPr>
          <p:nvPr/>
        </p:nvSpPr>
        <p:spPr>
          <a:xfrm xmlns:a="http://schemas.openxmlformats.org/drawingml/2006/main">
            <a:off x="7715250" y="331470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Rate-normalized worsening between visits</a:t>
            </a:r>
          </a:p>
        </p:txBody>
      </p:sp>
      <p:sp>
        <p:nvSpPr>
          <p:cNvPr id="29" name="">
            <a:extLst xmlns:a="http://schemas.openxmlformats.org/drawingml/2006/main">
              <a:ext uri="{FF2B5EF4-FFF2-40B4-BE49-F238E27FC236}">
                <a16:creationId xmlns:a16="http://schemas.microsoft.com/office/drawing/2014/main" id="{163A92BB-F386-439D-AD75-0DD21DBB9A02}"/>
              </a:ext>
            </a:extLst>
          </p:cNvPr>
          <p:cNvSpPr>
            <a:spLocks xmlns:a="http://schemas.openxmlformats.org/drawingml/2006/main" noGrp="1"/>
          </p:cNvSpPr>
          <p:nvPr/>
        </p:nvSpPr>
        <p:spPr>
          <a:xfrm xmlns:a="http://schemas.openxmlformats.org/drawingml/2006/main">
            <a:off x="400050" y="3905250"/>
            <a:ext cx="33337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06D6AC02-F09C-4AE3-A8A8-DCD36DC2FD19}"/>
              </a:ext>
            </a:extLst>
          </p:cNvPr>
          <p:cNvSpPr>
            <a:spLocks xmlns:a="http://schemas.openxmlformats.org/drawingml/2006/main" noGrp="1"/>
          </p:cNvSpPr>
          <p:nvPr/>
        </p:nvSpPr>
        <p:spPr>
          <a:xfrm xmlns:a="http://schemas.openxmlformats.org/drawingml/2006/main">
            <a:off x="476250" y="3981450"/>
            <a:ext cx="3181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current_endo_mid_gap</a:t>
            </a:r>
          </a:p>
        </p:txBody>
      </p:sp>
      <p:sp>
        <p:nvSpPr>
          <p:cNvPr id="31" name="">
            <a:extLst xmlns:a="http://schemas.openxmlformats.org/drawingml/2006/main">
              <a:ext uri="{FF2B5EF4-FFF2-40B4-BE49-F238E27FC236}">
                <a16:creationId xmlns:a16="http://schemas.microsoft.com/office/drawing/2014/main" id="{A0E64724-DD05-4E2A-B320-8D49E83347C4}"/>
              </a:ext>
            </a:extLst>
          </p:cNvPr>
          <p:cNvSpPr>
            <a:spLocks xmlns:a="http://schemas.openxmlformats.org/drawingml/2006/main" noGrp="1"/>
          </p:cNvSpPr>
          <p:nvPr/>
        </p:nvSpPr>
        <p:spPr>
          <a:xfrm xmlns:a="http://schemas.openxmlformats.org/drawingml/2006/main">
            <a:off x="3733800" y="3905250"/>
            <a:ext cx="39052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903C627B-C01E-4303-89DE-F5092D8829F7}"/>
              </a:ext>
            </a:extLst>
          </p:cNvPr>
          <p:cNvSpPr>
            <a:spLocks xmlns:a="http://schemas.openxmlformats.org/drawingml/2006/main" noGrp="1"/>
          </p:cNvSpPr>
          <p:nvPr/>
        </p:nvSpPr>
        <p:spPr>
          <a:xfrm xmlns:a="http://schemas.openxmlformats.org/drawingml/2006/main">
            <a:off x="3810000" y="3981450"/>
            <a:ext cx="375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current Endo GLS − current Mid GLS</a:t>
            </a:r>
          </a:p>
        </p:txBody>
      </p:sp>
      <p:sp>
        <p:nvSpPr>
          <p:cNvPr id="33" name="">
            <a:extLst xmlns:a="http://schemas.openxmlformats.org/drawingml/2006/main">
              <a:ext uri="{FF2B5EF4-FFF2-40B4-BE49-F238E27FC236}">
                <a16:creationId xmlns:a16="http://schemas.microsoft.com/office/drawing/2014/main" id="{6B97B958-0F20-4C25-AA12-9F15C5A3635D}"/>
              </a:ext>
            </a:extLst>
          </p:cNvPr>
          <p:cNvSpPr>
            <a:spLocks xmlns:a="http://schemas.openxmlformats.org/drawingml/2006/main" noGrp="1"/>
          </p:cNvSpPr>
          <p:nvPr/>
        </p:nvSpPr>
        <p:spPr>
          <a:xfrm xmlns:a="http://schemas.openxmlformats.org/drawingml/2006/main">
            <a:off x="7639050" y="3905250"/>
            <a:ext cx="415290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7A808DD6-7800-4604-93AA-58199613982D}"/>
              </a:ext>
            </a:extLst>
          </p:cNvPr>
          <p:cNvSpPr>
            <a:spLocks xmlns:a="http://schemas.openxmlformats.org/drawingml/2006/main" noGrp="1"/>
          </p:cNvSpPr>
          <p:nvPr/>
        </p:nvSpPr>
        <p:spPr>
          <a:xfrm xmlns:a="http://schemas.openxmlformats.org/drawingml/2006/main">
            <a:off x="7715250" y="39814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Global transmural strain-gradient magnitude</a:t>
            </a:r>
          </a:p>
        </p:txBody>
      </p:sp>
      <p:sp>
        <p:nvSpPr>
          <p:cNvPr id="35" name="">
            <a:extLst xmlns:a="http://schemas.openxmlformats.org/drawingml/2006/main">
              <a:ext uri="{FF2B5EF4-FFF2-40B4-BE49-F238E27FC236}">
                <a16:creationId xmlns:a16="http://schemas.microsoft.com/office/drawing/2014/main" id="{782FFA79-C691-474D-A282-0ECD9F16336D}"/>
              </a:ext>
            </a:extLst>
          </p:cNvPr>
          <p:cNvSpPr>
            <a:spLocks xmlns:a="http://schemas.openxmlformats.org/drawingml/2006/main" noGrp="1"/>
          </p:cNvSpPr>
          <p:nvPr/>
        </p:nvSpPr>
        <p:spPr>
          <a:xfrm xmlns:a="http://schemas.openxmlformats.org/drawingml/2006/main">
            <a:off x="400050" y="4572000"/>
            <a:ext cx="333375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EEB12BF2-EFBE-473B-AA2E-32B3CDFB2CB8}"/>
              </a:ext>
            </a:extLst>
          </p:cNvPr>
          <p:cNvSpPr>
            <a:spLocks xmlns:a="http://schemas.openxmlformats.org/drawingml/2006/main" noGrp="1"/>
          </p:cNvSpPr>
          <p:nvPr/>
        </p:nvSpPr>
        <p:spPr>
          <a:xfrm xmlns:a="http://schemas.openxmlformats.org/drawingml/2006/main">
            <a:off x="476250" y="4648200"/>
            <a:ext cx="3181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last_endo_mid_gap_change</a:t>
            </a:r>
          </a:p>
        </p:txBody>
      </p:sp>
      <p:sp>
        <p:nvSpPr>
          <p:cNvPr id="37" name="">
            <a:extLst xmlns:a="http://schemas.openxmlformats.org/drawingml/2006/main">
              <a:ext uri="{FF2B5EF4-FFF2-40B4-BE49-F238E27FC236}">
                <a16:creationId xmlns:a16="http://schemas.microsoft.com/office/drawing/2014/main" id="{F2AD2B8C-7352-4B52-BB28-809853731B5D}"/>
              </a:ext>
            </a:extLst>
          </p:cNvPr>
          <p:cNvSpPr>
            <a:spLocks xmlns:a="http://schemas.openxmlformats.org/drawingml/2006/main" noGrp="1"/>
          </p:cNvSpPr>
          <p:nvPr/>
        </p:nvSpPr>
        <p:spPr>
          <a:xfrm xmlns:a="http://schemas.openxmlformats.org/drawingml/2006/main">
            <a:off x="3733800" y="4572000"/>
            <a:ext cx="390525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857BACED-E619-40B8-A369-7CE4880ECBB7}"/>
              </a:ext>
            </a:extLst>
          </p:cNvPr>
          <p:cNvSpPr>
            <a:spLocks xmlns:a="http://schemas.openxmlformats.org/drawingml/2006/main" noGrp="1"/>
          </p:cNvSpPr>
          <p:nvPr/>
        </p:nvSpPr>
        <p:spPr>
          <a:xfrm xmlns:a="http://schemas.openxmlformats.org/drawingml/2006/main">
            <a:off x="3810000" y="4648200"/>
            <a:ext cx="375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gap(t) − gap(t−1)</a:t>
            </a:r>
          </a:p>
        </p:txBody>
      </p:sp>
      <p:sp>
        <p:nvSpPr>
          <p:cNvPr id="39" name="">
            <a:extLst xmlns:a="http://schemas.openxmlformats.org/drawingml/2006/main">
              <a:ext uri="{FF2B5EF4-FFF2-40B4-BE49-F238E27FC236}">
                <a16:creationId xmlns:a16="http://schemas.microsoft.com/office/drawing/2014/main" id="{4881D6B2-3B60-4483-B672-7EBADD73ED89}"/>
              </a:ext>
            </a:extLst>
          </p:cNvPr>
          <p:cNvSpPr>
            <a:spLocks xmlns:a="http://schemas.openxmlformats.org/drawingml/2006/main" noGrp="1"/>
          </p:cNvSpPr>
          <p:nvPr/>
        </p:nvSpPr>
        <p:spPr>
          <a:xfrm xmlns:a="http://schemas.openxmlformats.org/drawingml/2006/main">
            <a:off x="7639050" y="4572000"/>
            <a:ext cx="4152900" cy="6667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F9CCFAB2-1CD6-4F1B-9627-AF689C615176}"/>
              </a:ext>
            </a:extLst>
          </p:cNvPr>
          <p:cNvSpPr>
            <a:spLocks xmlns:a="http://schemas.openxmlformats.org/drawingml/2006/main" noGrp="1"/>
          </p:cNvSpPr>
          <p:nvPr/>
        </p:nvSpPr>
        <p:spPr>
          <a:xfrm xmlns:a="http://schemas.openxmlformats.org/drawingml/2006/main">
            <a:off x="7715250" y="464820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Recent evolution of global Endo–Mid relationship</a:t>
            </a:r>
          </a:p>
        </p:txBody>
      </p:sp>
      <p:sp>
        <p:nvSpPr>
          <p:cNvPr id="41" name="">
            <a:extLst xmlns:a="http://schemas.openxmlformats.org/drawingml/2006/main">
              <a:ext uri="{FF2B5EF4-FFF2-40B4-BE49-F238E27FC236}">
                <a16:creationId xmlns:a16="http://schemas.microsoft.com/office/drawing/2014/main" id="{F9CD4505-82E4-459E-8114-DB1192868CC0}"/>
              </a:ext>
            </a:extLst>
          </p:cNvPr>
          <p:cNvSpPr>
            <a:spLocks xmlns:a="http://schemas.openxmlformats.org/drawingml/2006/main" noGrp="1"/>
          </p:cNvSpPr>
          <p:nvPr/>
        </p:nvSpPr>
        <p:spPr>
          <a:xfrm xmlns:a="http://schemas.openxmlformats.org/drawingml/2006/main">
            <a:off x="400050" y="5238750"/>
            <a:ext cx="33337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4AFD7198-0FE4-4715-A4FA-998F06DE49ED}"/>
              </a:ext>
            </a:extLst>
          </p:cNvPr>
          <p:cNvSpPr>
            <a:spLocks xmlns:a="http://schemas.openxmlformats.org/drawingml/2006/main" noGrp="1"/>
          </p:cNvSpPr>
          <p:nvPr/>
        </p:nvSpPr>
        <p:spPr>
          <a:xfrm xmlns:a="http://schemas.openxmlformats.org/drawingml/2006/main">
            <a:off x="476250" y="5314950"/>
            <a:ext cx="3181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1" i="0">
                <a:solidFill>
                  <a:srgbClr val="050505"/>
                </a:solidFill>
                <a:latin typeface="Arial"/>
                <a:ea typeface="Arial"/>
                <a:cs typeface="Arial"/>
              </a:defRPr>
            </a:pPr>
            <a:r>
              <a:rPr sz="1163" b="1" i="0">
                <a:solidFill>
                  <a:srgbClr val="050505"/>
                </a:solidFill>
                <a:latin typeface="Arial"/>
                <a:ea typeface="Arial"/>
                <a:cs typeface="Arial"/>
              </a:rPr>
              <a:t>current_*_decline_from_roll2</a:t>
            </a:r>
          </a:p>
        </p:txBody>
      </p:sp>
      <p:sp>
        <p:nvSpPr>
          <p:cNvPr id="43" name="">
            <a:extLst xmlns:a="http://schemas.openxmlformats.org/drawingml/2006/main">
              <a:ext uri="{FF2B5EF4-FFF2-40B4-BE49-F238E27FC236}">
                <a16:creationId xmlns:a16="http://schemas.microsoft.com/office/drawing/2014/main" id="{49771E6B-C9EE-4CED-8F1A-E1A956EF8622}"/>
              </a:ext>
            </a:extLst>
          </p:cNvPr>
          <p:cNvSpPr>
            <a:spLocks xmlns:a="http://schemas.openxmlformats.org/drawingml/2006/main" noGrp="1"/>
          </p:cNvSpPr>
          <p:nvPr/>
        </p:nvSpPr>
        <p:spPr>
          <a:xfrm xmlns:a="http://schemas.openxmlformats.org/drawingml/2006/main">
            <a:off x="3733800" y="5238750"/>
            <a:ext cx="390525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0BD7B728-94CC-4F68-B9EE-86A8C50E24E1}"/>
              </a:ext>
            </a:extLst>
          </p:cNvPr>
          <p:cNvSpPr>
            <a:spLocks xmlns:a="http://schemas.openxmlformats.org/drawingml/2006/main" noGrp="1"/>
          </p:cNvSpPr>
          <p:nvPr/>
        </p:nvSpPr>
        <p:spPr>
          <a:xfrm xmlns:a="http://schemas.openxmlformats.org/drawingml/2006/main">
            <a:off x="3810000" y="5314950"/>
            <a:ext cx="375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1 − current / mean(last 2 values)</a:t>
            </a:r>
          </a:p>
        </p:txBody>
      </p:sp>
      <p:sp>
        <p:nvSpPr>
          <p:cNvPr id="45" name="">
            <a:extLst xmlns:a="http://schemas.openxmlformats.org/drawingml/2006/main">
              <a:ext uri="{FF2B5EF4-FFF2-40B4-BE49-F238E27FC236}">
                <a16:creationId xmlns:a16="http://schemas.microsoft.com/office/drawing/2014/main" id="{D9BD6A42-C65C-4803-8599-F91CCFDAEE19}"/>
              </a:ext>
            </a:extLst>
          </p:cNvPr>
          <p:cNvSpPr>
            <a:spLocks xmlns:a="http://schemas.openxmlformats.org/drawingml/2006/main" noGrp="1"/>
          </p:cNvSpPr>
          <p:nvPr/>
        </p:nvSpPr>
        <p:spPr>
          <a:xfrm xmlns:a="http://schemas.openxmlformats.org/drawingml/2006/main">
            <a:off x="7639050" y="5238750"/>
            <a:ext cx="4152900" cy="6667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81CA1B77-25E5-45F4-87BB-961E891BD282}"/>
              </a:ext>
            </a:extLst>
          </p:cNvPr>
          <p:cNvSpPr>
            <a:spLocks xmlns:a="http://schemas.openxmlformats.org/drawingml/2006/main" noGrp="1"/>
          </p:cNvSpPr>
          <p:nvPr/>
        </p:nvSpPr>
        <p:spPr>
          <a:xfrm xmlns:a="http://schemas.openxmlformats.org/drawingml/2006/main">
            <a:off x="7715250" y="53149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63" b="0" i="0">
                <a:solidFill>
                  <a:srgbClr val="5B616B"/>
                </a:solidFill>
                <a:latin typeface="Arial"/>
                <a:ea typeface="Arial"/>
                <a:cs typeface="Arial"/>
              </a:defRPr>
            </a:pPr>
            <a:r>
              <a:rPr sz="1163" b="0" i="0">
                <a:solidFill>
                  <a:srgbClr val="5B616B"/>
                </a:solidFill>
                <a:latin typeface="Arial"/>
                <a:ea typeface="Arial"/>
                <a:cs typeface="Arial"/>
              </a:rPr>
              <a:t>Smooths one prior noisy measurement; predictor only</a:t>
            </a:r>
          </a:p>
        </p:txBody>
      </p:sp>
      <p:sp>
        <p:nvSpPr>
          <p:cNvPr id="47" name="">
            <a:extLst xmlns:a="http://schemas.openxmlformats.org/drawingml/2006/main">
              <a:ext uri="{FF2B5EF4-FFF2-40B4-BE49-F238E27FC236}">
                <a16:creationId xmlns:a16="http://schemas.microsoft.com/office/drawing/2014/main" id="{2BD3B2EB-BF1B-4693-9A9D-1B446D4EFE23}"/>
              </a:ext>
            </a:extLst>
          </p:cNvPr>
          <p:cNvSpPr>
            <a:spLocks xmlns:a="http://schemas.openxmlformats.org/drawingml/2006/main" noGrp="1"/>
          </p:cNvSpPr>
          <p:nvPr/>
        </p:nvSpPr>
        <p:spPr>
          <a:xfrm xmlns:a="http://schemas.openxmlformats.org/drawingml/2006/main">
            <a:off x="1600200" y="5753100"/>
            <a:ext cx="899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050505"/>
                </a:solidFill>
                <a:latin typeface="Arial"/>
                <a:ea typeface="Arial"/>
                <a:cs typeface="Arial"/>
              </a:defRPr>
            </a:pPr>
            <a:r>
              <a:rPr sz="1275" b="1" i="0">
                <a:solidFill>
                  <a:srgbClr val="050505"/>
                </a:solidFill>
                <a:latin typeface="Arial"/>
                <a:ea typeface="Arial"/>
                <a:cs typeface="Arial"/>
              </a:rPr>
              <a:t>* is Mid-GLS, Endo-GLS or EF. Absolute decline in percentage points is not used for the outcome.</a:t>
            </a:r>
          </a:p>
        </p:txBody>
      </p:sp>
      <p:sp>
        <p:nvSpPr>
          <p:cNvPr id="48" name="">
            <a:extLst xmlns:a="http://schemas.openxmlformats.org/drawingml/2006/main">
              <a:ext uri="{FF2B5EF4-FFF2-40B4-BE49-F238E27FC236}">
                <a16:creationId xmlns:a16="http://schemas.microsoft.com/office/drawing/2014/main" id="{44311843-7A7C-439D-BC18-F31397873C6D}"/>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relative decline only; first visit is outcome baseline</a:t>
            </a:r>
          </a:p>
        </p:txBody>
      </p:sp>
    </p:spTree>
    <p:extLst>
      <p:ext uri="{BB962C8B-B14F-4D97-AF65-F5344CB8AC3E}">
        <p14:creationId xmlns:p14="http://schemas.microsoft.com/office/powerpoint/2010/main" val="48487070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6C4367E6-4BC3-4580-9CDB-3203C4FF41CD}"/>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VARIABILITY SUFFIXES · 1/3</a:t>
            </a:r>
          </a:p>
        </p:txBody>
      </p:sp>
      <p:sp>
        <p:nvSpPr>
          <p:cNvPr id="2" name="">
            <a:extLst xmlns:a="http://schemas.openxmlformats.org/drawingml/2006/main">
              <a:ext uri="{FF2B5EF4-FFF2-40B4-BE49-F238E27FC236}">
                <a16:creationId xmlns:a16="http://schemas.microsoft.com/office/drawing/2014/main" id="{691C06EC-CA04-45D0-829B-CAEDD7EB6AE3}"/>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Appendix: amplitude and timing variability</a:t>
            </a:r>
          </a:p>
        </p:txBody>
      </p:sp>
      <p:sp>
        <p:nvSpPr>
          <p:cNvPr id="3" name="">
            <a:extLst xmlns:a="http://schemas.openxmlformats.org/drawingml/2006/main">
              <a:ext uri="{FF2B5EF4-FFF2-40B4-BE49-F238E27FC236}">
                <a16:creationId xmlns:a16="http://schemas.microsoft.com/office/drawing/2014/main" id="{DA69A514-5446-4B1D-975F-EFCAEB1C350D}"/>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CBC28A89-3A6E-4660-B3AE-525BF88039FF}"/>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CF5B60FA-450B-4A50-AD19-8B1F57D814FB}"/>
              </a:ext>
            </a:extLst>
          </p:cNvPr>
          <p:cNvSpPr>
            <a:spLocks xmlns:a="http://schemas.openxmlformats.org/drawingml/2006/main" noGrp="1"/>
          </p:cNvSpPr>
          <p:nvPr/>
        </p:nvSpPr>
        <p:spPr>
          <a:xfrm xmlns:a="http://schemas.openxmlformats.org/drawingml/2006/main">
            <a:off x="400050" y="1466850"/>
            <a:ext cx="3333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6A06636D-EA65-43A8-90D1-4F076EEC9483}"/>
              </a:ext>
            </a:extLst>
          </p:cNvPr>
          <p:cNvSpPr>
            <a:spLocks xmlns:a="http://schemas.openxmlformats.org/drawingml/2006/main" noGrp="1"/>
          </p:cNvSpPr>
          <p:nvPr/>
        </p:nvSpPr>
        <p:spPr>
          <a:xfrm xmlns:a="http://schemas.openxmlformats.org/drawingml/2006/main">
            <a:off x="476250" y="155257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Suffix</a:t>
            </a:r>
          </a:p>
        </p:txBody>
      </p:sp>
      <p:sp>
        <p:nvSpPr>
          <p:cNvPr id="7" name="">
            <a:extLst xmlns:a="http://schemas.openxmlformats.org/drawingml/2006/main">
              <a:ext uri="{FF2B5EF4-FFF2-40B4-BE49-F238E27FC236}">
                <a16:creationId xmlns:a16="http://schemas.microsoft.com/office/drawing/2014/main" id="{6B00E9CA-FEDC-4C39-9980-1967452AFA87}"/>
              </a:ext>
            </a:extLst>
          </p:cNvPr>
          <p:cNvSpPr>
            <a:spLocks xmlns:a="http://schemas.openxmlformats.org/drawingml/2006/main" noGrp="1"/>
          </p:cNvSpPr>
          <p:nvPr/>
        </p:nvSpPr>
        <p:spPr>
          <a:xfrm xmlns:a="http://schemas.openxmlformats.org/drawingml/2006/main">
            <a:off x="3733800" y="1466850"/>
            <a:ext cx="3905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73E20936-3062-45FE-A1AF-55C1CA633298}"/>
              </a:ext>
            </a:extLst>
          </p:cNvPr>
          <p:cNvSpPr>
            <a:spLocks xmlns:a="http://schemas.openxmlformats.org/drawingml/2006/main" noGrp="1"/>
          </p:cNvSpPr>
          <p:nvPr/>
        </p:nvSpPr>
        <p:spPr>
          <a:xfrm xmlns:a="http://schemas.openxmlformats.org/drawingml/2006/main">
            <a:off x="3810000" y="1552575"/>
            <a:ext cx="3752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Calculation</a:t>
            </a:r>
          </a:p>
        </p:txBody>
      </p:sp>
      <p:sp>
        <p:nvSpPr>
          <p:cNvPr id="9" name="">
            <a:extLst xmlns:a="http://schemas.openxmlformats.org/drawingml/2006/main">
              <a:ext uri="{FF2B5EF4-FFF2-40B4-BE49-F238E27FC236}">
                <a16:creationId xmlns:a16="http://schemas.microsoft.com/office/drawing/2014/main" id="{11D1950A-D765-415B-8E93-5900E6783E83}"/>
              </a:ext>
            </a:extLst>
          </p:cNvPr>
          <p:cNvSpPr>
            <a:spLocks xmlns:a="http://schemas.openxmlformats.org/drawingml/2006/main" noGrp="1"/>
          </p:cNvSpPr>
          <p:nvPr/>
        </p:nvSpPr>
        <p:spPr>
          <a:xfrm xmlns:a="http://schemas.openxmlformats.org/drawingml/2006/main">
            <a:off x="7639050" y="1466850"/>
            <a:ext cx="41529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AFA9A742-80F3-4916-89A4-0DCE0F530F93}"/>
              </a:ext>
            </a:extLst>
          </p:cNvPr>
          <p:cNvSpPr>
            <a:spLocks xmlns:a="http://schemas.openxmlformats.org/drawingml/2006/main" noGrp="1"/>
          </p:cNvSpPr>
          <p:nvPr/>
        </p:nvSpPr>
        <p:spPr>
          <a:xfrm xmlns:a="http://schemas.openxmlformats.org/drawingml/2006/main">
            <a:off x="7715250" y="15525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Physiological interpretation</a:t>
            </a:r>
          </a:p>
        </p:txBody>
      </p:sp>
      <p:sp>
        <p:nvSpPr>
          <p:cNvPr id="11" name="">
            <a:extLst xmlns:a="http://schemas.openxmlformats.org/drawingml/2006/main">
              <a:ext uri="{FF2B5EF4-FFF2-40B4-BE49-F238E27FC236}">
                <a16:creationId xmlns:a16="http://schemas.microsoft.com/office/drawing/2014/main" id="{3B0ED347-B8E1-47CE-820B-7810FBD43389}"/>
              </a:ext>
            </a:extLst>
          </p:cNvPr>
          <p:cNvSpPr>
            <a:spLocks xmlns:a="http://schemas.openxmlformats.org/drawingml/2006/main" noGrp="1"/>
          </p:cNvSpPr>
          <p:nvPr/>
        </p:nvSpPr>
        <p:spPr>
          <a:xfrm xmlns:a="http://schemas.openxmlformats.org/drawingml/2006/main">
            <a:off x="400050" y="18478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1F843278-6D12-4018-9114-D8A3C0BA9E0D}"/>
              </a:ext>
            </a:extLst>
          </p:cNvPr>
          <p:cNvSpPr>
            <a:spLocks xmlns:a="http://schemas.openxmlformats.org/drawingml/2006/main" noGrp="1"/>
          </p:cNvSpPr>
          <p:nvPr/>
        </p:nvSpPr>
        <p:spPr>
          <a:xfrm xmlns:a="http://schemas.openxmlformats.org/drawingml/2006/main">
            <a:off x="476250" y="19240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peak_abs_robust_sd</a:t>
            </a:r>
          </a:p>
        </p:txBody>
      </p:sp>
      <p:sp>
        <p:nvSpPr>
          <p:cNvPr id="13" name="">
            <a:extLst xmlns:a="http://schemas.openxmlformats.org/drawingml/2006/main">
              <a:ext uri="{FF2B5EF4-FFF2-40B4-BE49-F238E27FC236}">
                <a16:creationId xmlns:a16="http://schemas.microsoft.com/office/drawing/2014/main" id="{95121F60-16C9-4BAF-A866-478676235D35}"/>
              </a:ext>
            </a:extLst>
          </p:cNvPr>
          <p:cNvSpPr>
            <a:spLocks xmlns:a="http://schemas.openxmlformats.org/drawingml/2006/main" noGrp="1"/>
          </p:cNvSpPr>
          <p:nvPr/>
        </p:nvSpPr>
        <p:spPr>
          <a:xfrm xmlns:a="http://schemas.openxmlformats.org/drawingml/2006/main">
            <a:off x="3733800" y="18478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E4A38596-5F1C-457D-A112-323268AAB173}"/>
              </a:ext>
            </a:extLst>
          </p:cNvPr>
          <p:cNvSpPr>
            <a:spLocks xmlns:a="http://schemas.openxmlformats.org/drawingml/2006/main" noGrp="1"/>
          </p:cNvSpPr>
          <p:nvPr/>
        </p:nvSpPr>
        <p:spPr>
          <a:xfrm xmlns:a="http://schemas.openxmlformats.org/drawingml/2006/main">
            <a:off x="3810000" y="19240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1.4826 × MAD of segment |peak strain|</a:t>
            </a:r>
          </a:p>
        </p:txBody>
      </p:sp>
      <p:sp>
        <p:nvSpPr>
          <p:cNvPr id="15" name="">
            <a:extLst xmlns:a="http://schemas.openxmlformats.org/drawingml/2006/main">
              <a:ext uri="{FF2B5EF4-FFF2-40B4-BE49-F238E27FC236}">
                <a16:creationId xmlns:a16="http://schemas.microsoft.com/office/drawing/2014/main" id="{9C5B65C8-60DE-404D-9616-7674DBFBBECC}"/>
              </a:ext>
            </a:extLst>
          </p:cNvPr>
          <p:cNvSpPr>
            <a:spLocks xmlns:a="http://schemas.openxmlformats.org/drawingml/2006/main" noGrp="1"/>
          </p:cNvSpPr>
          <p:nvPr/>
        </p:nvSpPr>
        <p:spPr>
          <a:xfrm xmlns:a="http://schemas.openxmlformats.org/drawingml/2006/main">
            <a:off x="7639050" y="18478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5AEBA693-D16E-40EF-A819-5F07874E03DE}"/>
              </a:ext>
            </a:extLst>
          </p:cNvPr>
          <p:cNvSpPr>
            <a:spLocks xmlns:a="http://schemas.openxmlformats.org/drawingml/2006/main" noGrp="1"/>
          </p:cNvSpPr>
          <p:nvPr/>
        </p:nvSpPr>
        <p:spPr>
          <a:xfrm xmlns:a="http://schemas.openxmlformats.org/drawingml/2006/main">
            <a:off x="7715250" y="19240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Robust regional amplitude heterogeneity</a:t>
            </a:r>
          </a:p>
        </p:txBody>
      </p:sp>
      <p:sp>
        <p:nvSpPr>
          <p:cNvPr id="17" name="">
            <a:extLst xmlns:a="http://schemas.openxmlformats.org/drawingml/2006/main">
              <a:ext uri="{FF2B5EF4-FFF2-40B4-BE49-F238E27FC236}">
                <a16:creationId xmlns:a16="http://schemas.microsoft.com/office/drawing/2014/main" id="{4655F076-375A-4758-9DA5-BEF6365A01D9}"/>
              </a:ext>
            </a:extLst>
          </p:cNvPr>
          <p:cNvSpPr>
            <a:spLocks xmlns:a="http://schemas.openxmlformats.org/drawingml/2006/main" noGrp="1"/>
          </p:cNvSpPr>
          <p:nvPr/>
        </p:nvSpPr>
        <p:spPr>
          <a:xfrm xmlns:a="http://schemas.openxmlformats.org/drawingml/2006/main">
            <a:off x="400050" y="25336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5966F92F-B1A4-42B3-8B06-3BFD5C9C8E36}"/>
              </a:ext>
            </a:extLst>
          </p:cNvPr>
          <p:cNvSpPr>
            <a:spLocks xmlns:a="http://schemas.openxmlformats.org/drawingml/2006/main" noGrp="1"/>
          </p:cNvSpPr>
          <p:nvPr/>
        </p:nvSpPr>
        <p:spPr>
          <a:xfrm xmlns:a="http://schemas.openxmlformats.org/drawingml/2006/main">
            <a:off x="476250" y="26098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peak_abs_cv</a:t>
            </a:r>
          </a:p>
        </p:txBody>
      </p:sp>
      <p:sp>
        <p:nvSpPr>
          <p:cNvPr id="19" name="">
            <a:extLst xmlns:a="http://schemas.openxmlformats.org/drawingml/2006/main">
              <a:ext uri="{FF2B5EF4-FFF2-40B4-BE49-F238E27FC236}">
                <a16:creationId xmlns:a16="http://schemas.microsoft.com/office/drawing/2014/main" id="{A046E90B-5AD0-4306-8BB8-6D80D48D20AC}"/>
              </a:ext>
            </a:extLst>
          </p:cNvPr>
          <p:cNvSpPr>
            <a:spLocks xmlns:a="http://schemas.openxmlformats.org/drawingml/2006/main" noGrp="1"/>
          </p:cNvSpPr>
          <p:nvPr/>
        </p:nvSpPr>
        <p:spPr>
          <a:xfrm xmlns:a="http://schemas.openxmlformats.org/drawingml/2006/main">
            <a:off x="3733800" y="25336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5861E89F-C224-4A65-A581-5D085FC6C7D0}"/>
              </a:ext>
            </a:extLst>
          </p:cNvPr>
          <p:cNvSpPr>
            <a:spLocks xmlns:a="http://schemas.openxmlformats.org/drawingml/2006/main" noGrp="1"/>
          </p:cNvSpPr>
          <p:nvPr/>
        </p:nvSpPr>
        <p:spPr>
          <a:xfrm xmlns:a="http://schemas.openxmlformats.org/drawingml/2006/main">
            <a:off x="3810000" y="26098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SD(|peak|) / mean(|peak|)</a:t>
            </a:r>
          </a:p>
        </p:txBody>
      </p:sp>
      <p:sp>
        <p:nvSpPr>
          <p:cNvPr id="21" name="">
            <a:extLst xmlns:a="http://schemas.openxmlformats.org/drawingml/2006/main">
              <a:ext uri="{FF2B5EF4-FFF2-40B4-BE49-F238E27FC236}">
                <a16:creationId xmlns:a16="http://schemas.microsoft.com/office/drawing/2014/main" id="{52BDE0D6-CCDB-4213-ABE4-B0CE6A6ADE6E}"/>
              </a:ext>
            </a:extLst>
          </p:cNvPr>
          <p:cNvSpPr>
            <a:spLocks xmlns:a="http://schemas.openxmlformats.org/drawingml/2006/main" noGrp="1"/>
          </p:cNvSpPr>
          <p:nvPr/>
        </p:nvSpPr>
        <p:spPr>
          <a:xfrm xmlns:a="http://schemas.openxmlformats.org/drawingml/2006/main">
            <a:off x="7639050" y="25336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5D2062C2-6417-4CFB-9046-83BD77367D55}"/>
              </a:ext>
            </a:extLst>
          </p:cNvPr>
          <p:cNvSpPr>
            <a:spLocks xmlns:a="http://schemas.openxmlformats.org/drawingml/2006/main" noGrp="1"/>
          </p:cNvSpPr>
          <p:nvPr/>
        </p:nvSpPr>
        <p:spPr>
          <a:xfrm xmlns:a="http://schemas.openxmlformats.org/drawingml/2006/main">
            <a:off x="7715250" y="26098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Amplitude dispersion relative to overall contraction</a:t>
            </a:r>
          </a:p>
        </p:txBody>
      </p:sp>
      <p:sp>
        <p:nvSpPr>
          <p:cNvPr id="23" name="">
            <a:extLst xmlns:a="http://schemas.openxmlformats.org/drawingml/2006/main">
              <a:ext uri="{FF2B5EF4-FFF2-40B4-BE49-F238E27FC236}">
                <a16:creationId xmlns:a16="http://schemas.microsoft.com/office/drawing/2014/main" id="{CD95232B-E48D-4D97-9CB5-29B407E3C429}"/>
              </a:ext>
            </a:extLst>
          </p:cNvPr>
          <p:cNvSpPr>
            <a:spLocks xmlns:a="http://schemas.openxmlformats.org/drawingml/2006/main" noGrp="1"/>
          </p:cNvSpPr>
          <p:nvPr/>
        </p:nvSpPr>
        <p:spPr>
          <a:xfrm xmlns:a="http://schemas.openxmlformats.org/drawingml/2006/main">
            <a:off x="400050" y="32194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EBC47E01-D033-43ED-8A81-6BA0785B467B}"/>
              </a:ext>
            </a:extLst>
          </p:cNvPr>
          <p:cNvSpPr>
            <a:spLocks xmlns:a="http://schemas.openxmlformats.org/drawingml/2006/main" noGrp="1"/>
          </p:cNvSpPr>
          <p:nvPr/>
        </p:nvSpPr>
        <p:spPr>
          <a:xfrm xmlns:a="http://schemas.openxmlformats.org/drawingml/2006/main">
            <a:off x="476250" y="32956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time_to_peak_norm_circular_std</a:t>
            </a:r>
          </a:p>
        </p:txBody>
      </p:sp>
      <p:sp>
        <p:nvSpPr>
          <p:cNvPr id="25" name="">
            <a:extLst xmlns:a="http://schemas.openxmlformats.org/drawingml/2006/main">
              <a:ext uri="{FF2B5EF4-FFF2-40B4-BE49-F238E27FC236}">
                <a16:creationId xmlns:a16="http://schemas.microsoft.com/office/drawing/2014/main" id="{03AED4C6-91F6-40AA-AA2D-6FC458AE9F48}"/>
              </a:ext>
            </a:extLst>
          </p:cNvPr>
          <p:cNvSpPr>
            <a:spLocks xmlns:a="http://schemas.openxmlformats.org/drawingml/2006/main" noGrp="1"/>
          </p:cNvSpPr>
          <p:nvPr/>
        </p:nvSpPr>
        <p:spPr>
          <a:xfrm xmlns:a="http://schemas.openxmlformats.org/drawingml/2006/main">
            <a:off x="3733800" y="32194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D4FCAB89-3CBD-4DC5-ADFC-26F7290E4B70}"/>
              </a:ext>
            </a:extLst>
          </p:cNvPr>
          <p:cNvSpPr>
            <a:spLocks xmlns:a="http://schemas.openxmlformats.org/drawingml/2006/main" noGrp="1"/>
          </p:cNvSpPr>
          <p:nvPr/>
        </p:nvSpPr>
        <p:spPr>
          <a:xfrm xmlns:a="http://schemas.openxmlformats.org/drawingml/2006/main">
            <a:off x="3810000" y="32956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Circular SD of peak time / cycle</a:t>
            </a:r>
          </a:p>
        </p:txBody>
      </p:sp>
      <p:sp>
        <p:nvSpPr>
          <p:cNvPr id="27" name="">
            <a:extLst xmlns:a="http://schemas.openxmlformats.org/drawingml/2006/main">
              <a:ext uri="{FF2B5EF4-FFF2-40B4-BE49-F238E27FC236}">
                <a16:creationId xmlns:a16="http://schemas.microsoft.com/office/drawing/2014/main" id="{B289941B-6945-48AC-BA5E-D9B927E20721}"/>
              </a:ext>
            </a:extLst>
          </p:cNvPr>
          <p:cNvSpPr>
            <a:spLocks xmlns:a="http://schemas.openxmlformats.org/drawingml/2006/main" noGrp="1"/>
          </p:cNvSpPr>
          <p:nvPr/>
        </p:nvSpPr>
        <p:spPr>
          <a:xfrm xmlns:a="http://schemas.openxmlformats.org/drawingml/2006/main">
            <a:off x="7639050" y="32194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5BFCA22B-28FF-40F8-8C99-46C280534363}"/>
              </a:ext>
            </a:extLst>
          </p:cNvPr>
          <p:cNvSpPr>
            <a:spLocks xmlns:a="http://schemas.openxmlformats.org/drawingml/2006/main" noGrp="1"/>
          </p:cNvSpPr>
          <p:nvPr/>
        </p:nvSpPr>
        <p:spPr>
          <a:xfrm xmlns:a="http://schemas.openxmlformats.org/drawingml/2006/main">
            <a:off x="7715250" y="32956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Segmental timing dispersion with wrap-around handling</a:t>
            </a:r>
          </a:p>
        </p:txBody>
      </p:sp>
      <p:sp>
        <p:nvSpPr>
          <p:cNvPr id="29" name="">
            <a:extLst xmlns:a="http://schemas.openxmlformats.org/drawingml/2006/main">
              <a:ext uri="{FF2B5EF4-FFF2-40B4-BE49-F238E27FC236}">
                <a16:creationId xmlns:a16="http://schemas.microsoft.com/office/drawing/2014/main" id="{7208D8C4-7906-4428-A2C4-1D2FB21873EA}"/>
              </a:ext>
            </a:extLst>
          </p:cNvPr>
          <p:cNvSpPr>
            <a:spLocks xmlns:a="http://schemas.openxmlformats.org/drawingml/2006/main" noGrp="1"/>
          </p:cNvSpPr>
          <p:nvPr/>
        </p:nvSpPr>
        <p:spPr>
          <a:xfrm xmlns:a="http://schemas.openxmlformats.org/drawingml/2006/main">
            <a:off x="400050" y="39052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E0915660-601F-40DD-90EE-E8FD74B0419A}"/>
              </a:ext>
            </a:extLst>
          </p:cNvPr>
          <p:cNvSpPr>
            <a:spLocks xmlns:a="http://schemas.openxmlformats.org/drawingml/2006/main" noGrp="1"/>
          </p:cNvSpPr>
          <p:nvPr/>
        </p:nvSpPr>
        <p:spPr>
          <a:xfrm xmlns:a="http://schemas.openxmlformats.org/drawingml/2006/main">
            <a:off x="476250" y="39814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vendor_peak_systolic_abs_robust_sd</a:t>
            </a:r>
          </a:p>
        </p:txBody>
      </p:sp>
      <p:sp>
        <p:nvSpPr>
          <p:cNvPr id="31" name="">
            <a:extLst xmlns:a="http://schemas.openxmlformats.org/drawingml/2006/main">
              <a:ext uri="{FF2B5EF4-FFF2-40B4-BE49-F238E27FC236}">
                <a16:creationId xmlns:a16="http://schemas.microsoft.com/office/drawing/2014/main" id="{56100BC7-9818-4B5C-81D4-0C112C3EC5A5}"/>
              </a:ext>
            </a:extLst>
          </p:cNvPr>
          <p:cNvSpPr>
            <a:spLocks xmlns:a="http://schemas.openxmlformats.org/drawingml/2006/main" noGrp="1"/>
          </p:cNvSpPr>
          <p:nvPr/>
        </p:nvSpPr>
        <p:spPr>
          <a:xfrm xmlns:a="http://schemas.openxmlformats.org/drawingml/2006/main">
            <a:off x="3733800" y="39052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CACED65D-4312-4355-9A3B-4714F011F88B}"/>
              </a:ext>
            </a:extLst>
          </p:cNvPr>
          <p:cNvSpPr>
            <a:spLocks xmlns:a="http://schemas.openxmlformats.org/drawingml/2006/main" noGrp="1"/>
          </p:cNvSpPr>
          <p:nvPr/>
        </p:nvSpPr>
        <p:spPr>
          <a:xfrm xmlns:a="http://schemas.openxmlformats.org/drawingml/2006/main">
            <a:off x="3810000" y="39814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Robust SD of vendor peak-systolic magnitudes</a:t>
            </a:r>
          </a:p>
        </p:txBody>
      </p:sp>
      <p:sp>
        <p:nvSpPr>
          <p:cNvPr id="33" name="">
            <a:extLst xmlns:a="http://schemas.openxmlformats.org/drawingml/2006/main">
              <a:ext uri="{FF2B5EF4-FFF2-40B4-BE49-F238E27FC236}">
                <a16:creationId xmlns:a16="http://schemas.microsoft.com/office/drawing/2014/main" id="{23898165-8380-4E4C-B26B-0D155839BF7D}"/>
              </a:ext>
            </a:extLst>
          </p:cNvPr>
          <p:cNvSpPr>
            <a:spLocks xmlns:a="http://schemas.openxmlformats.org/drawingml/2006/main" noGrp="1"/>
          </p:cNvSpPr>
          <p:nvPr/>
        </p:nvSpPr>
        <p:spPr>
          <a:xfrm xmlns:a="http://schemas.openxmlformats.org/drawingml/2006/main">
            <a:off x="7639050" y="39052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BB64397C-F12F-488D-BFA8-52E9123CE97F}"/>
              </a:ext>
            </a:extLst>
          </p:cNvPr>
          <p:cNvSpPr>
            <a:spLocks xmlns:a="http://schemas.openxmlformats.org/drawingml/2006/main" noGrp="1"/>
          </p:cNvSpPr>
          <p:nvPr/>
        </p:nvSpPr>
        <p:spPr>
          <a:xfrm xmlns:a="http://schemas.openxmlformats.org/drawingml/2006/main">
            <a:off x="7715250" y="39814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Vendor-defined systolic amplitude heterogeneity</a:t>
            </a:r>
          </a:p>
        </p:txBody>
      </p:sp>
      <p:sp>
        <p:nvSpPr>
          <p:cNvPr id="35" name="">
            <a:extLst xmlns:a="http://schemas.openxmlformats.org/drawingml/2006/main">
              <a:ext uri="{FF2B5EF4-FFF2-40B4-BE49-F238E27FC236}">
                <a16:creationId xmlns:a16="http://schemas.microsoft.com/office/drawing/2014/main" id="{E785C702-2EC5-452A-B706-618F66A4CE7F}"/>
              </a:ext>
            </a:extLst>
          </p:cNvPr>
          <p:cNvSpPr>
            <a:spLocks xmlns:a="http://schemas.openxmlformats.org/drawingml/2006/main" noGrp="1"/>
          </p:cNvSpPr>
          <p:nvPr/>
        </p:nvSpPr>
        <p:spPr>
          <a:xfrm xmlns:a="http://schemas.openxmlformats.org/drawingml/2006/main">
            <a:off x="400050" y="45910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EA401B22-4A8A-4B11-94DE-C5A978DDA313}"/>
              </a:ext>
            </a:extLst>
          </p:cNvPr>
          <p:cNvSpPr>
            <a:spLocks xmlns:a="http://schemas.openxmlformats.org/drawingml/2006/main" noGrp="1"/>
          </p:cNvSpPr>
          <p:nvPr/>
        </p:nvSpPr>
        <p:spPr>
          <a:xfrm xmlns:a="http://schemas.openxmlformats.org/drawingml/2006/main">
            <a:off x="476250" y="46672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vendor_time_to_peak_norm_circular_std</a:t>
            </a:r>
          </a:p>
        </p:txBody>
      </p:sp>
      <p:sp>
        <p:nvSpPr>
          <p:cNvPr id="37" name="">
            <a:extLst xmlns:a="http://schemas.openxmlformats.org/drawingml/2006/main">
              <a:ext uri="{FF2B5EF4-FFF2-40B4-BE49-F238E27FC236}">
                <a16:creationId xmlns:a16="http://schemas.microsoft.com/office/drawing/2014/main" id="{00A7452A-8CB8-4973-BF5C-FBADBF6FF8A4}"/>
              </a:ext>
            </a:extLst>
          </p:cNvPr>
          <p:cNvSpPr>
            <a:spLocks xmlns:a="http://schemas.openxmlformats.org/drawingml/2006/main" noGrp="1"/>
          </p:cNvSpPr>
          <p:nvPr/>
        </p:nvSpPr>
        <p:spPr>
          <a:xfrm xmlns:a="http://schemas.openxmlformats.org/drawingml/2006/main">
            <a:off x="3733800" y="45910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69354751-D78D-4FE3-90CF-0297F70C81D1}"/>
              </a:ext>
            </a:extLst>
          </p:cNvPr>
          <p:cNvSpPr>
            <a:spLocks xmlns:a="http://schemas.openxmlformats.org/drawingml/2006/main" noGrp="1"/>
          </p:cNvSpPr>
          <p:nvPr/>
        </p:nvSpPr>
        <p:spPr>
          <a:xfrm xmlns:a="http://schemas.openxmlformats.org/drawingml/2006/main">
            <a:off x="3810000" y="46672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Circular SD of vendor time-to-peak</a:t>
            </a:r>
          </a:p>
        </p:txBody>
      </p:sp>
      <p:sp>
        <p:nvSpPr>
          <p:cNvPr id="39" name="">
            <a:extLst xmlns:a="http://schemas.openxmlformats.org/drawingml/2006/main">
              <a:ext uri="{FF2B5EF4-FFF2-40B4-BE49-F238E27FC236}">
                <a16:creationId xmlns:a16="http://schemas.microsoft.com/office/drawing/2014/main" id="{CEB6F4BD-4860-46C5-B019-7A2762B0A9EF}"/>
              </a:ext>
            </a:extLst>
          </p:cNvPr>
          <p:cNvSpPr>
            <a:spLocks xmlns:a="http://schemas.openxmlformats.org/drawingml/2006/main" noGrp="1"/>
          </p:cNvSpPr>
          <p:nvPr/>
        </p:nvSpPr>
        <p:spPr>
          <a:xfrm xmlns:a="http://schemas.openxmlformats.org/drawingml/2006/main">
            <a:off x="7639050" y="45910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CFEC17F6-AF34-46B9-A940-3455A745E1EF}"/>
              </a:ext>
            </a:extLst>
          </p:cNvPr>
          <p:cNvSpPr>
            <a:spLocks xmlns:a="http://schemas.openxmlformats.org/drawingml/2006/main" noGrp="1"/>
          </p:cNvSpPr>
          <p:nvPr/>
        </p:nvSpPr>
        <p:spPr>
          <a:xfrm xmlns:a="http://schemas.openxmlformats.org/drawingml/2006/main">
            <a:off x="7715250" y="46672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Vendor timing heterogeneity</a:t>
            </a:r>
          </a:p>
        </p:txBody>
      </p:sp>
      <p:sp>
        <p:nvSpPr>
          <p:cNvPr id="41" name="">
            <a:extLst xmlns:a="http://schemas.openxmlformats.org/drawingml/2006/main">
              <a:ext uri="{FF2B5EF4-FFF2-40B4-BE49-F238E27FC236}">
                <a16:creationId xmlns:a16="http://schemas.microsoft.com/office/drawing/2014/main" id="{B5089498-A666-43F3-86DF-C956E449FB0A}"/>
              </a:ext>
            </a:extLst>
          </p:cNvPr>
          <p:cNvSpPr>
            <a:spLocks xmlns:a="http://schemas.openxmlformats.org/drawingml/2006/main" noGrp="1"/>
          </p:cNvSpPr>
          <p:nvPr/>
        </p:nvSpPr>
        <p:spPr>
          <a:xfrm xmlns:a="http://schemas.openxmlformats.org/drawingml/2006/main">
            <a:off x="400050" y="52768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95EFC032-753C-4A53-9713-1B272BC4DA11}"/>
              </a:ext>
            </a:extLst>
          </p:cNvPr>
          <p:cNvSpPr>
            <a:spLocks xmlns:a="http://schemas.openxmlformats.org/drawingml/2006/main" noGrp="1"/>
          </p:cNvSpPr>
          <p:nvPr/>
        </p:nvSpPr>
        <p:spPr>
          <a:xfrm xmlns:a="http://schemas.openxmlformats.org/drawingml/2006/main">
            <a:off x="476250" y="53530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post_systolic_fraction</a:t>
            </a:r>
          </a:p>
        </p:txBody>
      </p:sp>
      <p:sp>
        <p:nvSpPr>
          <p:cNvPr id="43" name="">
            <a:extLst xmlns:a="http://schemas.openxmlformats.org/drawingml/2006/main">
              <a:ext uri="{FF2B5EF4-FFF2-40B4-BE49-F238E27FC236}">
                <a16:creationId xmlns:a16="http://schemas.microsoft.com/office/drawing/2014/main" id="{B20DBD00-BF87-4419-B26E-1EEAD1805C9A}"/>
              </a:ext>
            </a:extLst>
          </p:cNvPr>
          <p:cNvSpPr>
            <a:spLocks xmlns:a="http://schemas.openxmlformats.org/drawingml/2006/main" noGrp="1"/>
          </p:cNvSpPr>
          <p:nvPr/>
        </p:nvSpPr>
        <p:spPr>
          <a:xfrm xmlns:a="http://schemas.openxmlformats.org/drawingml/2006/main">
            <a:off x="3733800" y="52768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6EB1B748-6C37-4689-A753-8F4BE1839C96}"/>
              </a:ext>
            </a:extLst>
          </p:cNvPr>
          <p:cNvSpPr>
            <a:spLocks xmlns:a="http://schemas.openxmlformats.org/drawingml/2006/main" noGrp="1"/>
          </p:cNvSpPr>
          <p:nvPr/>
        </p:nvSpPr>
        <p:spPr>
          <a:xfrm xmlns:a="http://schemas.openxmlformats.org/drawingml/2006/main">
            <a:off x="3810000" y="53530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Fraction of segments whose peak occurs after systole</a:t>
            </a:r>
          </a:p>
        </p:txBody>
      </p:sp>
      <p:sp>
        <p:nvSpPr>
          <p:cNvPr id="45" name="">
            <a:extLst xmlns:a="http://schemas.openxmlformats.org/drawingml/2006/main">
              <a:ext uri="{FF2B5EF4-FFF2-40B4-BE49-F238E27FC236}">
                <a16:creationId xmlns:a16="http://schemas.microsoft.com/office/drawing/2014/main" id="{EC496073-C4FC-464F-9931-72DB687EF86B}"/>
              </a:ext>
            </a:extLst>
          </p:cNvPr>
          <p:cNvSpPr>
            <a:spLocks xmlns:a="http://schemas.openxmlformats.org/drawingml/2006/main" noGrp="1"/>
          </p:cNvSpPr>
          <p:nvPr/>
        </p:nvSpPr>
        <p:spPr>
          <a:xfrm xmlns:a="http://schemas.openxmlformats.org/drawingml/2006/main">
            <a:off x="7639050" y="52768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A6A03B38-246C-4032-9FBC-491B04807F94}"/>
              </a:ext>
            </a:extLst>
          </p:cNvPr>
          <p:cNvSpPr>
            <a:spLocks xmlns:a="http://schemas.openxmlformats.org/drawingml/2006/main" noGrp="1"/>
          </p:cNvSpPr>
          <p:nvPr/>
        </p:nvSpPr>
        <p:spPr>
          <a:xfrm xmlns:a="http://schemas.openxmlformats.org/drawingml/2006/main">
            <a:off x="7715250" y="53530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Post-systolic shortening / delayed contraction burden</a:t>
            </a:r>
          </a:p>
        </p:txBody>
      </p:sp>
      <p:sp>
        <p:nvSpPr>
          <p:cNvPr id="47" name="">
            <a:extLst xmlns:a="http://schemas.openxmlformats.org/drawingml/2006/main">
              <a:ext uri="{FF2B5EF4-FFF2-40B4-BE49-F238E27FC236}">
                <a16:creationId xmlns:a16="http://schemas.microsoft.com/office/drawing/2014/main" id="{7E98D6C9-4FC1-4DD4-8354-0847322A8296}"/>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same suffixes calculated for Endo and Mid; current and Δ-from-previous</a:t>
            </a:r>
          </a:p>
        </p:txBody>
      </p:sp>
    </p:spTree>
    <p:extLst>
      <p:ext uri="{BB962C8B-B14F-4D97-AF65-F5344CB8AC3E}">
        <p14:creationId xmlns:p14="http://schemas.microsoft.com/office/powerpoint/2010/main" val="95748728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B9270759-0019-44F0-9BE8-169DBD371F44}"/>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VARIABILITY SUFFIXES · 2/3</a:t>
            </a:r>
          </a:p>
        </p:txBody>
      </p:sp>
      <p:sp>
        <p:nvSpPr>
          <p:cNvPr id="2" name="">
            <a:extLst xmlns:a="http://schemas.openxmlformats.org/drawingml/2006/main">
              <a:ext uri="{FF2B5EF4-FFF2-40B4-BE49-F238E27FC236}">
                <a16:creationId xmlns:a16="http://schemas.microsoft.com/office/drawing/2014/main" id="{6233AFAB-332C-467B-9F48-C2F0EAF648D8}"/>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Appendix: full-curve and normalized-shape variability</a:t>
            </a:r>
          </a:p>
        </p:txBody>
      </p:sp>
      <p:sp>
        <p:nvSpPr>
          <p:cNvPr id="3" name="">
            <a:extLst xmlns:a="http://schemas.openxmlformats.org/drawingml/2006/main">
              <a:ext uri="{FF2B5EF4-FFF2-40B4-BE49-F238E27FC236}">
                <a16:creationId xmlns:a16="http://schemas.microsoft.com/office/drawing/2014/main" id="{86D2D1B7-9F6B-42B1-BFF4-66FAA99C7F5D}"/>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94F9AF3-F817-48EA-8156-56AB62C55189}"/>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12C68E34-5E47-4492-A672-63987279B6BA}"/>
              </a:ext>
            </a:extLst>
          </p:cNvPr>
          <p:cNvSpPr>
            <a:spLocks xmlns:a="http://schemas.openxmlformats.org/drawingml/2006/main" noGrp="1"/>
          </p:cNvSpPr>
          <p:nvPr/>
        </p:nvSpPr>
        <p:spPr>
          <a:xfrm xmlns:a="http://schemas.openxmlformats.org/drawingml/2006/main">
            <a:off x="400050" y="1466850"/>
            <a:ext cx="3333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B27A68B0-D4A8-4880-872E-8F527D71A450}"/>
              </a:ext>
            </a:extLst>
          </p:cNvPr>
          <p:cNvSpPr>
            <a:spLocks xmlns:a="http://schemas.openxmlformats.org/drawingml/2006/main" noGrp="1"/>
          </p:cNvSpPr>
          <p:nvPr/>
        </p:nvSpPr>
        <p:spPr>
          <a:xfrm xmlns:a="http://schemas.openxmlformats.org/drawingml/2006/main">
            <a:off x="476250" y="155257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Suffix</a:t>
            </a:r>
          </a:p>
        </p:txBody>
      </p:sp>
      <p:sp>
        <p:nvSpPr>
          <p:cNvPr id="7" name="">
            <a:extLst xmlns:a="http://schemas.openxmlformats.org/drawingml/2006/main">
              <a:ext uri="{FF2B5EF4-FFF2-40B4-BE49-F238E27FC236}">
                <a16:creationId xmlns:a16="http://schemas.microsoft.com/office/drawing/2014/main" id="{2798B8DF-5351-48E6-8012-9566549D6EB1}"/>
              </a:ext>
            </a:extLst>
          </p:cNvPr>
          <p:cNvSpPr>
            <a:spLocks xmlns:a="http://schemas.openxmlformats.org/drawingml/2006/main" noGrp="1"/>
          </p:cNvSpPr>
          <p:nvPr/>
        </p:nvSpPr>
        <p:spPr>
          <a:xfrm xmlns:a="http://schemas.openxmlformats.org/drawingml/2006/main">
            <a:off x="3733800" y="1466850"/>
            <a:ext cx="3905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A0A2DD1A-6C42-415E-B295-F647BDF9B76B}"/>
              </a:ext>
            </a:extLst>
          </p:cNvPr>
          <p:cNvSpPr>
            <a:spLocks xmlns:a="http://schemas.openxmlformats.org/drawingml/2006/main" noGrp="1"/>
          </p:cNvSpPr>
          <p:nvPr/>
        </p:nvSpPr>
        <p:spPr>
          <a:xfrm xmlns:a="http://schemas.openxmlformats.org/drawingml/2006/main">
            <a:off x="3810000" y="1552575"/>
            <a:ext cx="3752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Calculation</a:t>
            </a:r>
          </a:p>
        </p:txBody>
      </p:sp>
      <p:sp>
        <p:nvSpPr>
          <p:cNvPr id="9" name="">
            <a:extLst xmlns:a="http://schemas.openxmlformats.org/drawingml/2006/main">
              <a:ext uri="{FF2B5EF4-FFF2-40B4-BE49-F238E27FC236}">
                <a16:creationId xmlns:a16="http://schemas.microsoft.com/office/drawing/2014/main" id="{826253A8-D7F3-4B25-BB37-559131EB72FD}"/>
              </a:ext>
            </a:extLst>
          </p:cNvPr>
          <p:cNvSpPr>
            <a:spLocks xmlns:a="http://schemas.openxmlformats.org/drawingml/2006/main" noGrp="1"/>
          </p:cNvSpPr>
          <p:nvPr/>
        </p:nvSpPr>
        <p:spPr>
          <a:xfrm xmlns:a="http://schemas.openxmlformats.org/drawingml/2006/main">
            <a:off x="7639050" y="1466850"/>
            <a:ext cx="41529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D643B776-192F-4115-A193-A2A9FA5099B6}"/>
              </a:ext>
            </a:extLst>
          </p:cNvPr>
          <p:cNvSpPr>
            <a:spLocks xmlns:a="http://schemas.openxmlformats.org/drawingml/2006/main" noGrp="1"/>
          </p:cNvSpPr>
          <p:nvPr/>
        </p:nvSpPr>
        <p:spPr>
          <a:xfrm xmlns:a="http://schemas.openxmlformats.org/drawingml/2006/main">
            <a:off x="7715250" y="15525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Physiological interpretation</a:t>
            </a:r>
          </a:p>
        </p:txBody>
      </p:sp>
      <p:sp>
        <p:nvSpPr>
          <p:cNvPr id="11" name="">
            <a:extLst xmlns:a="http://schemas.openxmlformats.org/drawingml/2006/main">
              <a:ext uri="{FF2B5EF4-FFF2-40B4-BE49-F238E27FC236}">
                <a16:creationId xmlns:a16="http://schemas.microsoft.com/office/drawing/2014/main" id="{44115D28-63C4-4C1C-8A06-54ABC171571E}"/>
              </a:ext>
            </a:extLst>
          </p:cNvPr>
          <p:cNvSpPr>
            <a:spLocks xmlns:a="http://schemas.openxmlformats.org/drawingml/2006/main" noGrp="1"/>
          </p:cNvSpPr>
          <p:nvPr/>
        </p:nvSpPr>
        <p:spPr>
          <a:xfrm xmlns:a="http://schemas.openxmlformats.org/drawingml/2006/main">
            <a:off x="400050" y="18478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991C82C2-6EA2-4E64-87C6-2BFA95B8DC4A}"/>
              </a:ext>
            </a:extLst>
          </p:cNvPr>
          <p:cNvSpPr>
            <a:spLocks xmlns:a="http://schemas.openxmlformats.org/drawingml/2006/main" noGrp="1"/>
          </p:cNvSpPr>
          <p:nvPr/>
        </p:nvSpPr>
        <p:spPr>
          <a:xfrm xmlns:a="http://schemas.openxmlformats.org/drawingml/2006/main">
            <a:off x="476250" y="19240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curve_dispersion_rms</a:t>
            </a:r>
          </a:p>
        </p:txBody>
      </p:sp>
      <p:sp>
        <p:nvSpPr>
          <p:cNvPr id="13" name="">
            <a:extLst xmlns:a="http://schemas.openxmlformats.org/drawingml/2006/main">
              <a:ext uri="{FF2B5EF4-FFF2-40B4-BE49-F238E27FC236}">
                <a16:creationId xmlns:a16="http://schemas.microsoft.com/office/drawing/2014/main" id="{56F82BC3-A412-48F0-ACE1-25E6D2D47C32}"/>
              </a:ext>
            </a:extLst>
          </p:cNvPr>
          <p:cNvSpPr>
            <a:spLocks xmlns:a="http://schemas.openxmlformats.org/drawingml/2006/main" noGrp="1"/>
          </p:cNvSpPr>
          <p:nvPr/>
        </p:nvSpPr>
        <p:spPr>
          <a:xfrm xmlns:a="http://schemas.openxmlformats.org/drawingml/2006/main">
            <a:off x="3733800" y="18478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6B686AEF-9C3A-4661-AD78-9C8A717B0667}"/>
              </a:ext>
            </a:extLst>
          </p:cNvPr>
          <p:cNvSpPr>
            <a:spLocks xmlns:a="http://schemas.openxmlformats.org/drawingml/2006/main" noGrp="1"/>
          </p:cNvSpPr>
          <p:nvPr/>
        </p:nvSpPr>
        <p:spPr>
          <a:xfrm xmlns:a="http://schemas.openxmlformats.org/drawingml/2006/main">
            <a:off x="3810000" y="19240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RMS of segment curves around timewise mean curve</a:t>
            </a:r>
          </a:p>
        </p:txBody>
      </p:sp>
      <p:sp>
        <p:nvSpPr>
          <p:cNvPr id="15" name="">
            <a:extLst xmlns:a="http://schemas.openxmlformats.org/drawingml/2006/main">
              <a:ext uri="{FF2B5EF4-FFF2-40B4-BE49-F238E27FC236}">
                <a16:creationId xmlns:a16="http://schemas.microsoft.com/office/drawing/2014/main" id="{23E19321-173D-4AF3-AD21-94BBA12F64B1}"/>
              </a:ext>
            </a:extLst>
          </p:cNvPr>
          <p:cNvSpPr>
            <a:spLocks xmlns:a="http://schemas.openxmlformats.org/drawingml/2006/main" noGrp="1"/>
          </p:cNvSpPr>
          <p:nvPr/>
        </p:nvSpPr>
        <p:spPr>
          <a:xfrm xmlns:a="http://schemas.openxmlformats.org/drawingml/2006/main">
            <a:off x="7639050" y="18478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EE5C4292-6C73-4866-B8E0-3E2E971CAD10}"/>
              </a:ext>
            </a:extLst>
          </p:cNvPr>
          <p:cNvSpPr>
            <a:spLocks xmlns:a="http://schemas.openxmlformats.org/drawingml/2006/main" noGrp="1"/>
          </p:cNvSpPr>
          <p:nvPr/>
        </p:nvSpPr>
        <p:spPr>
          <a:xfrm xmlns:a="http://schemas.openxmlformats.org/drawingml/2006/main">
            <a:off x="7715250" y="19240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Whole-cycle between-segment disagreement</a:t>
            </a:r>
          </a:p>
        </p:txBody>
      </p:sp>
      <p:sp>
        <p:nvSpPr>
          <p:cNvPr id="17" name="">
            <a:extLst xmlns:a="http://schemas.openxmlformats.org/drawingml/2006/main">
              <a:ext uri="{FF2B5EF4-FFF2-40B4-BE49-F238E27FC236}">
                <a16:creationId xmlns:a16="http://schemas.microsoft.com/office/drawing/2014/main" id="{9E16F51D-341E-4447-99E9-456F63790F38}"/>
              </a:ext>
            </a:extLst>
          </p:cNvPr>
          <p:cNvSpPr>
            <a:spLocks xmlns:a="http://schemas.openxmlformats.org/drawingml/2006/main" noGrp="1"/>
          </p:cNvSpPr>
          <p:nvPr/>
        </p:nvSpPr>
        <p:spPr>
          <a:xfrm xmlns:a="http://schemas.openxmlformats.org/drawingml/2006/main">
            <a:off x="400050" y="25336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26BD0CEA-8B45-4E46-BFF6-9B6EF9DFF185}"/>
              </a:ext>
            </a:extLst>
          </p:cNvPr>
          <p:cNvSpPr>
            <a:spLocks xmlns:a="http://schemas.openxmlformats.org/drawingml/2006/main" noGrp="1"/>
          </p:cNvSpPr>
          <p:nvPr/>
        </p:nvSpPr>
        <p:spPr>
          <a:xfrm xmlns:a="http://schemas.openxmlformats.org/drawingml/2006/main">
            <a:off x="476250" y="26098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curve_pairwise_rmse</a:t>
            </a:r>
          </a:p>
        </p:txBody>
      </p:sp>
      <p:sp>
        <p:nvSpPr>
          <p:cNvPr id="19" name="">
            <a:extLst xmlns:a="http://schemas.openxmlformats.org/drawingml/2006/main">
              <a:ext uri="{FF2B5EF4-FFF2-40B4-BE49-F238E27FC236}">
                <a16:creationId xmlns:a16="http://schemas.microsoft.com/office/drawing/2014/main" id="{6190B713-A19C-44DF-9AEA-0A64831895EA}"/>
              </a:ext>
            </a:extLst>
          </p:cNvPr>
          <p:cNvSpPr>
            <a:spLocks xmlns:a="http://schemas.openxmlformats.org/drawingml/2006/main" noGrp="1"/>
          </p:cNvSpPr>
          <p:nvPr/>
        </p:nvSpPr>
        <p:spPr>
          <a:xfrm xmlns:a="http://schemas.openxmlformats.org/drawingml/2006/main">
            <a:off x="3733800" y="25336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3A21C148-A70D-408C-872E-F8DC941CD887}"/>
              </a:ext>
            </a:extLst>
          </p:cNvPr>
          <p:cNvSpPr>
            <a:spLocks xmlns:a="http://schemas.openxmlformats.org/drawingml/2006/main" noGrp="1"/>
          </p:cNvSpPr>
          <p:nvPr/>
        </p:nvSpPr>
        <p:spPr>
          <a:xfrm xmlns:a="http://schemas.openxmlformats.org/drawingml/2006/main">
            <a:off x="3810000" y="26098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Mean RMSE over every segment pair</a:t>
            </a:r>
          </a:p>
        </p:txBody>
      </p:sp>
      <p:sp>
        <p:nvSpPr>
          <p:cNvPr id="21" name="">
            <a:extLst xmlns:a="http://schemas.openxmlformats.org/drawingml/2006/main">
              <a:ext uri="{FF2B5EF4-FFF2-40B4-BE49-F238E27FC236}">
                <a16:creationId xmlns:a16="http://schemas.microsoft.com/office/drawing/2014/main" id="{CADC627F-0D16-4804-93D1-AAAE1CDE6F36}"/>
              </a:ext>
            </a:extLst>
          </p:cNvPr>
          <p:cNvSpPr>
            <a:spLocks xmlns:a="http://schemas.openxmlformats.org/drawingml/2006/main" noGrp="1"/>
          </p:cNvSpPr>
          <p:nvPr/>
        </p:nvSpPr>
        <p:spPr>
          <a:xfrm xmlns:a="http://schemas.openxmlformats.org/drawingml/2006/main">
            <a:off x="7639050" y="25336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E075827E-A567-47DE-972A-41F065D68161}"/>
              </a:ext>
            </a:extLst>
          </p:cNvPr>
          <p:cNvSpPr>
            <a:spLocks xmlns:a="http://schemas.openxmlformats.org/drawingml/2006/main" noGrp="1"/>
          </p:cNvSpPr>
          <p:nvPr/>
        </p:nvSpPr>
        <p:spPr>
          <a:xfrm xmlns:a="http://schemas.openxmlformats.org/drawingml/2006/main">
            <a:off x="7715250" y="26098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Average pairwise curve dissimilarity</a:t>
            </a:r>
          </a:p>
        </p:txBody>
      </p:sp>
      <p:sp>
        <p:nvSpPr>
          <p:cNvPr id="23" name="">
            <a:extLst xmlns:a="http://schemas.openxmlformats.org/drawingml/2006/main">
              <a:ext uri="{FF2B5EF4-FFF2-40B4-BE49-F238E27FC236}">
                <a16:creationId xmlns:a16="http://schemas.microsoft.com/office/drawing/2014/main" id="{3BED1F0C-D4C1-4264-8016-8596326A197C}"/>
              </a:ext>
            </a:extLst>
          </p:cNvPr>
          <p:cNvSpPr>
            <a:spLocks xmlns:a="http://schemas.openxmlformats.org/drawingml/2006/main" noGrp="1"/>
          </p:cNvSpPr>
          <p:nvPr/>
        </p:nvSpPr>
        <p:spPr>
          <a:xfrm xmlns:a="http://schemas.openxmlformats.org/drawingml/2006/main">
            <a:off x="400050" y="32194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10C73AB9-9E8D-4C33-8FCE-09A185314A1A}"/>
              </a:ext>
            </a:extLst>
          </p:cNvPr>
          <p:cNvSpPr>
            <a:spLocks xmlns:a="http://schemas.openxmlformats.org/drawingml/2006/main" noGrp="1"/>
          </p:cNvSpPr>
          <p:nvPr/>
        </p:nvSpPr>
        <p:spPr>
          <a:xfrm xmlns:a="http://schemas.openxmlformats.org/drawingml/2006/main">
            <a:off x="476250" y="32956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curve_integrated_robust_mad</a:t>
            </a:r>
          </a:p>
        </p:txBody>
      </p:sp>
      <p:sp>
        <p:nvSpPr>
          <p:cNvPr id="25" name="">
            <a:extLst xmlns:a="http://schemas.openxmlformats.org/drawingml/2006/main">
              <a:ext uri="{FF2B5EF4-FFF2-40B4-BE49-F238E27FC236}">
                <a16:creationId xmlns:a16="http://schemas.microsoft.com/office/drawing/2014/main" id="{FFCED8C1-6E49-494C-9BEB-927EBDC7F666}"/>
              </a:ext>
            </a:extLst>
          </p:cNvPr>
          <p:cNvSpPr>
            <a:spLocks xmlns:a="http://schemas.openxmlformats.org/drawingml/2006/main" noGrp="1"/>
          </p:cNvSpPr>
          <p:nvPr/>
        </p:nvSpPr>
        <p:spPr>
          <a:xfrm xmlns:a="http://schemas.openxmlformats.org/drawingml/2006/main">
            <a:off x="3733800" y="32194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22CDD1B7-3800-4A9B-AE7B-95E0A6938251}"/>
              </a:ext>
            </a:extLst>
          </p:cNvPr>
          <p:cNvSpPr>
            <a:spLocks xmlns:a="http://schemas.openxmlformats.org/drawingml/2006/main" noGrp="1"/>
          </p:cNvSpPr>
          <p:nvPr/>
        </p:nvSpPr>
        <p:spPr>
          <a:xfrm xmlns:a="http://schemas.openxmlformats.org/drawingml/2006/main">
            <a:off x="3810000" y="32956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Robust segment MAD integrated over time</a:t>
            </a:r>
          </a:p>
        </p:txBody>
      </p:sp>
      <p:sp>
        <p:nvSpPr>
          <p:cNvPr id="27" name="">
            <a:extLst xmlns:a="http://schemas.openxmlformats.org/drawingml/2006/main">
              <a:ext uri="{FF2B5EF4-FFF2-40B4-BE49-F238E27FC236}">
                <a16:creationId xmlns:a16="http://schemas.microsoft.com/office/drawing/2014/main" id="{0AFC647F-DE7E-413E-9EB6-9F1CB641ABE1}"/>
              </a:ext>
            </a:extLst>
          </p:cNvPr>
          <p:cNvSpPr>
            <a:spLocks xmlns:a="http://schemas.openxmlformats.org/drawingml/2006/main" noGrp="1"/>
          </p:cNvSpPr>
          <p:nvPr/>
        </p:nvSpPr>
        <p:spPr>
          <a:xfrm xmlns:a="http://schemas.openxmlformats.org/drawingml/2006/main">
            <a:off x="7639050" y="32194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B0FC8476-B8D2-48BA-B238-CE1706E0D962}"/>
              </a:ext>
            </a:extLst>
          </p:cNvPr>
          <p:cNvSpPr>
            <a:spLocks xmlns:a="http://schemas.openxmlformats.org/drawingml/2006/main" noGrp="1"/>
          </p:cNvSpPr>
          <p:nvPr/>
        </p:nvSpPr>
        <p:spPr>
          <a:xfrm xmlns:a="http://schemas.openxmlformats.org/drawingml/2006/main">
            <a:off x="7715250" y="32956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Noise-resistant whole-cycle amplitude dispersion</a:t>
            </a:r>
          </a:p>
        </p:txBody>
      </p:sp>
      <p:sp>
        <p:nvSpPr>
          <p:cNvPr id="29" name="">
            <a:extLst xmlns:a="http://schemas.openxmlformats.org/drawingml/2006/main">
              <a:ext uri="{FF2B5EF4-FFF2-40B4-BE49-F238E27FC236}">
                <a16:creationId xmlns:a16="http://schemas.microsoft.com/office/drawing/2014/main" id="{4DB6956C-5F6B-46FA-ACD3-865BC813469B}"/>
              </a:ext>
            </a:extLst>
          </p:cNvPr>
          <p:cNvSpPr>
            <a:spLocks xmlns:a="http://schemas.openxmlformats.org/drawingml/2006/main" noGrp="1"/>
          </p:cNvSpPr>
          <p:nvPr/>
        </p:nvSpPr>
        <p:spPr>
          <a:xfrm xmlns:a="http://schemas.openxmlformats.org/drawingml/2006/main">
            <a:off x="400050" y="39052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705760EC-60D7-42B2-A445-9B511E038323}"/>
              </a:ext>
            </a:extLst>
          </p:cNvPr>
          <p:cNvSpPr>
            <a:spLocks xmlns:a="http://schemas.openxmlformats.org/drawingml/2006/main" noGrp="1"/>
          </p:cNvSpPr>
          <p:nvPr/>
        </p:nvSpPr>
        <p:spPr>
          <a:xfrm xmlns:a="http://schemas.openxmlformats.org/drawingml/2006/main">
            <a:off x="476250" y="39814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shape_dispersion_rms</a:t>
            </a:r>
          </a:p>
        </p:txBody>
      </p:sp>
      <p:sp>
        <p:nvSpPr>
          <p:cNvPr id="31" name="">
            <a:extLst xmlns:a="http://schemas.openxmlformats.org/drawingml/2006/main">
              <a:ext uri="{FF2B5EF4-FFF2-40B4-BE49-F238E27FC236}">
                <a16:creationId xmlns:a16="http://schemas.microsoft.com/office/drawing/2014/main" id="{5449AF76-48F7-4800-B78D-DC86E13D0F9D}"/>
              </a:ext>
            </a:extLst>
          </p:cNvPr>
          <p:cNvSpPr>
            <a:spLocks xmlns:a="http://schemas.openxmlformats.org/drawingml/2006/main" noGrp="1"/>
          </p:cNvSpPr>
          <p:nvPr/>
        </p:nvSpPr>
        <p:spPr>
          <a:xfrm xmlns:a="http://schemas.openxmlformats.org/drawingml/2006/main">
            <a:off x="3733800" y="39052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560B015C-03D6-4F9F-ADFE-AF17C85A40AB}"/>
              </a:ext>
            </a:extLst>
          </p:cNvPr>
          <p:cNvSpPr>
            <a:spLocks xmlns:a="http://schemas.openxmlformats.org/drawingml/2006/main" noGrp="1"/>
          </p:cNvSpPr>
          <p:nvPr/>
        </p:nvSpPr>
        <p:spPr>
          <a:xfrm xmlns:a="http://schemas.openxmlformats.org/drawingml/2006/main">
            <a:off x="3810000" y="39814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RMS after dividing each curve by its max |strain|</a:t>
            </a:r>
          </a:p>
        </p:txBody>
      </p:sp>
      <p:sp>
        <p:nvSpPr>
          <p:cNvPr id="33" name="">
            <a:extLst xmlns:a="http://schemas.openxmlformats.org/drawingml/2006/main">
              <a:ext uri="{FF2B5EF4-FFF2-40B4-BE49-F238E27FC236}">
                <a16:creationId xmlns:a16="http://schemas.microsoft.com/office/drawing/2014/main" id="{AEF60C36-6F61-46C3-BA0D-6892BA042899}"/>
              </a:ext>
            </a:extLst>
          </p:cNvPr>
          <p:cNvSpPr>
            <a:spLocks xmlns:a="http://schemas.openxmlformats.org/drawingml/2006/main" noGrp="1"/>
          </p:cNvSpPr>
          <p:nvPr/>
        </p:nvSpPr>
        <p:spPr>
          <a:xfrm xmlns:a="http://schemas.openxmlformats.org/drawingml/2006/main">
            <a:off x="7639050" y="39052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276BE762-04AE-4B9C-B4E2-220F3AEF6DE6}"/>
              </a:ext>
            </a:extLst>
          </p:cNvPr>
          <p:cNvSpPr>
            <a:spLocks xmlns:a="http://schemas.openxmlformats.org/drawingml/2006/main" noGrp="1"/>
          </p:cNvSpPr>
          <p:nvPr/>
        </p:nvSpPr>
        <p:spPr>
          <a:xfrm xmlns:a="http://schemas.openxmlformats.org/drawingml/2006/main">
            <a:off x="7715250" y="39814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Morphology/timing disagreement independent of amplitude</a:t>
            </a:r>
          </a:p>
        </p:txBody>
      </p:sp>
      <p:sp>
        <p:nvSpPr>
          <p:cNvPr id="35" name="">
            <a:extLst xmlns:a="http://schemas.openxmlformats.org/drawingml/2006/main">
              <a:ext uri="{FF2B5EF4-FFF2-40B4-BE49-F238E27FC236}">
                <a16:creationId xmlns:a16="http://schemas.microsoft.com/office/drawing/2014/main" id="{3A87FFFA-0967-45EC-A6D2-3148DA35857F}"/>
              </a:ext>
            </a:extLst>
          </p:cNvPr>
          <p:cNvSpPr>
            <a:spLocks xmlns:a="http://schemas.openxmlformats.org/drawingml/2006/main" noGrp="1"/>
          </p:cNvSpPr>
          <p:nvPr/>
        </p:nvSpPr>
        <p:spPr>
          <a:xfrm xmlns:a="http://schemas.openxmlformats.org/drawingml/2006/main">
            <a:off x="400050" y="45910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A9ECDF9B-3C4E-4B6B-BB42-ABCFA108E035}"/>
              </a:ext>
            </a:extLst>
          </p:cNvPr>
          <p:cNvSpPr>
            <a:spLocks xmlns:a="http://schemas.openxmlformats.org/drawingml/2006/main" noGrp="1"/>
          </p:cNvSpPr>
          <p:nvPr/>
        </p:nvSpPr>
        <p:spPr>
          <a:xfrm xmlns:a="http://schemas.openxmlformats.org/drawingml/2006/main">
            <a:off x="476250" y="46672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shape_pairwise_rmse</a:t>
            </a:r>
          </a:p>
        </p:txBody>
      </p:sp>
      <p:sp>
        <p:nvSpPr>
          <p:cNvPr id="37" name="">
            <a:extLst xmlns:a="http://schemas.openxmlformats.org/drawingml/2006/main">
              <a:ext uri="{FF2B5EF4-FFF2-40B4-BE49-F238E27FC236}">
                <a16:creationId xmlns:a16="http://schemas.microsoft.com/office/drawing/2014/main" id="{DA0C8294-8D3A-4C48-A43C-BD4405789C65}"/>
              </a:ext>
            </a:extLst>
          </p:cNvPr>
          <p:cNvSpPr>
            <a:spLocks xmlns:a="http://schemas.openxmlformats.org/drawingml/2006/main" noGrp="1"/>
          </p:cNvSpPr>
          <p:nvPr/>
        </p:nvSpPr>
        <p:spPr>
          <a:xfrm xmlns:a="http://schemas.openxmlformats.org/drawingml/2006/main">
            <a:off x="3733800" y="45910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A74A778C-322A-4C47-940C-525EE09659FE}"/>
              </a:ext>
            </a:extLst>
          </p:cNvPr>
          <p:cNvSpPr>
            <a:spLocks xmlns:a="http://schemas.openxmlformats.org/drawingml/2006/main" noGrp="1"/>
          </p:cNvSpPr>
          <p:nvPr/>
        </p:nvSpPr>
        <p:spPr>
          <a:xfrm xmlns:a="http://schemas.openxmlformats.org/drawingml/2006/main">
            <a:off x="3810000" y="46672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Mean pairwise RMSE of normalized shapes</a:t>
            </a:r>
          </a:p>
        </p:txBody>
      </p:sp>
      <p:sp>
        <p:nvSpPr>
          <p:cNvPr id="39" name="">
            <a:extLst xmlns:a="http://schemas.openxmlformats.org/drawingml/2006/main">
              <a:ext uri="{FF2B5EF4-FFF2-40B4-BE49-F238E27FC236}">
                <a16:creationId xmlns:a16="http://schemas.microsoft.com/office/drawing/2014/main" id="{21B90294-6AD9-4A1A-972F-F2E30F3F483A}"/>
              </a:ext>
            </a:extLst>
          </p:cNvPr>
          <p:cNvSpPr>
            <a:spLocks xmlns:a="http://schemas.openxmlformats.org/drawingml/2006/main" noGrp="1"/>
          </p:cNvSpPr>
          <p:nvPr/>
        </p:nvSpPr>
        <p:spPr>
          <a:xfrm xmlns:a="http://schemas.openxmlformats.org/drawingml/2006/main">
            <a:off x="7639050" y="45910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3C8377B9-3B23-434B-AD7F-46B568A72B8B}"/>
              </a:ext>
            </a:extLst>
          </p:cNvPr>
          <p:cNvSpPr>
            <a:spLocks xmlns:a="http://schemas.openxmlformats.org/drawingml/2006/main" noGrp="1"/>
          </p:cNvSpPr>
          <p:nvPr/>
        </p:nvSpPr>
        <p:spPr>
          <a:xfrm xmlns:a="http://schemas.openxmlformats.org/drawingml/2006/main">
            <a:off x="7715250" y="46672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Pairwise contour dissimilarity</a:t>
            </a:r>
          </a:p>
        </p:txBody>
      </p:sp>
      <p:sp>
        <p:nvSpPr>
          <p:cNvPr id="41" name="">
            <a:extLst xmlns:a="http://schemas.openxmlformats.org/drawingml/2006/main">
              <a:ext uri="{FF2B5EF4-FFF2-40B4-BE49-F238E27FC236}">
                <a16:creationId xmlns:a16="http://schemas.microsoft.com/office/drawing/2014/main" id="{211956CB-E3A5-44E1-920F-81D6A3BAD621}"/>
              </a:ext>
            </a:extLst>
          </p:cNvPr>
          <p:cNvSpPr>
            <a:spLocks xmlns:a="http://schemas.openxmlformats.org/drawingml/2006/main" noGrp="1"/>
          </p:cNvSpPr>
          <p:nvPr/>
        </p:nvSpPr>
        <p:spPr>
          <a:xfrm xmlns:a="http://schemas.openxmlformats.org/drawingml/2006/main">
            <a:off x="400050" y="52768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5335D729-FEC5-4CD9-A1CD-D7B83D1718CA}"/>
              </a:ext>
            </a:extLst>
          </p:cNvPr>
          <p:cNvSpPr>
            <a:spLocks xmlns:a="http://schemas.openxmlformats.org/drawingml/2006/main" noGrp="1"/>
          </p:cNvSpPr>
          <p:nvPr/>
        </p:nvSpPr>
        <p:spPr>
          <a:xfrm xmlns:a="http://schemas.openxmlformats.org/drawingml/2006/main">
            <a:off x="476250" y="53530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shape_incoherence</a:t>
            </a:r>
          </a:p>
        </p:txBody>
      </p:sp>
      <p:sp>
        <p:nvSpPr>
          <p:cNvPr id="43" name="">
            <a:extLst xmlns:a="http://schemas.openxmlformats.org/drawingml/2006/main">
              <a:ext uri="{FF2B5EF4-FFF2-40B4-BE49-F238E27FC236}">
                <a16:creationId xmlns:a16="http://schemas.microsoft.com/office/drawing/2014/main" id="{B34017FC-C038-4E90-A554-38908230F7A9}"/>
              </a:ext>
            </a:extLst>
          </p:cNvPr>
          <p:cNvSpPr>
            <a:spLocks xmlns:a="http://schemas.openxmlformats.org/drawingml/2006/main" noGrp="1"/>
          </p:cNvSpPr>
          <p:nvPr/>
        </p:nvSpPr>
        <p:spPr>
          <a:xfrm xmlns:a="http://schemas.openxmlformats.org/drawingml/2006/main">
            <a:off x="3733800" y="52768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F5294FA3-6681-4735-8B0B-D5AABFD3B8CA}"/>
              </a:ext>
            </a:extLst>
          </p:cNvPr>
          <p:cNvSpPr>
            <a:spLocks xmlns:a="http://schemas.openxmlformats.org/drawingml/2006/main" noGrp="1"/>
          </p:cNvSpPr>
          <p:nvPr/>
        </p:nvSpPr>
        <p:spPr>
          <a:xfrm xmlns:a="http://schemas.openxmlformats.org/drawingml/2006/main">
            <a:off x="3810000" y="53530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1 − mean pairwise shape correlation</a:t>
            </a:r>
          </a:p>
        </p:txBody>
      </p:sp>
      <p:sp>
        <p:nvSpPr>
          <p:cNvPr id="45" name="">
            <a:extLst xmlns:a="http://schemas.openxmlformats.org/drawingml/2006/main">
              <a:ext uri="{FF2B5EF4-FFF2-40B4-BE49-F238E27FC236}">
                <a16:creationId xmlns:a16="http://schemas.microsoft.com/office/drawing/2014/main" id="{DA8FDBB7-A514-4CA0-9681-15384D8CF47E}"/>
              </a:ext>
            </a:extLst>
          </p:cNvPr>
          <p:cNvSpPr>
            <a:spLocks xmlns:a="http://schemas.openxmlformats.org/drawingml/2006/main" noGrp="1"/>
          </p:cNvSpPr>
          <p:nvPr/>
        </p:nvSpPr>
        <p:spPr>
          <a:xfrm xmlns:a="http://schemas.openxmlformats.org/drawingml/2006/main">
            <a:off x="7639050" y="52768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8622BE1F-1801-4C03-9363-B490CB4B3BE0}"/>
              </a:ext>
            </a:extLst>
          </p:cNvPr>
          <p:cNvSpPr>
            <a:spLocks xmlns:a="http://schemas.openxmlformats.org/drawingml/2006/main" noGrp="1"/>
          </p:cNvSpPr>
          <p:nvPr/>
        </p:nvSpPr>
        <p:spPr>
          <a:xfrm xmlns:a="http://schemas.openxmlformats.org/drawingml/2006/main">
            <a:off x="7715250" y="53530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Loss of coordinated curve morphology</a:t>
            </a:r>
          </a:p>
        </p:txBody>
      </p:sp>
      <p:sp>
        <p:nvSpPr>
          <p:cNvPr id="47" name="">
            <a:extLst xmlns:a="http://schemas.openxmlformats.org/drawingml/2006/main">
              <a:ext uri="{FF2B5EF4-FFF2-40B4-BE49-F238E27FC236}">
                <a16:creationId xmlns:a16="http://schemas.microsoft.com/office/drawing/2014/main" id="{503D58C0-4D90-4FAA-8714-498EA158CB35}"/>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raw-curve features mix amplitude + shape; normalized-shape features emphasize contour</a:t>
            </a:r>
          </a:p>
        </p:txBody>
      </p:sp>
    </p:spTree>
    <p:extLst>
      <p:ext uri="{BB962C8B-B14F-4D97-AF65-F5344CB8AC3E}">
        <p14:creationId xmlns:p14="http://schemas.microsoft.com/office/powerpoint/2010/main" val="109594413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FB6B0811-1728-4618-B3C0-85BDDD08AAFB}"/>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VARIABILITY SUFFIXES · 3/3</a:t>
            </a:r>
          </a:p>
        </p:txBody>
      </p:sp>
      <p:sp>
        <p:nvSpPr>
          <p:cNvPr id="2" name="">
            <a:extLst xmlns:a="http://schemas.openxmlformats.org/drawingml/2006/main">
              <a:ext uri="{FF2B5EF4-FFF2-40B4-BE49-F238E27FC236}">
                <a16:creationId xmlns:a16="http://schemas.microsoft.com/office/drawing/2014/main" id="{06BDBECF-8D59-4966-A08F-209CE48034B8}"/>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Appendix: regional and spatial variability</a:t>
            </a:r>
          </a:p>
        </p:txBody>
      </p:sp>
      <p:sp>
        <p:nvSpPr>
          <p:cNvPr id="3" name="">
            <a:extLst xmlns:a="http://schemas.openxmlformats.org/drawingml/2006/main">
              <a:ext uri="{FF2B5EF4-FFF2-40B4-BE49-F238E27FC236}">
                <a16:creationId xmlns:a16="http://schemas.microsoft.com/office/drawing/2014/main" id="{4AE4364C-D253-477A-92E0-7FC7D147C6E8}"/>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EC9C38B-DAD4-45C8-979D-0B517CC8E918}"/>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4CCD61FD-CF61-4C03-B37D-1DEAEF6D7CC9}"/>
              </a:ext>
            </a:extLst>
          </p:cNvPr>
          <p:cNvSpPr>
            <a:spLocks xmlns:a="http://schemas.openxmlformats.org/drawingml/2006/main" noGrp="1"/>
          </p:cNvSpPr>
          <p:nvPr/>
        </p:nvSpPr>
        <p:spPr>
          <a:xfrm xmlns:a="http://schemas.openxmlformats.org/drawingml/2006/main">
            <a:off x="400050" y="1466850"/>
            <a:ext cx="3333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8D89678D-9EB8-4868-8159-E26653BE8D13}"/>
              </a:ext>
            </a:extLst>
          </p:cNvPr>
          <p:cNvSpPr>
            <a:spLocks xmlns:a="http://schemas.openxmlformats.org/drawingml/2006/main" noGrp="1"/>
          </p:cNvSpPr>
          <p:nvPr/>
        </p:nvSpPr>
        <p:spPr>
          <a:xfrm xmlns:a="http://schemas.openxmlformats.org/drawingml/2006/main">
            <a:off x="476250" y="155257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Suffix</a:t>
            </a:r>
          </a:p>
        </p:txBody>
      </p:sp>
      <p:sp>
        <p:nvSpPr>
          <p:cNvPr id="7" name="">
            <a:extLst xmlns:a="http://schemas.openxmlformats.org/drawingml/2006/main">
              <a:ext uri="{FF2B5EF4-FFF2-40B4-BE49-F238E27FC236}">
                <a16:creationId xmlns:a16="http://schemas.microsoft.com/office/drawing/2014/main" id="{21FB7AAA-B5B5-4BF0-8133-968519162BDC}"/>
              </a:ext>
            </a:extLst>
          </p:cNvPr>
          <p:cNvSpPr>
            <a:spLocks xmlns:a="http://schemas.openxmlformats.org/drawingml/2006/main" noGrp="1"/>
          </p:cNvSpPr>
          <p:nvPr/>
        </p:nvSpPr>
        <p:spPr>
          <a:xfrm xmlns:a="http://schemas.openxmlformats.org/drawingml/2006/main">
            <a:off x="3733800" y="1466850"/>
            <a:ext cx="39052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C5AFBA89-E935-4DFF-AD99-09B2D10679DC}"/>
              </a:ext>
            </a:extLst>
          </p:cNvPr>
          <p:cNvSpPr>
            <a:spLocks xmlns:a="http://schemas.openxmlformats.org/drawingml/2006/main" noGrp="1"/>
          </p:cNvSpPr>
          <p:nvPr/>
        </p:nvSpPr>
        <p:spPr>
          <a:xfrm xmlns:a="http://schemas.openxmlformats.org/drawingml/2006/main">
            <a:off x="3810000" y="1552575"/>
            <a:ext cx="3752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Calculation</a:t>
            </a:r>
          </a:p>
        </p:txBody>
      </p:sp>
      <p:sp>
        <p:nvSpPr>
          <p:cNvPr id="9" name="">
            <a:extLst xmlns:a="http://schemas.openxmlformats.org/drawingml/2006/main">
              <a:ext uri="{FF2B5EF4-FFF2-40B4-BE49-F238E27FC236}">
                <a16:creationId xmlns:a16="http://schemas.microsoft.com/office/drawing/2014/main" id="{76BEDB42-23A0-4DDA-8774-6839C9FFFA30}"/>
              </a:ext>
            </a:extLst>
          </p:cNvPr>
          <p:cNvSpPr>
            <a:spLocks xmlns:a="http://schemas.openxmlformats.org/drawingml/2006/main" noGrp="1"/>
          </p:cNvSpPr>
          <p:nvPr/>
        </p:nvSpPr>
        <p:spPr>
          <a:xfrm xmlns:a="http://schemas.openxmlformats.org/drawingml/2006/main">
            <a:off x="7639050" y="1466850"/>
            <a:ext cx="415290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9A9E8E80-8775-4F9C-9010-E2B66B7A1D17}"/>
              </a:ext>
            </a:extLst>
          </p:cNvPr>
          <p:cNvSpPr>
            <a:spLocks xmlns:a="http://schemas.openxmlformats.org/drawingml/2006/main" noGrp="1"/>
          </p:cNvSpPr>
          <p:nvPr/>
        </p:nvSpPr>
        <p:spPr>
          <a:xfrm xmlns:a="http://schemas.openxmlformats.org/drawingml/2006/main">
            <a:off x="7715250" y="15525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Physiological interpretation</a:t>
            </a:r>
          </a:p>
        </p:txBody>
      </p:sp>
      <p:sp>
        <p:nvSpPr>
          <p:cNvPr id="11" name="">
            <a:extLst xmlns:a="http://schemas.openxmlformats.org/drawingml/2006/main">
              <a:ext uri="{FF2B5EF4-FFF2-40B4-BE49-F238E27FC236}">
                <a16:creationId xmlns:a16="http://schemas.microsoft.com/office/drawing/2014/main" id="{A106583C-F009-4F07-8754-C7A9A59D05B6}"/>
              </a:ext>
            </a:extLst>
          </p:cNvPr>
          <p:cNvSpPr>
            <a:spLocks xmlns:a="http://schemas.openxmlformats.org/drawingml/2006/main" noGrp="1"/>
          </p:cNvSpPr>
          <p:nvPr/>
        </p:nvSpPr>
        <p:spPr>
          <a:xfrm xmlns:a="http://schemas.openxmlformats.org/drawingml/2006/main">
            <a:off x="400050" y="18478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21B106AE-5ABE-4C9B-AE0D-C5D26ACD1888}"/>
              </a:ext>
            </a:extLst>
          </p:cNvPr>
          <p:cNvSpPr>
            <a:spLocks xmlns:a="http://schemas.openxmlformats.org/drawingml/2006/main" noGrp="1"/>
          </p:cNvSpPr>
          <p:nvPr/>
        </p:nvSpPr>
        <p:spPr>
          <a:xfrm xmlns:a="http://schemas.openxmlformats.org/drawingml/2006/main">
            <a:off x="476250" y="19240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within_view_peak_robust_sd_mean</a:t>
            </a:r>
          </a:p>
        </p:txBody>
      </p:sp>
      <p:sp>
        <p:nvSpPr>
          <p:cNvPr id="13" name="">
            <a:extLst xmlns:a="http://schemas.openxmlformats.org/drawingml/2006/main">
              <a:ext uri="{FF2B5EF4-FFF2-40B4-BE49-F238E27FC236}">
                <a16:creationId xmlns:a16="http://schemas.microsoft.com/office/drawing/2014/main" id="{3C953B2E-D6BB-43EE-B319-31B797C88186}"/>
              </a:ext>
            </a:extLst>
          </p:cNvPr>
          <p:cNvSpPr>
            <a:spLocks xmlns:a="http://schemas.openxmlformats.org/drawingml/2006/main" noGrp="1"/>
          </p:cNvSpPr>
          <p:nvPr/>
        </p:nvSpPr>
        <p:spPr>
          <a:xfrm xmlns:a="http://schemas.openxmlformats.org/drawingml/2006/main">
            <a:off x="3733800" y="18478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5D173F75-DAF6-4202-BE72-A4CF1C8AE131}"/>
              </a:ext>
            </a:extLst>
          </p:cNvPr>
          <p:cNvSpPr>
            <a:spLocks xmlns:a="http://schemas.openxmlformats.org/drawingml/2006/main" noGrp="1"/>
          </p:cNvSpPr>
          <p:nvPr/>
        </p:nvSpPr>
        <p:spPr>
          <a:xfrm xmlns:a="http://schemas.openxmlformats.org/drawingml/2006/main">
            <a:off x="3810000" y="19240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Robust peak SD within each apical view; average</a:t>
            </a:r>
          </a:p>
        </p:txBody>
      </p:sp>
      <p:sp>
        <p:nvSpPr>
          <p:cNvPr id="15" name="">
            <a:extLst xmlns:a="http://schemas.openxmlformats.org/drawingml/2006/main">
              <a:ext uri="{FF2B5EF4-FFF2-40B4-BE49-F238E27FC236}">
                <a16:creationId xmlns:a16="http://schemas.microsoft.com/office/drawing/2014/main" id="{C04923D4-28E5-4B33-9AFE-BB0BB149A920}"/>
              </a:ext>
            </a:extLst>
          </p:cNvPr>
          <p:cNvSpPr>
            <a:spLocks xmlns:a="http://schemas.openxmlformats.org/drawingml/2006/main" noGrp="1"/>
          </p:cNvSpPr>
          <p:nvPr/>
        </p:nvSpPr>
        <p:spPr>
          <a:xfrm xmlns:a="http://schemas.openxmlformats.org/drawingml/2006/main">
            <a:off x="7639050" y="18478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DEDD4B3A-0961-4F19-ABD1-96727DF81754}"/>
              </a:ext>
            </a:extLst>
          </p:cNvPr>
          <p:cNvSpPr>
            <a:spLocks xmlns:a="http://schemas.openxmlformats.org/drawingml/2006/main" noGrp="1"/>
          </p:cNvSpPr>
          <p:nvPr/>
        </p:nvSpPr>
        <p:spPr>
          <a:xfrm xmlns:a="http://schemas.openxmlformats.org/drawingml/2006/main">
            <a:off x="7715250" y="19240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Heterogeneity within imaging view</a:t>
            </a:r>
          </a:p>
        </p:txBody>
      </p:sp>
      <p:sp>
        <p:nvSpPr>
          <p:cNvPr id="17" name="">
            <a:extLst xmlns:a="http://schemas.openxmlformats.org/drawingml/2006/main">
              <a:ext uri="{FF2B5EF4-FFF2-40B4-BE49-F238E27FC236}">
                <a16:creationId xmlns:a16="http://schemas.microsoft.com/office/drawing/2014/main" id="{26645E41-54FA-477C-8A1C-274F6FDA5510}"/>
              </a:ext>
            </a:extLst>
          </p:cNvPr>
          <p:cNvSpPr>
            <a:spLocks xmlns:a="http://schemas.openxmlformats.org/drawingml/2006/main" noGrp="1"/>
          </p:cNvSpPr>
          <p:nvPr/>
        </p:nvSpPr>
        <p:spPr>
          <a:xfrm xmlns:a="http://schemas.openxmlformats.org/drawingml/2006/main">
            <a:off x="400050" y="25336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EBF3B8F8-A454-4801-B715-D1FB15DB4D7A}"/>
              </a:ext>
            </a:extLst>
          </p:cNvPr>
          <p:cNvSpPr>
            <a:spLocks xmlns:a="http://schemas.openxmlformats.org/drawingml/2006/main" noGrp="1"/>
          </p:cNvSpPr>
          <p:nvPr/>
        </p:nvSpPr>
        <p:spPr>
          <a:xfrm xmlns:a="http://schemas.openxmlformats.org/drawingml/2006/main">
            <a:off x="476250" y="26098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within_ring_peak_robust_sd_mean</a:t>
            </a:r>
          </a:p>
        </p:txBody>
      </p:sp>
      <p:sp>
        <p:nvSpPr>
          <p:cNvPr id="19" name="">
            <a:extLst xmlns:a="http://schemas.openxmlformats.org/drawingml/2006/main">
              <a:ext uri="{FF2B5EF4-FFF2-40B4-BE49-F238E27FC236}">
                <a16:creationId xmlns:a16="http://schemas.microsoft.com/office/drawing/2014/main" id="{E752AA23-26AD-408F-A6FD-E651F1B3DFA8}"/>
              </a:ext>
            </a:extLst>
          </p:cNvPr>
          <p:cNvSpPr>
            <a:spLocks xmlns:a="http://schemas.openxmlformats.org/drawingml/2006/main" noGrp="1"/>
          </p:cNvSpPr>
          <p:nvPr/>
        </p:nvSpPr>
        <p:spPr>
          <a:xfrm xmlns:a="http://schemas.openxmlformats.org/drawingml/2006/main">
            <a:off x="3733800" y="25336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9FA15C0A-399F-40E7-A28C-03588D34FC51}"/>
              </a:ext>
            </a:extLst>
          </p:cNvPr>
          <p:cNvSpPr>
            <a:spLocks xmlns:a="http://schemas.openxmlformats.org/drawingml/2006/main" noGrp="1"/>
          </p:cNvSpPr>
          <p:nvPr/>
        </p:nvSpPr>
        <p:spPr>
          <a:xfrm xmlns:a="http://schemas.openxmlformats.org/drawingml/2006/main">
            <a:off x="3810000" y="26098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Robust peak SD within each LV ring; average</a:t>
            </a:r>
          </a:p>
        </p:txBody>
      </p:sp>
      <p:sp>
        <p:nvSpPr>
          <p:cNvPr id="21" name="">
            <a:extLst xmlns:a="http://schemas.openxmlformats.org/drawingml/2006/main">
              <a:ext uri="{FF2B5EF4-FFF2-40B4-BE49-F238E27FC236}">
                <a16:creationId xmlns:a16="http://schemas.microsoft.com/office/drawing/2014/main" id="{41BAB03B-C55F-48B9-BD6A-BF8C67411FEE}"/>
              </a:ext>
            </a:extLst>
          </p:cNvPr>
          <p:cNvSpPr>
            <a:spLocks xmlns:a="http://schemas.openxmlformats.org/drawingml/2006/main" noGrp="1"/>
          </p:cNvSpPr>
          <p:nvPr/>
        </p:nvSpPr>
        <p:spPr>
          <a:xfrm xmlns:a="http://schemas.openxmlformats.org/drawingml/2006/main">
            <a:off x="7639050" y="25336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09BBB2E4-582C-471D-B65B-BC44574C82D8}"/>
              </a:ext>
            </a:extLst>
          </p:cNvPr>
          <p:cNvSpPr>
            <a:spLocks xmlns:a="http://schemas.openxmlformats.org/drawingml/2006/main" noGrp="1"/>
          </p:cNvSpPr>
          <p:nvPr/>
        </p:nvSpPr>
        <p:spPr>
          <a:xfrm xmlns:a="http://schemas.openxmlformats.org/drawingml/2006/main">
            <a:off x="7715250" y="26098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Regional heterogeneity controlling for level</a:t>
            </a:r>
          </a:p>
        </p:txBody>
      </p:sp>
      <p:sp>
        <p:nvSpPr>
          <p:cNvPr id="23" name="">
            <a:extLst xmlns:a="http://schemas.openxmlformats.org/drawingml/2006/main">
              <a:ext uri="{FF2B5EF4-FFF2-40B4-BE49-F238E27FC236}">
                <a16:creationId xmlns:a16="http://schemas.microsoft.com/office/drawing/2014/main" id="{1FAB8866-5775-4D6B-91B8-D3047FC067DA}"/>
              </a:ext>
            </a:extLst>
          </p:cNvPr>
          <p:cNvSpPr>
            <a:spLocks xmlns:a="http://schemas.openxmlformats.org/drawingml/2006/main" noGrp="1"/>
          </p:cNvSpPr>
          <p:nvPr/>
        </p:nvSpPr>
        <p:spPr>
          <a:xfrm xmlns:a="http://schemas.openxmlformats.org/drawingml/2006/main">
            <a:off x="400050" y="32194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5AD9AFF2-0C89-4DC4-B48C-D9EBCD3E048A}"/>
              </a:ext>
            </a:extLst>
          </p:cNvPr>
          <p:cNvSpPr>
            <a:spLocks xmlns:a="http://schemas.openxmlformats.org/drawingml/2006/main" noGrp="1"/>
          </p:cNvSpPr>
          <p:nvPr/>
        </p:nvSpPr>
        <p:spPr>
          <a:xfrm xmlns:a="http://schemas.openxmlformats.org/drawingml/2006/main">
            <a:off x="476250" y="32956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spatial_peak_graph_roughness</a:t>
            </a:r>
          </a:p>
        </p:txBody>
      </p:sp>
      <p:sp>
        <p:nvSpPr>
          <p:cNvPr id="25" name="">
            <a:extLst xmlns:a="http://schemas.openxmlformats.org/drawingml/2006/main">
              <a:ext uri="{FF2B5EF4-FFF2-40B4-BE49-F238E27FC236}">
                <a16:creationId xmlns:a16="http://schemas.microsoft.com/office/drawing/2014/main" id="{3EA8EBE4-A94E-4351-B46C-8339E3206301}"/>
              </a:ext>
            </a:extLst>
          </p:cNvPr>
          <p:cNvSpPr>
            <a:spLocks xmlns:a="http://schemas.openxmlformats.org/drawingml/2006/main" noGrp="1"/>
          </p:cNvSpPr>
          <p:nvPr/>
        </p:nvSpPr>
        <p:spPr>
          <a:xfrm xmlns:a="http://schemas.openxmlformats.org/drawingml/2006/main">
            <a:off x="3733800" y="32194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18BDA709-E170-415A-9289-4BFAFD85C3E7}"/>
              </a:ext>
            </a:extLst>
          </p:cNvPr>
          <p:cNvSpPr>
            <a:spLocks xmlns:a="http://schemas.openxmlformats.org/drawingml/2006/main" noGrp="1"/>
          </p:cNvSpPr>
          <p:nvPr/>
        </p:nvSpPr>
        <p:spPr>
          <a:xfrm xmlns:a="http://schemas.openxmlformats.org/drawingml/2006/main">
            <a:off x="3810000" y="32956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Mean |peakᵢ−peakⱼ| over anatomical neighbor edges</a:t>
            </a:r>
          </a:p>
        </p:txBody>
      </p:sp>
      <p:sp>
        <p:nvSpPr>
          <p:cNvPr id="27" name="">
            <a:extLst xmlns:a="http://schemas.openxmlformats.org/drawingml/2006/main">
              <a:ext uri="{FF2B5EF4-FFF2-40B4-BE49-F238E27FC236}">
                <a16:creationId xmlns:a16="http://schemas.microsoft.com/office/drawing/2014/main" id="{6FAD35BC-009E-4C9D-8F1F-4E232C092F66}"/>
              </a:ext>
            </a:extLst>
          </p:cNvPr>
          <p:cNvSpPr>
            <a:spLocks xmlns:a="http://schemas.openxmlformats.org/drawingml/2006/main" noGrp="1"/>
          </p:cNvSpPr>
          <p:nvPr/>
        </p:nvSpPr>
        <p:spPr>
          <a:xfrm xmlns:a="http://schemas.openxmlformats.org/drawingml/2006/main">
            <a:off x="7639050" y="32194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93EB1E8F-9703-440E-8EF5-429E0C903938}"/>
              </a:ext>
            </a:extLst>
          </p:cNvPr>
          <p:cNvSpPr>
            <a:spLocks xmlns:a="http://schemas.openxmlformats.org/drawingml/2006/main" noGrp="1"/>
          </p:cNvSpPr>
          <p:nvPr/>
        </p:nvSpPr>
        <p:spPr>
          <a:xfrm xmlns:a="http://schemas.openxmlformats.org/drawingml/2006/main">
            <a:off x="7715250" y="32956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Abrupt spatial amplitude discontinuity</a:t>
            </a:r>
          </a:p>
        </p:txBody>
      </p:sp>
      <p:sp>
        <p:nvSpPr>
          <p:cNvPr id="29" name="">
            <a:extLst xmlns:a="http://schemas.openxmlformats.org/drawingml/2006/main">
              <a:ext uri="{FF2B5EF4-FFF2-40B4-BE49-F238E27FC236}">
                <a16:creationId xmlns:a16="http://schemas.microsoft.com/office/drawing/2014/main" id="{72ABA886-2E94-43AA-BEDC-A33CE96CA95E}"/>
              </a:ext>
            </a:extLst>
          </p:cNvPr>
          <p:cNvSpPr>
            <a:spLocks xmlns:a="http://schemas.openxmlformats.org/drawingml/2006/main" noGrp="1"/>
          </p:cNvSpPr>
          <p:nvPr/>
        </p:nvSpPr>
        <p:spPr>
          <a:xfrm xmlns:a="http://schemas.openxmlformats.org/drawingml/2006/main">
            <a:off x="400050" y="39052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6E0812C2-7672-43C0-B242-70105149C071}"/>
              </a:ext>
            </a:extLst>
          </p:cNvPr>
          <p:cNvSpPr>
            <a:spLocks xmlns:a="http://schemas.openxmlformats.org/drawingml/2006/main" noGrp="1"/>
          </p:cNvSpPr>
          <p:nvPr/>
        </p:nvSpPr>
        <p:spPr>
          <a:xfrm xmlns:a="http://schemas.openxmlformats.org/drawingml/2006/main">
            <a:off x="476250" y="39814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spatial_timing_graph_roughness</a:t>
            </a:r>
          </a:p>
        </p:txBody>
      </p:sp>
      <p:sp>
        <p:nvSpPr>
          <p:cNvPr id="31" name="">
            <a:extLst xmlns:a="http://schemas.openxmlformats.org/drawingml/2006/main">
              <a:ext uri="{FF2B5EF4-FFF2-40B4-BE49-F238E27FC236}">
                <a16:creationId xmlns:a16="http://schemas.microsoft.com/office/drawing/2014/main" id="{CEF150CA-0C06-427F-95F7-1EE775DD56AE}"/>
              </a:ext>
            </a:extLst>
          </p:cNvPr>
          <p:cNvSpPr>
            <a:spLocks xmlns:a="http://schemas.openxmlformats.org/drawingml/2006/main" noGrp="1"/>
          </p:cNvSpPr>
          <p:nvPr/>
        </p:nvSpPr>
        <p:spPr>
          <a:xfrm xmlns:a="http://schemas.openxmlformats.org/drawingml/2006/main">
            <a:off x="3733800" y="39052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F32545BB-4BF2-4B34-98E8-32DCA45BBADF}"/>
              </a:ext>
            </a:extLst>
          </p:cNvPr>
          <p:cNvSpPr>
            <a:spLocks xmlns:a="http://schemas.openxmlformats.org/drawingml/2006/main" noGrp="1"/>
          </p:cNvSpPr>
          <p:nvPr/>
        </p:nvSpPr>
        <p:spPr>
          <a:xfrm xmlns:a="http://schemas.openxmlformats.org/drawingml/2006/main">
            <a:off x="3810000" y="39814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Mean |TTPᵢ−TTPⱼ| over neighbor edges</a:t>
            </a:r>
          </a:p>
        </p:txBody>
      </p:sp>
      <p:sp>
        <p:nvSpPr>
          <p:cNvPr id="33" name="">
            <a:extLst xmlns:a="http://schemas.openxmlformats.org/drawingml/2006/main">
              <a:ext uri="{FF2B5EF4-FFF2-40B4-BE49-F238E27FC236}">
                <a16:creationId xmlns:a16="http://schemas.microsoft.com/office/drawing/2014/main" id="{EAB15EAC-6943-42BA-B7AE-7884BC24C9A4}"/>
              </a:ext>
            </a:extLst>
          </p:cNvPr>
          <p:cNvSpPr>
            <a:spLocks xmlns:a="http://schemas.openxmlformats.org/drawingml/2006/main" noGrp="1"/>
          </p:cNvSpPr>
          <p:nvPr/>
        </p:nvSpPr>
        <p:spPr>
          <a:xfrm xmlns:a="http://schemas.openxmlformats.org/drawingml/2006/main">
            <a:off x="7639050" y="39052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A7B13D20-3E94-4503-8656-A7D8FAA17890}"/>
              </a:ext>
            </a:extLst>
          </p:cNvPr>
          <p:cNvSpPr>
            <a:spLocks xmlns:a="http://schemas.openxmlformats.org/drawingml/2006/main" noGrp="1"/>
          </p:cNvSpPr>
          <p:nvPr/>
        </p:nvSpPr>
        <p:spPr>
          <a:xfrm xmlns:a="http://schemas.openxmlformats.org/drawingml/2006/main">
            <a:off x="7715250" y="39814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Local mechanical timing discontinuity</a:t>
            </a:r>
          </a:p>
        </p:txBody>
      </p:sp>
      <p:sp>
        <p:nvSpPr>
          <p:cNvPr id="35" name="">
            <a:extLst xmlns:a="http://schemas.openxmlformats.org/drawingml/2006/main">
              <a:ext uri="{FF2B5EF4-FFF2-40B4-BE49-F238E27FC236}">
                <a16:creationId xmlns:a16="http://schemas.microsoft.com/office/drawing/2014/main" id="{CEE624A1-3F59-4EF3-82B9-E3F12F768591}"/>
              </a:ext>
            </a:extLst>
          </p:cNvPr>
          <p:cNvSpPr>
            <a:spLocks xmlns:a="http://schemas.openxmlformats.org/drawingml/2006/main" noGrp="1"/>
          </p:cNvSpPr>
          <p:nvPr/>
        </p:nvSpPr>
        <p:spPr>
          <a:xfrm xmlns:a="http://schemas.openxmlformats.org/drawingml/2006/main">
            <a:off x="400050" y="4591050"/>
            <a:ext cx="33337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9A14B150-02F1-40D1-BF98-418DD49C4BBB}"/>
              </a:ext>
            </a:extLst>
          </p:cNvPr>
          <p:cNvSpPr>
            <a:spLocks xmlns:a="http://schemas.openxmlformats.org/drawingml/2006/main" noGrp="1"/>
          </p:cNvSpPr>
          <p:nvPr/>
        </p:nvSpPr>
        <p:spPr>
          <a:xfrm xmlns:a="http://schemas.openxmlformats.org/drawingml/2006/main">
            <a:off x="476250" y="46672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impaired_segment_fraction_lt15</a:t>
            </a:r>
          </a:p>
        </p:txBody>
      </p:sp>
      <p:sp>
        <p:nvSpPr>
          <p:cNvPr id="37" name="">
            <a:extLst xmlns:a="http://schemas.openxmlformats.org/drawingml/2006/main">
              <a:ext uri="{FF2B5EF4-FFF2-40B4-BE49-F238E27FC236}">
                <a16:creationId xmlns:a16="http://schemas.microsoft.com/office/drawing/2014/main" id="{A96949BF-28B1-4640-A77F-1B740865CD47}"/>
              </a:ext>
            </a:extLst>
          </p:cNvPr>
          <p:cNvSpPr>
            <a:spLocks xmlns:a="http://schemas.openxmlformats.org/drawingml/2006/main" noGrp="1"/>
          </p:cNvSpPr>
          <p:nvPr/>
        </p:nvSpPr>
        <p:spPr>
          <a:xfrm xmlns:a="http://schemas.openxmlformats.org/drawingml/2006/main">
            <a:off x="3733800" y="4591050"/>
            <a:ext cx="390525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07342712-0846-4A20-A0F9-687BE62CC038}"/>
              </a:ext>
            </a:extLst>
          </p:cNvPr>
          <p:cNvSpPr>
            <a:spLocks xmlns:a="http://schemas.openxmlformats.org/drawingml/2006/main" noGrp="1"/>
          </p:cNvSpPr>
          <p:nvPr/>
        </p:nvSpPr>
        <p:spPr>
          <a:xfrm xmlns:a="http://schemas.openxmlformats.org/drawingml/2006/main">
            <a:off x="3810000" y="46672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Fraction with |peak strain| &lt;15%</a:t>
            </a:r>
          </a:p>
        </p:txBody>
      </p:sp>
      <p:sp>
        <p:nvSpPr>
          <p:cNvPr id="39" name="">
            <a:extLst xmlns:a="http://schemas.openxmlformats.org/drawingml/2006/main">
              <a:ext uri="{FF2B5EF4-FFF2-40B4-BE49-F238E27FC236}">
                <a16:creationId xmlns:a16="http://schemas.microsoft.com/office/drawing/2014/main" id="{81E11B9F-EA50-4C5D-AC8D-E29923462EED}"/>
              </a:ext>
            </a:extLst>
          </p:cNvPr>
          <p:cNvSpPr>
            <a:spLocks xmlns:a="http://schemas.openxmlformats.org/drawingml/2006/main" noGrp="1"/>
          </p:cNvSpPr>
          <p:nvPr/>
        </p:nvSpPr>
        <p:spPr>
          <a:xfrm xmlns:a="http://schemas.openxmlformats.org/drawingml/2006/main">
            <a:off x="7639050" y="4591050"/>
            <a:ext cx="4152900" cy="68580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9A7C6F2A-E8A0-45B3-8710-AA24E9185D96}"/>
              </a:ext>
            </a:extLst>
          </p:cNvPr>
          <p:cNvSpPr>
            <a:spLocks xmlns:a="http://schemas.openxmlformats.org/drawingml/2006/main" noGrp="1"/>
          </p:cNvSpPr>
          <p:nvPr/>
        </p:nvSpPr>
        <p:spPr>
          <a:xfrm xmlns:a="http://schemas.openxmlformats.org/drawingml/2006/main">
            <a:off x="7715250" y="46672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Burden of weakly shortening segments</a:t>
            </a:r>
          </a:p>
        </p:txBody>
      </p:sp>
      <p:sp>
        <p:nvSpPr>
          <p:cNvPr id="41" name="">
            <a:extLst xmlns:a="http://schemas.openxmlformats.org/drawingml/2006/main">
              <a:ext uri="{FF2B5EF4-FFF2-40B4-BE49-F238E27FC236}">
                <a16:creationId xmlns:a16="http://schemas.microsoft.com/office/drawing/2014/main" id="{92387EC2-6D9E-4719-97A7-AB28902272D8}"/>
              </a:ext>
            </a:extLst>
          </p:cNvPr>
          <p:cNvSpPr>
            <a:spLocks xmlns:a="http://schemas.openxmlformats.org/drawingml/2006/main" noGrp="1"/>
          </p:cNvSpPr>
          <p:nvPr/>
        </p:nvSpPr>
        <p:spPr>
          <a:xfrm xmlns:a="http://schemas.openxmlformats.org/drawingml/2006/main">
            <a:off x="400050" y="5276850"/>
            <a:ext cx="33337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B55CE3F5-F0F6-4C39-A261-2F7B02BCA13A}"/>
              </a:ext>
            </a:extLst>
          </p:cNvPr>
          <p:cNvSpPr>
            <a:spLocks xmlns:a="http://schemas.openxmlformats.org/drawingml/2006/main" noGrp="1"/>
          </p:cNvSpPr>
          <p:nvPr/>
        </p:nvSpPr>
        <p:spPr>
          <a:xfrm xmlns:a="http://schemas.openxmlformats.org/drawingml/2006/main">
            <a:off x="476250" y="535305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50505"/>
                </a:solidFill>
                <a:latin typeface="Arial"/>
                <a:ea typeface="Arial"/>
                <a:cs typeface="Arial"/>
              </a:defRPr>
            </a:pPr>
            <a:r>
              <a:rPr sz="1125" b="1" i="0">
                <a:solidFill>
                  <a:srgbClr val="050505"/>
                </a:solidFill>
                <a:latin typeface="Arial"/>
                <a:ea typeface="Arial"/>
                <a:cs typeface="Arial"/>
              </a:rPr>
              <a:t>apical_basal_peak_gradient</a:t>
            </a:r>
          </a:p>
        </p:txBody>
      </p:sp>
      <p:sp>
        <p:nvSpPr>
          <p:cNvPr id="43" name="">
            <a:extLst xmlns:a="http://schemas.openxmlformats.org/drawingml/2006/main">
              <a:ext uri="{FF2B5EF4-FFF2-40B4-BE49-F238E27FC236}">
                <a16:creationId xmlns:a16="http://schemas.microsoft.com/office/drawing/2014/main" id="{93CA6DE3-7B98-409E-956C-DF2EE2AAC294}"/>
              </a:ext>
            </a:extLst>
          </p:cNvPr>
          <p:cNvSpPr>
            <a:spLocks xmlns:a="http://schemas.openxmlformats.org/drawingml/2006/main" noGrp="1"/>
          </p:cNvSpPr>
          <p:nvPr/>
        </p:nvSpPr>
        <p:spPr>
          <a:xfrm xmlns:a="http://schemas.openxmlformats.org/drawingml/2006/main">
            <a:off x="3733800" y="5276850"/>
            <a:ext cx="390525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91005725-2E7E-41DD-8E1D-D773E3EBF034}"/>
              </a:ext>
            </a:extLst>
          </p:cNvPr>
          <p:cNvSpPr>
            <a:spLocks xmlns:a="http://schemas.openxmlformats.org/drawingml/2006/main" noGrp="1"/>
          </p:cNvSpPr>
          <p:nvPr/>
        </p:nvSpPr>
        <p:spPr>
          <a:xfrm xmlns:a="http://schemas.openxmlformats.org/drawingml/2006/main">
            <a:off x="3810000" y="5353050"/>
            <a:ext cx="3752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mean apical peak − mean basal peak</a:t>
            </a:r>
          </a:p>
        </p:txBody>
      </p:sp>
      <p:sp>
        <p:nvSpPr>
          <p:cNvPr id="45" name="">
            <a:extLst xmlns:a="http://schemas.openxmlformats.org/drawingml/2006/main">
              <a:ext uri="{FF2B5EF4-FFF2-40B4-BE49-F238E27FC236}">
                <a16:creationId xmlns:a16="http://schemas.microsoft.com/office/drawing/2014/main" id="{BD28E7B1-9F29-483C-8173-171AB31406E2}"/>
              </a:ext>
            </a:extLst>
          </p:cNvPr>
          <p:cNvSpPr>
            <a:spLocks xmlns:a="http://schemas.openxmlformats.org/drawingml/2006/main" noGrp="1"/>
          </p:cNvSpPr>
          <p:nvPr/>
        </p:nvSpPr>
        <p:spPr>
          <a:xfrm xmlns:a="http://schemas.openxmlformats.org/drawingml/2006/main">
            <a:off x="7639050" y="5276850"/>
            <a:ext cx="4152900" cy="68580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AE3E65FB-5209-4271-86F3-5418674C9B31}"/>
              </a:ext>
            </a:extLst>
          </p:cNvPr>
          <p:cNvSpPr>
            <a:spLocks xmlns:a="http://schemas.openxmlformats.org/drawingml/2006/main" noGrp="1"/>
          </p:cNvSpPr>
          <p:nvPr/>
        </p:nvSpPr>
        <p:spPr>
          <a:xfrm xmlns:a="http://schemas.openxmlformats.org/drawingml/2006/main">
            <a:off x="7715250" y="5353050"/>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5B616B"/>
                </a:solidFill>
                <a:latin typeface="Arial"/>
                <a:ea typeface="Arial"/>
                <a:cs typeface="Arial"/>
              </a:defRPr>
            </a:pPr>
            <a:r>
              <a:rPr sz="1125" b="0" i="0">
                <a:solidFill>
                  <a:srgbClr val="5B616B"/>
                </a:solidFill>
                <a:latin typeface="Arial"/>
                <a:ea typeface="Arial"/>
                <a:cs typeface="Arial"/>
              </a:rPr>
              <a:t>Change in normal base-to-apex strain gradient</a:t>
            </a:r>
          </a:p>
        </p:txBody>
      </p:sp>
      <p:sp>
        <p:nvSpPr>
          <p:cNvPr id="47" name="">
            <a:extLst xmlns:a="http://schemas.openxmlformats.org/drawingml/2006/main">
              <a:ext uri="{FF2B5EF4-FFF2-40B4-BE49-F238E27FC236}">
                <a16:creationId xmlns:a16="http://schemas.microsoft.com/office/drawing/2014/main" id="{85A5D105-56FB-429E-95A8-A70B1E2A8289}"/>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spatial features depend on the segment adjacency/ring/view map</a:t>
            </a:r>
          </a:p>
        </p:txBody>
      </p:sp>
    </p:spTree>
    <p:extLst>
      <p:ext uri="{BB962C8B-B14F-4D97-AF65-F5344CB8AC3E}">
        <p14:creationId xmlns:p14="http://schemas.microsoft.com/office/powerpoint/2010/main" val="66722911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
            <a:extLst xmlns:a="http://schemas.openxmlformats.org/drawingml/2006/main">
              <a:ext uri="{FF2B5EF4-FFF2-40B4-BE49-F238E27FC236}">
                <a16:creationId xmlns:a16="http://schemas.microsoft.com/office/drawing/2014/main" id="{BCEE579B-6B12-4C50-831B-6C29B0B2EF78}"/>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CATCH22 FEATURE DICTIONARY</a:t>
            </a:r>
          </a:p>
        </p:txBody>
      </p:sp>
      <p:sp>
        <p:nvSpPr>
          <p:cNvPr id="2" name="">
            <a:extLst xmlns:a="http://schemas.openxmlformats.org/drawingml/2006/main">
              <a:ext uri="{FF2B5EF4-FFF2-40B4-BE49-F238E27FC236}">
                <a16:creationId xmlns:a16="http://schemas.microsoft.com/office/drawing/2014/main" id="{DC2BABCA-EF21-4999-9179-CE526A7CF2CD}"/>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Appendix: the complete Catch22 descriptor vocabulary</a:t>
            </a:r>
          </a:p>
        </p:txBody>
      </p:sp>
      <p:sp>
        <p:nvSpPr>
          <p:cNvPr id="3" name="">
            <a:extLst xmlns:a="http://schemas.openxmlformats.org/drawingml/2006/main">
              <a:ext uri="{FF2B5EF4-FFF2-40B4-BE49-F238E27FC236}">
                <a16:creationId xmlns:a16="http://schemas.microsoft.com/office/drawing/2014/main" id="{5819AFBF-1B48-4547-B31D-179A34C41448}"/>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52AD2460-A0E2-4CCF-90AD-942BBDE3197D}"/>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702A410E-F4DD-4720-8298-C5F0500A2718}"/>
              </a:ext>
            </a:extLst>
          </p:cNvPr>
          <p:cNvSpPr>
            <a:spLocks xmlns:a="http://schemas.openxmlformats.org/drawingml/2006/main" noGrp="1"/>
          </p:cNvSpPr>
          <p:nvPr/>
        </p:nvSpPr>
        <p:spPr>
          <a:xfrm xmlns:a="http://schemas.openxmlformats.org/drawingml/2006/main">
            <a:off x="400050" y="1428750"/>
            <a:ext cx="2952750" cy="36195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1550547C-4E59-453A-A10C-AD7D4C40D3F1}"/>
              </a:ext>
            </a:extLst>
          </p:cNvPr>
          <p:cNvSpPr>
            <a:spLocks xmlns:a="http://schemas.openxmlformats.org/drawingml/2006/main" noGrp="1"/>
          </p:cNvSpPr>
          <p:nvPr/>
        </p:nvSpPr>
        <p:spPr>
          <a:xfrm xmlns:a="http://schemas.openxmlformats.org/drawingml/2006/main">
            <a:off x="476250" y="1514475"/>
            <a:ext cx="2800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Descriptor</a:t>
            </a:r>
          </a:p>
        </p:txBody>
      </p:sp>
      <p:sp>
        <p:nvSpPr>
          <p:cNvPr id="7" name="">
            <a:extLst xmlns:a="http://schemas.openxmlformats.org/drawingml/2006/main">
              <a:ext uri="{FF2B5EF4-FFF2-40B4-BE49-F238E27FC236}">
                <a16:creationId xmlns:a16="http://schemas.microsoft.com/office/drawing/2014/main" id="{B33DBA15-74F0-403A-A7AE-AE1EDCCF87F0}"/>
              </a:ext>
            </a:extLst>
          </p:cNvPr>
          <p:cNvSpPr>
            <a:spLocks xmlns:a="http://schemas.openxmlformats.org/drawingml/2006/main" noGrp="1"/>
          </p:cNvSpPr>
          <p:nvPr/>
        </p:nvSpPr>
        <p:spPr>
          <a:xfrm xmlns:a="http://schemas.openxmlformats.org/drawingml/2006/main">
            <a:off x="3352800" y="1428750"/>
            <a:ext cx="2686050" cy="36195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26B9F3F0-1133-46F7-B510-B843CE32C7B7}"/>
              </a:ext>
            </a:extLst>
          </p:cNvPr>
          <p:cNvSpPr>
            <a:spLocks xmlns:a="http://schemas.openxmlformats.org/drawingml/2006/main" noGrp="1"/>
          </p:cNvSpPr>
          <p:nvPr/>
        </p:nvSpPr>
        <p:spPr>
          <a:xfrm xmlns:a="http://schemas.openxmlformats.org/drawingml/2006/main">
            <a:off x="3429000" y="1514475"/>
            <a:ext cx="2533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Meaning</a:t>
            </a:r>
          </a:p>
        </p:txBody>
      </p:sp>
      <p:sp>
        <p:nvSpPr>
          <p:cNvPr id="9" name="">
            <a:extLst xmlns:a="http://schemas.openxmlformats.org/drawingml/2006/main">
              <a:ext uri="{FF2B5EF4-FFF2-40B4-BE49-F238E27FC236}">
                <a16:creationId xmlns:a16="http://schemas.microsoft.com/office/drawing/2014/main" id="{61BBD1A5-0A00-4C27-8BDC-968F9AE6BED4}"/>
              </a:ext>
            </a:extLst>
          </p:cNvPr>
          <p:cNvSpPr>
            <a:spLocks xmlns:a="http://schemas.openxmlformats.org/drawingml/2006/main" noGrp="1"/>
          </p:cNvSpPr>
          <p:nvPr/>
        </p:nvSpPr>
        <p:spPr>
          <a:xfrm xmlns:a="http://schemas.openxmlformats.org/drawingml/2006/main">
            <a:off x="400050" y="1790700"/>
            <a:ext cx="29527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0" name="">
            <a:extLst xmlns:a="http://schemas.openxmlformats.org/drawingml/2006/main">
              <a:ext uri="{FF2B5EF4-FFF2-40B4-BE49-F238E27FC236}">
                <a16:creationId xmlns:a16="http://schemas.microsoft.com/office/drawing/2014/main" id="{008EC453-164C-4236-B833-D15DFE4F1428}"/>
              </a:ext>
            </a:extLst>
          </p:cNvPr>
          <p:cNvSpPr>
            <a:spLocks xmlns:a="http://schemas.openxmlformats.org/drawingml/2006/main" noGrp="1"/>
          </p:cNvSpPr>
          <p:nvPr/>
        </p:nvSpPr>
        <p:spPr>
          <a:xfrm xmlns:a="http://schemas.openxmlformats.org/drawingml/2006/main">
            <a:off x="476250" y="186690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HistogramMode_5 / _10</a:t>
            </a:r>
          </a:p>
        </p:txBody>
      </p:sp>
      <p:sp>
        <p:nvSpPr>
          <p:cNvPr id="11" name="">
            <a:extLst xmlns:a="http://schemas.openxmlformats.org/drawingml/2006/main">
              <a:ext uri="{FF2B5EF4-FFF2-40B4-BE49-F238E27FC236}">
                <a16:creationId xmlns:a16="http://schemas.microsoft.com/office/drawing/2014/main" id="{9B62B8AD-EFC3-4F90-9D94-7F846472881A}"/>
              </a:ext>
            </a:extLst>
          </p:cNvPr>
          <p:cNvSpPr>
            <a:spLocks xmlns:a="http://schemas.openxmlformats.org/drawingml/2006/main" noGrp="1"/>
          </p:cNvSpPr>
          <p:nvPr/>
        </p:nvSpPr>
        <p:spPr>
          <a:xfrm xmlns:a="http://schemas.openxmlformats.org/drawingml/2006/main">
            <a:off x="3352800" y="1790700"/>
            <a:ext cx="26860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CF1A567E-EA8D-4330-9FD6-E8F3F8B33FCA}"/>
              </a:ext>
            </a:extLst>
          </p:cNvPr>
          <p:cNvSpPr>
            <a:spLocks xmlns:a="http://schemas.openxmlformats.org/drawingml/2006/main" noGrp="1"/>
          </p:cNvSpPr>
          <p:nvPr/>
        </p:nvSpPr>
        <p:spPr>
          <a:xfrm xmlns:a="http://schemas.openxmlformats.org/drawingml/2006/main">
            <a:off x="3429000" y="186690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Mode of 5- or 10-bin value histogram</a:t>
            </a:r>
          </a:p>
        </p:txBody>
      </p:sp>
      <p:sp>
        <p:nvSpPr>
          <p:cNvPr id="13" name="">
            <a:extLst xmlns:a="http://schemas.openxmlformats.org/drawingml/2006/main">
              <a:ext uri="{FF2B5EF4-FFF2-40B4-BE49-F238E27FC236}">
                <a16:creationId xmlns:a16="http://schemas.microsoft.com/office/drawing/2014/main" id="{56192422-A20F-4B6F-BBFD-281B0525FD67}"/>
              </a:ext>
            </a:extLst>
          </p:cNvPr>
          <p:cNvSpPr>
            <a:spLocks xmlns:a="http://schemas.openxmlformats.org/drawingml/2006/main" noGrp="1"/>
          </p:cNvSpPr>
          <p:nvPr/>
        </p:nvSpPr>
        <p:spPr>
          <a:xfrm xmlns:a="http://schemas.openxmlformats.org/drawingml/2006/main">
            <a:off x="400050" y="2152650"/>
            <a:ext cx="29527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ED5BA9B7-0A30-4C6A-80E4-4E2DD7AA99AB}"/>
              </a:ext>
            </a:extLst>
          </p:cNvPr>
          <p:cNvSpPr>
            <a:spLocks xmlns:a="http://schemas.openxmlformats.org/drawingml/2006/main" noGrp="1"/>
          </p:cNvSpPr>
          <p:nvPr/>
        </p:nvSpPr>
        <p:spPr>
          <a:xfrm xmlns:a="http://schemas.openxmlformats.org/drawingml/2006/main">
            <a:off x="476250" y="22288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OutlierInclude_p / n</a:t>
            </a:r>
          </a:p>
        </p:txBody>
      </p:sp>
      <p:sp>
        <p:nvSpPr>
          <p:cNvPr id="15" name="">
            <a:extLst xmlns:a="http://schemas.openxmlformats.org/drawingml/2006/main">
              <a:ext uri="{FF2B5EF4-FFF2-40B4-BE49-F238E27FC236}">
                <a16:creationId xmlns:a16="http://schemas.microsoft.com/office/drawing/2014/main" id="{857DFFCD-B88A-48BE-9F25-8E3018237646}"/>
              </a:ext>
            </a:extLst>
          </p:cNvPr>
          <p:cNvSpPr>
            <a:spLocks xmlns:a="http://schemas.openxmlformats.org/drawingml/2006/main" noGrp="1"/>
          </p:cNvSpPr>
          <p:nvPr/>
        </p:nvSpPr>
        <p:spPr>
          <a:xfrm xmlns:a="http://schemas.openxmlformats.org/drawingml/2006/main">
            <a:off x="3352800" y="2152650"/>
            <a:ext cx="26860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5279E222-656F-45F1-91EA-4E97CFBE98A5}"/>
              </a:ext>
            </a:extLst>
          </p:cNvPr>
          <p:cNvSpPr>
            <a:spLocks xmlns:a="http://schemas.openxmlformats.org/drawingml/2006/main" noGrp="1"/>
          </p:cNvSpPr>
          <p:nvPr/>
        </p:nvSpPr>
        <p:spPr>
          <a:xfrm xmlns:a="http://schemas.openxmlformats.org/drawingml/2006/main">
            <a:off x="3429000" y="222885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Timing of positive / negative extremes</a:t>
            </a:r>
          </a:p>
        </p:txBody>
      </p:sp>
      <p:sp>
        <p:nvSpPr>
          <p:cNvPr id="17" name="">
            <a:extLst xmlns:a="http://schemas.openxmlformats.org/drawingml/2006/main">
              <a:ext uri="{FF2B5EF4-FFF2-40B4-BE49-F238E27FC236}">
                <a16:creationId xmlns:a16="http://schemas.microsoft.com/office/drawing/2014/main" id="{9D726251-6FB6-4881-B5BE-67B0376DD7D5}"/>
              </a:ext>
            </a:extLst>
          </p:cNvPr>
          <p:cNvSpPr>
            <a:spLocks xmlns:a="http://schemas.openxmlformats.org/drawingml/2006/main" noGrp="1"/>
          </p:cNvSpPr>
          <p:nvPr/>
        </p:nvSpPr>
        <p:spPr>
          <a:xfrm xmlns:a="http://schemas.openxmlformats.org/drawingml/2006/main">
            <a:off x="400050" y="2514600"/>
            <a:ext cx="29527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861BA0F9-AD04-46DB-BB10-1F66CAB69052}"/>
              </a:ext>
            </a:extLst>
          </p:cNvPr>
          <p:cNvSpPr>
            <a:spLocks xmlns:a="http://schemas.openxmlformats.org/drawingml/2006/main" noGrp="1"/>
          </p:cNvSpPr>
          <p:nvPr/>
        </p:nvSpPr>
        <p:spPr>
          <a:xfrm xmlns:a="http://schemas.openxmlformats.org/drawingml/2006/main">
            <a:off x="476250" y="259080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CO_f1ecac</a:t>
            </a:r>
          </a:p>
        </p:txBody>
      </p:sp>
      <p:sp>
        <p:nvSpPr>
          <p:cNvPr id="19" name="">
            <a:extLst xmlns:a="http://schemas.openxmlformats.org/drawingml/2006/main">
              <a:ext uri="{FF2B5EF4-FFF2-40B4-BE49-F238E27FC236}">
                <a16:creationId xmlns:a16="http://schemas.microsoft.com/office/drawing/2014/main" id="{783A833B-963A-46D9-8D83-6F3FA8D7EB02}"/>
              </a:ext>
            </a:extLst>
          </p:cNvPr>
          <p:cNvSpPr>
            <a:spLocks xmlns:a="http://schemas.openxmlformats.org/drawingml/2006/main" noGrp="1"/>
          </p:cNvSpPr>
          <p:nvPr/>
        </p:nvSpPr>
        <p:spPr>
          <a:xfrm xmlns:a="http://schemas.openxmlformats.org/drawingml/2006/main">
            <a:off x="3352800" y="2514600"/>
            <a:ext cx="26860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3CE29939-47FB-4A14-B9B2-404D0D7E9715}"/>
              </a:ext>
            </a:extLst>
          </p:cNvPr>
          <p:cNvSpPr>
            <a:spLocks xmlns:a="http://schemas.openxmlformats.org/drawingml/2006/main" noGrp="1"/>
          </p:cNvSpPr>
          <p:nvPr/>
        </p:nvSpPr>
        <p:spPr>
          <a:xfrm xmlns:a="http://schemas.openxmlformats.org/drawingml/2006/main">
            <a:off x="3429000" y="259080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First 1/e crossing of autocorrelation</a:t>
            </a:r>
          </a:p>
        </p:txBody>
      </p:sp>
      <p:sp>
        <p:nvSpPr>
          <p:cNvPr id="21" name="">
            <a:extLst xmlns:a="http://schemas.openxmlformats.org/drawingml/2006/main">
              <a:ext uri="{FF2B5EF4-FFF2-40B4-BE49-F238E27FC236}">
                <a16:creationId xmlns:a16="http://schemas.microsoft.com/office/drawing/2014/main" id="{55478C8C-DB8B-49F8-A1A7-761A2AA9AE17}"/>
              </a:ext>
            </a:extLst>
          </p:cNvPr>
          <p:cNvSpPr>
            <a:spLocks xmlns:a="http://schemas.openxmlformats.org/drawingml/2006/main" noGrp="1"/>
          </p:cNvSpPr>
          <p:nvPr/>
        </p:nvSpPr>
        <p:spPr>
          <a:xfrm xmlns:a="http://schemas.openxmlformats.org/drawingml/2006/main">
            <a:off x="400050" y="2876550"/>
            <a:ext cx="29527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DED470B1-1C86-4D1B-8119-F4BD8141D6CA}"/>
              </a:ext>
            </a:extLst>
          </p:cNvPr>
          <p:cNvSpPr>
            <a:spLocks xmlns:a="http://schemas.openxmlformats.org/drawingml/2006/main" noGrp="1"/>
          </p:cNvSpPr>
          <p:nvPr/>
        </p:nvSpPr>
        <p:spPr>
          <a:xfrm xmlns:a="http://schemas.openxmlformats.org/drawingml/2006/main">
            <a:off x="476250" y="29527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CO_FirstMin_ac</a:t>
            </a:r>
          </a:p>
        </p:txBody>
      </p:sp>
      <p:sp>
        <p:nvSpPr>
          <p:cNvPr id="23" name="">
            <a:extLst xmlns:a="http://schemas.openxmlformats.org/drawingml/2006/main">
              <a:ext uri="{FF2B5EF4-FFF2-40B4-BE49-F238E27FC236}">
                <a16:creationId xmlns:a16="http://schemas.microsoft.com/office/drawing/2014/main" id="{B5172708-AA23-40C2-A95E-861964156116}"/>
              </a:ext>
            </a:extLst>
          </p:cNvPr>
          <p:cNvSpPr>
            <a:spLocks xmlns:a="http://schemas.openxmlformats.org/drawingml/2006/main" noGrp="1"/>
          </p:cNvSpPr>
          <p:nvPr/>
        </p:nvSpPr>
        <p:spPr>
          <a:xfrm xmlns:a="http://schemas.openxmlformats.org/drawingml/2006/main">
            <a:off x="3352800" y="2876550"/>
            <a:ext cx="26860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7942A3C6-D51F-4AEB-B856-478792570397}"/>
              </a:ext>
            </a:extLst>
          </p:cNvPr>
          <p:cNvSpPr>
            <a:spLocks xmlns:a="http://schemas.openxmlformats.org/drawingml/2006/main" noGrp="1"/>
          </p:cNvSpPr>
          <p:nvPr/>
        </p:nvSpPr>
        <p:spPr>
          <a:xfrm xmlns:a="http://schemas.openxmlformats.org/drawingml/2006/main">
            <a:off x="3429000" y="295275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First minimum of autocorrelation</a:t>
            </a:r>
          </a:p>
        </p:txBody>
      </p:sp>
      <p:sp>
        <p:nvSpPr>
          <p:cNvPr id="25" name="">
            <a:extLst xmlns:a="http://schemas.openxmlformats.org/drawingml/2006/main">
              <a:ext uri="{FF2B5EF4-FFF2-40B4-BE49-F238E27FC236}">
                <a16:creationId xmlns:a16="http://schemas.microsoft.com/office/drawing/2014/main" id="{639C4220-F433-45F7-8248-5352B319AFE0}"/>
              </a:ext>
            </a:extLst>
          </p:cNvPr>
          <p:cNvSpPr>
            <a:spLocks xmlns:a="http://schemas.openxmlformats.org/drawingml/2006/main" noGrp="1"/>
          </p:cNvSpPr>
          <p:nvPr/>
        </p:nvSpPr>
        <p:spPr>
          <a:xfrm xmlns:a="http://schemas.openxmlformats.org/drawingml/2006/main">
            <a:off x="400050" y="3238500"/>
            <a:ext cx="29527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14D723E6-9206-4E58-A996-137D817406D1}"/>
              </a:ext>
            </a:extLst>
          </p:cNvPr>
          <p:cNvSpPr>
            <a:spLocks xmlns:a="http://schemas.openxmlformats.org/drawingml/2006/main" noGrp="1"/>
          </p:cNvSpPr>
          <p:nvPr/>
        </p:nvSpPr>
        <p:spPr>
          <a:xfrm xmlns:a="http://schemas.openxmlformats.org/drawingml/2006/main">
            <a:off x="476250" y="331470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Welch area_5_1</a:t>
            </a:r>
          </a:p>
        </p:txBody>
      </p:sp>
      <p:sp>
        <p:nvSpPr>
          <p:cNvPr id="27" name="">
            <a:extLst xmlns:a="http://schemas.openxmlformats.org/drawingml/2006/main">
              <a:ext uri="{FF2B5EF4-FFF2-40B4-BE49-F238E27FC236}">
                <a16:creationId xmlns:a16="http://schemas.microsoft.com/office/drawing/2014/main" id="{465D247D-5B5E-41BB-99AC-EBACD5F6D30D}"/>
              </a:ext>
            </a:extLst>
          </p:cNvPr>
          <p:cNvSpPr>
            <a:spLocks xmlns:a="http://schemas.openxmlformats.org/drawingml/2006/main" noGrp="1"/>
          </p:cNvSpPr>
          <p:nvPr/>
        </p:nvSpPr>
        <p:spPr>
          <a:xfrm xmlns:a="http://schemas.openxmlformats.org/drawingml/2006/main">
            <a:off x="3352800" y="3238500"/>
            <a:ext cx="26860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9123916A-88F3-4C04-B84A-395032FF7983}"/>
              </a:ext>
            </a:extLst>
          </p:cNvPr>
          <p:cNvSpPr>
            <a:spLocks xmlns:a="http://schemas.openxmlformats.org/drawingml/2006/main" noGrp="1"/>
          </p:cNvSpPr>
          <p:nvPr/>
        </p:nvSpPr>
        <p:spPr>
          <a:xfrm xmlns:a="http://schemas.openxmlformats.org/drawingml/2006/main">
            <a:off x="3429000" y="331470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Power in lowest frequency fifth</a:t>
            </a:r>
          </a:p>
        </p:txBody>
      </p:sp>
      <p:sp>
        <p:nvSpPr>
          <p:cNvPr id="29" name="">
            <a:extLst xmlns:a="http://schemas.openxmlformats.org/drawingml/2006/main">
              <a:ext uri="{FF2B5EF4-FFF2-40B4-BE49-F238E27FC236}">
                <a16:creationId xmlns:a16="http://schemas.microsoft.com/office/drawing/2014/main" id="{7F392CD3-36E5-4DA3-8196-4530DB9E5F24}"/>
              </a:ext>
            </a:extLst>
          </p:cNvPr>
          <p:cNvSpPr>
            <a:spLocks xmlns:a="http://schemas.openxmlformats.org/drawingml/2006/main" noGrp="1"/>
          </p:cNvSpPr>
          <p:nvPr/>
        </p:nvSpPr>
        <p:spPr>
          <a:xfrm xmlns:a="http://schemas.openxmlformats.org/drawingml/2006/main">
            <a:off x="400050" y="3600450"/>
            <a:ext cx="29527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3C0A3F4E-424F-4C88-9C7E-B647E9E8C2FB}"/>
              </a:ext>
            </a:extLst>
          </p:cNvPr>
          <p:cNvSpPr>
            <a:spLocks xmlns:a="http://schemas.openxmlformats.org/drawingml/2006/main" noGrp="1"/>
          </p:cNvSpPr>
          <p:nvPr/>
        </p:nvSpPr>
        <p:spPr>
          <a:xfrm xmlns:a="http://schemas.openxmlformats.org/drawingml/2006/main">
            <a:off x="476250" y="3676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Welch centroid</a:t>
            </a:r>
          </a:p>
        </p:txBody>
      </p:sp>
      <p:sp>
        <p:nvSpPr>
          <p:cNvPr id="31" name="">
            <a:extLst xmlns:a="http://schemas.openxmlformats.org/drawingml/2006/main">
              <a:ext uri="{FF2B5EF4-FFF2-40B4-BE49-F238E27FC236}">
                <a16:creationId xmlns:a16="http://schemas.microsoft.com/office/drawing/2014/main" id="{0C9F12EB-9A02-4E75-960D-8999A15236D7}"/>
              </a:ext>
            </a:extLst>
          </p:cNvPr>
          <p:cNvSpPr>
            <a:spLocks xmlns:a="http://schemas.openxmlformats.org/drawingml/2006/main" noGrp="1"/>
          </p:cNvSpPr>
          <p:nvPr/>
        </p:nvSpPr>
        <p:spPr>
          <a:xfrm xmlns:a="http://schemas.openxmlformats.org/drawingml/2006/main">
            <a:off x="3352800" y="3600450"/>
            <a:ext cx="26860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B76711FE-0DEB-4CA7-9374-36D5488BF3C6}"/>
              </a:ext>
            </a:extLst>
          </p:cNvPr>
          <p:cNvSpPr>
            <a:spLocks xmlns:a="http://schemas.openxmlformats.org/drawingml/2006/main" noGrp="1"/>
          </p:cNvSpPr>
          <p:nvPr/>
        </p:nvSpPr>
        <p:spPr>
          <a:xfrm xmlns:a="http://schemas.openxmlformats.org/drawingml/2006/main">
            <a:off x="3429000" y="367665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Frequency-spectrum centroid</a:t>
            </a:r>
          </a:p>
        </p:txBody>
      </p:sp>
      <p:sp>
        <p:nvSpPr>
          <p:cNvPr id="33" name="">
            <a:extLst xmlns:a="http://schemas.openxmlformats.org/drawingml/2006/main">
              <a:ext uri="{FF2B5EF4-FFF2-40B4-BE49-F238E27FC236}">
                <a16:creationId xmlns:a16="http://schemas.microsoft.com/office/drawing/2014/main" id="{2DCF0639-AA87-47A7-8AA3-87A8D6B1E959}"/>
              </a:ext>
            </a:extLst>
          </p:cNvPr>
          <p:cNvSpPr>
            <a:spLocks xmlns:a="http://schemas.openxmlformats.org/drawingml/2006/main" noGrp="1"/>
          </p:cNvSpPr>
          <p:nvPr/>
        </p:nvSpPr>
        <p:spPr>
          <a:xfrm xmlns:a="http://schemas.openxmlformats.org/drawingml/2006/main">
            <a:off x="400050" y="3962400"/>
            <a:ext cx="29527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BB9CB73A-570B-4087-9DE6-854F343C81BC}"/>
              </a:ext>
            </a:extLst>
          </p:cNvPr>
          <p:cNvSpPr>
            <a:spLocks xmlns:a="http://schemas.openxmlformats.org/drawingml/2006/main" noGrp="1"/>
          </p:cNvSpPr>
          <p:nvPr/>
        </p:nvSpPr>
        <p:spPr>
          <a:xfrm xmlns:a="http://schemas.openxmlformats.org/drawingml/2006/main">
            <a:off x="476250" y="403860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LocalSimple_mean3_stderr</a:t>
            </a:r>
          </a:p>
        </p:txBody>
      </p:sp>
      <p:sp>
        <p:nvSpPr>
          <p:cNvPr id="35" name="">
            <a:extLst xmlns:a="http://schemas.openxmlformats.org/drawingml/2006/main">
              <a:ext uri="{FF2B5EF4-FFF2-40B4-BE49-F238E27FC236}">
                <a16:creationId xmlns:a16="http://schemas.microsoft.com/office/drawing/2014/main" id="{2427101B-68F0-42CD-AAF8-BA6F5DF8FE18}"/>
              </a:ext>
            </a:extLst>
          </p:cNvPr>
          <p:cNvSpPr>
            <a:spLocks xmlns:a="http://schemas.openxmlformats.org/drawingml/2006/main" noGrp="1"/>
          </p:cNvSpPr>
          <p:nvPr/>
        </p:nvSpPr>
        <p:spPr>
          <a:xfrm xmlns:a="http://schemas.openxmlformats.org/drawingml/2006/main">
            <a:off x="3352800" y="3962400"/>
            <a:ext cx="26860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B28DAE02-E63A-441A-8908-7FE841713E1E}"/>
              </a:ext>
            </a:extLst>
          </p:cNvPr>
          <p:cNvSpPr>
            <a:spLocks xmlns:a="http://schemas.openxmlformats.org/drawingml/2006/main" noGrp="1"/>
          </p:cNvSpPr>
          <p:nvPr/>
        </p:nvSpPr>
        <p:spPr>
          <a:xfrm xmlns:a="http://schemas.openxmlformats.org/drawingml/2006/main">
            <a:off x="3429000" y="403860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3-point mean forecast error</a:t>
            </a:r>
          </a:p>
        </p:txBody>
      </p:sp>
      <p:sp>
        <p:nvSpPr>
          <p:cNvPr id="37" name="">
            <a:extLst xmlns:a="http://schemas.openxmlformats.org/drawingml/2006/main">
              <a:ext uri="{FF2B5EF4-FFF2-40B4-BE49-F238E27FC236}">
                <a16:creationId xmlns:a16="http://schemas.microsoft.com/office/drawing/2014/main" id="{FB5D5789-19A5-42C0-8159-B8D0829DC0AC}"/>
              </a:ext>
            </a:extLst>
          </p:cNvPr>
          <p:cNvSpPr>
            <a:spLocks xmlns:a="http://schemas.openxmlformats.org/drawingml/2006/main" noGrp="1"/>
          </p:cNvSpPr>
          <p:nvPr/>
        </p:nvSpPr>
        <p:spPr>
          <a:xfrm xmlns:a="http://schemas.openxmlformats.org/drawingml/2006/main">
            <a:off x="400050" y="4324350"/>
            <a:ext cx="29527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8" name="">
            <a:extLst xmlns:a="http://schemas.openxmlformats.org/drawingml/2006/main">
              <a:ext uri="{FF2B5EF4-FFF2-40B4-BE49-F238E27FC236}">
                <a16:creationId xmlns:a16="http://schemas.microsoft.com/office/drawing/2014/main" id="{3224460A-F642-4E54-85C3-181CF18B128E}"/>
              </a:ext>
            </a:extLst>
          </p:cNvPr>
          <p:cNvSpPr>
            <a:spLocks xmlns:a="http://schemas.openxmlformats.org/drawingml/2006/main" noGrp="1"/>
          </p:cNvSpPr>
          <p:nvPr/>
        </p:nvSpPr>
        <p:spPr>
          <a:xfrm xmlns:a="http://schemas.openxmlformats.org/drawingml/2006/main">
            <a:off x="476250" y="44005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LocalSimple_mean1_tauresrat</a:t>
            </a:r>
          </a:p>
        </p:txBody>
      </p:sp>
      <p:sp>
        <p:nvSpPr>
          <p:cNvPr id="39" name="">
            <a:extLst xmlns:a="http://schemas.openxmlformats.org/drawingml/2006/main">
              <a:ext uri="{FF2B5EF4-FFF2-40B4-BE49-F238E27FC236}">
                <a16:creationId xmlns:a16="http://schemas.microsoft.com/office/drawing/2014/main" id="{535930CE-4250-4B2F-A1E1-5D78D470851A}"/>
              </a:ext>
            </a:extLst>
          </p:cNvPr>
          <p:cNvSpPr>
            <a:spLocks xmlns:a="http://schemas.openxmlformats.org/drawingml/2006/main" noGrp="1"/>
          </p:cNvSpPr>
          <p:nvPr/>
        </p:nvSpPr>
        <p:spPr>
          <a:xfrm xmlns:a="http://schemas.openxmlformats.org/drawingml/2006/main">
            <a:off x="3352800" y="4324350"/>
            <a:ext cx="26860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0" name="">
            <a:extLst xmlns:a="http://schemas.openxmlformats.org/drawingml/2006/main">
              <a:ext uri="{FF2B5EF4-FFF2-40B4-BE49-F238E27FC236}">
                <a16:creationId xmlns:a16="http://schemas.microsoft.com/office/drawing/2014/main" id="{0CBC0C54-6EC3-498F-9CD3-3A3F7D066FF9}"/>
              </a:ext>
            </a:extLst>
          </p:cNvPr>
          <p:cNvSpPr>
            <a:spLocks xmlns:a="http://schemas.openxmlformats.org/drawingml/2006/main" noGrp="1"/>
          </p:cNvSpPr>
          <p:nvPr/>
        </p:nvSpPr>
        <p:spPr>
          <a:xfrm xmlns:a="http://schemas.openxmlformats.org/drawingml/2006/main">
            <a:off x="3429000" y="440055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ACF-timescale change after differencing</a:t>
            </a:r>
          </a:p>
        </p:txBody>
      </p:sp>
      <p:sp>
        <p:nvSpPr>
          <p:cNvPr id="41" name="">
            <a:extLst xmlns:a="http://schemas.openxmlformats.org/drawingml/2006/main">
              <a:ext uri="{FF2B5EF4-FFF2-40B4-BE49-F238E27FC236}">
                <a16:creationId xmlns:a16="http://schemas.microsoft.com/office/drawing/2014/main" id="{C8319493-23CB-470A-AB0A-EA391E234424}"/>
              </a:ext>
            </a:extLst>
          </p:cNvPr>
          <p:cNvSpPr>
            <a:spLocks xmlns:a="http://schemas.openxmlformats.org/drawingml/2006/main" noGrp="1"/>
          </p:cNvSpPr>
          <p:nvPr/>
        </p:nvSpPr>
        <p:spPr>
          <a:xfrm xmlns:a="http://schemas.openxmlformats.org/drawingml/2006/main">
            <a:off x="400050" y="4686300"/>
            <a:ext cx="29527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2" name="">
            <a:extLst xmlns:a="http://schemas.openxmlformats.org/drawingml/2006/main">
              <a:ext uri="{FF2B5EF4-FFF2-40B4-BE49-F238E27FC236}">
                <a16:creationId xmlns:a16="http://schemas.microsoft.com/office/drawing/2014/main" id="{7EDDA648-A49D-40AD-A48F-0A82C272EB5D}"/>
              </a:ext>
            </a:extLst>
          </p:cNvPr>
          <p:cNvSpPr>
            <a:spLocks xmlns:a="http://schemas.openxmlformats.org/drawingml/2006/main" noGrp="1"/>
          </p:cNvSpPr>
          <p:nvPr/>
        </p:nvSpPr>
        <p:spPr>
          <a:xfrm xmlns:a="http://schemas.openxmlformats.org/drawingml/2006/main">
            <a:off x="476250" y="476250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MD_hrv_classic_pnn40</a:t>
            </a:r>
          </a:p>
        </p:txBody>
      </p:sp>
      <p:sp>
        <p:nvSpPr>
          <p:cNvPr id="43" name="">
            <a:extLst xmlns:a="http://schemas.openxmlformats.org/drawingml/2006/main">
              <a:ext uri="{FF2B5EF4-FFF2-40B4-BE49-F238E27FC236}">
                <a16:creationId xmlns:a16="http://schemas.microsoft.com/office/drawing/2014/main" id="{7C9F2BE5-B108-4BBB-A60D-D9B5C8642C3B}"/>
              </a:ext>
            </a:extLst>
          </p:cNvPr>
          <p:cNvSpPr>
            <a:spLocks xmlns:a="http://schemas.openxmlformats.org/drawingml/2006/main" noGrp="1"/>
          </p:cNvSpPr>
          <p:nvPr/>
        </p:nvSpPr>
        <p:spPr>
          <a:xfrm xmlns:a="http://schemas.openxmlformats.org/drawingml/2006/main">
            <a:off x="3352800" y="4686300"/>
            <a:ext cx="26860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44" name="">
            <a:extLst xmlns:a="http://schemas.openxmlformats.org/drawingml/2006/main">
              <a:ext uri="{FF2B5EF4-FFF2-40B4-BE49-F238E27FC236}">
                <a16:creationId xmlns:a16="http://schemas.microsoft.com/office/drawing/2014/main" id="{627B9CF9-F9BD-41C1-AAB7-A1CE3A423AAE}"/>
              </a:ext>
            </a:extLst>
          </p:cNvPr>
          <p:cNvSpPr>
            <a:spLocks xmlns:a="http://schemas.openxmlformats.org/drawingml/2006/main" noGrp="1"/>
          </p:cNvSpPr>
          <p:nvPr/>
        </p:nvSpPr>
        <p:spPr>
          <a:xfrm xmlns:a="http://schemas.openxmlformats.org/drawingml/2006/main">
            <a:off x="3429000" y="476250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Fraction of increments &gt;0.04×SD</a:t>
            </a:r>
          </a:p>
        </p:txBody>
      </p:sp>
      <p:sp>
        <p:nvSpPr>
          <p:cNvPr id="45" name="">
            <a:extLst xmlns:a="http://schemas.openxmlformats.org/drawingml/2006/main">
              <a:ext uri="{FF2B5EF4-FFF2-40B4-BE49-F238E27FC236}">
                <a16:creationId xmlns:a16="http://schemas.microsoft.com/office/drawing/2014/main" id="{064988FD-ECD6-45F9-A294-C782BCDCD5F0}"/>
              </a:ext>
            </a:extLst>
          </p:cNvPr>
          <p:cNvSpPr>
            <a:spLocks xmlns:a="http://schemas.openxmlformats.org/drawingml/2006/main" noGrp="1"/>
          </p:cNvSpPr>
          <p:nvPr/>
        </p:nvSpPr>
        <p:spPr>
          <a:xfrm xmlns:a="http://schemas.openxmlformats.org/drawingml/2006/main">
            <a:off x="400050" y="5048250"/>
            <a:ext cx="29527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6" name="">
            <a:extLst xmlns:a="http://schemas.openxmlformats.org/drawingml/2006/main">
              <a:ext uri="{FF2B5EF4-FFF2-40B4-BE49-F238E27FC236}">
                <a16:creationId xmlns:a16="http://schemas.microsoft.com/office/drawing/2014/main" id="{C4A651E3-3CBB-42EA-901F-FFE9EF4DC18C}"/>
              </a:ext>
            </a:extLst>
          </p:cNvPr>
          <p:cNvSpPr>
            <a:spLocks xmlns:a="http://schemas.openxmlformats.org/drawingml/2006/main" noGrp="1"/>
          </p:cNvSpPr>
          <p:nvPr/>
        </p:nvSpPr>
        <p:spPr>
          <a:xfrm xmlns:a="http://schemas.openxmlformats.org/drawingml/2006/main">
            <a:off x="476250" y="51244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BinaryStats_diff_longstretch0</a:t>
            </a:r>
          </a:p>
        </p:txBody>
      </p:sp>
      <p:sp>
        <p:nvSpPr>
          <p:cNvPr id="47" name="">
            <a:extLst xmlns:a="http://schemas.openxmlformats.org/drawingml/2006/main">
              <a:ext uri="{FF2B5EF4-FFF2-40B4-BE49-F238E27FC236}">
                <a16:creationId xmlns:a16="http://schemas.microsoft.com/office/drawing/2014/main" id="{F467F180-D174-4612-AB4D-0338A711CD82}"/>
              </a:ext>
            </a:extLst>
          </p:cNvPr>
          <p:cNvSpPr>
            <a:spLocks xmlns:a="http://schemas.openxmlformats.org/drawingml/2006/main" noGrp="1"/>
          </p:cNvSpPr>
          <p:nvPr/>
        </p:nvSpPr>
        <p:spPr>
          <a:xfrm xmlns:a="http://schemas.openxmlformats.org/drawingml/2006/main">
            <a:off x="3352800" y="5048250"/>
            <a:ext cx="268605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48" name="">
            <a:extLst xmlns:a="http://schemas.openxmlformats.org/drawingml/2006/main">
              <a:ext uri="{FF2B5EF4-FFF2-40B4-BE49-F238E27FC236}">
                <a16:creationId xmlns:a16="http://schemas.microsoft.com/office/drawing/2014/main" id="{C436A652-CF0F-4E10-B9DB-98FC241F76DF}"/>
              </a:ext>
            </a:extLst>
          </p:cNvPr>
          <p:cNvSpPr>
            <a:spLocks xmlns:a="http://schemas.openxmlformats.org/drawingml/2006/main" noGrp="1"/>
          </p:cNvSpPr>
          <p:nvPr/>
        </p:nvSpPr>
        <p:spPr>
          <a:xfrm xmlns:a="http://schemas.openxmlformats.org/drawingml/2006/main">
            <a:off x="3429000" y="512445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Longest run of decreasing increments</a:t>
            </a:r>
          </a:p>
        </p:txBody>
      </p:sp>
      <p:sp>
        <p:nvSpPr>
          <p:cNvPr id="49" name="">
            <a:extLst xmlns:a="http://schemas.openxmlformats.org/drawingml/2006/main">
              <a:ext uri="{FF2B5EF4-FFF2-40B4-BE49-F238E27FC236}">
                <a16:creationId xmlns:a16="http://schemas.microsoft.com/office/drawing/2014/main" id="{4CE4CAFD-A40F-4C84-A201-C9581E53242A}"/>
              </a:ext>
            </a:extLst>
          </p:cNvPr>
          <p:cNvSpPr>
            <a:spLocks xmlns:a="http://schemas.openxmlformats.org/drawingml/2006/main" noGrp="1"/>
          </p:cNvSpPr>
          <p:nvPr/>
        </p:nvSpPr>
        <p:spPr>
          <a:xfrm xmlns:a="http://schemas.openxmlformats.org/drawingml/2006/main">
            <a:off x="400050" y="5410200"/>
            <a:ext cx="29527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0" name="">
            <a:extLst xmlns:a="http://schemas.openxmlformats.org/drawingml/2006/main">
              <a:ext uri="{FF2B5EF4-FFF2-40B4-BE49-F238E27FC236}">
                <a16:creationId xmlns:a16="http://schemas.microsoft.com/office/drawing/2014/main" id="{EBB63C5D-BF19-45DC-9495-ECEBBE7AB3DF}"/>
              </a:ext>
            </a:extLst>
          </p:cNvPr>
          <p:cNvSpPr>
            <a:spLocks xmlns:a="http://schemas.openxmlformats.org/drawingml/2006/main" noGrp="1"/>
          </p:cNvSpPr>
          <p:nvPr/>
        </p:nvSpPr>
        <p:spPr>
          <a:xfrm xmlns:a="http://schemas.openxmlformats.org/drawingml/2006/main">
            <a:off x="476250" y="548640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BinaryStats_mean_longstretch1</a:t>
            </a:r>
          </a:p>
        </p:txBody>
      </p:sp>
      <p:sp>
        <p:nvSpPr>
          <p:cNvPr id="51" name="">
            <a:extLst xmlns:a="http://schemas.openxmlformats.org/drawingml/2006/main">
              <a:ext uri="{FF2B5EF4-FFF2-40B4-BE49-F238E27FC236}">
                <a16:creationId xmlns:a16="http://schemas.microsoft.com/office/drawing/2014/main" id="{B6A43FF7-E199-4C5D-8249-28B1AEF95738}"/>
              </a:ext>
            </a:extLst>
          </p:cNvPr>
          <p:cNvSpPr>
            <a:spLocks xmlns:a="http://schemas.openxmlformats.org/drawingml/2006/main" noGrp="1"/>
          </p:cNvSpPr>
          <p:nvPr/>
        </p:nvSpPr>
        <p:spPr>
          <a:xfrm xmlns:a="http://schemas.openxmlformats.org/drawingml/2006/main">
            <a:off x="3352800" y="5410200"/>
            <a:ext cx="268605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2" name="">
            <a:extLst xmlns:a="http://schemas.openxmlformats.org/drawingml/2006/main">
              <a:ext uri="{FF2B5EF4-FFF2-40B4-BE49-F238E27FC236}">
                <a16:creationId xmlns:a16="http://schemas.microsoft.com/office/drawing/2014/main" id="{36A3E083-BCEC-44A3-B67F-D9F16F88ADCA}"/>
              </a:ext>
            </a:extLst>
          </p:cNvPr>
          <p:cNvSpPr>
            <a:spLocks xmlns:a="http://schemas.openxmlformats.org/drawingml/2006/main" noGrp="1"/>
          </p:cNvSpPr>
          <p:nvPr/>
        </p:nvSpPr>
        <p:spPr>
          <a:xfrm xmlns:a="http://schemas.openxmlformats.org/drawingml/2006/main">
            <a:off x="3429000" y="5486400"/>
            <a:ext cx="2533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Longest run above series mean</a:t>
            </a:r>
          </a:p>
        </p:txBody>
      </p:sp>
      <p:sp>
        <p:nvSpPr>
          <p:cNvPr id="53" name="">
            <a:extLst xmlns:a="http://schemas.openxmlformats.org/drawingml/2006/main">
              <a:ext uri="{FF2B5EF4-FFF2-40B4-BE49-F238E27FC236}">
                <a16:creationId xmlns:a16="http://schemas.microsoft.com/office/drawing/2014/main" id="{17EB2638-CB6B-4EA1-9C4E-9527D97112EB}"/>
              </a:ext>
            </a:extLst>
          </p:cNvPr>
          <p:cNvSpPr>
            <a:spLocks xmlns:a="http://schemas.openxmlformats.org/drawingml/2006/main" noGrp="1"/>
          </p:cNvSpPr>
          <p:nvPr/>
        </p:nvSpPr>
        <p:spPr>
          <a:xfrm xmlns:a="http://schemas.openxmlformats.org/drawingml/2006/main">
            <a:off x="6153150" y="1428750"/>
            <a:ext cx="3009900" cy="36195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54" name="">
            <a:extLst xmlns:a="http://schemas.openxmlformats.org/drawingml/2006/main">
              <a:ext uri="{FF2B5EF4-FFF2-40B4-BE49-F238E27FC236}">
                <a16:creationId xmlns:a16="http://schemas.microsoft.com/office/drawing/2014/main" id="{46E5A97E-0781-4CCE-96DB-3F0B6EA74B7C}"/>
              </a:ext>
            </a:extLst>
          </p:cNvPr>
          <p:cNvSpPr>
            <a:spLocks xmlns:a="http://schemas.openxmlformats.org/drawingml/2006/main" noGrp="1"/>
          </p:cNvSpPr>
          <p:nvPr/>
        </p:nvSpPr>
        <p:spPr>
          <a:xfrm xmlns:a="http://schemas.openxmlformats.org/drawingml/2006/main">
            <a:off x="6229350" y="1514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Descriptor</a:t>
            </a:r>
          </a:p>
        </p:txBody>
      </p:sp>
      <p:sp>
        <p:nvSpPr>
          <p:cNvPr id="55" name="">
            <a:extLst xmlns:a="http://schemas.openxmlformats.org/drawingml/2006/main">
              <a:ext uri="{FF2B5EF4-FFF2-40B4-BE49-F238E27FC236}">
                <a16:creationId xmlns:a16="http://schemas.microsoft.com/office/drawing/2014/main" id="{C2676555-2D2E-43BF-837C-72A6D8FAAD09}"/>
              </a:ext>
            </a:extLst>
          </p:cNvPr>
          <p:cNvSpPr>
            <a:spLocks xmlns:a="http://schemas.openxmlformats.org/drawingml/2006/main" noGrp="1"/>
          </p:cNvSpPr>
          <p:nvPr/>
        </p:nvSpPr>
        <p:spPr>
          <a:xfrm xmlns:a="http://schemas.openxmlformats.org/drawingml/2006/main">
            <a:off x="9163050" y="1428750"/>
            <a:ext cx="2362200" cy="36195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56" name="">
            <a:extLst xmlns:a="http://schemas.openxmlformats.org/drawingml/2006/main">
              <a:ext uri="{FF2B5EF4-FFF2-40B4-BE49-F238E27FC236}">
                <a16:creationId xmlns:a16="http://schemas.microsoft.com/office/drawing/2014/main" id="{8C482561-BCD3-4FB0-8CC0-1D7EBF194327}"/>
              </a:ext>
            </a:extLst>
          </p:cNvPr>
          <p:cNvSpPr>
            <a:spLocks xmlns:a="http://schemas.openxmlformats.org/drawingml/2006/main" noGrp="1"/>
          </p:cNvSpPr>
          <p:nvPr/>
        </p:nvSpPr>
        <p:spPr>
          <a:xfrm xmlns:a="http://schemas.openxmlformats.org/drawingml/2006/main">
            <a:off x="9239250" y="151447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FFFF"/>
                </a:solidFill>
                <a:latin typeface="Arial"/>
                <a:ea typeface="Arial"/>
                <a:cs typeface="Arial"/>
              </a:defRPr>
            </a:pPr>
            <a:r>
              <a:rPr sz="1050" b="1" i="0">
                <a:solidFill>
                  <a:srgbClr val="FFFFFF"/>
                </a:solidFill>
                <a:latin typeface="Arial"/>
                <a:ea typeface="Arial"/>
                <a:cs typeface="Arial"/>
              </a:rPr>
              <a:t>Meaning</a:t>
            </a:r>
          </a:p>
        </p:txBody>
      </p:sp>
      <p:sp>
        <p:nvSpPr>
          <p:cNvPr id="57" name="">
            <a:extLst xmlns:a="http://schemas.openxmlformats.org/drawingml/2006/main">
              <a:ext uri="{FF2B5EF4-FFF2-40B4-BE49-F238E27FC236}">
                <a16:creationId xmlns:a16="http://schemas.microsoft.com/office/drawing/2014/main" id="{C04C87E5-953B-4390-8FDF-E6482B503750}"/>
              </a:ext>
            </a:extLst>
          </p:cNvPr>
          <p:cNvSpPr>
            <a:spLocks xmlns:a="http://schemas.openxmlformats.org/drawingml/2006/main" noGrp="1"/>
          </p:cNvSpPr>
          <p:nvPr/>
        </p:nvSpPr>
        <p:spPr>
          <a:xfrm xmlns:a="http://schemas.openxmlformats.org/drawingml/2006/main">
            <a:off x="6153150" y="1790700"/>
            <a:ext cx="30099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58" name="">
            <a:extLst xmlns:a="http://schemas.openxmlformats.org/drawingml/2006/main">
              <a:ext uri="{FF2B5EF4-FFF2-40B4-BE49-F238E27FC236}">
                <a16:creationId xmlns:a16="http://schemas.microsoft.com/office/drawing/2014/main" id="{0D8BF5EC-1854-4838-BB6D-4204352EEAB7}"/>
              </a:ext>
            </a:extLst>
          </p:cNvPr>
          <p:cNvSpPr>
            <a:spLocks xmlns:a="http://schemas.openxmlformats.org/drawingml/2006/main" noGrp="1"/>
          </p:cNvSpPr>
          <p:nvPr/>
        </p:nvSpPr>
        <p:spPr>
          <a:xfrm xmlns:a="http://schemas.openxmlformats.org/drawingml/2006/main">
            <a:off x="6229350" y="1866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MotifThree_quantile_hh</a:t>
            </a:r>
          </a:p>
        </p:txBody>
      </p:sp>
      <p:sp>
        <p:nvSpPr>
          <p:cNvPr id="59" name="">
            <a:extLst xmlns:a="http://schemas.openxmlformats.org/drawingml/2006/main">
              <a:ext uri="{FF2B5EF4-FFF2-40B4-BE49-F238E27FC236}">
                <a16:creationId xmlns:a16="http://schemas.microsoft.com/office/drawing/2014/main" id="{D7A6BB83-91FA-47C4-A7C5-7365AD3A585A}"/>
              </a:ext>
            </a:extLst>
          </p:cNvPr>
          <p:cNvSpPr>
            <a:spLocks xmlns:a="http://schemas.openxmlformats.org/drawingml/2006/main" noGrp="1"/>
          </p:cNvSpPr>
          <p:nvPr/>
        </p:nvSpPr>
        <p:spPr>
          <a:xfrm xmlns:a="http://schemas.openxmlformats.org/drawingml/2006/main">
            <a:off x="9163050" y="1790700"/>
            <a:ext cx="23622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60" name="">
            <a:extLst xmlns:a="http://schemas.openxmlformats.org/drawingml/2006/main">
              <a:ext uri="{FF2B5EF4-FFF2-40B4-BE49-F238E27FC236}">
                <a16:creationId xmlns:a16="http://schemas.microsoft.com/office/drawing/2014/main" id="{749D65F6-8E0E-44BC-8780-64B1C611108A}"/>
              </a:ext>
            </a:extLst>
          </p:cNvPr>
          <p:cNvSpPr>
            <a:spLocks xmlns:a="http://schemas.openxmlformats.org/drawingml/2006/main" noGrp="1"/>
          </p:cNvSpPr>
          <p:nvPr/>
        </p:nvSpPr>
        <p:spPr>
          <a:xfrm xmlns:a="http://schemas.openxmlformats.org/drawingml/2006/main">
            <a:off x="9239250" y="18669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Entropy of successive symbols</a:t>
            </a:r>
          </a:p>
        </p:txBody>
      </p:sp>
      <p:sp>
        <p:nvSpPr>
          <p:cNvPr id="61" name="">
            <a:extLst xmlns:a="http://schemas.openxmlformats.org/drawingml/2006/main">
              <a:ext uri="{FF2B5EF4-FFF2-40B4-BE49-F238E27FC236}">
                <a16:creationId xmlns:a16="http://schemas.microsoft.com/office/drawing/2014/main" id="{02CC660D-C502-4449-9B1F-61ACEA77F13B}"/>
              </a:ext>
            </a:extLst>
          </p:cNvPr>
          <p:cNvSpPr>
            <a:spLocks xmlns:a="http://schemas.openxmlformats.org/drawingml/2006/main" noGrp="1"/>
          </p:cNvSpPr>
          <p:nvPr/>
        </p:nvSpPr>
        <p:spPr>
          <a:xfrm xmlns:a="http://schemas.openxmlformats.org/drawingml/2006/main">
            <a:off x="6153150" y="2152650"/>
            <a:ext cx="30099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62" name="">
            <a:extLst xmlns:a="http://schemas.openxmlformats.org/drawingml/2006/main">
              <a:ext uri="{FF2B5EF4-FFF2-40B4-BE49-F238E27FC236}">
                <a16:creationId xmlns:a16="http://schemas.microsoft.com/office/drawing/2014/main" id="{4AC5FAE2-B03B-4261-9CCB-1A40614935B6}"/>
              </a:ext>
            </a:extLst>
          </p:cNvPr>
          <p:cNvSpPr>
            <a:spLocks xmlns:a="http://schemas.openxmlformats.org/drawingml/2006/main" noGrp="1"/>
          </p:cNvSpPr>
          <p:nvPr/>
        </p:nvSpPr>
        <p:spPr>
          <a:xfrm xmlns:a="http://schemas.openxmlformats.org/drawingml/2006/main">
            <a:off x="6229350" y="22288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HistogramAMI_even_2_5</a:t>
            </a:r>
          </a:p>
        </p:txBody>
      </p:sp>
      <p:sp>
        <p:nvSpPr>
          <p:cNvPr id="63" name="">
            <a:extLst xmlns:a="http://schemas.openxmlformats.org/drawingml/2006/main">
              <a:ext uri="{FF2B5EF4-FFF2-40B4-BE49-F238E27FC236}">
                <a16:creationId xmlns:a16="http://schemas.microsoft.com/office/drawing/2014/main" id="{53A44FB8-02BD-48FF-91E2-62AE18AFB321}"/>
              </a:ext>
            </a:extLst>
          </p:cNvPr>
          <p:cNvSpPr>
            <a:spLocks xmlns:a="http://schemas.openxmlformats.org/drawingml/2006/main" noGrp="1"/>
          </p:cNvSpPr>
          <p:nvPr/>
        </p:nvSpPr>
        <p:spPr>
          <a:xfrm xmlns:a="http://schemas.openxmlformats.org/drawingml/2006/main">
            <a:off x="9163050" y="2152650"/>
            <a:ext cx="23622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64" name="">
            <a:extLst xmlns:a="http://schemas.openxmlformats.org/drawingml/2006/main">
              <a:ext uri="{FF2B5EF4-FFF2-40B4-BE49-F238E27FC236}">
                <a16:creationId xmlns:a16="http://schemas.microsoft.com/office/drawing/2014/main" id="{843DAEB3-71E4-45E2-BFC1-486C8E415FB5}"/>
              </a:ext>
            </a:extLst>
          </p:cNvPr>
          <p:cNvSpPr>
            <a:spLocks xmlns:a="http://schemas.openxmlformats.org/drawingml/2006/main" noGrp="1"/>
          </p:cNvSpPr>
          <p:nvPr/>
        </p:nvSpPr>
        <p:spPr>
          <a:xfrm xmlns:a="http://schemas.openxmlformats.org/drawingml/2006/main">
            <a:off x="9239250" y="22288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Lag-2 histogram mutual information</a:t>
            </a:r>
          </a:p>
        </p:txBody>
      </p:sp>
      <p:sp>
        <p:nvSpPr>
          <p:cNvPr id="65" name="">
            <a:extLst xmlns:a="http://schemas.openxmlformats.org/drawingml/2006/main">
              <a:ext uri="{FF2B5EF4-FFF2-40B4-BE49-F238E27FC236}">
                <a16:creationId xmlns:a16="http://schemas.microsoft.com/office/drawing/2014/main" id="{C6CD174B-3A7B-41CC-A8A8-0C1FE3A1AC36}"/>
              </a:ext>
            </a:extLst>
          </p:cNvPr>
          <p:cNvSpPr>
            <a:spLocks xmlns:a="http://schemas.openxmlformats.org/drawingml/2006/main" noGrp="1"/>
          </p:cNvSpPr>
          <p:nvPr/>
        </p:nvSpPr>
        <p:spPr>
          <a:xfrm xmlns:a="http://schemas.openxmlformats.org/drawingml/2006/main">
            <a:off x="6153150" y="2514600"/>
            <a:ext cx="30099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66" name="">
            <a:extLst xmlns:a="http://schemas.openxmlformats.org/drawingml/2006/main">
              <a:ext uri="{FF2B5EF4-FFF2-40B4-BE49-F238E27FC236}">
                <a16:creationId xmlns:a16="http://schemas.microsoft.com/office/drawing/2014/main" id="{451672FC-74E4-41E0-8B1C-41EFF70A95B9}"/>
              </a:ext>
            </a:extLst>
          </p:cNvPr>
          <p:cNvSpPr>
            <a:spLocks xmlns:a="http://schemas.openxmlformats.org/drawingml/2006/main" noGrp="1"/>
          </p:cNvSpPr>
          <p:nvPr/>
        </p:nvSpPr>
        <p:spPr>
          <a:xfrm xmlns:a="http://schemas.openxmlformats.org/drawingml/2006/main">
            <a:off x="6229350" y="25908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CO_trev_1_num</a:t>
            </a:r>
          </a:p>
        </p:txBody>
      </p:sp>
      <p:sp>
        <p:nvSpPr>
          <p:cNvPr id="67" name="">
            <a:extLst xmlns:a="http://schemas.openxmlformats.org/drawingml/2006/main">
              <a:ext uri="{FF2B5EF4-FFF2-40B4-BE49-F238E27FC236}">
                <a16:creationId xmlns:a16="http://schemas.microsoft.com/office/drawing/2014/main" id="{0436025A-AEE9-488C-8985-BAA289B8BFAB}"/>
              </a:ext>
            </a:extLst>
          </p:cNvPr>
          <p:cNvSpPr>
            <a:spLocks xmlns:a="http://schemas.openxmlformats.org/drawingml/2006/main" noGrp="1"/>
          </p:cNvSpPr>
          <p:nvPr/>
        </p:nvSpPr>
        <p:spPr>
          <a:xfrm xmlns:a="http://schemas.openxmlformats.org/drawingml/2006/main">
            <a:off x="9163050" y="2514600"/>
            <a:ext cx="23622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68" name="">
            <a:extLst xmlns:a="http://schemas.openxmlformats.org/drawingml/2006/main">
              <a:ext uri="{FF2B5EF4-FFF2-40B4-BE49-F238E27FC236}">
                <a16:creationId xmlns:a16="http://schemas.microsoft.com/office/drawing/2014/main" id="{4F4870C0-C6B3-4763-8AE2-D95AF2B0E86C}"/>
              </a:ext>
            </a:extLst>
          </p:cNvPr>
          <p:cNvSpPr>
            <a:spLocks xmlns:a="http://schemas.openxmlformats.org/drawingml/2006/main" noGrp="1"/>
          </p:cNvSpPr>
          <p:nvPr/>
        </p:nvSpPr>
        <p:spPr>
          <a:xfrm xmlns:a="http://schemas.openxmlformats.org/drawingml/2006/main">
            <a:off x="9239250" y="25908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Time-reversibility statistic</a:t>
            </a:r>
          </a:p>
        </p:txBody>
      </p:sp>
      <p:sp>
        <p:nvSpPr>
          <p:cNvPr id="69" name="">
            <a:extLst xmlns:a="http://schemas.openxmlformats.org/drawingml/2006/main">
              <a:ext uri="{FF2B5EF4-FFF2-40B4-BE49-F238E27FC236}">
                <a16:creationId xmlns:a16="http://schemas.microsoft.com/office/drawing/2014/main" id="{26BA2B50-8B52-4875-B4C3-57B4B4C0BB48}"/>
              </a:ext>
            </a:extLst>
          </p:cNvPr>
          <p:cNvSpPr>
            <a:spLocks xmlns:a="http://schemas.openxmlformats.org/drawingml/2006/main" noGrp="1"/>
          </p:cNvSpPr>
          <p:nvPr/>
        </p:nvSpPr>
        <p:spPr>
          <a:xfrm xmlns:a="http://schemas.openxmlformats.org/drawingml/2006/main">
            <a:off x="6153150" y="2876550"/>
            <a:ext cx="30099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70" name="">
            <a:extLst xmlns:a="http://schemas.openxmlformats.org/drawingml/2006/main">
              <a:ext uri="{FF2B5EF4-FFF2-40B4-BE49-F238E27FC236}">
                <a16:creationId xmlns:a16="http://schemas.microsoft.com/office/drawing/2014/main" id="{F2407284-6419-4DE2-B0DB-568A6FAFD010}"/>
              </a:ext>
            </a:extLst>
          </p:cNvPr>
          <p:cNvSpPr>
            <a:spLocks xmlns:a="http://schemas.openxmlformats.org/drawingml/2006/main" noGrp="1"/>
          </p:cNvSpPr>
          <p:nvPr/>
        </p:nvSpPr>
        <p:spPr>
          <a:xfrm xmlns:a="http://schemas.openxmlformats.org/drawingml/2006/main">
            <a:off x="6229350" y="2952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AutoMutualInfoStats_fmmi</a:t>
            </a:r>
          </a:p>
        </p:txBody>
      </p:sp>
      <p:sp>
        <p:nvSpPr>
          <p:cNvPr id="71" name="">
            <a:extLst xmlns:a="http://schemas.openxmlformats.org/drawingml/2006/main">
              <a:ext uri="{FF2B5EF4-FFF2-40B4-BE49-F238E27FC236}">
                <a16:creationId xmlns:a16="http://schemas.microsoft.com/office/drawing/2014/main" id="{E6A193B4-793B-44DA-BB8B-DB5F3DC81EFB}"/>
              </a:ext>
            </a:extLst>
          </p:cNvPr>
          <p:cNvSpPr>
            <a:spLocks xmlns:a="http://schemas.openxmlformats.org/drawingml/2006/main" noGrp="1"/>
          </p:cNvSpPr>
          <p:nvPr/>
        </p:nvSpPr>
        <p:spPr>
          <a:xfrm xmlns:a="http://schemas.openxmlformats.org/drawingml/2006/main">
            <a:off x="9163050" y="2876550"/>
            <a:ext cx="23622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72" name="">
            <a:extLst xmlns:a="http://schemas.openxmlformats.org/drawingml/2006/main">
              <a:ext uri="{FF2B5EF4-FFF2-40B4-BE49-F238E27FC236}">
                <a16:creationId xmlns:a16="http://schemas.microsoft.com/office/drawing/2014/main" id="{6475B1AE-F9F7-456E-A47D-2243E3077555}"/>
              </a:ext>
            </a:extLst>
          </p:cNvPr>
          <p:cNvSpPr>
            <a:spLocks xmlns:a="http://schemas.openxmlformats.org/drawingml/2006/main" noGrp="1"/>
          </p:cNvSpPr>
          <p:nvPr/>
        </p:nvSpPr>
        <p:spPr>
          <a:xfrm xmlns:a="http://schemas.openxmlformats.org/drawingml/2006/main">
            <a:off x="9239250" y="29527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15"/>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First minimum of automutual information</a:t>
            </a:r>
          </a:p>
        </p:txBody>
      </p:sp>
      <p:sp>
        <p:nvSpPr>
          <p:cNvPr id="73" name="">
            <a:extLst xmlns:a="http://schemas.openxmlformats.org/drawingml/2006/main">
              <a:ext uri="{FF2B5EF4-FFF2-40B4-BE49-F238E27FC236}">
                <a16:creationId xmlns:a16="http://schemas.microsoft.com/office/drawing/2014/main" id="{F417B0F6-754A-4BCF-9CFD-7D6441B4FAD3}"/>
              </a:ext>
            </a:extLst>
          </p:cNvPr>
          <p:cNvSpPr>
            <a:spLocks xmlns:a="http://schemas.openxmlformats.org/drawingml/2006/main" noGrp="1"/>
          </p:cNvSpPr>
          <p:nvPr/>
        </p:nvSpPr>
        <p:spPr>
          <a:xfrm xmlns:a="http://schemas.openxmlformats.org/drawingml/2006/main">
            <a:off x="6153150" y="3238500"/>
            <a:ext cx="30099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74" name="">
            <a:extLst xmlns:a="http://schemas.openxmlformats.org/drawingml/2006/main">
              <a:ext uri="{FF2B5EF4-FFF2-40B4-BE49-F238E27FC236}">
                <a16:creationId xmlns:a16="http://schemas.microsoft.com/office/drawing/2014/main" id="{3E4C4D25-752D-498D-9821-4A603D06FE0E}"/>
              </a:ext>
            </a:extLst>
          </p:cNvPr>
          <p:cNvSpPr>
            <a:spLocks xmlns:a="http://schemas.openxmlformats.org/drawingml/2006/main" noGrp="1"/>
          </p:cNvSpPr>
          <p:nvPr/>
        </p:nvSpPr>
        <p:spPr>
          <a:xfrm xmlns:a="http://schemas.openxmlformats.org/drawingml/2006/main">
            <a:off x="6229350" y="33147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TransitionMatrix_3ac</a:t>
            </a:r>
          </a:p>
        </p:txBody>
      </p:sp>
      <p:sp>
        <p:nvSpPr>
          <p:cNvPr id="75" name="">
            <a:extLst xmlns:a="http://schemas.openxmlformats.org/drawingml/2006/main">
              <a:ext uri="{FF2B5EF4-FFF2-40B4-BE49-F238E27FC236}">
                <a16:creationId xmlns:a16="http://schemas.microsoft.com/office/drawing/2014/main" id="{3506E7A7-CE5D-42EB-B927-C9515F15B81C}"/>
              </a:ext>
            </a:extLst>
          </p:cNvPr>
          <p:cNvSpPr>
            <a:spLocks xmlns:a="http://schemas.openxmlformats.org/drawingml/2006/main" noGrp="1"/>
          </p:cNvSpPr>
          <p:nvPr/>
        </p:nvSpPr>
        <p:spPr>
          <a:xfrm xmlns:a="http://schemas.openxmlformats.org/drawingml/2006/main">
            <a:off x="9163050" y="3238500"/>
            <a:ext cx="23622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76" name="">
            <a:extLst xmlns:a="http://schemas.openxmlformats.org/drawingml/2006/main">
              <a:ext uri="{FF2B5EF4-FFF2-40B4-BE49-F238E27FC236}">
                <a16:creationId xmlns:a16="http://schemas.microsoft.com/office/drawing/2014/main" id="{E39A03E5-0B9F-4C98-AD49-D2E4521B6C13}"/>
              </a:ext>
            </a:extLst>
          </p:cNvPr>
          <p:cNvSpPr>
            <a:spLocks xmlns:a="http://schemas.openxmlformats.org/drawingml/2006/main" noGrp="1"/>
          </p:cNvSpPr>
          <p:nvPr/>
        </p:nvSpPr>
        <p:spPr>
          <a:xfrm xmlns:a="http://schemas.openxmlformats.org/drawingml/2006/main">
            <a:off x="9239250" y="33147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79"/>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Variance structure of symbolic transitions</a:t>
            </a:r>
          </a:p>
        </p:txBody>
      </p:sp>
      <p:sp>
        <p:nvSpPr>
          <p:cNvPr id="77" name="">
            <a:extLst xmlns:a="http://schemas.openxmlformats.org/drawingml/2006/main">
              <a:ext uri="{FF2B5EF4-FFF2-40B4-BE49-F238E27FC236}">
                <a16:creationId xmlns:a16="http://schemas.microsoft.com/office/drawing/2014/main" id="{0152E86E-6AFA-4FBA-8F15-DA68BA9F05CA}"/>
              </a:ext>
            </a:extLst>
          </p:cNvPr>
          <p:cNvSpPr>
            <a:spLocks xmlns:a="http://schemas.openxmlformats.org/drawingml/2006/main" noGrp="1"/>
          </p:cNvSpPr>
          <p:nvPr/>
        </p:nvSpPr>
        <p:spPr>
          <a:xfrm xmlns:a="http://schemas.openxmlformats.org/drawingml/2006/main">
            <a:off x="6153150" y="3600450"/>
            <a:ext cx="30099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78" name="">
            <a:extLst xmlns:a="http://schemas.openxmlformats.org/drawingml/2006/main">
              <a:ext uri="{FF2B5EF4-FFF2-40B4-BE49-F238E27FC236}">
                <a16:creationId xmlns:a16="http://schemas.microsoft.com/office/drawing/2014/main" id="{99F3EFB1-EB3E-4937-A7B5-17F86FACC6C5}"/>
              </a:ext>
            </a:extLst>
          </p:cNvPr>
          <p:cNvSpPr>
            <a:spLocks xmlns:a="http://schemas.openxmlformats.org/drawingml/2006/main" noGrp="1"/>
          </p:cNvSpPr>
          <p:nvPr/>
        </p:nvSpPr>
        <p:spPr>
          <a:xfrm xmlns:a="http://schemas.openxmlformats.org/drawingml/2006/main">
            <a:off x="6229350" y="36766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PeriodicityWang</a:t>
            </a:r>
          </a:p>
        </p:txBody>
      </p:sp>
      <p:sp>
        <p:nvSpPr>
          <p:cNvPr id="79" name="">
            <a:extLst xmlns:a="http://schemas.openxmlformats.org/drawingml/2006/main">
              <a:ext uri="{FF2B5EF4-FFF2-40B4-BE49-F238E27FC236}">
                <a16:creationId xmlns:a16="http://schemas.microsoft.com/office/drawing/2014/main" id="{958D4ECF-F30B-4F6D-A3BD-9D5E561DD42A}"/>
              </a:ext>
            </a:extLst>
          </p:cNvPr>
          <p:cNvSpPr>
            <a:spLocks xmlns:a="http://schemas.openxmlformats.org/drawingml/2006/main" noGrp="1"/>
          </p:cNvSpPr>
          <p:nvPr/>
        </p:nvSpPr>
        <p:spPr>
          <a:xfrm xmlns:a="http://schemas.openxmlformats.org/drawingml/2006/main">
            <a:off x="9163050" y="3600450"/>
            <a:ext cx="23622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80" name="">
            <a:extLst xmlns:a="http://schemas.openxmlformats.org/drawingml/2006/main">
              <a:ext uri="{FF2B5EF4-FFF2-40B4-BE49-F238E27FC236}">
                <a16:creationId xmlns:a16="http://schemas.microsoft.com/office/drawing/2014/main" id="{97D7ECB2-06DC-404A-AFEC-3C6B73E8B49B}"/>
              </a:ext>
            </a:extLst>
          </p:cNvPr>
          <p:cNvSpPr>
            <a:spLocks xmlns:a="http://schemas.openxmlformats.org/drawingml/2006/main" noGrp="1"/>
          </p:cNvSpPr>
          <p:nvPr/>
        </p:nvSpPr>
        <p:spPr>
          <a:xfrm xmlns:a="http://schemas.openxmlformats.org/drawingml/2006/main">
            <a:off x="9239250" y="36766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Periodicity metric</a:t>
            </a:r>
          </a:p>
        </p:txBody>
      </p:sp>
      <p:sp>
        <p:nvSpPr>
          <p:cNvPr id="81" name="">
            <a:extLst xmlns:a="http://schemas.openxmlformats.org/drawingml/2006/main">
              <a:ext uri="{FF2B5EF4-FFF2-40B4-BE49-F238E27FC236}">
                <a16:creationId xmlns:a16="http://schemas.microsoft.com/office/drawing/2014/main" id="{1523725E-9266-4E66-A802-3E2338F273EA}"/>
              </a:ext>
            </a:extLst>
          </p:cNvPr>
          <p:cNvSpPr>
            <a:spLocks xmlns:a="http://schemas.openxmlformats.org/drawingml/2006/main" noGrp="1"/>
          </p:cNvSpPr>
          <p:nvPr/>
        </p:nvSpPr>
        <p:spPr>
          <a:xfrm xmlns:a="http://schemas.openxmlformats.org/drawingml/2006/main">
            <a:off x="6153150" y="3962400"/>
            <a:ext cx="30099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82" name="">
            <a:extLst xmlns:a="http://schemas.openxmlformats.org/drawingml/2006/main">
              <a:ext uri="{FF2B5EF4-FFF2-40B4-BE49-F238E27FC236}">
                <a16:creationId xmlns:a16="http://schemas.microsoft.com/office/drawing/2014/main" id="{5DDE3191-745D-4123-B78F-338491290E23}"/>
              </a:ext>
            </a:extLst>
          </p:cNvPr>
          <p:cNvSpPr>
            <a:spLocks xmlns:a="http://schemas.openxmlformats.org/drawingml/2006/main" noGrp="1"/>
          </p:cNvSpPr>
          <p:nvPr/>
        </p:nvSpPr>
        <p:spPr>
          <a:xfrm xmlns:a="http://schemas.openxmlformats.org/drawingml/2006/main">
            <a:off x="62293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Embed2_Dist_tau</a:t>
            </a:r>
          </a:p>
        </p:txBody>
      </p:sp>
      <p:sp>
        <p:nvSpPr>
          <p:cNvPr id="83" name="">
            <a:extLst xmlns:a="http://schemas.openxmlformats.org/drawingml/2006/main">
              <a:ext uri="{FF2B5EF4-FFF2-40B4-BE49-F238E27FC236}">
                <a16:creationId xmlns:a16="http://schemas.microsoft.com/office/drawing/2014/main" id="{E7B1AAED-3E32-48E8-8D8E-4C0D1B60B645}"/>
              </a:ext>
            </a:extLst>
          </p:cNvPr>
          <p:cNvSpPr>
            <a:spLocks xmlns:a="http://schemas.openxmlformats.org/drawingml/2006/main" noGrp="1"/>
          </p:cNvSpPr>
          <p:nvPr/>
        </p:nvSpPr>
        <p:spPr>
          <a:xfrm xmlns:a="http://schemas.openxmlformats.org/drawingml/2006/main">
            <a:off x="9163050" y="3962400"/>
            <a:ext cx="23622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84" name="">
            <a:extLst xmlns:a="http://schemas.openxmlformats.org/drawingml/2006/main">
              <a:ext uri="{FF2B5EF4-FFF2-40B4-BE49-F238E27FC236}">
                <a16:creationId xmlns:a16="http://schemas.microsoft.com/office/drawing/2014/main" id="{E3598758-93E6-4362-AF77-A06C8A4068AC}"/>
              </a:ext>
            </a:extLst>
          </p:cNvPr>
          <p:cNvSpPr>
            <a:spLocks xmlns:a="http://schemas.openxmlformats.org/drawingml/2006/main" noGrp="1"/>
          </p:cNvSpPr>
          <p:nvPr/>
        </p:nvSpPr>
        <p:spPr>
          <a:xfrm xmlns:a="http://schemas.openxmlformats.org/drawingml/2006/main">
            <a:off x="9239250" y="40386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62"/>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Exponential fit of embedding distances</a:t>
            </a:r>
          </a:p>
        </p:txBody>
      </p:sp>
      <p:sp>
        <p:nvSpPr>
          <p:cNvPr id="85" name="">
            <a:extLst xmlns:a="http://schemas.openxmlformats.org/drawingml/2006/main">
              <a:ext uri="{FF2B5EF4-FFF2-40B4-BE49-F238E27FC236}">
                <a16:creationId xmlns:a16="http://schemas.microsoft.com/office/drawing/2014/main" id="{108F2201-C903-4ED6-81C3-D64E42EEB464}"/>
              </a:ext>
            </a:extLst>
          </p:cNvPr>
          <p:cNvSpPr>
            <a:spLocks xmlns:a="http://schemas.openxmlformats.org/drawingml/2006/main" noGrp="1"/>
          </p:cNvSpPr>
          <p:nvPr/>
        </p:nvSpPr>
        <p:spPr>
          <a:xfrm xmlns:a="http://schemas.openxmlformats.org/drawingml/2006/main">
            <a:off x="6153150" y="4324350"/>
            <a:ext cx="30099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86" name="">
            <a:extLst xmlns:a="http://schemas.openxmlformats.org/drawingml/2006/main">
              <a:ext uri="{FF2B5EF4-FFF2-40B4-BE49-F238E27FC236}">
                <a16:creationId xmlns:a16="http://schemas.microsoft.com/office/drawing/2014/main" id="{6C382D50-52D7-4EEA-99C3-2F81E7062EA8}"/>
              </a:ext>
            </a:extLst>
          </p:cNvPr>
          <p:cNvSpPr>
            <a:spLocks xmlns:a="http://schemas.openxmlformats.org/drawingml/2006/main" noGrp="1"/>
          </p:cNvSpPr>
          <p:nvPr/>
        </p:nvSpPr>
        <p:spPr>
          <a:xfrm xmlns:a="http://schemas.openxmlformats.org/drawingml/2006/main">
            <a:off x="6229350" y="44005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FluctAnal_rsrangefit</a:t>
            </a:r>
          </a:p>
        </p:txBody>
      </p:sp>
      <p:sp>
        <p:nvSpPr>
          <p:cNvPr id="87" name="">
            <a:extLst xmlns:a="http://schemas.openxmlformats.org/drawingml/2006/main">
              <a:ext uri="{FF2B5EF4-FFF2-40B4-BE49-F238E27FC236}">
                <a16:creationId xmlns:a16="http://schemas.microsoft.com/office/drawing/2014/main" id="{8594DABC-B7CD-4D3A-9E26-C59EED0FF2A2}"/>
              </a:ext>
            </a:extLst>
          </p:cNvPr>
          <p:cNvSpPr>
            <a:spLocks xmlns:a="http://schemas.openxmlformats.org/drawingml/2006/main" noGrp="1"/>
          </p:cNvSpPr>
          <p:nvPr/>
        </p:nvSpPr>
        <p:spPr>
          <a:xfrm xmlns:a="http://schemas.openxmlformats.org/drawingml/2006/main">
            <a:off x="9163050" y="4324350"/>
            <a:ext cx="23622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88" name="">
            <a:extLst xmlns:a="http://schemas.openxmlformats.org/drawingml/2006/main">
              <a:ext uri="{FF2B5EF4-FFF2-40B4-BE49-F238E27FC236}">
                <a16:creationId xmlns:a16="http://schemas.microsoft.com/office/drawing/2014/main" id="{F1CF8665-A2C8-44D6-A9A5-EB01DDDE25BB}"/>
              </a:ext>
            </a:extLst>
          </p:cNvPr>
          <p:cNvSpPr>
            <a:spLocks xmlns:a="http://schemas.openxmlformats.org/drawingml/2006/main" noGrp="1"/>
          </p:cNvSpPr>
          <p:nvPr/>
        </p:nvSpPr>
        <p:spPr>
          <a:xfrm xmlns:a="http://schemas.openxmlformats.org/drawingml/2006/main">
            <a:off x="9239250" y="44005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Rescaled-range scaling transition</a:t>
            </a:r>
          </a:p>
        </p:txBody>
      </p:sp>
      <p:sp>
        <p:nvSpPr>
          <p:cNvPr id="89" name="">
            <a:extLst xmlns:a="http://schemas.openxmlformats.org/drawingml/2006/main">
              <a:ext uri="{FF2B5EF4-FFF2-40B4-BE49-F238E27FC236}">
                <a16:creationId xmlns:a16="http://schemas.microsoft.com/office/drawing/2014/main" id="{54EF175B-B5D4-4DED-816E-AF7FA29E259E}"/>
              </a:ext>
            </a:extLst>
          </p:cNvPr>
          <p:cNvSpPr>
            <a:spLocks xmlns:a="http://schemas.openxmlformats.org/drawingml/2006/main" noGrp="1"/>
          </p:cNvSpPr>
          <p:nvPr/>
        </p:nvSpPr>
        <p:spPr>
          <a:xfrm xmlns:a="http://schemas.openxmlformats.org/drawingml/2006/main">
            <a:off x="6153150" y="4686300"/>
            <a:ext cx="30099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90" name="">
            <a:extLst xmlns:a="http://schemas.openxmlformats.org/drawingml/2006/main">
              <a:ext uri="{FF2B5EF4-FFF2-40B4-BE49-F238E27FC236}">
                <a16:creationId xmlns:a16="http://schemas.microsoft.com/office/drawing/2014/main" id="{6304834D-1829-4AC5-BD3C-E63A50633305}"/>
              </a:ext>
            </a:extLst>
          </p:cNvPr>
          <p:cNvSpPr>
            <a:spLocks xmlns:a="http://schemas.openxmlformats.org/drawingml/2006/main" noGrp="1"/>
          </p:cNvSpPr>
          <p:nvPr/>
        </p:nvSpPr>
        <p:spPr>
          <a:xfrm xmlns:a="http://schemas.openxmlformats.org/drawingml/2006/main">
            <a:off x="6229350" y="47625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FluctAnal_dfa</a:t>
            </a:r>
          </a:p>
        </p:txBody>
      </p:sp>
      <p:sp>
        <p:nvSpPr>
          <p:cNvPr id="91" name="">
            <a:extLst xmlns:a="http://schemas.openxmlformats.org/drawingml/2006/main">
              <a:ext uri="{FF2B5EF4-FFF2-40B4-BE49-F238E27FC236}">
                <a16:creationId xmlns:a16="http://schemas.microsoft.com/office/drawing/2014/main" id="{0474EA6B-D883-4157-958A-E3A06772FBCA}"/>
              </a:ext>
            </a:extLst>
          </p:cNvPr>
          <p:cNvSpPr>
            <a:spLocks xmlns:a="http://schemas.openxmlformats.org/drawingml/2006/main" noGrp="1"/>
          </p:cNvSpPr>
          <p:nvPr/>
        </p:nvSpPr>
        <p:spPr>
          <a:xfrm xmlns:a="http://schemas.openxmlformats.org/drawingml/2006/main">
            <a:off x="9163050" y="4686300"/>
            <a:ext cx="23622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92" name="">
            <a:extLst xmlns:a="http://schemas.openxmlformats.org/drawingml/2006/main">
              <a:ext uri="{FF2B5EF4-FFF2-40B4-BE49-F238E27FC236}">
                <a16:creationId xmlns:a16="http://schemas.microsoft.com/office/drawing/2014/main" id="{9F29E118-180C-49D9-A7C7-9991EA2B259F}"/>
              </a:ext>
            </a:extLst>
          </p:cNvPr>
          <p:cNvSpPr>
            <a:spLocks xmlns:a="http://schemas.openxmlformats.org/drawingml/2006/main" noGrp="1"/>
          </p:cNvSpPr>
          <p:nvPr/>
        </p:nvSpPr>
        <p:spPr>
          <a:xfrm xmlns:a="http://schemas.openxmlformats.org/drawingml/2006/main">
            <a:off x="9239250" y="47625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2"/>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Detrended-fluctuation scaling transition</a:t>
            </a:r>
          </a:p>
        </p:txBody>
      </p:sp>
      <p:sp>
        <p:nvSpPr>
          <p:cNvPr id="93" name="">
            <a:extLst xmlns:a="http://schemas.openxmlformats.org/drawingml/2006/main">
              <a:ext uri="{FF2B5EF4-FFF2-40B4-BE49-F238E27FC236}">
                <a16:creationId xmlns:a16="http://schemas.microsoft.com/office/drawing/2014/main" id="{D89629D6-51AC-4251-9EB2-312083B37A1B}"/>
              </a:ext>
            </a:extLst>
          </p:cNvPr>
          <p:cNvSpPr>
            <a:spLocks xmlns:a="http://schemas.openxmlformats.org/drawingml/2006/main" noGrp="1"/>
          </p:cNvSpPr>
          <p:nvPr/>
        </p:nvSpPr>
        <p:spPr>
          <a:xfrm xmlns:a="http://schemas.openxmlformats.org/drawingml/2006/main">
            <a:off x="6153150" y="5048250"/>
            <a:ext cx="30099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94" name="">
            <a:extLst xmlns:a="http://schemas.openxmlformats.org/drawingml/2006/main">
              <a:ext uri="{FF2B5EF4-FFF2-40B4-BE49-F238E27FC236}">
                <a16:creationId xmlns:a16="http://schemas.microsoft.com/office/drawing/2014/main" id="{7D780177-75CC-4E9E-9A67-691FBDED5A29}"/>
              </a:ext>
            </a:extLst>
          </p:cNvPr>
          <p:cNvSpPr>
            <a:spLocks xmlns:a="http://schemas.openxmlformats.org/drawingml/2006/main" noGrp="1"/>
          </p:cNvSpPr>
          <p:nvPr/>
        </p:nvSpPr>
        <p:spPr>
          <a:xfrm xmlns:a="http://schemas.openxmlformats.org/drawingml/2006/main">
            <a:off x="6229350" y="51244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SC_FluctAnal…</a:t>
            </a:r>
          </a:p>
        </p:txBody>
      </p:sp>
      <p:sp>
        <p:nvSpPr>
          <p:cNvPr id="95" name="">
            <a:extLst xmlns:a="http://schemas.openxmlformats.org/drawingml/2006/main">
              <a:ext uri="{FF2B5EF4-FFF2-40B4-BE49-F238E27FC236}">
                <a16:creationId xmlns:a16="http://schemas.microsoft.com/office/drawing/2014/main" id="{35A3F722-1649-49D3-B14C-8C5D3B2EE3F3}"/>
              </a:ext>
            </a:extLst>
          </p:cNvPr>
          <p:cNvSpPr>
            <a:spLocks xmlns:a="http://schemas.openxmlformats.org/drawingml/2006/main" noGrp="1"/>
          </p:cNvSpPr>
          <p:nvPr/>
        </p:nvSpPr>
        <p:spPr>
          <a:xfrm xmlns:a="http://schemas.openxmlformats.org/drawingml/2006/main">
            <a:off x="9163050" y="5048250"/>
            <a:ext cx="2362200" cy="361950"/>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96" name="">
            <a:extLst xmlns:a="http://schemas.openxmlformats.org/drawingml/2006/main">
              <a:ext uri="{FF2B5EF4-FFF2-40B4-BE49-F238E27FC236}">
                <a16:creationId xmlns:a16="http://schemas.microsoft.com/office/drawing/2014/main" id="{E541B618-A95C-4A87-8672-A22EE2A43A10}"/>
              </a:ext>
            </a:extLst>
          </p:cNvPr>
          <p:cNvSpPr>
            <a:spLocks xmlns:a="http://schemas.openxmlformats.org/drawingml/2006/main" noGrp="1"/>
          </p:cNvSpPr>
          <p:nvPr/>
        </p:nvSpPr>
        <p:spPr>
          <a:xfrm xmlns:a="http://schemas.openxmlformats.org/drawingml/2006/main">
            <a:off x="9239250" y="512445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Multiscale fluctuation behavior</a:t>
            </a:r>
          </a:p>
        </p:txBody>
      </p:sp>
      <p:sp>
        <p:nvSpPr>
          <p:cNvPr id="97" name="">
            <a:extLst xmlns:a="http://schemas.openxmlformats.org/drawingml/2006/main">
              <a:ext uri="{FF2B5EF4-FFF2-40B4-BE49-F238E27FC236}">
                <a16:creationId xmlns:a16="http://schemas.microsoft.com/office/drawing/2014/main" id="{93D9E745-2A3B-4697-80A9-2BB6EAE9C258}"/>
              </a:ext>
            </a:extLst>
          </p:cNvPr>
          <p:cNvSpPr>
            <a:spLocks xmlns:a="http://schemas.openxmlformats.org/drawingml/2006/main" noGrp="1"/>
          </p:cNvSpPr>
          <p:nvPr/>
        </p:nvSpPr>
        <p:spPr>
          <a:xfrm xmlns:a="http://schemas.openxmlformats.org/drawingml/2006/main">
            <a:off x="6153150" y="5410200"/>
            <a:ext cx="30099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98" name="">
            <a:extLst xmlns:a="http://schemas.openxmlformats.org/drawingml/2006/main">
              <a:ext uri="{FF2B5EF4-FFF2-40B4-BE49-F238E27FC236}">
                <a16:creationId xmlns:a16="http://schemas.microsoft.com/office/drawing/2014/main" id="{C88A3F0C-2803-41DF-8D6A-5DD3680F974D}"/>
              </a:ext>
            </a:extLst>
          </p:cNvPr>
          <p:cNvSpPr>
            <a:spLocks xmlns:a="http://schemas.openxmlformats.org/drawingml/2006/main" noGrp="1"/>
          </p:cNvSpPr>
          <p:nvPr/>
        </p:nvSpPr>
        <p:spPr>
          <a:xfrm xmlns:a="http://schemas.openxmlformats.org/drawingml/2006/main">
            <a:off x="6229350" y="5486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13" b="1" i="0">
                <a:solidFill>
                  <a:srgbClr val="050505"/>
                </a:solidFill>
                <a:latin typeface="Arial"/>
                <a:ea typeface="Arial"/>
                <a:cs typeface="Arial"/>
              </a:defRPr>
            </a:pPr>
            <a:r>
              <a:rPr sz="1013" b="1" i="0">
                <a:solidFill>
                  <a:srgbClr val="050505"/>
                </a:solidFill>
                <a:latin typeface="Arial"/>
                <a:ea typeface="Arial"/>
                <a:cs typeface="Arial"/>
              </a:rPr>
              <a:t>All descriptors</a:t>
            </a:r>
          </a:p>
        </p:txBody>
      </p:sp>
      <p:sp>
        <p:nvSpPr>
          <p:cNvPr id="99" name="">
            <a:extLst xmlns:a="http://schemas.openxmlformats.org/drawingml/2006/main">
              <a:ext uri="{FF2B5EF4-FFF2-40B4-BE49-F238E27FC236}">
                <a16:creationId xmlns:a16="http://schemas.microsoft.com/office/drawing/2014/main" id="{BBF7084E-0A99-4125-A702-95065464A7CE}"/>
              </a:ext>
            </a:extLst>
          </p:cNvPr>
          <p:cNvSpPr>
            <a:spLocks xmlns:a="http://schemas.openxmlformats.org/drawingml/2006/main" noGrp="1"/>
          </p:cNvSpPr>
          <p:nvPr/>
        </p:nvSpPr>
        <p:spPr>
          <a:xfrm xmlns:a="http://schemas.openxmlformats.org/drawingml/2006/main">
            <a:off x="9163050" y="5410200"/>
            <a:ext cx="2362200" cy="361950"/>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00" name="">
            <a:extLst xmlns:a="http://schemas.openxmlformats.org/drawingml/2006/main">
              <a:ext uri="{FF2B5EF4-FFF2-40B4-BE49-F238E27FC236}">
                <a16:creationId xmlns:a16="http://schemas.microsoft.com/office/drawing/2014/main" id="{FABB3427-EB5F-42BB-8D99-62E00A2BD3A3}"/>
              </a:ext>
            </a:extLst>
          </p:cNvPr>
          <p:cNvSpPr>
            <a:spLocks xmlns:a="http://schemas.openxmlformats.org/drawingml/2006/main" noGrp="1"/>
          </p:cNvSpPr>
          <p:nvPr/>
        </p:nvSpPr>
        <p:spPr>
          <a:xfrm xmlns:a="http://schemas.openxmlformats.org/drawingml/2006/main">
            <a:off x="9239250" y="5486400"/>
            <a:ext cx="220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207"/>
          </a:bodyPr>
          <a:lstStyle xmlns:a="http://schemas.openxmlformats.org/drawingml/2006/main"/>
          <a:p xmlns:a="http://schemas.openxmlformats.org/drawingml/2006/main">
            <a:pPr algn="l">
              <a:defRPr sz="1013" b="0" i="0">
                <a:solidFill>
                  <a:srgbClr val="5B616B"/>
                </a:solidFill>
                <a:latin typeface="Arial"/>
                <a:ea typeface="Arial"/>
                <a:cs typeface="Arial"/>
              </a:defRPr>
            </a:pPr>
            <a:r>
              <a:rPr sz="1013" b="0" i="0">
                <a:solidFill>
                  <a:srgbClr val="5B616B"/>
                </a:solidFill>
                <a:latin typeface="Arial"/>
                <a:ea typeface="Arial"/>
                <a:cs typeface="Arial"/>
              </a:rPr>
              <a:t>Computed per curve, then pooled across segments</a:t>
            </a:r>
          </a:p>
        </p:txBody>
      </p:sp>
      <p:sp>
        <p:nvSpPr>
          <p:cNvPr id="101" name="">
            <a:extLst xmlns:a="http://schemas.openxmlformats.org/drawingml/2006/main">
              <a:ext uri="{FF2B5EF4-FFF2-40B4-BE49-F238E27FC236}">
                <a16:creationId xmlns:a16="http://schemas.microsoft.com/office/drawing/2014/main" id="{42E702AF-BA00-4656-8993-D04FB1DFE9FF}"/>
              </a:ext>
            </a:extLst>
          </p:cNvPr>
          <p:cNvSpPr>
            <a:spLocks xmlns:a="http://schemas.openxmlformats.org/drawingml/2006/main" noGrp="1"/>
          </p:cNvSpPr>
          <p:nvPr/>
        </p:nvSpPr>
        <p:spPr>
          <a:xfrm xmlns:a="http://schemas.openxmlformats.org/drawingml/2006/main">
            <a:off x="1504950" y="5867400"/>
            <a:ext cx="918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38" b="1" i="0">
                <a:solidFill>
                  <a:srgbClr val="050505"/>
                </a:solidFill>
                <a:latin typeface="Arial"/>
                <a:ea typeface="Arial"/>
                <a:cs typeface="Arial"/>
              </a:defRPr>
            </a:pPr>
            <a:r>
              <a:rPr sz="1238" b="1" i="0">
                <a:solidFill>
                  <a:srgbClr val="050505"/>
                </a:solidFill>
                <a:latin typeface="Arial"/>
                <a:ea typeface="Arial"/>
                <a:cs typeface="Arial"/>
              </a:rPr>
              <a:t>Names may be abbreviated on slides; exported CSV retains the exact pycatch22 technical name.</a:t>
            </a:r>
          </a:p>
        </p:txBody>
      </p:sp>
      <p:sp>
        <p:nvSpPr>
          <p:cNvPr id="102" name="">
            <a:extLst xmlns:a="http://schemas.openxmlformats.org/drawingml/2006/main">
              <a:ext uri="{FF2B5EF4-FFF2-40B4-BE49-F238E27FC236}">
                <a16:creationId xmlns:a16="http://schemas.microsoft.com/office/drawing/2014/main" id="{98B130EE-A8C4-4938-B970-79E281E6C3ED}"/>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Lubba et al. 2019; Catch22 feature overview</a:t>
            </a:r>
          </a:p>
        </p:txBody>
      </p:sp>
    </p:spTree>
    <p:extLst>
      <p:ext uri="{BB962C8B-B14F-4D97-AF65-F5344CB8AC3E}">
        <p14:creationId xmlns:p14="http://schemas.microsoft.com/office/powerpoint/2010/main" val="179998671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D2328B6-F94E-467B-8D68-AA139BD8987E}"/>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AUDIT TRAIL</a:t>
            </a:r>
          </a:p>
        </p:txBody>
      </p:sp>
      <p:sp>
        <p:nvSpPr>
          <p:cNvPr id="2" name="">
            <a:extLst xmlns:a="http://schemas.openxmlformats.org/drawingml/2006/main">
              <a:ext uri="{FF2B5EF4-FFF2-40B4-BE49-F238E27FC236}">
                <a16:creationId xmlns:a16="http://schemas.microsoft.com/office/drawing/2014/main" id="{BB985616-A6CA-45BF-B1E9-AB82E8F85DBB}"/>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Reproducibility and source map</a:t>
            </a:r>
          </a:p>
        </p:txBody>
      </p:sp>
      <p:sp>
        <p:nvSpPr>
          <p:cNvPr id="3" name="">
            <a:extLst xmlns:a="http://schemas.openxmlformats.org/drawingml/2006/main">
              <a:ext uri="{FF2B5EF4-FFF2-40B4-BE49-F238E27FC236}">
                <a16:creationId xmlns:a16="http://schemas.microsoft.com/office/drawing/2014/main" id="{C13F8D84-54BB-4FFB-9BC1-68CA70E4B658}"/>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E142D85D-B089-4DF6-9939-BD4F48568742}"/>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FD652885-4C53-4F0A-BDB2-5F8B722F5707}"/>
              </a:ext>
            </a:extLst>
          </p:cNvPr>
          <p:cNvSpPr>
            <a:spLocks xmlns:a="http://schemas.openxmlformats.org/drawingml/2006/main" noGrp="1"/>
          </p:cNvSpPr>
          <p:nvPr/>
        </p:nvSpPr>
        <p:spPr>
          <a:xfrm xmlns:a="http://schemas.openxmlformats.org/drawingml/2006/main">
            <a:off x="400050" y="1504950"/>
            <a:ext cx="40957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8FA90F6C-F08D-4784-A745-3A9D322DC0E6}"/>
              </a:ext>
            </a:extLst>
          </p:cNvPr>
          <p:cNvSpPr>
            <a:spLocks xmlns:a="http://schemas.openxmlformats.org/drawingml/2006/main" noGrp="1"/>
          </p:cNvSpPr>
          <p:nvPr/>
        </p:nvSpPr>
        <p:spPr>
          <a:xfrm xmlns:a="http://schemas.openxmlformats.org/drawingml/2006/main">
            <a:off x="476250" y="1590675"/>
            <a:ext cx="3943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Purpose</a:t>
            </a:r>
          </a:p>
        </p:txBody>
      </p:sp>
      <p:sp>
        <p:nvSpPr>
          <p:cNvPr id="7" name="">
            <a:extLst xmlns:a="http://schemas.openxmlformats.org/drawingml/2006/main">
              <a:ext uri="{FF2B5EF4-FFF2-40B4-BE49-F238E27FC236}">
                <a16:creationId xmlns:a16="http://schemas.microsoft.com/office/drawing/2014/main" id="{FE48395C-D2F3-48E7-9BD9-1AF9DB95F75B}"/>
              </a:ext>
            </a:extLst>
          </p:cNvPr>
          <p:cNvSpPr>
            <a:spLocks xmlns:a="http://schemas.openxmlformats.org/drawingml/2006/main" noGrp="1"/>
          </p:cNvSpPr>
          <p:nvPr/>
        </p:nvSpPr>
        <p:spPr>
          <a:xfrm xmlns:a="http://schemas.openxmlformats.org/drawingml/2006/main">
            <a:off x="4495800" y="1504950"/>
            <a:ext cx="7296150" cy="381000"/>
          </a:xfrm>
          <a:prstGeom xmlns:a="http://schemas.openxmlformats.org/drawingml/2006/main" prst="rect">
            <a:avLst/>
          </a:prstGeom>
          <a:solidFill xmlns:a="http://schemas.openxmlformats.org/drawingml/2006/main">
            <a:srgbClr val="050505"/>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B2BC772B-1265-4444-B6C0-BC4208E23775}"/>
              </a:ext>
            </a:extLst>
          </p:cNvPr>
          <p:cNvSpPr>
            <a:spLocks xmlns:a="http://schemas.openxmlformats.org/drawingml/2006/main" noGrp="1"/>
          </p:cNvSpPr>
          <p:nvPr/>
        </p:nvSpPr>
        <p:spPr>
          <a:xfrm xmlns:a="http://schemas.openxmlformats.org/drawingml/2006/main">
            <a:off x="4572000" y="1590675"/>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FFFF"/>
                </a:solidFill>
                <a:latin typeface="Arial"/>
                <a:ea typeface="Arial"/>
                <a:cs typeface="Arial"/>
              </a:defRPr>
            </a:pPr>
            <a:r>
              <a:rPr sz="1125" b="1" i="0">
                <a:solidFill>
                  <a:srgbClr val="FFFFFF"/>
                </a:solidFill>
                <a:latin typeface="Arial"/>
                <a:ea typeface="Arial"/>
                <a:cs typeface="Arial"/>
              </a:rPr>
              <a:t>Local source under D:/us/</a:t>
            </a:r>
          </a:p>
        </p:txBody>
      </p:sp>
      <p:sp>
        <p:nvSpPr>
          <p:cNvPr id="9" name="">
            <a:extLst xmlns:a="http://schemas.openxmlformats.org/drawingml/2006/main">
              <a:ext uri="{FF2B5EF4-FFF2-40B4-BE49-F238E27FC236}">
                <a16:creationId xmlns:a16="http://schemas.microsoft.com/office/drawing/2014/main" id="{BFEC9070-1FB6-4720-9EC9-F4F929C0BA32}"/>
              </a:ext>
            </a:extLst>
          </p:cNvPr>
          <p:cNvSpPr>
            <a:spLocks xmlns:a="http://schemas.openxmlformats.org/drawingml/2006/main" noGrp="1"/>
          </p:cNvSpPr>
          <p:nvPr/>
        </p:nvSpPr>
        <p:spPr>
          <a:xfrm xmlns:a="http://schemas.openxmlformats.org/drawingml/2006/main">
            <a:off x="400050" y="1885950"/>
            <a:ext cx="40957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0" name="">
            <a:extLst xmlns:a="http://schemas.openxmlformats.org/drawingml/2006/main">
              <a:ext uri="{FF2B5EF4-FFF2-40B4-BE49-F238E27FC236}">
                <a16:creationId xmlns:a16="http://schemas.microsoft.com/office/drawing/2014/main" id="{BF562CE3-06AD-458C-8741-1106341231D8}"/>
              </a:ext>
            </a:extLst>
          </p:cNvPr>
          <p:cNvSpPr>
            <a:spLocks xmlns:a="http://schemas.openxmlformats.org/drawingml/2006/main" noGrp="1"/>
          </p:cNvSpPr>
          <p:nvPr/>
        </p:nvSpPr>
        <p:spPr>
          <a:xfrm xmlns:a="http://schemas.openxmlformats.org/drawingml/2006/main">
            <a:off x="476250" y="1962150"/>
            <a:ext cx="3943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50505"/>
                </a:solidFill>
                <a:latin typeface="Arial"/>
                <a:ea typeface="Arial"/>
                <a:cs typeface="Arial"/>
              </a:defRPr>
            </a:pPr>
            <a:r>
              <a:rPr sz="1200" b="1" i="0">
                <a:solidFill>
                  <a:srgbClr val="050505"/>
                </a:solidFill>
                <a:latin typeface="Arial"/>
                <a:ea typeface="Arial"/>
                <a:cs typeface="Arial"/>
              </a:rPr>
              <a:t>Landmarks, label and scalars</a:t>
            </a:r>
          </a:p>
        </p:txBody>
      </p:sp>
      <p:sp>
        <p:nvSpPr>
          <p:cNvPr id="11" name="">
            <a:extLst xmlns:a="http://schemas.openxmlformats.org/drawingml/2006/main">
              <a:ext uri="{FF2B5EF4-FFF2-40B4-BE49-F238E27FC236}">
                <a16:creationId xmlns:a16="http://schemas.microsoft.com/office/drawing/2014/main" id="{1BD9326D-4263-4BE1-A243-519BB310F1C0}"/>
              </a:ext>
            </a:extLst>
          </p:cNvPr>
          <p:cNvSpPr>
            <a:spLocks xmlns:a="http://schemas.openxmlformats.org/drawingml/2006/main" noGrp="1"/>
          </p:cNvSpPr>
          <p:nvPr/>
        </p:nvSpPr>
        <p:spPr>
          <a:xfrm xmlns:a="http://schemas.openxmlformats.org/drawingml/2006/main">
            <a:off x="4495800" y="1885950"/>
            <a:ext cx="72961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2" name="">
            <a:extLst xmlns:a="http://schemas.openxmlformats.org/drawingml/2006/main">
              <a:ext uri="{FF2B5EF4-FFF2-40B4-BE49-F238E27FC236}">
                <a16:creationId xmlns:a16="http://schemas.microsoft.com/office/drawing/2014/main" id="{11965445-1247-492B-AD73-D0959FFA5C4F}"/>
              </a:ext>
            </a:extLst>
          </p:cNvPr>
          <p:cNvSpPr>
            <a:spLocks xmlns:a="http://schemas.openxmlformats.org/drawingml/2006/main" noGrp="1"/>
          </p:cNvSpPr>
          <p:nvPr/>
        </p:nvSpPr>
        <p:spPr>
          <a:xfrm xmlns:a="http://schemas.openxmlformats.org/drawingml/2006/main">
            <a:off x="4572000" y="1962150"/>
            <a:ext cx="714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cardiotoxicity_next_visit_gpu.py</a:t>
            </a:r>
          </a:p>
        </p:txBody>
      </p:sp>
      <p:sp>
        <p:nvSpPr>
          <p:cNvPr id="13" name="">
            <a:extLst xmlns:a="http://schemas.openxmlformats.org/drawingml/2006/main">
              <a:ext uri="{FF2B5EF4-FFF2-40B4-BE49-F238E27FC236}">
                <a16:creationId xmlns:a16="http://schemas.microsoft.com/office/drawing/2014/main" id="{9DCA88A4-2644-4524-8AD7-4D07F1A68D54}"/>
              </a:ext>
            </a:extLst>
          </p:cNvPr>
          <p:cNvSpPr>
            <a:spLocks xmlns:a="http://schemas.openxmlformats.org/drawingml/2006/main" noGrp="1"/>
          </p:cNvSpPr>
          <p:nvPr/>
        </p:nvSpPr>
        <p:spPr>
          <a:xfrm xmlns:a="http://schemas.openxmlformats.org/drawingml/2006/main">
            <a:off x="400050" y="2390775"/>
            <a:ext cx="4095750" cy="50482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4" name="">
            <a:extLst xmlns:a="http://schemas.openxmlformats.org/drawingml/2006/main">
              <a:ext uri="{FF2B5EF4-FFF2-40B4-BE49-F238E27FC236}">
                <a16:creationId xmlns:a16="http://schemas.microsoft.com/office/drawing/2014/main" id="{D03FB4AF-7FED-4C46-939D-7B64ED4C7E15}"/>
              </a:ext>
            </a:extLst>
          </p:cNvPr>
          <p:cNvSpPr>
            <a:spLocks xmlns:a="http://schemas.openxmlformats.org/drawingml/2006/main" noGrp="1"/>
          </p:cNvSpPr>
          <p:nvPr/>
        </p:nvSpPr>
        <p:spPr>
          <a:xfrm xmlns:a="http://schemas.openxmlformats.org/drawingml/2006/main">
            <a:off x="476250" y="2466975"/>
            <a:ext cx="3943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50505"/>
                </a:solidFill>
                <a:latin typeface="Arial"/>
                <a:ea typeface="Arial"/>
                <a:cs typeface="Arial"/>
              </a:defRPr>
            </a:pPr>
            <a:r>
              <a:rPr sz="1200" b="1" i="0">
                <a:solidFill>
                  <a:srgbClr val="050505"/>
                </a:solidFill>
                <a:latin typeface="Arial"/>
                <a:ea typeface="Arial"/>
                <a:cs typeface="Arial"/>
              </a:rPr>
              <a:t>CNN architecture and six channels</a:t>
            </a:r>
          </a:p>
        </p:txBody>
      </p:sp>
      <p:sp>
        <p:nvSpPr>
          <p:cNvPr id="15" name="">
            <a:extLst xmlns:a="http://schemas.openxmlformats.org/drawingml/2006/main">
              <a:ext uri="{FF2B5EF4-FFF2-40B4-BE49-F238E27FC236}">
                <a16:creationId xmlns:a16="http://schemas.microsoft.com/office/drawing/2014/main" id="{01E35559-B758-4992-8354-CC92CF724557}"/>
              </a:ext>
            </a:extLst>
          </p:cNvPr>
          <p:cNvSpPr>
            <a:spLocks xmlns:a="http://schemas.openxmlformats.org/drawingml/2006/main" noGrp="1"/>
          </p:cNvSpPr>
          <p:nvPr/>
        </p:nvSpPr>
        <p:spPr>
          <a:xfrm xmlns:a="http://schemas.openxmlformats.org/drawingml/2006/main">
            <a:off x="4495800" y="2390775"/>
            <a:ext cx="7296150" cy="50482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16" name="">
            <a:extLst xmlns:a="http://schemas.openxmlformats.org/drawingml/2006/main">
              <a:ext uri="{FF2B5EF4-FFF2-40B4-BE49-F238E27FC236}">
                <a16:creationId xmlns:a16="http://schemas.microsoft.com/office/drawing/2014/main" id="{F338F104-5380-4800-BBFF-D3F4F74DDE50}"/>
              </a:ext>
            </a:extLst>
          </p:cNvPr>
          <p:cNvSpPr>
            <a:spLocks xmlns:a="http://schemas.openxmlformats.org/drawingml/2006/main" noGrp="1"/>
          </p:cNvSpPr>
          <p:nvPr/>
        </p:nvSpPr>
        <p:spPr>
          <a:xfrm xmlns:a="http://schemas.openxmlformats.org/drawingml/2006/main">
            <a:off x="4572000" y="2466975"/>
            <a:ext cx="714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cardiotoxicity_cnn_channel_ablation.py</a:t>
            </a:r>
          </a:p>
        </p:txBody>
      </p:sp>
      <p:sp>
        <p:nvSpPr>
          <p:cNvPr id="17" name="">
            <a:extLst xmlns:a="http://schemas.openxmlformats.org/drawingml/2006/main">
              <a:ext uri="{FF2B5EF4-FFF2-40B4-BE49-F238E27FC236}">
                <a16:creationId xmlns:a16="http://schemas.microsoft.com/office/drawing/2014/main" id="{EFBABB6D-28FE-4BD6-9ED3-3D37B71943EA}"/>
              </a:ext>
            </a:extLst>
          </p:cNvPr>
          <p:cNvSpPr>
            <a:spLocks xmlns:a="http://schemas.openxmlformats.org/drawingml/2006/main" noGrp="1"/>
          </p:cNvSpPr>
          <p:nvPr/>
        </p:nvSpPr>
        <p:spPr>
          <a:xfrm xmlns:a="http://schemas.openxmlformats.org/drawingml/2006/main">
            <a:off x="400050" y="2895600"/>
            <a:ext cx="40957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18" name="">
            <a:extLst xmlns:a="http://schemas.openxmlformats.org/drawingml/2006/main">
              <a:ext uri="{FF2B5EF4-FFF2-40B4-BE49-F238E27FC236}">
                <a16:creationId xmlns:a16="http://schemas.microsoft.com/office/drawing/2014/main" id="{8D465BB7-EE84-4990-A840-F6D760D682DB}"/>
              </a:ext>
            </a:extLst>
          </p:cNvPr>
          <p:cNvSpPr>
            <a:spLocks xmlns:a="http://schemas.openxmlformats.org/drawingml/2006/main" noGrp="1"/>
          </p:cNvSpPr>
          <p:nvPr/>
        </p:nvSpPr>
        <p:spPr>
          <a:xfrm xmlns:a="http://schemas.openxmlformats.org/drawingml/2006/main">
            <a:off x="476250" y="2971800"/>
            <a:ext cx="3943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50505"/>
                </a:solidFill>
                <a:latin typeface="Arial"/>
                <a:ea typeface="Arial"/>
                <a:cs typeface="Arial"/>
              </a:defRPr>
            </a:pPr>
            <a:r>
              <a:rPr sz="1200" b="1" i="0">
                <a:solidFill>
                  <a:srgbClr val="050505"/>
                </a:solidFill>
                <a:latin typeface="Arial"/>
                <a:ea typeface="Arial"/>
                <a:cs typeface="Arial"/>
              </a:rPr>
              <a:t>MOMENT extraction</a:t>
            </a:r>
          </a:p>
        </p:txBody>
      </p:sp>
      <p:sp>
        <p:nvSpPr>
          <p:cNvPr id="19" name="">
            <a:extLst xmlns:a="http://schemas.openxmlformats.org/drawingml/2006/main">
              <a:ext uri="{FF2B5EF4-FFF2-40B4-BE49-F238E27FC236}">
                <a16:creationId xmlns:a16="http://schemas.microsoft.com/office/drawing/2014/main" id="{7893A301-C5EA-4A88-97AB-42EC9F4BF826}"/>
              </a:ext>
            </a:extLst>
          </p:cNvPr>
          <p:cNvSpPr>
            <a:spLocks xmlns:a="http://schemas.openxmlformats.org/drawingml/2006/main" noGrp="1"/>
          </p:cNvSpPr>
          <p:nvPr/>
        </p:nvSpPr>
        <p:spPr>
          <a:xfrm xmlns:a="http://schemas.openxmlformats.org/drawingml/2006/main">
            <a:off x="4495800" y="2895600"/>
            <a:ext cx="72961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0" name="">
            <a:extLst xmlns:a="http://schemas.openxmlformats.org/drawingml/2006/main">
              <a:ext uri="{FF2B5EF4-FFF2-40B4-BE49-F238E27FC236}">
                <a16:creationId xmlns:a16="http://schemas.microsoft.com/office/drawing/2014/main" id="{1C2C0595-0644-4C04-9E55-6D453C2967F6}"/>
              </a:ext>
            </a:extLst>
          </p:cNvPr>
          <p:cNvSpPr>
            <a:spLocks xmlns:a="http://schemas.openxmlformats.org/drawingml/2006/main" noGrp="1"/>
          </p:cNvSpPr>
          <p:nvPr/>
        </p:nvSpPr>
        <p:spPr>
          <a:xfrm xmlns:a="http://schemas.openxmlformats.org/drawingml/2006/main">
            <a:off x="4572000" y="2971800"/>
            <a:ext cx="714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cardiotoxicity_timeseries_round1.py</a:t>
            </a:r>
          </a:p>
        </p:txBody>
      </p:sp>
      <p:sp>
        <p:nvSpPr>
          <p:cNvPr id="21" name="">
            <a:extLst xmlns:a="http://schemas.openxmlformats.org/drawingml/2006/main">
              <a:ext uri="{FF2B5EF4-FFF2-40B4-BE49-F238E27FC236}">
                <a16:creationId xmlns:a16="http://schemas.microsoft.com/office/drawing/2014/main" id="{A3057AAD-D5E6-4494-8681-C10F1E352EB5}"/>
              </a:ext>
            </a:extLst>
          </p:cNvPr>
          <p:cNvSpPr>
            <a:spLocks xmlns:a="http://schemas.openxmlformats.org/drawingml/2006/main" noGrp="1"/>
          </p:cNvSpPr>
          <p:nvPr/>
        </p:nvSpPr>
        <p:spPr>
          <a:xfrm xmlns:a="http://schemas.openxmlformats.org/drawingml/2006/main">
            <a:off x="400050" y="3400425"/>
            <a:ext cx="4095750" cy="50482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2" name="">
            <a:extLst xmlns:a="http://schemas.openxmlformats.org/drawingml/2006/main">
              <a:ext uri="{FF2B5EF4-FFF2-40B4-BE49-F238E27FC236}">
                <a16:creationId xmlns:a16="http://schemas.microsoft.com/office/drawing/2014/main" id="{D04D0878-7040-412E-A875-1D6E3C48107C}"/>
              </a:ext>
            </a:extLst>
          </p:cNvPr>
          <p:cNvSpPr>
            <a:spLocks xmlns:a="http://schemas.openxmlformats.org/drawingml/2006/main" noGrp="1"/>
          </p:cNvSpPr>
          <p:nvPr/>
        </p:nvSpPr>
        <p:spPr>
          <a:xfrm xmlns:a="http://schemas.openxmlformats.org/drawingml/2006/main">
            <a:off x="476250" y="3476625"/>
            <a:ext cx="3943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50505"/>
                </a:solidFill>
                <a:latin typeface="Arial"/>
                <a:ea typeface="Arial"/>
                <a:cs typeface="Arial"/>
              </a:defRPr>
            </a:pPr>
            <a:r>
              <a:rPr sz="1200" b="1" i="0">
                <a:solidFill>
                  <a:srgbClr val="050505"/>
                </a:solidFill>
                <a:latin typeface="Arial"/>
                <a:ea typeface="Arial"/>
                <a:cs typeface="Arial"/>
              </a:rPr>
              <a:t>RDST, Catch22 and ensembles</a:t>
            </a:r>
          </a:p>
        </p:txBody>
      </p:sp>
      <p:sp>
        <p:nvSpPr>
          <p:cNvPr id="23" name="">
            <a:extLst xmlns:a="http://schemas.openxmlformats.org/drawingml/2006/main">
              <a:ext uri="{FF2B5EF4-FFF2-40B4-BE49-F238E27FC236}">
                <a16:creationId xmlns:a16="http://schemas.microsoft.com/office/drawing/2014/main" id="{407AFAB8-7CFC-462E-8607-D866035EFFF3}"/>
              </a:ext>
            </a:extLst>
          </p:cNvPr>
          <p:cNvSpPr>
            <a:spLocks xmlns:a="http://schemas.openxmlformats.org/drawingml/2006/main" noGrp="1"/>
          </p:cNvSpPr>
          <p:nvPr/>
        </p:nvSpPr>
        <p:spPr>
          <a:xfrm xmlns:a="http://schemas.openxmlformats.org/drawingml/2006/main">
            <a:off x="4495800" y="3400425"/>
            <a:ext cx="7296150" cy="50482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24" name="">
            <a:extLst xmlns:a="http://schemas.openxmlformats.org/drawingml/2006/main">
              <a:ext uri="{FF2B5EF4-FFF2-40B4-BE49-F238E27FC236}">
                <a16:creationId xmlns:a16="http://schemas.microsoft.com/office/drawing/2014/main" id="{08C097FA-74AB-4923-A65E-1FB0184F4460}"/>
              </a:ext>
            </a:extLst>
          </p:cNvPr>
          <p:cNvSpPr>
            <a:spLocks xmlns:a="http://schemas.openxmlformats.org/drawingml/2006/main" noGrp="1"/>
          </p:cNvSpPr>
          <p:nvPr/>
        </p:nvSpPr>
        <p:spPr>
          <a:xfrm xmlns:a="http://schemas.openxmlformats.org/drawingml/2006/main">
            <a:off x="4572000" y="3476625"/>
            <a:ext cx="714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cardiotoxicity_timeseries_round4.py</a:t>
            </a:r>
          </a:p>
        </p:txBody>
      </p:sp>
      <p:sp>
        <p:nvSpPr>
          <p:cNvPr id="25" name="">
            <a:extLst xmlns:a="http://schemas.openxmlformats.org/drawingml/2006/main">
              <a:ext uri="{FF2B5EF4-FFF2-40B4-BE49-F238E27FC236}">
                <a16:creationId xmlns:a16="http://schemas.microsoft.com/office/drawing/2014/main" id="{FEE761D7-F606-4C2D-8D5F-E95C02D2E0FA}"/>
              </a:ext>
            </a:extLst>
          </p:cNvPr>
          <p:cNvSpPr>
            <a:spLocks xmlns:a="http://schemas.openxmlformats.org/drawingml/2006/main" noGrp="1"/>
          </p:cNvSpPr>
          <p:nvPr/>
        </p:nvSpPr>
        <p:spPr>
          <a:xfrm xmlns:a="http://schemas.openxmlformats.org/drawingml/2006/main">
            <a:off x="400050" y="3905250"/>
            <a:ext cx="40957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6" name="">
            <a:extLst xmlns:a="http://schemas.openxmlformats.org/drawingml/2006/main">
              <a:ext uri="{FF2B5EF4-FFF2-40B4-BE49-F238E27FC236}">
                <a16:creationId xmlns:a16="http://schemas.microsoft.com/office/drawing/2014/main" id="{BF39D7D4-0061-4001-B742-261193DA76F1}"/>
              </a:ext>
            </a:extLst>
          </p:cNvPr>
          <p:cNvSpPr>
            <a:spLocks xmlns:a="http://schemas.openxmlformats.org/drawingml/2006/main" noGrp="1"/>
          </p:cNvSpPr>
          <p:nvPr/>
        </p:nvSpPr>
        <p:spPr>
          <a:xfrm xmlns:a="http://schemas.openxmlformats.org/drawingml/2006/main">
            <a:off x="476250" y="3981450"/>
            <a:ext cx="3943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50505"/>
                </a:solidFill>
                <a:latin typeface="Arial"/>
                <a:ea typeface="Arial"/>
                <a:cs typeface="Arial"/>
              </a:defRPr>
            </a:pPr>
            <a:r>
              <a:rPr sz="1200" b="1" i="0">
                <a:solidFill>
                  <a:srgbClr val="050505"/>
                </a:solidFill>
                <a:latin typeface="Arial"/>
                <a:ea typeface="Arial"/>
                <a:cs typeface="Arial"/>
              </a:rPr>
              <a:t>Held-out importance / Shapley</a:t>
            </a:r>
          </a:p>
        </p:txBody>
      </p:sp>
      <p:sp>
        <p:nvSpPr>
          <p:cNvPr id="27" name="">
            <a:extLst xmlns:a="http://schemas.openxmlformats.org/drawingml/2006/main">
              <a:ext uri="{FF2B5EF4-FFF2-40B4-BE49-F238E27FC236}">
                <a16:creationId xmlns:a16="http://schemas.microsoft.com/office/drawing/2014/main" id="{3DA7A6D6-DBD1-4D5F-AEE8-1139F89B9128}"/>
              </a:ext>
            </a:extLst>
          </p:cNvPr>
          <p:cNvSpPr>
            <a:spLocks xmlns:a="http://schemas.openxmlformats.org/drawingml/2006/main" noGrp="1"/>
          </p:cNvSpPr>
          <p:nvPr/>
        </p:nvSpPr>
        <p:spPr>
          <a:xfrm xmlns:a="http://schemas.openxmlformats.org/drawingml/2006/main">
            <a:off x="4495800" y="3905250"/>
            <a:ext cx="72961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28" name="">
            <a:extLst xmlns:a="http://schemas.openxmlformats.org/drawingml/2006/main">
              <a:ext uri="{FF2B5EF4-FFF2-40B4-BE49-F238E27FC236}">
                <a16:creationId xmlns:a16="http://schemas.microsoft.com/office/drawing/2014/main" id="{636FA3C7-CCC7-442D-B907-2FFEF80E4B03}"/>
              </a:ext>
            </a:extLst>
          </p:cNvPr>
          <p:cNvSpPr>
            <a:spLocks xmlns:a="http://schemas.openxmlformats.org/drawingml/2006/main" noGrp="1"/>
          </p:cNvSpPr>
          <p:nvPr/>
        </p:nvSpPr>
        <p:spPr>
          <a:xfrm xmlns:a="http://schemas.openxmlformats.org/drawingml/2006/main">
            <a:off x="4572000" y="3981450"/>
            <a:ext cx="714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cardiotoxicity_top_ensemble_feature_importance.py</a:t>
            </a:r>
          </a:p>
        </p:txBody>
      </p:sp>
      <p:sp>
        <p:nvSpPr>
          <p:cNvPr id="29" name="">
            <a:extLst xmlns:a="http://schemas.openxmlformats.org/drawingml/2006/main">
              <a:ext uri="{FF2B5EF4-FFF2-40B4-BE49-F238E27FC236}">
                <a16:creationId xmlns:a16="http://schemas.microsoft.com/office/drawing/2014/main" id="{26431E35-EC55-43F1-8936-BBF74C7C8D37}"/>
              </a:ext>
            </a:extLst>
          </p:cNvPr>
          <p:cNvSpPr>
            <a:spLocks xmlns:a="http://schemas.openxmlformats.org/drawingml/2006/main" noGrp="1"/>
          </p:cNvSpPr>
          <p:nvPr/>
        </p:nvSpPr>
        <p:spPr>
          <a:xfrm xmlns:a="http://schemas.openxmlformats.org/drawingml/2006/main">
            <a:off x="400050" y="4410075"/>
            <a:ext cx="4095750" cy="50482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0" name="">
            <a:extLst xmlns:a="http://schemas.openxmlformats.org/drawingml/2006/main">
              <a:ext uri="{FF2B5EF4-FFF2-40B4-BE49-F238E27FC236}">
                <a16:creationId xmlns:a16="http://schemas.microsoft.com/office/drawing/2014/main" id="{71EA7715-40F2-42AF-BAA6-CDD336CC7F60}"/>
              </a:ext>
            </a:extLst>
          </p:cNvPr>
          <p:cNvSpPr>
            <a:spLocks xmlns:a="http://schemas.openxmlformats.org/drawingml/2006/main" noGrp="1"/>
          </p:cNvSpPr>
          <p:nvPr/>
        </p:nvSpPr>
        <p:spPr>
          <a:xfrm xmlns:a="http://schemas.openxmlformats.org/drawingml/2006/main">
            <a:off x="476250" y="4486275"/>
            <a:ext cx="3943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50505"/>
                </a:solidFill>
                <a:latin typeface="Arial"/>
                <a:ea typeface="Arial"/>
                <a:cs typeface="Arial"/>
              </a:defRPr>
            </a:pPr>
            <a:r>
              <a:rPr sz="1200" b="1" i="0">
                <a:solidFill>
                  <a:srgbClr val="050505"/>
                </a:solidFill>
                <a:latin typeface="Arial"/>
                <a:ea typeface="Arial"/>
                <a:cs typeface="Arial"/>
              </a:rPr>
              <a:t>Detailed tables and interpretation</a:t>
            </a:r>
          </a:p>
        </p:txBody>
      </p:sp>
      <p:sp>
        <p:nvSpPr>
          <p:cNvPr id="31" name="">
            <a:extLst xmlns:a="http://schemas.openxmlformats.org/drawingml/2006/main">
              <a:ext uri="{FF2B5EF4-FFF2-40B4-BE49-F238E27FC236}">
                <a16:creationId xmlns:a16="http://schemas.microsoft.com/office/drawing/2014/main" id="{F6827522-2767-4C3A-857F-161A1648FDF3}"/>
              </a:ext>
            </a:extLst>
          </p:cNvPr>
          <p:cNvSpPr>
            <a:spLocks xmlns:a="http://schemas.openxmlformats.org/drawingml/2006/main" noGrp="1"/>
          </p:cNvSpPr>
          <p:nvPr/>
        </p:nvSpPr>
        <p:spPr>
          <a:xfrm xmlns:a="http://schemas.openxmlformats.org/drawingml/2006/main">
            <a:off x="4495800" y="4410075"/>
            <a:ext cx="7296150" cy="504825"/>
          </a:xfrm>
          <a:prstGeom xmlns:a="http://schemas.openxmlformats.org/drawingml/2006/main" prst="rect">
            <a:avLst/>
          </a:prstGeom>
          <a:solidFill xmlns:a="http://schemas.openxmlformats.org/drawingml/2006/main">
            <a:srgbClr val="FFFFFF"/>
          </a:solidFill>
          <a:ln xmlns:a="http://schemas.openxmlformats.org/drawingml/2006/main" w="5715">
            <a:solidFill>
              <a:srgbClr val="B8BCC4"/>
            </a:solidFill>
            <a:prstDash val="solid"/>
          </a:ln>
        </p:spPr>
      </p:sp>
      <p:sp>
        <p:nvSpPr>
          <p:cNvPr id="32" name="">
            <a:extLst xmlns:a="http://schemas.openxmlformats.org/drawingml/2006/main">
              <a:ext uri="{FF2B5EF4-FFF2-40B4-BE49-F238E27FC236}">
                <a16:creationId xmlns:a16="http://schemas.microsoft.com/office/drawing/2014/main" id="{3C4FDE1E-68EB-449B-A32F-0C1556A49B33}"/>
              </a:ext>
            </a:extLst>
          </p:cNvPr>
          <p:cNvSpPr>
            <a:spLocks xmlns:a="http://schemas.openxmlformats.org/drawingml/2006/main" noGrp="1"/>
          </p:cNvSpPr>
          <p:nvPr/>
        </p:nvSpPr>
        <p:spPr>
          <a:xfrm xmlns:a="http://schemas.openxmlformats.org/drawingml/2006/main">
            <a:off x="4572000" y="4486275"/>
            <a:ext cx="714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cardiotoxicity_top_ensemble_feature_importance_results/</a:t>
            </a:r>
          </a:p>
        </p:txBody>
      </p:sp>
      <p:sp>
        <p:nvSpPr>
          <p:cNvPr id="33" name="">
            <a:extLst xmlns:a="http://schemas.openxmlformats.org/drawingml/2006/main">
              <a:ext uri="{FF2B5EF4-FFF2-40B4-BE49-F238E27FC236}">
                <a16:creationId xmlns:a16="http://schemas.microsoft.com/office/drawing/2014/main" id="{FB797858-96BF-4800-A184-D91EFD1EBFE6}"/>
              </a:ext>
            </a:extLst>
          </p:cNvPr>
          <p:cNvSpPr>
            <a:spLocks xmlns:a="http://schemas.openxmlformats.org/drawingml/2006/main" noGrp="1"/>
          </p:cNvSpPr>
          <p:nvPr/>
        </p:nvSpPr>
        <p:spPr>
          <a:xfrm xmlns:a="http://schemas.openxmlformats.org/drawingml/2006/main">
            <a:off x="400050" y="4914900"/>
            <a:ext cx="40957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4" name="">
            <a:extLst xmlns:a="http://schemas.openxmlformats.org/drawingml/2006/main">
              <a:ext uri="{FF2B5EF4-FFF2-40B4-BE49-F238E27FC236}">
                <a16:creationId xmlns:a16="http://schemas.microsoft.com/office/drawing/2014/main" id="{08F7E2A6-93C5-48DC-BCCD-0682E8520124}"/>
              </a:ext>
            </a:extLst>
          </p:cNvPr>
          <p:cNvSpPr>
            <a:spLocks xmlns:a="http://schemas.openxmlformats.org/drawingml/2006/main" noGrp="1"/>
          </p:cNvSpPr>
          <p:nvPr/>
        </p:nvSpPr>
        <p:spPr>
          <a:xfrm xmlns:a="http://schemas.openxmlformats.org/drawingml/2006/main">
            <a:off x="476250" y="4991100"/>
            <a:ext cx="3943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50505"/>
                </a:solidFill>
                <a:latin typeface="Arial"/>
                <a:ea typeface="Arial"/>
                <a:cs typeface="Arial"/>
              </a:defRPr>
            </a:pPr>
            <a:r>
              <a:rPr sz="1200" b="1" i="0">
                <a:solidFill>
                  <a:srgbClr val="050505"/>
                </a:solidFill>
                <a:latin typeface="Arial"/>
                <a:ea typeface="Arial"/>
                <a:cs typeface="Arial"/>
              </a:rPr>
              <a:t>Error and label-noise analysis</a:t>
            </a:r>
          </a:p>
        </p:txBody>
      </p:sp>
      <p:sp>
        <p:nvSpPr>
          <p:cNvPr id="35" name="">
            <a:extLst xmlns:a="http://schemas.openxmlformats.org/drawingml/2006/main">
              <a:ext uri="{FF2B5EF4-FFF2-40B4-BE49-F238E27FC236}">
                <a16:creationId xmlns:a16="http://schemas.microsoft.com/office/drawing/2014/main" id="{67719E3F-D8DD-4A01-BD63-BE54B87B2577}"/>
              </a:ext>
            </a:extLst>
          </p:cNvPr>
          <p:cNvSpPr>
            <a:spLocks xmlns:a="http://schemas.openxmlformats.org/drawingml/2006/main" noGrp="1"/>
          </p:cNvSpPr>
          <p:nvPr/>
        </p:nvSpPr>
        <p:spPr>
          <a:xfrm xmlns:a="http://schemas.openxmlformats.org/drawingml/2006/main">
            <a:off x="4495800" y="4914900"/>
            <a:ext cx="7296150" cy="504825"/>
          </a:xfrm>
          <a:prstGeom xmlns:a="http://schemas.openxmlformats.org/drawingml/2006/main" prst="rect">
            <a:avLst/>
          </a:prstGeom>
          <a:solidFill xmlns:a="http://schemas.openxmlformats.org/drawingml/2006/main">
            <a:srgbClr val="EDEDED"/>
          </a:solidFill>
          <a:ln xmlns:a="http://schemas.openxmlformats.org/drawingml/2006/main" w="5715">
            <a:solidFill>
              <a:srgbClr val="B8BCC4"/>
            </a:solidFill>
            <a:prstDash val="solid"/>
          </a:ln>
        </p:spPr>
      </p:sp>
      <p:sp>
        <p:nvSpPr>
          <p:cNvPr id="36" name="">
            <a:extLst xmlns:a="http://schemas.openxmlformats.org/drawingml/2006/main">
              <a:ext uri="{FF2B5EF4-FFF2-40B4-BE49-F238E27FC236}">
                <a16:creationId xmlns:a16="http://schemas.microsoft.com/office/drawing/2014/main" id="{F907621C-D00D-461B-98CC-9F46C436B59F}"/>
              </a:ext>
            </a:extLst>
          </p:cNvPr>
          <p:cNvSpPr>
            <a:spLocks xmlns:a="http://schemas.openxmlformats.org/drawingml/2006/main" noGrp="1"/>
          </p:cNvSpPr>
          <p:nvPr/>
        </p:nvSpPr>
        <p:spPr>
          <a:xfrm xmlns:a="http://schemas.openxmlformats.org/drawingml/2006/main">
            <a:off x="4572000" y="4991100"/>
            <a:ext cx="714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16B"/>
                </a:solidFill>
                <a:latin typeface="Arial"/>
                <a:ea typeface="Arial"/>
                <a:cs typeface="Arial"/>
              </a:defRPr>
            </a:pPr>
            <a:r>
              <a:rPr sz="1200" b="0" i="0">
                <a:solidFill>
                  <a:srgbClr val="5B616B"/>
                </a:solidFill>
                <a:latin typeface="Arial"/>
                <a:ea typeface="Arial"/>
                <a:cs typeface="Arial"/>
              </a:rPr>
              <a:t>cardiotoxicity_error_noise.py; cardiotoxicity_plateau_results/</a:t>
            </a:r>
          </a:p>
        </p:txBody>
      </p:sp>
      <p:sp>
        <p:nvSpPr>
          <p:cNvPr id="37" name="">
            <a:extLst xmlns:a="http://schemas.openxmlformats.org/drawingml/2006/main">
              <a:ext uri="{FF2B5EF4-FFF2-40B4-BE49-F238E27FC236}">
                <a16:creationId xmlns:a16="http://schemas.microsoft.com/office/drawing/2014/main" id="{2D5BC1DC-B19A-43C7-B6E7-AC8AEF34FCB5}"/>
              </a:ext>
            </a:extLst>
          </p:cNvPr>
          <p:cNvSpPr>
            <a:spLocks xmlns:a="http://schemas.openxmlformats.org/drawingml/2006/main" noGrp="1"/>
          </p:cNvSpPr>
          <p:nvPr/>
        </p:nvSpPr>
        <p:spPr>
          <a:xfrm xmlns:a="http://schemas.openxmlformats.org/drawingml/2006/main">
            <a:off x="400050" y="5562600"/>
            <a:ext cx="11125200" cy="514350"/>
          </a:xfrm>
          <a:prstGeom xmlns:a="http://schemas.openxmlformats.org/drawingml/2006/main" prst="roundRect">
            <a:avLst>
              <a:gd name="adj" fmla="val 14815"/>
            </a:avLst>
          </a:prstGeom>
          <a:solidFill xmlns:a="http://schemas.openxmlformats.org/drawingml/2006/main">
            <a:srgbClr val="050505"/>
          </a:solidFill>
          <a:ln xmlns:a="http://schemas.openxmlformats.org/drawingml/2006/main" w="0">
            <a:solidFill>
              <a:srgbClr val="050505"/>
            </a:solidFill>
            <a:prstDash val="solid"/>
          </a:ln>
        </p:spPr>
      </p:sp>
      <p:sp>
        <p:nvSpPr>
          <p:cNvPr id="38" name="">
            <a:extLst xmlns:a="http://schemas.openxmlformats.org/drawingml/2006/main">
              <a:ext uri="{FF2B5EF4-FFF2-40B4-BE49-F238E27FC236}">
                <a16:creationId xmlns:a16="http://schemas.microsoft.com/office/drawing/2014/main" id="{1D0E48AC-895B-473F-9AF1-358F6C46A5A8}"/>
              </a:ext>
            </a:extLst>
          </p:cNvPr>
          <p:cNvSpPr>
            <a:spLocks xmlns:a="http://schemas.openxmlformats.org/drawingml/2006/main" noGrp="1"/>
          </p:cNvSpPr>
          <p:nvPr/>
        </p:nvSpPr>
        <p:spPr>
          <a:xfrm xmlns:a="http://schemas.openxmlformats.org/drawingml/2006/main">
            <a:off x="609600" y="5715000"/>
            <a:ext cx="1070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38" b="1" i="0">
                <a:solidFill>
                  <a:srgbClr val="FFFFFF"/>
                </a:solidFill>
                <a:latin typeface="Arial"/>
                <a:ea typeface="Arial"/>
                <a:cs typeface="Arial"/>
              </a:defRPr>
            </a:pPr>
            <a:r>
              <a:rPr sz="1238" b="1" i="0">
                <a:solidFill>
                  <a:srgbClr val="FFFFFF"/>
                </a:solidFill>
                <a:latin typeface="Arial"/>
                <a:ea typeface="Arial"/>
                <a:cs typeface="Arial"/>
              </a:rPr>
              <a:t>Reproduction check: all four constituent OOF score vectors matched the original outputs exactly (correlation = 1.000; identical AUC/AP).</a:t>
            </a:r>
          </a:p>
        </p:txBody>
      </p:sp>
      <p:sp>
        <p:nvSpPr>
          <p:cNvPr id="39" name="">
            <a:extLst xmlns:a="http://schemas.openxmlformats.org/drawingml/2006/main">
              <a:ext uri="{FF2B5EF4-FFF2-40B4-BE49-F238E27FC236}">
                <a16:creationId xmlns:a16="http://schemas.microsoft.com/office/drawing/2014/main" id="{22529365-E018-49A4-B2D3-E774BA5B4F66}"/>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all analyses patient-held-out; same folds preserved across comparisons</a:t>
            </a:r>
          </a:p>
        </p:txBody>
      </p:sp>
    </p:spTree>
    <p:extLst>
      <p:ext uri="{BB962C8B-B14F-4D97-AF65-F5344CB8AC3E}">
        <p14:creationId xmlns:p14="http://schemas.microsoft.com/office/powerpoint/2010/main" val="97043453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22FAF30-CEA3-4710-A744-EA89736AC315}"/>
              </a:ext>
            </a:extLst>
          </p:cNvPr>
          <p:cNvSpPr>
            <a:spLocks xmlns:a="http://schemas.openxmlformats.org/drawingml/2006/main" noGrp="1"/>
          </p:cNvSpPr>
          <p:nvPr/>
        </p:nvSpPr>
        <p:spPr>
          <a:xfrm xmlns:a="http://schemas.openxmlformats.org/drawingml/2006/main">
            <a:off x="400050" y="26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METHODS &amp; PHYSIOLOGY</a:t>
            </a:r>
          </a:p>
        </p:txBody>
      </p:sp>
      <p:sp>
        <p:nvSpPr>
          <p:cNvPr id="2" name="">
            <a:extLst xmlns:a="http://schemas.openxmlformats.org/drawingml/2006/main">
              <a:ext uri="{FF2B5EF4-FFF2-40B4-BE49-F238E27FC236}">
                <a16:creationId xmlns:a16="http://schemas.microsoft.com/office/drawing/2014/main" id="{C421E381-E117-4683-BE68-DFA86BD64F24}"/>
              </a:ext>
            </a:extLst>
          </p:cNvPr>
          <p:cNvSpPr>
            <a:spLocks xmlns:a="http://schemas.openxmlformats.org/drawingml/2006/main" noGrp="1"/>
          </p:cNvSpPr>
          <p:nvPr/>
        </p:nvSpPr>
        <p:spPr>
          <a:xfrm xmlns:a="http://schemas.openxmlformats.org/drawingml/2006/main">
            <a:off x="400050" y="51435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050505"/>
                </a:solidFill>
                <a:latin typeface="Arial"/>
                <a:ea typeface="Arial"/>
                <a:cs typeface="Arial"/>
              </a:defRPr>
            </a:pPr>
            <a:r>
              <a:rPr sz="3000" b="1" i="0">
                <a:solidFill>
                  <a:srgbClr val="050505"/>
                </a:solidFill>
                <a:latin typeface="Arial"/>
                <a:ea typeface="Arial"/>
                <a:cs typeface="Arial"/>
              </a:rPr>
              <a:t>Primary references</a:t>
            </a:r>
          </a:p>
        </p:txBody>
      </p:sp>
      <p:sp>
        <p:nvSpPr>
          <p:cNvPr id="3" name="">
            <a:extLst xmlns:a="http://schemas.openxmlformats.org/drawingml/2006/main">
              <a:ext uri="{FF2B5EF4-FFF2-40B4-BE49-F238E27FC236}">
                <a16:creationId xmlns:a16="http://schemas.microsoft.com/office/drawing/2014/main" id="{816448B6-E288-4071-A6E9-4CFC261BAF17}"/>
              </a:ext>
            </a:extLst>
          </p:cNvPr>
          <p:cNvSpPr>
            <a:spLocks xmlns:a="http://schemas.openxmlformats.org/drawingml/2006/main" noGrp="1"/>
          </p:cNvSpPr>
          <p:nvPr/>
        </p:nvSpPr>
        <p:spPr>
          <a:xfrm xmlns:a="http://schemas.openxmlformats.org/drawingml/2006/main">
            <a:off x="400050" y="12001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003DA40-1CD7-44A6-9673-56486396FC0B}"/>
              </a:ext>
            </a:extLst>
          </p:cNvPr>
          <p:cNvSpPr>
            <a:spLocks xmlns:a="http://schemas.openxmlformats.org/drawingml/2006/main" noGrp="1"/>
          </p:cNvSpPr>
          <p:nvPr/>
        </p:nvSpPr>
        <p:spPr>
          <a:xfrm xmlns:a="http://schemas.openxmlformats.org/drawingml/2006/main">
            <a:off x="11334750" y="64293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i="0">
                <a:solidFill>
                  <a:srgbClr val="5B616B"/>
                </a:solidFill>
                <a:latin typeface="Arial"/>
                <a:ea typeface="Arial"/>
                <a:cs typeface="Arial"/>
              </a:defRPr>
            </a:pPr>
            <a:r>
              <a:rPr sz="900" b="0" i="0">
                <a:solidFill>
                  <a:srgbClr val="5B616B"/>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59AB72DB-16C4-45F5-93EF-87F0BDD71B6A}"/>
              </a:ext>
            </a:extLst>
          </p:cNvPr>
          <p:cNvSpPr>
            <a:spLocks xmlns:a="http://schemas.openxmlformats.org/drawingml/2006/main" noGrp="1"/>
          </p:cNvSpPr>
          <p:nvPr/>
        </p:nvSpPr>
        <p:spPr>
          <a:xfrm xmlns:a="http://schemas.openxmlformats.org/drawingml/2006/main">
            <a:off x="400050" y="1514475"/>
            <a:ext cx="1714500" cy="2667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471B7180-BFED-449A-A175-1DF23D1150D4}"/>
              </a:ext>
            </a:extLst>
          </p:cNvPr>
          <p:cNvSpPr>
            <a:spLocks xmlns:a="http://schemas.openxmlformats.org/drawingml/2006/main" noGrp="1"/>
          </p:cNvSpPr>
          <p:nvPr/>
        </p:nvSpPr>
        <p:spPr>
          <a:xfrm xmlns:a="http://schemas.openxmlformats.org/drawingml/2006/main">
            <a:off x="485775" y="156210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Clinical definition</a:t>
            </a:r>
          </a:p>
        </p:txBody>
      </p:sp>
      <p:sp>
        <p:nvSpPr>
          <p:cNvPr id="7" name="">
            <a:extLst xmlns:a="http://schemas.openxmlformats.org/drawingml/2006/main">
              <a:ext uri="{FF2B5EF4-FFF2-40B4-BE49-F238E27FC236}">
                <a16:creationId xmlns:a16="http://schemas.microsoft.com/office/drawing/2014/main" id="{001F38E9-662F-4144-9FEF-31D39FC418BA}"/>
              </a:ext>
            </a:extLst>
          </p:cNvPr>
          <p:cNvSpPr>
            <a:spLocks xmlns:a="http://schemas.openxmlformats.org/drawingml/2006/main" noGrp="1"/>
          </p:cNvSpPr>
          <p:nvPr/>
        </p:nvSpPr>
        <p:spPr>
          <a:xfrm xmlns:a="http://schemas.openxmlformats.org/drawingml/2006/main">
            <a:off x="2286000" y="146685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050505"/>
                </a:solidFill>
                <a:latin typeface="Arial"/>
                <a:ea typeface="Arial"/>
                <a:cs typeface="Arial"/>
              </a:defRPr>
            </a:pPr>
            <a:r>
              <a:rPr sz="1238" b="1" i="0">
                <a:solidFill>
                  <a:srgbClr val="050505"/>
                </a:solidFill>
                <a:latin typeface="Arial"/>
                <a:ea typeface="Arial"/>
                <a:cs typeface="Arial"/>
              </a:rPr>
              <a:t>Lyon et al. 2022 ESC Guidelines on cardio-oncology</a:t>
            </a:r>
          </a:p>
        </p:txBody>
      </p:sp>
      <p:sp>
        <p:nvSpPr>
          <p:cNvPr id="8" name="">
            <a:extLst xmlns:a="http://schemas.openxmlformats.org/drawingml/2006/main">
              <a:ext uri="{FF2B5EF4-FFF2-40B4-BE49-F238E27FC236}">
                <a16:creationId xmlns:a16="http://schemas.microsoft.com/office/drawing/2014/main" id="{EA111774-2EAB-427C-B9F6-C88F92E7FA98}"/>
              </a:ext>
            </a:extLst>
          </p:cNvPr>
          <p:cNvSpPr>
            <a:spLocks xmlns:a="http://schemas.openxmlformats.org/drawingml/2006/main" noGrp="1"/>
          </p:cNvSpPr>
          <p:nvPr/>
        </p:nvSpPr>
        <p:spPr>
          <a:xfrm xmlns:a="http://schemas.openxmlformats.org/drawingml/2006/main">
            <a:off x="2286000" y="1762125"/>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Eur Heart J. 2022;43:4229–4361.</a:t>
            </a:r>
          </a:p>
        </p:txBody>
      </p:sp>
      <p:sp>
        <p:nvSpPr>
          <p:cNvPr id="9" name="">
            <a:extLst xmlns:a="http://schemas.openxmlformats.org/drawingml/2006/main">
              <a:ext uri="{FF2B5EF4-FFF2-40B4-BE49-F238E27FC236}">
                <a16:creationId xmlns:a16="http://schemas.microsoft.com/office/drawing/2014/main" id="{F74171A1-9980-4BE9-8E3D-9967CA8633F5}"/>
              </a:ext>
            </a:extLst>
          </p:cNvPr>
          <p:cNvSpPr>
            <a:spLocks xmlns:a="http://schemas.openxmlformats.org/drawingml/2006/main" noGrp="1"/>
          </p:cNvSpPr>
          <p:nvPr/>
        </p:nvSpPr>
        <p:spPr>
          <a:xfrm xmlns:a="http://schemas.openxmlformats.org/drawingml/2006/main">
            <a:off x="400050" y="2143125"/>
            <a:ext cx="1714500" cy="2667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F9EB26F3-3898-4D90-AD54-26929C256EF1}"/>
              </a:ext>
            </a:extLst>
          </p:cNvPr>
          <p:cNvSpPr>
            <a:spLocks xmlns:a="http://schemas.openxmlformats.org/drawingml/2006/main" noGrp="1"/>
          </p:cNvSpPr>
          <p:nvPr/>
        </p:nvSpPr>
        <p:spPr>
          <a:xfrm xmlns:a="http://schemas.openxmlformats.org/drawingml/2006/main">
            <a:off x="485775" y="219075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Segmental cardiotoxicity</a:t>
            </a:r>
          </a:p>
        </p:txBody>
      </p:sp>
      <p:sp>
        <p:nvSpPr>
          <p:cNvPr id="11" name="">
            <a:extLst xmlns:a="http://schemas.openxmlformats.org/drawingml/2006/main">
              <a:ext uri="{FF2B5EF4-FFF2-40B4-BE49-F238E27FC236}">
                <a16:creationId xmlns:a16="http://schemas.microsoft.com/office/drawing/2014/main" id="{D79AB000-BA82-4B01-A9A4-66EACA5268A3}"/>
              </a:ext>
            </a:extLst>
          </p:cNvPr>
          <p:cNvSpPr>
            <a:spLocks xmlns:a="http://schemas.openxmlformats.org/drawingml/2006/main" noGrp="1"/>
          </p:cNvSpPr>
          <p:nvPr/>
        </p:nvSpPr>
        <p:spPr>
          <a:xfrm xmlns:a="http://schemas.openxmlformats.org/drawingml/2006/main">
            <a:off x="2286000" y="209550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050505"/>
                </a:solidFill>
                <a:latin typeface="Arial"/>
                <a:ea typeface="Arial"/>
                <a:cs typeface="Arial"/>
              </a:defRPr>
            </a:pPr>
            <a:r>
              <a:rPr sz="1238" b="1" i="0">
                <a:solidFill>
                  <a:srgbClr val="050505"/>
                </a:solidFill>
                <a:latin typeface="Arial"/>
                <a:ea typeface="Arial"/>
                <a:cs typeface="Arial"/>
              </a:rPr>
              <a:t>Narayan et al. Left ventricular segmental strain…</a:t>
            </a:r>
          </a:p>
        </p:txBody>
      </p:sp>
      <p:sp>
        <p:nvSpPr>
          <p:cNvPr id="12" name="">
            <a:extLst xmlns:a="http://schemas.openxmlformats.org/drawingml/2006/main">
              <a:ext uri="{FF2B5EF4-FFF2-40B4-BE49-F238E27FC236}">
                <a16:creationId xmlns:a16="http://schemas.microsoft.com/office/drawing/2014/main" id="{AA70617C-3992-4DA2-888E-5432109BA641}"/>
              </a:ext>
            </a:extLst>
          </p:cNvPr>
          <p:cNvSpPr>
            <a:spLocks xmlns:a="http://schemas.openxmlformats.org/drawingml/2006/main" noGrp="1"/>
          </p:cNvSpPr>
          <p:nvPr/>
        </p:nvSpPr>
        <p:spPr>
          <a:xfrm xmlns:a="http://schemas.openxmlformats.org/drawingml/2006/main">
            <a:off x="2286000" y="2390775"/>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Eur Heart J Cardiovasc Imaging. 2021.</a:t>
            </a:r>
          </a:p>
        </p:txBody>
      </p:sp>
      <p:sp>
        <p:nvSpPr>
          <p:cNvPr id="13" name="">
            <a:extLst xmlns:a="http://schemas.openxmlformats.org/drawingml/2006/main">
              <a:ext uri="{FF2B5EF4-FFF2-40B4-BE49-F238E27FC236}">
                <a16:creationId xmlns:a16="http://schemas.microsoft.com/office/drawing/2014/main" id="{803EA2DD-4548-401D-9813-39A0A4082272}"/>
              </a:ext>
            </a:extLst>
          </p:cNvPr>
          <p:cNvSpPr>
            <a:spLocks xmlns:a="http://schemas.openxmlformats.org/drawingml/2006/main" noGrp="1"/>
          </p:cNvSpPr>
          <p:nvPr/>
        </p:nvSpPr>
        <p:spPr>
          <a:xfrm xmlns:a="http://schemas.openxmlformats.org/drawingml/2006/main">
            <a:off x="400050" y="2771775"/>
            <a:ext cx="1714500" cy="2667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D89BB8B4-C4AF-4CBB-93A0-554D77F705F9}"/>
              </a:ext>
            </a:extLst>
          </p:cNvPr>
          <p:cNvSpPr>
            <a:spLocks xmlns:a="http://schemas.openxmlformats.org/drawingml/2006/main" noGrp="1"/>
          </p:cNvSpPr>
          <p:nvPr/>
        </p:nvSpPr>
        <p:spPr>
          <a:xfrm xmlns:a="http://schemas.openxmlformats.org/drawingml/2006/main">
            <a:off x="485775" y="281940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Layer-specific strain</a:t>
            </a:r>
          </a:p>
        </p:txBody>
      </p:sp>
      <p:sp>
        <p:nvSpPr>
          <p:cNvPr id="15" name="">
            <a:extLst xmlns:a="http://schemas.openxmlformats.org/drawingml/2006/main">
              <a:ext uri="{FF2B5EF4-FFF2-40B4-BE49-F238E27FC236}">
                <a16:creationId xmlns:a16="http://schemas.microsoft.com/office/drawing/2014/main" id="{F84F2AB4-DC13-4A22-8BB2-5372523C644F}"/>
              </a:ext>
            </a:extLst>
          </p:cNvPr>
          <p:cNvSpPr>
            <a:spLocks xmlns:a="http://schemas.openxmlformats.org/drawingml/2006/main" noGrp="1"/>
          </p:cNvSpPr>
          <p:nvPr/>
        </p:nvSpPr>
        <p:spPr>
          <a:xfrm xmlns:a="http://schemas.openxmlformats.org/drawingml/2006/main">
            <a:off x="2286000" y="272415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050505"/>
                </a:solidFill>
                <a:latin typeface="Arial"/>
                <a:ea typeface="Arial"/>
                <a:cs typeface="Arial"/>
              </a:defRPr>
            </a:pPr>
            <a:r>
              <a:rPr sz="1238" b="1" i="0">
                <a:solidFill>
                  <a:srgbClr val="050505"/>
                </a:solidFill>
                <a:latin typeface="Arial"/>
                <a:ea typeface="Arial"/>
                <a:cs typeface="Arial"/>
              </a:rPr>
              <a:t>Shi et al. LV layer-specific strains in healthy subjects</a:t>
            </a:r>
          </a:p>
        </p:txBody>
      </p:sp>
      <p:sp>
        <p:nvSpPr>
          <p:cNvPr id="16" name="">
            <a:extLst xmlns:a="http://schemas.openxmlformats.org/drawingml/2006/main">
              <a:ext uri="{FF2B5EF4-FFF2-40B4-BE49-F238E27FC236}">
                <a16:creationId xmlns:a16="http://schemas.microsoft.com/office/drawing/2014/main" id="{BA459D48-AC4C-4550-B3B8-FAD1F875ECF1}"/>
              </a:ext>
            </a:extLst>
          </p:cNvPr>
          <p:cNvSpPr>
            <a:spLocks xmlns:a="http://schemas.openxmlformats.org/drawingml/2006/main" noGrp="1"/>
          </p:cNvSpPr>
          <p:nvPr/>
        </p:nvSpPr>
        <p:spPr>
          <a:xfrm xmlns:a="http://schemas.openxmlformats.org/drawingml/2006/main">
            <a:off x="2286000" y="3019425"/>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Echocardiography. 2016.</a:t>
            </a:r>
          </a:p>
        </p:txBody>
      </p:sp>
      <p:sp>
        <p:nvSpPr>
          <p:cNvPr id="17" name="">
            <a:extLst xmlns:a="http://schemas.openxmlformats.org/drawingml/2006/main">
              <a:ext uri="{FF2B5EF4-FFF2-40B4-BE49-F238E27FC236}">
                <a16:creationId xmlns:a16="http://schemas.microsoft.com/office/drawing/2014/main" id="{64ECD467-FA97-4933-8FDD-62651AE41F54}"/>
              </a:ext>
            </a:extLst>
          </p:cNvPr>
          <p:cNvSpPr>
            <a:spLocks xmlns:a="http://schemas.openxmlformats.org/drawingml/2006/main" noGrp="1"/>
          </p:cNvSpPr>
          <p:nvPr/>
        </p:nvSpPr>
        <p:spPr>
          <a:xfrm xmlns:a="http://schemas.openxmlformats.org/drawingml/2006/main">
            <a:off x="400050" y="3400425"/>
            <a:ext cx="1714500" cy="266700"/>
          </a:xfrm>
          <a:prstGeom xmlns:a="http://schemas.openxmlformats.org/drawingml/2006/main" prst="roundRect">
            <a:avLst>
              <a:gd name="adj" fmla="val 50000"/>
            </a:avLst>
          </a:prstGeom>
          <a:solidFill xmlns:a="http://schemas.openxmlformats.org/drawingml/2006/main">
            <a:srgbClr val="1F8A8A"/>
          </a:solidFill>
          <a:ln xmlns:a="http://schemas.openxmlformats.org/drawingml/2006/main" w="0">
            <a:solidFill>
              <a:srgbClr val="1F8A8A"/>
            </a:solidFill>
            <a:prstDash val="solid"/>
          </a:ln>
        </p:spPr>
      </p:sp>
      <p:sp>
        <p:nvSpPr>
          <p:cNvPr id="18" name="">
            <a:extLst xmlns:a="http://schemas.openxmlformats.org/drawingml/2006/main">
              <a:ext uri="{FF2B5EF4-FFF2-40B4-BE49-F238E27FC236}">
                <a16:creationId xmlns:a16="http://schemas.microsoft.com/office/drawing/2014/main" id="{B80FD1A1-5CDD-4DA6-9B06-8A57B54A72BF}"/>
              </a:ext>
            </a:extLst>
          </p:cNvPr>
          <p:cNvSpPr>
            <a:spLocks xmlns:a="http://schemas.openxmlformats.org/drawingml/2006/main" noGrp="1"/>
          </p:cNvSpPr>
          <p:nvPr/>
        </p:nvSpPr>
        <p:spPr>
          <a:xfrm xmlns:a="http://schemas.openxmlformats.org/drawingml/2006/main">
            <a:off x="485775" y="344805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MOMENT</a:t>
            </a:r>
          </a:p>
        </p:txBody>
      </p:sp>
      <p:sp>
        <p:nvSpPr>
          <p:cNvPr id="19" name="">
            <a:extLst xmlns:a="http://schemas.openxmlformats.org/drawingml/2006/main">
              <a:ext uri="{FF2B5EF4-FFF2-40B4-BE49-F238E27FC236}">
                <a16:creationId xmlns:a16="http://schemas.microsoft.com/office/drawing/2014/main" id="{E4439B08-B75C-4CC8-954D-5D0075C946CA}"/>
              </a:ext>
            </a:extLst>
          </p:cNvPr>
          <p:cNvSpPr>
            <a:spLocks xmlns:a="http://schemas.openxmlformats.org/drawingml/2006/main" noGrp="1"/>
          </p:cNvSpPr>
          <p:nvPr/>
        </p:nvSpPr>
        <p:spPr>
          <a:xfrm xmlns:a="http://schemas.openxmlformats.org/drawingml/2006/main">
            <a:off x="2286000" y="335280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050505"/>
                </a:solidFill>
                <a:latin typeface="Arial"/>
                <a:ea typeface="Arial"/>
                <a:cs typeface="Arial"/>
              </a:defRPr>
            </a:pPr>
            <a:r>
              <a:rPr sz="1238" b="1" i="0">
                <a:solidFill>
                  <a:srgbClr val="050505"/>
                </a:solidFill>
                <a:latin typeface="Arial"/>
                <a:ea typeface="Arial"/>
                <a:cs typeface="Arial"/>
              </a:rPr>
              <a:t>Goswami et al. A family of open time-series foundation models</a:t>
            </a:r>
          </a:p>
        </p:txBody>
      </p:sp>
      <p:sp>
        <p:nvSpPr>
          <p:cNvPr id="20" name="">
            <a:extLst xmlns:a="http://schemas.openxmlformats.org/drawingml/2006/main">
              <a:ext uri="{FF2B5EF4-FFF2-40B4-BE49-F238E27FC236}">
                <a16:creationId xmlns:a16="http://schemas.microsoft.com/office/drawing/2014/main" id="{955D786F-3890-4612-B7D1-EE90F26C0CD4}"/>
              </a:ext>
            </a:extLst>
          </p:cNvPr>
          <p:cNvSpPr>
            <a:spLocks xmlns:a="http://schemas.openxmlformats.org/drawingml/2006/main" noGrp="1"/>
          </p:cNvSpPr>
          <p:nvPr/>
        </p:nvSpPr>
        <p:spPr>
          <a:xfrm xmlns:a="http://schemas.openxmlformats.org/drawingml/2006/main">
            <a:off x="2286000" y="3648075"/>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ICML 2024.</a:t>
            </a:r>
          </a:p>
        </p:txBody>
      </p:sp>
      <p:sp>
        <p:nvSpPr>
          <p:cNvPr id="21" name="">
            <a:extLst xmlns:a="http://schemas.openxmlformats.org/drawingml/2006/main">
              <a:ext uri="{FF2B5EF4-FFF2-40B4-BE49-F238E27FC236}">
                <a16:creationId xmlns:a16="http://schemas.microsoft.com/office/drawing/2014/main" id="{5F3C7911-EF8E-42DE-BDA1-2243AA0D75C7}"/>
              </a:ext>
            </a:extLst>
          </p:cNvPr>
          <p:cNvSpPr>
            <a:spLocks xmlns:a="http://schemas.openxmlformats.org/drawingml/2006/main" noGrp="1"/>
          </p:cNvSpPr>
          <p:nvPr/>
        </p:nvSpPr>
        <p:spPr>
          <a:xfrm xmlns:a="http://schemas.openxmlformats.org/drawingml/2006/main">
            <a:off x="400050" y="4029075"/>
            <a:ext cx="1714500" cy="266700"/>
          </a:xfrm>
          <a:prstGeom xmlns:a="http://schemas.openxmlformats.org/drawingml/2006/main" prst="roundRect">
            <a:avLst>
              <a:gd name="adj" fmla="val 50000"/>
            </a:avLst>
          </a:prstGeom>
          <a:solidFill xmlns:a="http://schemas.openxmlformats.org/drawingml/2006/main">
            <a:srgbClr val="2E8B57"/>
          </a:solidFill>
          <a:ln xmlns:a="http://schemas.openxmlformats.org/drawingml/2006/main" w="0">
            <a:solidFill>
              <a:srgbClr val="2E8B57"/>
            </a:solidFill>
            <a:prstDash val="solid"/>
          </a:ln>
        </p:spPr>
      </p:sp>
      <p:sp>
        <p:nvSpPr>
          <p:cNvPr id="22" name="">
            <a:extLst xmlns:a="http://schemas.openxmlformats.org/drawingml/2006/main">
              <a:ext uri="{FF2B5EF4-FFF2-40B4-BE49-F238E27FC236}">
                <a16:creationId xmlns:a16="http://schemas.microsoft.com/office/drawing/2014/main" id="{48A601C6-5843-4E2C-991B-83903DA578F6}"/>
              </a:ext>
            </a:extLst>
          </p:cNvPr>
          <p:cNvSpPr>
            <a:spLocks xmlns:a="http://schemas.openxmlformats.org/drawingml/2006/main" noGrp="1"/>
          </p:cNvSpPr>
          <p:nvPr/>
        </p:nvSpPr>
        <p:spPr>
          <a:xfrm xmlns:a="http://schemas.openxmlformats.org/drawingml/2006/main">
            <a:off x="485775" y="407670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RDST</a:t>
            </a:r>
          </a:p>
        </p:txBody>
      </p:sp>
      <p:sp>
        <p:nvSpPr>
          <p:cNvPr id="23" name="">
            <a:extLst xmlns:a="http://schemas.openxmlformats.org/drawingml/2006/main">
              <a:ext uri="{FF2B5EF4-FFF2-40B4-BE49-F238E27FC236}">
                <a16:creationId xmlns:a16="http://schemas.microsoft.com/office/drawing/2014/main" id="{9DDD3680-D9F6-4199-A40A-9DA223D3B97B}"/>
              </a:ext>
            </a:extLst>
          </p:cNvPr>
          <p:cNvSpPr>
            <a:spLocks xmlns:a="http://schemas.openxmlformats.org/drawingml/2006/main" noGrp="1"/>
          </p:cNvSpPr>
          <p:nvPr/>
        </p:nvSpPr>
        <p:spPr>
          <a:xfrm xmlns:a="http://schemas.openxmlformats.org/drawingml/2006/main">
            <a:off x="2286000" y="398145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050505"/>
                </a:solidFill>
                <a:latin typeface="Arial"/>
                <a:ea typeface="Arial"/>
                <a:cs typeface="Arial"/>
              </a:defRPr>
            </a:pPr>
            <a:r>
              <a:rPr sz="1238" b="1" i="0">
                <a:solidFill>
                  <a:srgbClr val="050505"/>
                </a:solidFill>
                <a:latin typeface="Arial"/>
                <a:ea typeface="Arial"/>
                <a:cs typeface="Arial"/>
              </a:rPr>
              <a:t>Guillaume et al. Random Dilated Shapelet Transform</a:t>
            </a:r>
          </a:p>
        </p:txBody>
      </p:sp>
      <p:sp>
        <p:nvSpPr>
          <p:cNvPr id="24" name="">
            <a:extLst xmlns:a="http://schemas.openxmlformats.org/drawingml/2006/main">
              <a:ext uri="{FF2B5EF4-FFF2-40B4-BE49-F238E27FC236}">
                <a16:creationId xmlns:a16="http://schemas.microsoft.com/office/drawing/2014/main" id="{F55893C3-456B-47A2-A907-AB5A12D18923}"/>
              </a:ext>
            </a:extLst>
          </p:cNvPr>
          <p:cNvSpPr>
            <a:spLocks xmlns:a="http://schemas.openxmlformats.org/drawingml/2006/main" noGrp="1"/>
          </p:cNvSpPr>
          <p:nvPr/>
        </p:nvSpPr>
        <p:spPr>
          <a:xfrm xmlns:a="http://schemas.openxmlformats.org/drawingml/2006/main">
            <a:off x="2286000" y="4276725"/>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2021/2022.</a:t>
            </a:r>
          </a:p>
        </p:txBody>
      </p:sp>
      <p:sp>
        <p:nvSpPr>
          <p:cNvPr id="25" name="">
            <a:extLst xmlns:a="http://schemas.openxmlformats.org/drawingml/2006/main">
              <a:ext uri="{FF2B5EF4-FFF2-40B4-BE49-F238E27FC236}">
                <a16:creationId xmlns:a16="http://schemas.microsoft.com/office/drawing/2014/main" id="{73C1F5C7-E132-4867-A0FC-D0C19D135E82}"/>
              </a:ext>
            </a:extLst>
          </p:cNvPr>
          <p:cNvSpPr>
            <a:spLocks xmlns:a="http://schemas.openxmlformats.org/drawingml/2006/main" noGrp="1"/>
          </p:cNvSpPr>
          <p:nvPr/>
        </p:nvSpPr>
        <p:spPr>
          <a:xfrm xmlns:a="http://schemas.openxmlformats.org/drawingml/2006/main">
            <a:off x="400050" y="4657725"/>
            <a:ext cx="1714500" cy="266700"/>
          </a:xfrm>
          <a:prstGeom xmlns:a="http://schemas.openxmlformats.org/drawingml/2006/main" prst="roundRect">
            <a:avLst>
              <a:gd name="adj" fmla="val 50000"/>
            </a:avLst>
          </a:prstGeom>
          <a:solidFill xmlns:a="http://schemas.openxmlformats.org/drawingml/2006/main">
            <a:srgbClr val="E8893A"/>
          </a:solidFill>
          <a:ln xmlns:a="http://schemas.openxmlformats.org/drawingml/2006/main" w="0">
            <a:solidFill>
              <a:srgbClr val="E8893A"/>
            </a:solidFill>
            <a:prstDash val="solid"/>
          </a:ln>
        </p:spPr>
      </p:sp>
      <p:sp>
        <p:nvSpPr>
          <p:cNvPr id="26" name="">
            <a:extLst xmlns:a="http://schemas.openxmlformats.org/drawingml/2006/main">
              <a:ext uri="{FF2B5EF4-FFF2-40B4-BE49-F238E27FC236}">
                <a16:creationId xmlns:a16="http://schemas.microsoft.com/office/drawing/2014/main" id="{DF7BCCBF-D91B-4CD9-BF35-A19A3E07F5FE}"/>
              </a:ext>
            </a:extLst>
          </p:cNvPr>
          <p:cNvSpPr>
            <a:spLocks xmlns:a="http://schemas.openxmlformats.org/drawingml/2006/main" noGrp="1"/>
          </p:cNvSpPr>
          <p:nvPr/>
        </p:nvSpPr>
        <p:spPr>
          <a:xfrm xmlns:a="http://schemas.openxmlformats.org/drawingml/2006/main">
            <a:off x="485775" y="470535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Catch22</a:t>
            </a:r>
          </a:p>
        </p:txBody>
      </p:sp>
      <p:sp>
        <p:nvSpPr>
          <p:cNvPr id="27" name="">
            <a:extLst xmlns:a="http://schemas.openxmlformats.org/drawingml/2006/main">
              <a:ext uri="{FF2B5EF4-FFF2-40B4-BE49-F238E27FC236}">
                <a16:creationId xmlns:a16="http://schemas.microsoft.com/office/drawing/2014/main" id="{1207741A-FE43-466F-8099-B1C2DF5ACE7B}"/>
              </a:ext>
            </a:extLst>
          </p:cNvPr>
          <p:cNvSpPr>
            <a:spLocks xmlns:a="http://schemas.openxmlformats.org/drawingml/2006/main" noGrp="1"/>
          </p:cNvSpPr>
          <p:nvPr/>
        </p:nvSpPr>
        <p:spPr>
          <a:xfrm xmlns:a="http://schemas.openxmlformats.org/drawingml/2006/main">
            <a:off x="2286000" y="461010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050505"/>
                </a:solidFill>
                <a:latin typeface="Arial"/>
                <a:ea typeface="Arial"/>
                <a:cs typeface="Arial"/>
              </a:defRPr>
            </a:pPr>
            <a:r>
              <a:rPr sz="1238" b="1" i="0">
                <a:solidFill>
                  <a:srgbClr val="050505"/>
                </a:solidFill>
                <a:latin typeface="Arial"/>
                <a:ea typeface="Arial"/>
                <a:cs typeface="Arial"/>
              </a:rPr>
              <a:t>Lubba et al. CAnonical Time-series CHaracteristics</a:t>
            </a:r>
          </a:p>
        </p:txBody>
      </p:sp>
      <p:sp>
        <p:nvSpPr>
          <p:cNvPr id="28" name="">
            <a:extLst xmlns:a="http://schemas.openxmlformats.org/drawingml/2006/main">
              <a:ext uri="{FF2B5EF4-FFF2-40B4-BE49-F238E27FC236}">
                <a16:creationId xmlns:a16="http://schemas.microsoft.com/office/drawing/2014/main" id="{85D4FCD8-EBB9-4BAE-9313-D884BAEC67B1}"/>
              </a:ext>
            </a:extLst>
          </p:cNvPr>
          <p:cNvSpPr>
            <a:spLocks xmlns:a="http://schemas.openxmlformats.org/drawingml/2006/main" noGrp="1"/>
          </p:cNvSpPr>
          <p:nvPr/>
        </p:nvSpPr>
        <p:spPr>
          <a:xfrm xmlns:a="http://schemas.openxmlformats.org/drawingml/2006/main">
            <a:off x="2286000" y="4905375"/>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Data Min Knowl Disc. 2019.</a:t>
            </a:r>
          </a:p>
        </p:txBody>
      </p:sp>
      <p:sp>
        <p:nvSpPr>
          <p:cNvPr id="29" name="">
            <a:extLst xmlns:a="http://schemas.openxmlformats.org/drawingml/2006/main">
              <a:ext uri="{FF2B5EF4-FFF2-40B4-BE49-F238E27FC236}">
                <a16:creationId xmlns:a16="http://schemas.microsoft.com/office/drawing/2014/main" id="{4B4694B9-82FB-419F-85F8-ABF2147DB30F}"/>
              </a:ext>
            </a:extLst>
          </p:cNvPr>
          <p:cNvSpPr>
            <a:spLocks xmlns:a="http://schemas.openxmlformats.org/drawingml/2006/main" noGrp="1"/>
          </p:cNvSpPr>
          <p:nvPr/>
        </p:nvSpPr>
        <p:spPr>
          <a:xfrm xmlns:a="http://schemas.openxmlformats.org/drawingml/2006/main">
            <a:off x="400050" y="5286375"/>
            <a:ext cx="1714500" cy="266700"/>
          </a:xfrm>
          <a:prstGeom xmlns:a="http://schemas.openxmlformats.org/drawingml/2006/main" prst="roundRect">
            <a:avLst>
              <a:gd name="adj" fmla="val 50000"/>
            </a:avLst>
          </a:prstGeom>
          <a:solidFill xmlns:a="http://schemas.openxmlformats.org/drawingml/2006/main">
            <a:srgbClr val="050505"/>
          </a:solidFill>
          <a:ln xmlns:a="http://schemas.openxmlformats.org/drawingml/2006/main" w="0">
            <a:solidFill>
              <a:srgbClr val="050505"/>
            </a:solidFill>
            <a:prstDash val="solid"/>
          </a:ln>
        </p:spPr>
      </p:sp>
      <p:sp>
        <p:nvSpPr>
          <p:cNvPr id="30" name="">
            <a:extLst xmlns:a="http://schemas.openxmlformats.org/drawingml/2006/main">
              <a:ext uri="{FF2B5EF4-FFF2-40B4-BE49-F238E27FC236}">
                <a16:creationId xmlns:a16="http://schemas.microsoft.com/office/drawing/2014/main" id="{B0175532-CDE0-41D2-BC9E-ADAA126887A2}"/>
              </a:ext>
            </a:extLst>
          </p:cNvPr>
          <p:cNvSpPr>
            <a:spLocks xmlns:a="http://schemas.openxmlformats.org/drawingml/2006/main" noGrp="1"/>
          </p:cNvSpPr>
          <p:nvPr/>
        </p:nvSpPr>
        <p:spPr>
          <a:xfrm xmlns:a="http://schemas.openxmlformats.org/drawingml/2006/main">
            <a:off x="485775" y="533400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XGBoost</a:t>
            </a:r>
          </a:p>
        </p:txBody>
      </p:sp>
      <p:sp>
        <p:nvSpPr>
          <p:cNvPr id="31" name="">
            <a:extLst xmlns:a="http://schemas.openxmlformats.org/drawingml/2006/main">
              <a:ext uri="{FF2B5EF4-FFF2-40B4-BE49-F238E27FC236}">
                <a16:creationId xmlns:a16="http://schemas.microsoft.com/office/drawing/2014/main" id="{B7B3AAEB-276C-4080-9EF8-61C350378901}"/>
              </a:ext>
            </a:extLst>
          </p:cNvPr>
          <p:cNvSpPr>
            <a:spLocks xmlns:a="http://schemas.openxmlformats.org/drawingml/2006/main" noGrp="1"/>
          </p:cNvSpPr>
          <p:nvPr/>
        </p:nvSpPr>
        <p:spPr>
          <a:xfrm xmlns:a="http://schemas.openxmlformats.org/drawingml/2006/main">
            <a:off x="2286000" y="523875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i="0">
                <a:solidFill>
                  <a:srgbClr val="050505"/>
                </a:solidFill>
                <a:latin typeface="Arial"/>
                <a:ea typeface="Arial"/>
                <a:cs typeface="Arial"/>
              </a:defRPr>
            </a:pPr>
            <a:r>
              <a:rPr sz="1238" b="1" i="0">
                <a:solidFill>
                  <a:srgbClr val="050505"/>
                </a:solidFill>
                <a:latin typeface="Arial"/>
                <a:ea typeface="Arial"/>
                <a:cs typeface="Arial"/>
              </a:rPr>
              <a:t>Chen &amp; Guestrin. A scalable tree boosting system</a:t>
            </a:r>
          </a:p>
        </p:txBody>
      </p:sp>
      <p:sp>
        <p:nvSpPr>
          <p:cNvPr id="32" name="">
            <a:extLst xmlns:a="http://schemas.openxmlformats.org/drawingml/2006/main">
              <a:ext uri="{FF2B5EF4-FFF2-40B4-BE49-F238E27FC236}">
                <a16:creationId xmlns:a16="http://schemas.microsoft.com/office/drawing/2014/main" id="{15C4284F-A674-4107-8F69-6AF217FA6E47}"/>
              </a:ext>
            </a:extLst>
          </p:cNvPr>
          <p:cNvSpPr>
            <a:spLocks xmlns:a="http://schemas.openxmlformats.org/drawingml/2006/main" noGrp="1"/>
          </p:cNvSpPr>
          <p:nvPr/>
        </p:nvSpPr>
        <p:spPr>
          <a:xfrm xmlns:a="http://schemas.openxmlformats.org/drawingml/2006/main">
            <a:off x="2286000" y="5534025"/>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88" b="0" i="0">
                <a:solidFill>
                  <a:srgbClr val="5B616B"/>
                </a:solidFill>
                <a:latin typeface="Arial"/>
                <a:ea typeface="Arial"/>
                <a:cs typeface="Arial"/>
              </a:defRPr>
            </a:pPr>
            <a:r>
              <a:rPr sz="1088" b="0" i="0">
                <a:solidFill>
                  <a:srgbClr val="5B616B"/>
                </a:solidFill>
                <a:latin typeface="Arial"/>
                <a:ea typeface="Arial"/>
                <a:cs typeface="Arial"/>
              </a:rPr>
              <a:t>KDD 2016.</a:t>
            </a:r>
          </a:p>
        </p:txBody>
      </p:sp>
      <p:sp>
        <p:nvSpPr>
          <p:cNvPr id="33" name="">
            <a:extLst xmlns:a="http://schemas.openxmlformats.org/drawingml/2006/main">
              <a:ext uri="{FF2B5EF4-FFF2-40B4-BE49-F238E27FC236}">
                <a16:creationId xmlns:a16="http://schemas.microsoft.com/office/drawing/2014/main" id="{BA0C0C73-C416-4270-ACC3-FA3ED970BEDC}"/>
              </a:ext>
            </a:extLst>
          </p:cNvPr>
          <p:cNvSpPr>
            <a:spLocks xmlns:a="http://schemas.openxmlformats.org/drawingml/2006/main" noGrp="1"/>
          </p:cNvSpPr>
          <p:nvPr/>
        </p:nvSpPr>
        <p:spPr>
          <a:xfrm xmlns:a="http://schemas.openxmlformats.org/drawingml/2006/main">
            <a:off x="8934450" y="1466850"/>
            <a:ext cx="2590800" cy="4057650"/>
          </a:xfrm>
          <a:prstGeom xmlns:a="http://schemas.openxmlformats.org/drawingml/2006/main" prst="roundRect">
            <a:avLst>
              <a:gd name="adj" fmla="val 4412"/>
            </a:avLst>
          </a:prstGeom>
          <a:solidFill xmlns:a="http://schemas.openxmlformats.org/drawingml/2006/main">
            <a:srgbClr val="FFF2E7"/>
          </a:solidFill>
          <a:ln xmlns:a="http://schemas.openxmlformats.org/drawingml/2006/main" w="9525">
            <a:solidFill>
              <a:srgbClr val="EDEDED"/>
            </a:solidFill>
            <a:prstDash val="solid"/>
          </a:ln>
        </p:spPr>
      </p:sp>
      <p:sp>
        <p:nvSpPr>
          <p:cNvPr id="34" name="">
            <a:extLst xmlns:a="http://schemas.openxmlformats.org/drawingml/2006/main">
              <a:ext uri="{FF2B5EF4-FFF2-40B4-BE49-F238E27FC236}">
                <a16:creationId xmlns:a16="http://schemas.microsoft.com/office/drawing/2014/main" id="{1B9803D9-807E-4CED-93DC-49BA7987235A}"/>
              </a:ext>
            </a:extLst>
          </p:cNvPr>
          <p:cNvSpPr>
            <a:spLocks xmlns:a="http://schemas.openxmlformats.org/drawingml/2006/main" noGrp="1"/>
          </p:cNvSpPr>
          <p:nvPr/>
        </p:nvSpPr>
        <p:spPr>
          <a:xfrm xmlns:a="http://schemas.openxmlformats.org/drawingml/2006/main">
            <a:off x="9105900" y="163830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50505"/>
                </a:solidFill>
                <a:latin typeface="Arial"/>
                <a:ea typeface="Arial"/>
                <a:cs typeface="Arial"/>
              </a:defRPr>
            </a:pPr>
            <a:r>
              <a:rPr sz="1575" b="1" i="0">
                <a:solidFill>
                  <a:srgbClr val="050505"/>
                </a:solidFill>
                <a:latin typeface="Arial"/>
                <a:ea typeface="Arial"/>
                <a:cs typeface="Arial"/>
              </a:rPr>
              <a:t>Source policy</a:t>
            </a:r>
          </a:p>
        </p:txBody>
      </p:sp>
      <p:sp>
        <p:nvSpPr>
          <p:cNvPr id="35" name="">
            <a:extLst xmlns:a="http://schemas.openxmlformats.org/drawingml/2006/main">
              <a:ext uri="{FF2B5EF4-FFF2-40B4-BE49-F238E27FC236}">
                <a16:creationId xmlns:a16="http://schemas.microsoft.com/office/drawing/2014/main" id="{B95E7975-62BA-409D-BA95-D418CC92F03D}"/>
              </a:ext>
            </a:extLst>
          </p:cNvPr>
          <p:cNvSpPr>
            <a:spLocks xmlns:a="http://schemas.openxmlformats.org/drawingml/2006/main" noGrp="1"/>
          </p:cNvSpPr>
          <p:nvPr/>
        </p:nvSpPr>
        <p:spPr>
          <a:xfrm xmlns:a="http://schemas.openxmlformats.org/drawingml/2006/main">
            <a:off x="9105900" y="2057400"/>
            <a:ext cx="2247900" cy="331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Primary papers and official guideline sources support methodological and physiological claims.</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Exact feature calculations and model dimensions are sourced to the local implementation.</a:t>
            </a:r>
          </a:p>
          <a:p xmlns:a="http://schemas.openxmlformats.org/drawingml/2006/main">
            <a:r>
              <a:t/>
            </a:r>
          </a:p>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Speaker notes on every slide contain URLs or local paths.</a:t>
            </a:r>
          </a:p>
        </p:txBody>
      </p:sp>
      <p:sp>
        <p:nvSpPr>
          <p:cNvPr id="36" name="">
            <a:extLst xmlns:a="http://schemas.openxmlformats.org/drawingml/2006/main">
              <a:ext uri="{FF2B5EF4-FFF2-40B4-BE49-F238E27FC236}">
                <a16:creationId xmlns:a16="http://schemas.microsoft.com/office/drawing/2014/main" id="{CFEDA791-2A1C-4EE8-986D-1A7CB8DBEEBF}"/>
              </a:ext>
            </a:extLst>
          </p:cNvPr>
          <p:cNvSpPr>
            <a:spLocks xmlns:a="http://schemas.openxmlformats.org/drawingml/2006/main" noGrp="1"/>
          </p:cNvSpPr>
          <p:nvPr/>
        </p:nvSpPr>
        <p:spPr>
          <a:xfrm xmlns:a="http://schemas.openxmlformats.org/drawingml/2006/main">
            <a:off x="400050" y="6438900"/>
            <a:ext cx="9906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8" b="0" i="0">
                <a:solidFill>
                  <a:srgbClr val="5B616B"/>
                </a:solidFill>
                <a:latin typeface="Arial"/>
                <a:ea typeface="Arial"/>
                <a:cs typeface="Arial"/>
              </a:defRPr>
            </a:pPr>
            <a:r>
              <a:rPr sz="788" b="0" i="0">
                <a:solidFill>
                  <a:srgbClr val="5B616B"/>
                </a:solidFill>
                <a:latin typeface="Arial"/>
                <a:ea typeface="Arial"/>
                <a:cs typeface="Arial"/>
              </a:rPr>
              <a:t>SOURCE  full URLs are embedded in speaker notes</a:t>
            </a:r>
          </a:p>
        </p:txBody>
      </p:sp>
    </p:spTree>
    <p:extLst>
      <p:ext uri="{BB962C8B-B14F-4D97-AF65-F5344CB8AC3E}">
        <p14:creationId xmlns:p14="http://schemas.microsoft.com/office/powerpoint/2010/main" val="1683643756"/>
      </p:ext>
    </p:extLst>
  </p:cSld>
</p:sld>
</file>

<file path=ppt/slides/slide4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BFD4E3-6A83-4F8E-A5D7-4543D575FCC4}"/>
              </a:ext>
            </a:extLst>
          </p:cNvPr>
          <p:cNvSpPr>
            <a:spLocks xmlns:a="http://schemas.openxmlformats.org/drawingml/2006/main" noGrp="1"/>
          </p:cNvSpPr>
          <p:nvPr/>
        </p:nvSpPr>
        <p:spPr>
          <a:xfrm xmlns:a="http://schemas.openxmlformats.org/drawingml/2006/main">
            <a:off x="552450" y="5524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DCBF4"/>
                </a:solidFill>
                <a:latin typeface="Arial"/>
                <a:ea typeface="Arial"/>
                <a:cs typeface="Arial"/>
              </a:defRPr>
            </a:pPr>
            <a:r>
              <a:rPr sz="975" b="1" i="0">
                <a:solidFill>
                  <a:srgbClr val="6DCBF4"/>
                </a:solidFill>
                <a:latin typeface="Arial"/>
                <a:ea typeface="Arial"/>
                <a:cs typeface="Arial"/>
              </a:rPr>
              <a:t>TAKE-HOME MESSAGE</a:t>
            </a:r>
          </a:p>
        </p:txBody>
      </p:sp>
      <p:sp>
        <p:nvSpPr>
          <p:cNvPr id="2" name="">
            <a:extLst xmlns:a="http://schemas.openxmlformats.org/drawingml/2006/main">
              <a:ext uri="{FF2B5EF4-FFF2-40B4-BE49-F238E27FC236}">
                <a16:creationId xmlns:a16="http://schemas.microsoft.com/office/drawing/2014/main" id="{980CF1EA-3DEE-48FD-A121-B9EA30C161F7}"/>
              </a:ext>
            </a:extLst>
          </p:cNvPr>
          <p:cNvSpPr>
            <a:spLocks xmlns:a="http://schemas.openxmlformats.org/drawingml/2006/main" noGrp="1"/>
          </p:cNvSpPr>
          <p:nvPr/>
        </p:nvSpPr>
        <p:spPr>
          <a:xfrm xmlns:a="http://schemas.openxmlformats.org/drawingml/2006/main">
            <a:off x="552450" y="120015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33"/>
          </a:bodyPr>
          <a:lstStyle xmlns:a="http://schemas.openxmlformats.org/drawingml/2006/main"/>
          <a:p xmlns:a="http://schemas.openxmlformats.org/drawingml/2006/main">
            <a:pPr algn="l">
              <a:defRPr sz="3750" b="1" i="0">
                <a:solidFill>
                  <a:srgbClr val="FFFFFF"/>
                </a:solidFill>
                <a:latin typeface="Arial"/>
                <a:ea typeface="Arial"/>
                <a:cs typeface="Arial"/>
              </a:defRPr>
            </a:pPr>
            <a:r>
              <a:rPr sz="3750" b="1" i="0">
                <a:solidFill>
                  <a:srgbClr val="FFFFFF"/>
                </a:solidFill>
                <a:latin typeface="Arial"/>
                <a:ea typeface="Arial"/>
                <a:cs typeface="Arial"/>
              </a:rPr>
              <a:t>The models converge on a coherent—yet still exploratory—signal.</a:t>
            </a:r>
          </a:p>
        </p:txBody>
      </p:sp>
      <p:sp>
        <p:nvSpPr>
          <p:cNvPr id="3" name="">
            <a:extLst xmlns:a="http://schemas.openxmlformats.org/drawingml/2006/main">
              <a:ext uri="{FF2B5EF4-FFF2-40B4-BE49-F238E27FC236}">
                <a16:creationId xmlns:a16="http://schemas.microsoft.com/office/drawing/2014/main" id="{900F1427-EAE6-497D-9EC0-9730C6F0B3B2}"/>
              </a:ext>
            </a:extLst>
          </p:cNvPr>
          <p:cNvSpPr>
            <a:spLocks xmlns:a="http://schemas.openxmlformats.org/drawingml/2006/main" noGrp="1"/>
          </p:cNvSpPr>
          <p:nvPr/>
        </p:nvSpPr>
        <p:spPr>
          <a:xfrm xmlns:a="http://schemas.openxmlformats.org/drawingml/2006/main">
            <a:off x="552450" y="2800350"/>
            <a:ext cx="3333750" cy="1962150"/>
          </a:xfrm>
          <a:prstGeom xmlns:a="http://schemas.openxmlformats.org/drawingml/2006/main" prst="roundRect">
            <a:avLst>
              <a:gd name="adj" fmla="val 5825"/>
            </a:avLst>
          </a:prstGeom>
          <a:solidFill xmlns:a="http://schemas.openxmlformats.org/drawingml/2006/main">
            <a:srgbClr val="EAF5FF"/>
          </a:solidFill>
          <a:ln xmlns:a="http://schemas.openxmlformats.org/drawingml/2006/main" w="9525">
            <a:solidFill>
              <a:srgbClr val="EDEDED"/>
            </a:solidFill>
            <a:prstDash val="solid"/>
          </a:ln>
        </p:spPr>
      </p:sp>
      <p:sp>
        <p:nvSpPr>
          <p:cNvPr id="4" name="">
            <a:extLst xmlns:a="http://schemas.openxmlformats.org/drawingml/2006/main">
              <a:ext uri="{FF2B5EF4-FFF2-40B4-BE49-F238E27FC236}">
                <a16:creationId xmlns:a16="http://schemas.microsoft.com/office/drawing/2014/main" id="{5B9601A5-9AEF-4296-B14C-ED139895C6AF}"/>
              </a:ext>
            </a:extLst>
          </p:cNvPr>
          <p:cNvSpPr>
            <a:spLocks xmlns:a="http://schemas.openxmlformats.org/drawingml/2006/main" noGrp="1"/>
          </p:cNvSpPr>
          <p:nvPr/>
        </p:nvSpPr>
        <p:spPr>
          <a:xfrm xmlns:a="http://schemas.openxmlformats.org/drawingml/2006/main">
            <a:off x="723900" y="297180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3D8DFF"/>
                </a:solidFill>
                <a:latin typeface="Arial"/>
                <a:ea typeface="Arial"/>
                <a:cs typeface="Arial"/>
              </a:defRPr>
            </a:pPr>
            <a:r>
              <a:rPr sz="1575" b="1" i="0">
                <a:solidFill>
                  <a:srgbClr val="3D8DFF"/>
                </a:solidFill>
                <a:latin typeface="Arial"/>
                <a:ea typeface="Arial"/>
                <a:cs typeface="Arial"/>
              </a:rPr>
              <a:t>01 · Context</a:t>
            </a:r>
          </a:p>
        </p:txBody>
      </p:sp>
      <p:sp>
        <p:nvSpPr>
          <p:cNvPr id="5" name="">
            <a:extLst xmlns:a="http://schemas.openxmlformats.org/drawingml/2006/main">
              <a:ext uri="{FF2B5EF4-FFF2-40B4-BE49-F238E27FC236}">
                <a16:creationId xmlns:a16="http://schemas.microsoft.com/office/drawing/2014/main" id="{1CD849E9-26F7-4F7F-9AA5-D1AE02FBF99C}"/>
              </a:ext>
            </a:extLst>
          </p:cNvPr>
          <p:cNvSpPr>
            <a:spLocks xmlns:a="http://schemas.openxmlformats.org/drawingml/2006/main" noGrp="1"/>
          </p:cNvSpPr>
          <p:nvPr/>
        </p:nvSpPr>
        <p:spPr>
          <a:xfrm xmlns:a="http://schemas.openxmlformats.org/drawingml/2006/main">
            <a:off x="723900" y="3390900"/>
            <a:ext cx="29908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First-visit baseline and recent trajectory remain essential.</a:t>
            </a:r>
          </a:p>
        </p:txBody>
      </p:sp>
      <p:sp>
        <p:nvSpPr>
          <p:cNvPr id="6" name="">
            <a:extLst xmlns:a="http://schemas.openxmlformats.org/drawingml/2006/main">
              <a:ext uri="{FF2B5EF4-FFF2-40B4-BE49-F238E27FC236}">
                <a16:creationId xmlns:a16="http://schemas.microsoft.com/office/drawing/2014/main" id="{92CFE282-B8AF-4BB6-8691-184744E0F1F2}"/>
              </a:ext>
            </a:extLst>
          </p:cNvPr>
          <p:cNvSpPr>
            <a:spLocks xmlns:a="http://schemas.openxmlformats.org/drawingml/2006/main" noGrp="1"/>
          </p:cNvSpPr>
          <p:nvPr/>
        </p:nvSpPr>
        <p:spPr>
          <a:xfrm xmlns:a="http://schemas.openxmlformats.org/drawingml/2006/main">
            <a:off x="4095750" y="2800350"/>
            <a:ext cx="3333750" cy="1962150"/>
          </a:xfrm>
          <a:prstGeom xmlns:a="http://schemas.openxmlformats.org/drawingml/2006/main" prst="roundRect">
            <a:avLst>
              <a:gd name="adj" fmla="val 5825"/>
            </a:avLst>
          </a:prstGeom>
          <a:solidFill xmlns:a="http://schemas.openxmlformats.org/drawingml/2006/main">
            <a:srgbClr val="EBF6EF"/>
          </a:solidFill>
          <a:ln xmlns:a="http://schemas.openxmlformats.org/drawingml/2006/main" w="9525">
            <a:solidFill>
              <a:srgbClr val="EDEDED"/>
            </a:solidFill>
            <a:prstDash val="solid"/>
          </a:ln>
        </p:spPr>
      </p:sp>
      <p:sp>
        <p:nvSpPr>
          <p:cNvPr id="7" name="">
            <a:extLst xmlns:a="http://schemas.openxmlformats.org/drawingml/2006/main">
              <a:ext uri="{FF2B5EF4-FFF2-40B4-BE49-F238E27FC236}">
                <a16:creationId xmlns:a16="http://schemas.microsoft.com/office/drawing/2014/main" id="{AF77D599-6606-421A-8E1B-696FF3C93AA8}"/>
              </a:ext>
            </a:extLst>
          </p:cNvPr>
          <p:cNvSpPr>
            <a:spLocks xmlns:a="http://schemas.openxmlformats.org/drawingml/2006/main" noGrp="1"/>
          </p:cNvSpPr>
          <p:nvPr/>
        </p:nvSpPr>
        <p:spPr>
          <a:xfrm xmlns:a="http://schemas.openxmlformats.org/drawingml/2006/main">
            <a:off x="4267200" y="297180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2E8B57"/>
                </a:solidFill>
                <a:latin typeface="Arial"/>
                <a:ea typeface="Arial"/>
                <a:cs typeface="Arial"/>
              </a:defRPr>
            </a:pPr>
            <a:r>
              <a:rPr sz="1575" b="1" i="0">
                <a:solidFill>
                  <a:srgbClr val="2E8B57"/>
                </a:solidFill>
                <a:latin typeface="Arial"/>
                <a:ea typeface="Arial"/>
                <a:cs typeface="Arial"/>
              </a:rPr>
              <a:t>02 · Heterogeneity</a:t>
            </a:r>
          </a:p>
        </p:txBody>
      </p:sp>
      <p:sp>
        <p:nvSpPr>
          <p:cNvPr id="8" name="">
            <a:extLst xmlns:a="http://schemas.openxmlformats.org/drawingml/2006/main">
              <a:ext uri="{FF2B5EF4-FFF2-40B4-BE49-F238E27FC236}">
                <a16:creationId xmlns:a16="http://schemas.microsoft.com/office/drawing/2014/main" id="{B0C1CD74-731A-4315-A3AD-7A6B169607BA}"/>
              </a:ext>
            </a:extLst>
          </p:cNvPr>
          <p:cNvSpPr>
            <a:spLocks xmlns:a="http://schemas.openxmlformats.org/drawingml/2006/main" noGrp="1"/>
          </p:cNvSpPr>
          <p:nvPr/>
        </p:nvSpPr>
        <p:spPr>
          <a:xfrm xmlns:a="http://schemas.openxmlformats.org/drawingml/2006/main">
            <a:off x="4267200" y="3390900"/>
            <a:ext cx="29908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Extreme segment representations and timing features are most consistent.</a:t>
            </a:r>
          </a:p>
        </p:txBody>
      </p:sp>
      <p:sp>
        <p:nvSpPr>
          <p:cNvPr id="9" name="">
            <a:extLst xmlns:a="http://schemas.openxmlformats.org/drawingml/2006/main">
              <a:ext uri="{FF2B5EF4-FFF2-40B4-BE49-F238E27FC236}">
                <a16:creationId xmlns:a16="http://schemas.microsoft.com/office/drawing/2014/main" id="{770CEF37-2345-4CD2-B471-DF199AF197F8}"/>
              </a:ext>
            </a:extLst>
          </p:cNvPr>
          <p:cNvSpPr>
            <a:spLocks xmlns:a="http://schemas.openxmlformats.org/drawingml/2006/main" noGrp="1"/>
          </p:cNvSpPr>
          <p:nvPr/>
        </p:nvSpPr>
        <p:spPr>
          <a:xfrm xmlns:a="http://schemas.openxmlformats.org/drawingml/2006/main">
            <a:off x="7639050" y="2800350"/>
            <a:ext cx="4000500" cy="1962150"/>
          </a:xfrm>
          <a:prstGeom xmlns:a="http://schemas.openxmlformats.org/drawingml/2006/main" prst="roundRect">
            <a:avLst>
              <a:gd name="adj" fmla="val 5825"/>
            </a:avLst>
          </a:prstGeom>
          <a:solidFill xmlns:a="http://schemas.openxmlformats.org/drawingml/2006/main">
            <a:srgbClr val="FFF2E7"/>
          </a:solidFill>
          <a:ln xmlns:a="http://schemas.openxmlformats.org/drawingml/2006/main" w="9525">
            <a:solidFill>
              <a:srgbClr val="EDEDED"/>
            </a:solidFill>
            <a:prstDash val="solid"/>
          </a:ln>
        </p:spPr>
      </p:sp>
      <p:sp>
        <p:nvSpPr>
          <p:cNvPr id="10" name="">
            <a:extLst xmlns:a="http://schemas.openxmlformats.org/drawingml/2006/main">
              <a:ext uri="{FF2B5EF4-FFF2-40B4-BE49-F238E27FC236}">
                <a16:creationId xmlns:a16="http://schemas.microsoft.com/office/drawing/2014/main" id="{212B0582-548E-4696-8EDB-A84D090DC206}"/>
              </a:ext>
            </a:extLst>
          </p:cNvPr>
          <p:cNvSpPr>
            <a:spLocks xmlns:a="http://schemas.openxmlformats.org/drawingml/2006/main" noGrp="1"/>
          </p:cNvSpPr>
          <p:nvPr/>
        </p:nvSpPr>
        <p:spPr>
          <a:xfrm xmlns:a="http://schemas.openxmlformats.org/drawingml/2006/main">
            <a:off x="7810500" y="2971800"/>
            <a:ext cx="365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E8893A"/>
                </a:solidFill>
                <a:latin typeface="Arial"/>
                <a:ea typeface="Arial"/>
                <a:cs typeface="Arial"/>
              </a:defRPr>
            </a:pPr>
            <a:r>
              <a:rPr sz="1575" b="1" i="0">
                <a:solidFill>
                  <a:srgbClr val="E8893A"/>
                </a:solidFill>
                <a:latin typeface="Arial"/>
                <a:ea typeface="Arial"/>
                <a:cs typeface="Arial"/>
              </a:rPr>
              <a:t>03 · Endo–Mid</a:t>
            </a:r>
          </a:p>
        </p:txBody>
      </p:sp>
      <p:sp>
        <p:nvSpPr>
          <p:cNvPr id="11" name="">
            <a:extLst xmlns:a="http://schemas.openxmlformats.org/drawingml/2006/main">
              <a:ext uri="{FF2B5EF4-FFF2-40B4-BE49-F238E27FC236}">
                <a16:creationId xmlns:a16="http://schemas.microsoft.com/office/drawing/2014/main" id="{D5F276F1-1EBF-4FC6-B449-8A889EAF1BC0}"/>
              </a:ext>
            </a:extLst>
          </p:cNvPr>
          <p:cNvSpPr>
            <a:spLocks xmlns:a="http://schemas.openxmlformats.org/drawingml/2006/main" noGrp="1"/>
          </p:cNvSpPr>
          <p:nvPr/>
        </p:nvSpPr>
        <p:spPr>
          <a:xfrm xmlns:a="http://schemas.openxmlformats.org/drawingml/2006/main">
            <a:off x="7810500" y="3390900"/>
            <a:ext cx="3657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0" i="0">
                <a:solidFill>
                  <a:srgbClr val="050505"/>
                </a:solidFill>
                <a:latin typeface="Arial"/>
                <a:ea typeface="Arial"/>
                <a:cs typeface="Arial"/>
              </a:defRPr>
            </a:pPr>
            <a:r>
              <a:rPr sz="1238" b="0" i="0">
                <a:solidFill>
                  <a:srgbClr val="050505"/>
                </a:solidFill>
                <a:latin typeface="Arial"/>
                <a:ea typeface="Arial"/>
                <a:cs typeface="Arial"/>
              </a:rPr>
              <a:t>Changing transmural discordance is promising but not yet statistically conclusive.</a:t>
            </a:r>
          </a:p>
        </p:txBody>
      </p:sp>
      <p:sp>
        <p:nvSpPr>
          <p:cNvPr id="12" name="">
            <a:extLst xmlns:a="http://schemas.openxmlformats.org/drawingml/2006/main">
              <a:ext uri="{FF2B5EF4-FFF2-40B4-BE49-F238E27FC236}">
                <a16:creationId xmlns:a16="http://schemas.microsoft.com/office/drawing/2014/main" id="{B165F67B-2F99-4663-9906-68D11EF4F5D8}"/>
              </a:ext>
            </a:extLst>
          </p:cNvPr>
          <p:cNvSpPr>
            <a:spLocks xmlns:a="http://schemas.openxmlformats.org/drawingml/2006/main" noGrp="1"/>
          </p:cNvSpPr>
          <p:nvPr/>
        </p:nvSpPr>
        <p:spPr>
          <a:xfrm xmlns:a="http://schemas.openxmlformats.org/drawingml/2006/main">
            <a:off x="552450" y="53149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6DCBF4"/>
                </a:solidFill>
                <a:latin typeface="Arial"/>
                <a:ea typeface="Arial"/>
                <a:cs typeface="Arial"/>
              </a:defRPr>
            </a:pPr>
            <a:r>
              <a:rPr sz="1650" b="1" i="0">
                <a:solidFill>
                  <a:srgbClr val="6DCBF4"/>
                </a:solidFill>
                <a:latin typeface="Arial"/>
                <a:ea typeface="Arial"/>
                <a:cs typeface="Arial"/>
              </a:rPr>
              <a:t>Best model: CNN + MOMENT + RDST · AUC 0.706 · AP 0.362</a:t>
            </a:r>
          </a:p>
        </p:txBody>
      </p:sp>
      <p:sp>
        <p:nvSpPr>
          <p:cNvPr id="13" name="">
            <a:extLst xmlns:a="http://schemas.openxmlformats.org/drawingml/2006/main">
              <a:ext uri="{FF2B5EF4-FFF2-40B4-BE49-F238E27FC236}">
                <a16:creationId xmlns:a16="http://schemas.microsoft.com/office/drawing/2014/main" id="{F8D5800C-19E2-48A0-910A-6235242EC431}"/>
              </a:ext>
            </a:extLst>
          </p:cNvPr>
          <p:cNvSpPr>
            <a:spLocks xmlns:a="http://schemas.openxmlformats.org/drawingml/2006/main" noGrp="1"/>
          </p:cNvSpPr>
          <p:nvPr/>
        </p:nvSpPr>
        <p:spPr>
          <a:xfrm xmlns:a="http://schemas.openxmlformats.org/drawingml/2006/main">
            <a:off x="552450" y="5810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B8BCC4"/>
                </a:solidFill>
                <a:latin typeface="Arial"/>
                <a:ea typeface="Arial"/>
                <a:cs typeface="Arial"/>
              </a:defRPr>
            </a:pPr>
            <a:r>
              <a:rPr sz="1425" b="0" i="0">
                <a:solidFill>
                  <a:srgbClr val="B8BCC4"/>
                </a:solidFill>
                <a:latin typeface="Arial"/>
                <a:ea typeface="Arial"/>
                <a:cs typeface="Arial"/>
              </a:rPr>
              <a:t>Next scientific step: external validation with prespecified heterogeneity and Endo–Mid features, plus repeatability-aware labels.</a:t>
            </a:r>
          </a:p>
        </p:txBody>
      </p:sp>
    </p:spTree>
    <p:extLst>
      <p:ext uri="{BB962C8B-B14F-4D97-AF65-F5344CB8AC3E}">
        <p14:creationId xmlns:p14="http://schemas.microsoft.com/office/powerpoint/2010/main" val="14900183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2026-08-11T20:48:10.1880000Z</dcterms:created>
  <dcterms:modified xsi:type="dcterms:W3CDTF">2026-08-11T20:48:10.1880000Z</dcterms:modified>
</coreProperties>
</file>